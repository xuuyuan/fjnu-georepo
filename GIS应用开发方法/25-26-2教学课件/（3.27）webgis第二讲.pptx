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395" r:id="rId2"/>
    <p:sldId id="398" r:id="rId3"/>
    <p:sldId id="285" r:id="rId4"/>
    <p:sldId id="286" r:id="rId5"/>
    <p:sldId id="284" r:id="rId6"/>
    <p:sldId id="287" r:id="rId7"/>
    <p:sldId id="429" r:id="rId8"/>
    <p:sldId id="430" r:id="rId9"/>
    <p:sldId id="431" r:id="rId10"/>
    <p:sldId id="288" r:id="rId11"/>
    <p:sldId id="427" r:id="rId12"/>
    <p:sldId id="289" r:id="rId13"/>
    <p:sldId id="432" r:id="rId14"/>
    <p:sldId id="290" r:id="rId15"/>
    <p:sldId id="291" r:id="rId16"/>
    <p:sldId id="428" r:id="rId17"/>
    <p:sldId id="292" r:id="rId18"/>
  </p:sldIdLst>
  <p:sldSz cx="9144000" cy="6858000" type="screen4x3"/>
  <p:notesSz cx="6858000" cy="9144000"/>
  <p:defaultTextStyle>
    <a:defPPr>
      <a:defRPr lang="zh-CN"/>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00"/>
    <a:srgbClr val="0033CC"/>
    <a:srgbClr val="000099"/>
    <a:srgbClr val="0000FF"/>
    <a:srgbClr val="3366FF"/>
    <a:srgbClr val="CC33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3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zh-CN" altLang="zh-CN"/>
          </a:p>
        </p:txBody>
      </p:sp>
      <p:sp>
        <p:nvSpPr>
          <p:cNvPr id="2051"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zh-CN" altLang="zh-CN"/>
          </a:p>
        </p:txBody>
      </p:sp>
      <p:sp>
        <p:nvSpPr>
          <p:cNvPr id="2052" name="Rectangle 4"/>
          <p:cNvSpPr>
            <a:spLocks noGrp="1" noRot="1" noChangeAspect="1" noChangeArrowheads="1"/>
          </p:cNvSpPr>
          <p:nvPr>
            <p:ph type="sldImg" idx="2"/>
          </p:nvPr>
        </p:nvSpPr>
        <p:spPr bwMode="auto">
          <a:xfrm>
            <a:off x="1143000" y="685800"/>
            <a:ext cx="45720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053" name="Rectangle 5"/>
          <p:cNvSpPr>
            <a:spLocks noGrp="1" noRot="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noProof="0" smtClean="0"/>
              <a:t>单击此处编辑母版文本样式</a:t>
            </a:r>
          </a:p>
          <a:p>
            <a:pPr lvl="1"/>
            <a:r>
              <a:rPr lang="zh-CN" noProof="0" smtClean="0"/>
              <a:t>第二级</a:t>
            </a:r>
          </a:p>
          <a:p>
            <a:pPr lvl="2"/>
            <a:r>
              <a:rPr lang="zh-CN" noProof="0" smtClean="0"/>
              <a:t>第三级</a:t>
            </a:r>
          </a:p>
          <a:p>
            <a:pPr lvl="3"/>
            <a:r>
              <a:rPr lang="zh-CN" noProof="0" smtClean="0"/>
              <a:t>第四级</a:t>
            </a:r>
          </a:p>
          <a:p>
            <a:pPr lvl="4"/>
            <a:r>
              <a:rPr lang="zh-CN" noProof="0" smtClean="0"/>
              <a:t>第五级</a:t>
            </a:r>
          </a:p>
        </p:txBody>
      </p:sp>
      <p:sp>
        <p:nvSpPr>
          <p:cNvPr id="2054"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zh-CN" altLang="zh-CN"/>
          </a:p>
        </p:txBody>
      </p:sp>
      <p:sp>
        <p:nvSpPr>
          <p:cNvPr id="2055"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DBC3E3D-888F-44A6-B03E-56B392BF7805}" type="slidenum">
              <a:rPr lang="zh-CN" altLang="zh-CN"/>
              <a:pPr>
                <a:defRPr/>
              </a:pPr>
              <a:t>‹#›</a:t>
            </a:fld>
            <a:endParaRPr lang="zh-CN"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1690890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970288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223422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762350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783274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884630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8086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627937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275751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07801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00850" y="823913"/>
            <a:ext cx="2114550" cy="53022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823913"/>
            <a:ext cx="6191250" cy="5302250"/>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418820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accent2"/>
        </a:solidFill>
        <a:effectLst/>
      </p:bgPr>
    </p:bg>
    <p:spTree>
      <p:nvGrpSpPr>
        <p:cNvPr id="1" name=""/>
        <p:cNvGrpSpPr/>
        <p:nvPr/>
      </p:nvGrpSpPr>
      <p:grpSpPr>
        <a:xfrm>
          <a:off x="0" y="0"/>
          <a:ext cx="0" cy="0"/>
          <a:chOff x="0" y="0"/>
          <a:chExt cx="0" cy="0"/>
        </a:xfrm>
      </p:grpSpPr>
      <p:sp>
        <p:nvSpPr>
          <p:cNvPr id="1026" name="Rectangle 2"/>
          <p:cNvSpPr>
            <a:spLocks noChangeArrowheads="1"/>
          </p:cNvSpPr>
          <p:nvPr userDrawn="1"/>
        </p:nvSpPr>
        <p:spPr bwMode="auto">
          <a:xfrm>
            <a:off x="0" y="0"/>
            <a:ext cx="1066800" cy="6919913"/>
          </a:xfrm>
          <a:prstGeom prst="rect">
            <a:avLst/>
          </a:prstGeom>
          <a:solidFill>
            <a:srgbClr val="000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sp>
        <p:nvSpPr>
          <p:cNvPr id="1027" name="Rectangle 3"/>
          <p:cNvSpPr>
            <a:spLocks noGrp="1" noChangeArrowheads="1"/>
          </p:cNvSpPr>
          <p:nvPr>
            <p:ph type="title"/>
          </p:nvPr>
        </p:nvSpPr>
        <p:spPr bwMode="auto">
          <a:xfrm>
            <a:off x="1219200" y="823913"/>
            <a:ext cx="7696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zh-CN" altLang="en-US" smtClean="0"/>
              <a:t>单击此处编辑母版标题样式</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4400">
          <a:solidFill>
            <a:schemeClr val="tx2"/>
          </a:solidFill>
          <a:latin typeface="Times New Roman" pitchFamily="18" charset="0"/>
          <a:ea typeface="宋体" pitchFamily="2" charset="-122"/>
        </a:defRPr>
      </a:lvl5pPr>
      <a:lvl6pPr marL="457200" algn="ctr" rtl="0" fontAlgn="base">
        <a:spcBef>
          <a:spcPct val="0"/>
        </a:spcBef>
        <a:spcAft>
          <a:spcPct val="0"/>
        </a:spcAft>
        <a:defRPr sz="4400">
          <a:solidFill>
            <a:schemeClr val="tx2"/>
          </a:solidFill>
          <a:latin typeface="Times New Roman" pitchFamily="18" charset="0"/>
          <a:ea typeface="宋体" pitchFamily="2" charset="-122"/>
        </a:defRPr>
      </a:lvl6pPr>
      <a:lvl7pPr marL="914400" algn="ctr" rtl="0" fontAlgn="base">
        <a:spcBef>
          <a:spcPct val="0"/>
        </a:spcBef>
        <a:spcAft>
          <a:spcPct val="0"/>
        </a:spcAft>
        <a:defRPr sz="4400">
          <a:solidFill>
            <a:schemeClr val="tx2"/>
          </a:solidFill>
          <a:latin typeface="Times New Roman" pitchFamily="18" charset="0"/>
          <a:ea typeface="宋体" pitchFamily="2" charset="-122"/>
        </a:defRPr>
      </a:lvl7pPr>
      <a:lvl8pPr marL="1371600" algn="ctr" rtl="0" fontAlgn="base">
        <a:spcBef>
          <a:spcPct val="0"/>
        </a:spcBef>
        <a:spcAft>
          <a:spcPct val="0"/>
        </a:spcAft>
        <a:defRPr sz="4400">
          <a:solidFill>
            <a:schemeClr val="tx2"/>
          </a:solidFill>
          <a:latin typeface="Times New Roman" pitchFamily="18" charset="0"/>
          <a:ea typeface="宋体" pitchFamily="2" charset="-122"/>
        </a:defRPr>
      </a:lvl8pPr>
      <a:lvl9pPr marL="1828800" algn="ctr" rtl="0" fontAlgn="base">
        <a:spcBef>
          <a:spcPct val="0"/>
        </a:spcBef>
        <a:spcAft>
          <a:spcPct val="0"/>
        </a:spcAft>
        <a:defRPr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1116013" y="1628775"/>
            <a:ext cx="7561262"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zh-CN" sz="4000" dirty="0">
                <a:solidFill>
                  <a:schemeClr val="bg1"/>
                </a:solidFill>
              </a:rPr>
              <a:t>WebGIS</a:t>
            </a:r>
            <a:r>
              <a:rPr lang="zh-CN" altLang="en-US" sz="4000" dirty="0">
                <a:solidFill>
                  <a:schemeClr val="bg1"/>
                </a:solidFill>
              </a:rPr>
              <a:t>第二讲</a:t>
            </a:r>
            <a:br>
              <a:rPr lang="zh-CN" altLang="en-US" sz="4000" dirty="0">
                <a:solidFill>
                  <a:schemeClr val="bg1"/>
                </a:solidFill>
              </a:rPr>
            </a:br>
            <a:r>
              <a:rPr lang="zh-CN" altLang="zh-CN" sz="4000" dirty="0">
                <a:solidFill>
                  <a:schemeClr val="bg1"/>
                </a:solidFill>
              </a:rPr>
              <a:t>WebGIS</a:t>
            </a:r>
            <a:r>
              <a:rPr lang="zh-CN" altLang="en-US" sz="4000" dirty="0">
                <a:solidFill>
                  <a:schemeClr val="bg1"/>
                </a:solidFill>
              </a:rPr>
              <a:t>实现技术</a:t>
            </a:r>
            <a:br>
              <a:rPr lang="zh-CN" altLang="en-US" sz="4000" dirty="0">
                <a:solidFill>
                  <a:schemeClr val="bg1"/>
                </a:solidFill>
              </a:rPr>
            </a:br>
            <a:r>
              <a:rPr lang="zh-CN" altLang="en-US" sz="4000" dirty="0">
                <a:solidFill>
                  <a:schemeClr val="bg1"/>
                </a:solidFill>
              </a:rPr>
              <a:t>（服务器、客户端实现）</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187450" y="620713"/>
            <a:ext cx="7696200" cy="533400"/>
          </a:xfrm>
        </p:spPr>
        <p:txBody>
          <a:bodyPr/>
          <a:lstStyle/>
          <a:p>
            <a:pPr algn="l" eaLnBrk="1" hangingPunct="1"/>
            <a:r>
              <a:rPr lang="zh-CN" altLang="en-US" sz="4000" smtClean="0">
                <a:solidFill>
                  <a:schemeClr val="bg1"/>
                </a:solidFill>
              </a:rPr>
              <a:t>内容</a:t>
            </a:r>
          </a:p>
        </p:txBody>
      </p:sp>
      <p:sp>
        <p:nvSpPr>
          <p:cNvPr id="4099" name="Rectangle 3"/>
          <p:cNvSpPr>
            <a:spLocks noGrp="1" noChangeArrowheads="1"/>
          </p:cNvSpPr>
          <p:nvPr>
            <p:ph type="body" idx="1"/>
          </p:nvPr>
        </p:nvSpPr>
        <p:spPr bwMode="auto">
          <a:xfrm>
            <a:off x="1116013" y="1700213"/>
            <a:ext cx="7488237" cy="4525962"/>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eaLnBrk="1" hangingPunct="1">
              <a:lnSpc>
                <a:spcPct val="90000"/>
              </a:lnSpc>
            </a:pPr>
            <a:r>
              <a:rPr lang="zh-CN" altLang="zh-CN" smtClean="0">
                <a:solidFill>
                  <a:schemeClr val="bg1"/>
                </a:solidFill>
              </a:rPr>
              <a:t>WebGIS</a:t>
            </a:r>
            <a:r>
              <a:rPr lang="zh-CN" altLang="en-US" smtClean="0">
                <a:solidFill>
                  <a:schemeClr val="bg1"/>
                </a:solidFill>
              </a:rPr>
              <a:t>的客户机</a:t>
            </a:r>
            <a:r>
              <a:rPr lang="zh-CN" altLang="zh-CN" smtClean="0">
                <a:solidFill>
                  <a:schemeClr val="bg1"/>
                </a:solidFill>
              </a:rPr>
              <a:t>/</a:t>
            </a:r>
            <a:r>
              <a:rPr lang="zh-CN" altLang="en-US" smtClean="0">
                <a:solidFill>
                  <a:schemeClr val="bg1"/>
                </a:solidFill>
              </a:rPr>
              <a:t>服务器模型</a:t>
            </a:r>
            <a:endParaRPr lang="en-US" altLang="zh-CN" smtClean="0">
              <a:solidFill>
                <a:schemeClr val="bg1"/>
              </a:solidFill>
            </a:endParaRPr>
          </a:p>
          <a:p>
            <a:pPr eaLnBrk="1" hangingPunct="1">
              <a:lnSpc>
                <a:spcPct val="90000"/>
              </a:lnSpc>
            </a:pPr>
            <a:endParaRPr lang="zh-CN" altLang="en-US" smtClean="0">
              <a:solidFill>
                <a:schemeClr val="bg1"/>
              </a:solidFill>
            </a:endParaRPr>
          </a:p>
          <a:p>
            <a:pPr eaLnBrk="1" hangingPunct="1">
              <a:lnSpc>
                <a:spcPct val="90000"/>
              </a:lnSpc>
            </a:pPr>
            <a:r>
              <a:rPr lang="zh-CN" altLang="zh-CN" smtClean="0">
                <a:solidFill>
                  <a:schemeClr val="bg1"/>
                </a:solidFill>
              </a:rPr>
              <a:t>WebGIS</a:t>
            </a:r>
            <a:r>
              <a:rPr lang="zh-CN" altLang="en-US" smtClean="0">
                <a:solidFill>
                  <a:schemeClr val="bg1"/>
                </a:solidFill>
              </a:rPr>
              <a:t>地理数据管理及检索机制</a:t>
            </a:r>
          </a:p>
          <a:p>
            <a:pPr eaLnBrk="1" hangingPunct="1">
              <a:lnSpc>
                <a:spcPct val="90000"/>
              </a:lnSpc>
            </a:pPr>
            <a:endParaRPr lang="zh-CN" altLang="zh-CN" smtClean="0">
              <a:solidFill>
                <a:schemeClr val="bg1"/>
              </a:solidFill>
            </a:endParaRPr>
          </a:p>
          <a:p>
            <a:pPr eaLnBrk="1" hangingPunct="1">
              <a:lnSpc>
                <a:spcPct val="90000"/>
              </a:lnSpc>
            </a:pPr>
            <a:endParaRPr lang="zh-CN" altLang="zh-CN" smtClean="0">
              <a:solidFill>
                <a:schemeClr val="bg1"/>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755650" y="333375"/>
            <a:ext cx="7772400" cy="1143000"/>
          </a:xfrm>
          <a:noFill/>
        </p:spPr>
        <p:txBody>
          <a:bodyPr/>
          <a:lstStyle/>
          <a:p>
            <a:pPr eaLnBrk="1" hangingPunct="1"/>
            <a:r>
              <a:rPr lang="zh-CN" altLang="zh-CN" smtClean="0">
                <a:solidFill>
                  <a:schemeClr val="bg1"/>
                </a:solidFill>
              </a:rPr>
              <a:t>WebGIS</a:t>
            </a:r>
            <a:r>
              <a:rPr lang="zh-CN" altLang="en-US" smtClean="0">
                <a:solidFill>
                  <a:schemeClr val="bg1"/>
                </a:solidFill>
              </a:rPr>
              <a:t>的客户机</a:t>
            </a:r>
            <a:r>
              <a:rPr lang="zh-CN" altLang="zh-CN" smtClean="0">
                <a:solidFill>
                  <a:schemeClr val="bg1"/>
                </a:solidFill>
              </a:rPr>
              <a:t>/</a:t>
            </a:r>
            <a:r>
              <a:rPr lang="zh-CN" altLang="en-US" smtClean="0">
                <a:solidFill>
                  <a:schemeClr val="bg1"/>
                </a:solidFill>
              </a:rPr>
              <a:t>服务器模型</a:t>
            </a:r>
          </a:p>
        </p:txBody>
      </p:sp>
      <p:sp>
        <p:nvSpPr>
          <p:cNvPr id="5123" name="Rectangle 3"/>
          <p:cNvSpPr>
            <a:spLocks noGrp="1" noChangeArrowheads="1"/>
          </p:cNvSpPr>
          <p:nvPr>
            <p:ph type="body" idx="4294967295"/>
          </p:nvPr>
        </p:nvSpPr>
        <p:spPr bwMode="auto">
          <a:xfrm>
            <a:off x="755650" y="1557338"/>
            <a:ext cx="8066088" cy="42481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81000" indent="-381000" algn="just" eaLnBrk="1" hangingPunct="1">
              <a:lnSpc>
                <a:spcPct val="80000"/>
              </a:lnSpc>
            </a:pPr>
            <a:r>
              <a:rPr lang="zh-CN" altLang="zh-CN" dirty="0" smtClean="0">
                <a:solidFill>
                  <a:schemeClr val="bg1"/>
                </a:solidFill>
              </a:rPr>
              <a:t>GIS</a:t>
            </a:r>
            <a:r>
              <a:rPr lang="zh-CN" altLang="en-US" dirty="0" smtClean="0">
                <a:solidFill>
                  <a:schemeClr val="bg1"/>
                </a:solidFill>
              </a:rPr>
              <a:t>客户</a:t>
            </a:r>
            <a:r>
              <a:rPr lang="zh-CN" altLang="zh-CN" dirty="0" smtClean="0">
                <a:solidFill>
                  <a:schemeClr val="bg1"/>
                </a:solidFill>
              </a:rPr>
              <a:t>/</a:t>
            </a:r>
            <a:r>
              <a:rPr lang="zh-CN" altLang="en-US" dirty="0" smtClean="0">
                <a:solidFill>
                  <a:schemeClr val="bg1"/>
                </a:solidFill>
              </a:rPr>
              <a:t>服务器模型表示如图所示，模型共分</a:t>
            </a:r>
            <a:r>
              <a:rPr lang="zh-CN" altLang="zh-CN" dirty="0" smtClean="0">
                <a:solidFill>
                  <a:schemeClr val="bg1"/>
                </a:solidFill>
              </a:rPr>
              <a:t>6</a:t>
            </a:r>
            <a:r>
              <a:rPr lang="zh-CN" altLang="en-US" dirty="0" smtClean="0">
                <a:solidFill>
                  <a:schemeClr val="bg1"/>
                </a:solidFill>
              </a:rPr>
              <a:t>个部分：</a:t>
            </a:r>
          </a:p>
          <a:p>
            <a:pPr marL="381000" indent="-381000" algn="just" eaLnBrk="1" hangingPunct="1">
              <a:lnSpc>
                <a:spcPct val="80000"/>
              </a:lnSpc>
            </a:pPr>
            <a:endParaRPr lang="zh-CN" altLang="zh-CN" dirty="0" smtClean="0">
              <a:solidFill>
                <a:schemeClr val="bg1"/>
              </a:solidFill>
            </a:endParaRPr>
          </a:p>
          <a:p>
            <a:pPr marL="381000" indent="-381000" algn="just" eaLnBrk="1" hangingPunct="1">
              <a:lnSpc>
                <a:spcPct val="80000"/>
              </a:lnSpc>
              <a:buFontTx/>
              <a:buAutoNum type="arabicPeriod"/>
            </a:pPr>
            <a:r>
              <a:rPr lang="zh-CN" altLang="zh-CN" dirty="0" smtClean="0">
                <a:solidFill>
                  <a:schemeClr val="bg1"/>
                </a:solidFill>
              </a:rPr>
              <a:t>	</a:t>
            </a:r>
            <a:r>
              <a:rPr lang="zh-CN" altLang="en-US" dirty="0" smtClean="0">
                <a:solidFill>
                  <a:schemeClr val="bg1"/>
                </a:solidFill>
              </a:rPr>
              <a:t>数据库、</a:t>
            </a:r>
          </a:p>
          <a:p>
            <a:pPr marL="381000" indent="-381000" algn="just" eaLnBrk="1" hangingPunct="1">
              <a:lnSpc>
                <a:spcPct val="80000"/>
              </a:lnSpc>
              <a:buFontTx/>
              <a:buAutoNum type="arabicPeriod"/>
            </a:pPr>
            <a:r>
              <a:rPr lang="zh-CN" altLang="zh-CN" dirty="0" smtClean="0">
                <a:solidFill>
                  <a:schemeClr val="bg1"/>
                </a:solidFill>
              </a:rPr>
              <a:t>	GIS</a:t>
            </a:r>
            <a:r>
              <a:rPr lang="zh-CN" altLang="en-US" dirty="0" smtClean="0">
                <a:solidFill>
                  <a:schemeClr val="bg1"/>
                </a:solidFill>
              </a:rPr>
              <a:t>服务器、</a:t>
            </a:r>
          </a:p>
          <a:p>
            <a:pPr marL="381000" indent="-381000" algn="just" eaLnBrk="1" hangingPunct="1">
              <a:lnSpc>
                <a:spcPct val="80000"/>
              </a:lnSpc>
              <a:buFontTx/>
              <a:buAutoNum type="arabicPeriod"/>
            </a:pPr>
            <a:r>
              <a:rPr lang="zh-CN" altLang="zh-CN" dirty="0" smtClean="0">
                <a:solidFill>
                  <a:schemeClr val="bg1"/>
                </a:solidFill>
              </a:rPr>
              <a:t>	WEB</a:t>
            </a:r>
            <a:r>
              <a:rPr lang="zh-CN" altLang="en-US" dirty="0" smtClean="0">
                <a:solidFill>
                  <a:schemeClr val="bg1"/>
                </a:solidFill>
              </a:rPr>
              <a:t>服务器、</a:t>
            </a:r>
          </a:p>
          <a:p>
            <a:pPr marL="381000" indent="-381000" algn="just" eaLnBrk="1" hangingPunct="1">
              <a:lnSpc>
                <a:spcPct val="80000"/>
              </a:lnSpc>
              <a:buFontTx/>
              <a:buAutoNum type="arabicPeriod"/>
            </a:pPr>
            <a:r>
              <a:rPr lang="zh-CN" altLang="zh-CN" dirty="0" smtClean="0">
                <a:solidFill>
                  <a:schemeClr val="bg1"/>
                </a:solidFill>
              </a:rPr>
              <a:t>	GIS</a:t>
            </a:r>
            <a:r>
              <a:rPr lang="zh-CN" altLang="en-US" dirty="0" smtClean="0">
                <a:solidFill>
                  <a:schemeClr val="bg1"/>
                </a:solidFill>
              </a:rPr>
              <a:t>服务代理、</a:t>
            </a:r>
          </a:p>
          <a:p>
            <a:pPr marL="381000" indent="-381000" algn="just" eaLnBrk="1" hangingPunct="1">
              <a:lnSpc>
                <a:spcPct val="80000"/>
              </a:lnSpc>
              <a:buFontTx/>
              <a:buAutoNum type="arabicPeriod"/>
            </a:pPr>
            <a:r>
              <a:rPr lang="zh-CN" altLang="zh-CN" dirty="0" smtClean="0">
                <a:solidFill>
                  <a:schemeClr val="bg1"/>
                </a:solidFill>
              </a:rPr>
              <a:t>	</a:t>
            </a:r>
            <a:r>
              <a:rPr lang="zh-CN" altLang="en-US" dirty="0" smtClean="0">
                <a:solidFill>
                  <a:schemeClr val="bg1"/>
                </a:solidFill>
              </a:rPr>
              <a:t>本地</a:t>
            </a:r>
            <a:r>
              <a:rPr lang="zh-CN" altLang="zh-CN" dirty="0" smtClean="0">
                <a:solidFill>
                  <a:schemeClr val="bg1"/>
                </a:solidFill>
              </a:rPr>
              <a:t>GIS</a:t>
            </a:r>
            <a:r>
              <a:rPr lang="zh-CN" altLang="en-US" dirty="0" smtClean="0">
                <a:solidFill>
                  <a:schemeClr val="bg1"/>
                </a:solidFill>
              </a:rPr>
              <a:t>应用软件</a:t>
            </a:r>
          </a:p>
          <a:p>
            <a:pPr marL="381000" indent="-381000" algn="just" eaLnBrk="1" hangingPunct="1">
              <a:lnSpc>
                <a:spcPct val="80000"/>
              </a:lnSpc>
              <a:buFontTx/>
              <a:buAutoNum type="arabicPeriod"/>
            </a:pPr>
            <a:r>
              <a:rPr lang="zh-CN" altLang="zh-CN" dirty="0" smtClean="0">
                <a:solidFill>
                  <a:schemeClr val="bg1"/>
                </a:solidFill>
              </a:rPr>
              <a:t>	</a:t>
            </a:r>
            <a:r>
              <a:rPr lang="zh-CN" altLang="en-US" dirty="0" smtClean="0">
                <a:solidFill>
                  <a:schemeClr val="bg1"/>
                </a:solidFill>
              </a:rPr>
              <a:t>远程用户</a:t>
            </a:r>
            <a:r>
              <a:rPr lang="zh-CN" altLang="zh-CN" dirty="0" smtClean="0">
                <a:solidFill>
                  <a:schemeClr val="bg1"/>
                </a:solidFill>
              </a:rPr>
              <a:t>GIS</a:t>
            </a:r>
            <a:r>
              <a:rPr lang="zh-CN" altLang="en-US" dirty="0" smtClean="0">
                <a:solidFill>
                  <a:schemeClr val="bg1"/>
                </a:solidFill>
              </a:rPr>
              <a:t>应用软件。</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p:cNvSpPr>
            <a:spLocks noChangeArrowheads="1"/>
          </p:cNvSpPr>
          <p:nvPr/>
        </p:nvSpPr>
        <p:spPr bwMode="auto">
          <a:xfrm>
            <a:off x="838200" y="685800"/>
            <a:ext cx="4897438" cy="5048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zh-CN" altLang="en-US" sz="1600">
                <a:solidFill>
                  <a:schemeClr val="bg1"/>
                </a:solidFill>
              </a:rPr>
              <a:t>网页数据 目录数据  地理模型  空间数据  属性数据</a:t>
            </a:r>
          </a:p>
        </p:txBody>
      </p:sp>
      <p:sp>
        <p:nvSpPr>
          <p:cNvPr id="6147" name="Rectangle 4"/>
          <p:cNvSpPr>
            <a:spLocks noChangeArrowheads="1"/>
          </p:cNvSpPr>
          <p:nvPr/>
        </p:nvSpPr>
        <p:spPr bwMode="auto">
          <a:xfrm>
            <a:off x="2074863" y="4775200"/>
            <a:ext cx="1236662"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zh-CN" altLang="en-US" sz="1800">
                <a:solidFill>
                  <a:schemeClr val="bg1"/>
                </a:solidFill>
              </a:rPr>
              <a:t>服务器群</a:t>
            </a:r>
          </a:p>
        </p:txBody>
      </p:sp>
      <p:sp>
        <p:nvSpPr>
          <p:cNvPr id="6148" name="Rectangle 5"/>
          <p:cNvSpPr>
            <a:spLocks noChangeArrowheads="1"/>
          </p:cNvSpPr>
          <p:nvPr/>
        </p:nvSpPr>
        <p:spPr bwMode="auto">
          <a:xfrm>
            <a:off x="6781800" y="4800600"/>
            <a:ext cx="1236663"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zh-CN" altLang="en-US" sz="1800">
                <a:solidFill>
                  <a:schemeClr val="bg1"/>
                </a:solidFill>
              </a:rPr>
              <a:t>客户群</a:t>
            </a:r>
          </a:p>
        </p:txBody>
      </p:sp>
      <p:sp>
        <p:nvSpPr>
          <p:cNvPr id="6149" name="AutoShape 6"/>
          <p:cNvSpPr>
            <a:spLocks noChangeArrowheads="1"/>
          </p:cNvSpPr>
          <p:nvPr/>
        </p:nvSpPr>
        <p:spPr bwMode="auto">
          <a:xfrm>
            <a:off x="1052513" y="1066800"/>
            <a:ext cx="530225" cy="677863"/>
          </a:xfrm>
          <a:prstGeom prst="flowChartMagneticDisk">
            <a:avLst/>
          </a:prstGeom>
          <a:solidFill>
            <a:schemeClr val="accent1"/>
          </a:solidFill>
          <a:ln w="9525">
            <a:solidFill>
              <a:schemeClr val="bg1"/>
            </a:solidFill>
            <a:round/>
            <a:headEnd/>
            <a:tailE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150" name="AutoShape 7"/>
          <p:cNvSpPr>
            <a:spLocks noChangeArrowheads="1"/>
          </p:cNvSpPr>
          <p:nvPr/>
        </p:nvSpPr>
        <p:spPr bwMode="auto">
          <a:xfrm>
            <a:off x="1936750" y="1066800"/>
            <a:ext cx="528638" cy="677863"/>
          </a:xfrm>
          <a:prstGeom prst="flowChartMagneticDisk">
            <a:avLst/>
          </a:prstGeom>
          <a:solidFill>
            <a:schemeClr val="accent1"/>
          </a:solidFill>
          <a:ln w="9525">
            <a:solidFill>
              <a:schemeClr val="bg1"/>
            </a:solidFill>
            <a:round/>
            <a:headEnd/>
            <a:tailE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151" name="AutoShape 8"/>
          <p:cNvSpPr>
            <a:spLocks noChangeArrowheads="1"/>
          </p:cNvSpPr>
          <p:nvPr/>
        </p:nvSpPr>
        <p:spPr bwMode="auto">
          <a:xfrm>
            <a:off x="2819400" y="1066800"/>
            <a:ext cx="530225" cy="677863"/>
          </a:xfrm>
          <a:prstGeom prst="flowChartMagneticDisk">
            <a:avLst/>
          </a:prstGeom>
          <a:solidFill>
            <a:schemeClr val="accent1"/>
          </a:solidFill>
          <a:ln w="9525">
            <a:solidFill>
              <a:schemeClr val="bg1"/>
            </a:solidFill>
            <a:round/>
            <a:headEnd/>
            <a:tailE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152" name="AutoShape 9"/>
          <p:cNvSpPr>
            <a:spLocks noChangeArrowheads="1"/>
          </p:cNvSpPr>
          <p:nvPr/>
        </p:nvSpPr>
        <p:spPr bwMode="auto">
          <a:xfrm>
            <a:off x="3702050" y="1066800"/>
            <a:ext cx="530225" cy="677863"/>
          </a:xfrm>
          <a:prstGeom prst="flowChartMagneticDisk">
            <a:avLst/>
          </a:prstGeom>
          <a:solidFill>
            <a:schemeClr val="accent1"/>
          </a:solidFill>
          <a:ln w="9525">
            <a:solidFill>
              <a:schemeClr val="bg1"/>
            </a:solidFill>
            <a:round/>
            <a:headEnd/>
            <a:tailE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153" name="AutoShape 10"/>
          <p:cNvSpPr>
            <a:spLocks noChangeArrowheads="1"/>
          </p:cNvSpPr>
          <p:nvPr/>
        </p:nvSpPr>
        <p:spPr bwMode="auto">
          <a:xfrm>
            <a:off x="4586288" y="1066800"/>
            <a:ext cx="530225" cy="677863"/>
          </a:xfrm>
          <a:prstGeom prst="flowChartMagneticDisk">
            <a:avLst/>
          </a:prstGeom>
          <a:solidFill>
            <a:schemeClr val="accent1"/>
          </a:solidFill>
          <a:ln w="9525">
            <a:solidFill>
              <a:schemeClr val="bg1"/>
            </a:solidFill>
            <a:round/>
            <a:headEnd/>
            <a:tailE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154" name="Rectangle 11"/>
          <p:cNvSpPr>
            <a:spLocks noChangeArrowheads="1"/>
          </p:cNvSpPr>
          <p:nvPr/>
        </p:nvSpPr>
        <p:spPr bwMode="auto">
          <a:xfrm>
            <a:off x="1544638" y="2082800"/>
            <a:ext cx="3533775" cy="846138"/>
          </a:xfrm>
          <a:prstGeom prst="rect">
            <a:avLst/>
          </a:prstGeom>
          <a:solidFill>
            <a:schemeClr val="accent1"/>
          </a:solidFill>
          <a:ln w="9525">
            <a:solidFill>
              <a:schemeClr val="bg1"/>
            </a:solidFill>
            <a:miter lim="800000"/>
            <a:headEnd/>
            <a:tailE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zh-CN" altLang="zh-CN" sz="1600" b="1"/>
              <a:t>GIS</a:t>
            </a:r>
            <a:r>
              <a:rPr lang="zh-CN" altLang="en-US" sz="1600" b="1"/>
              <a:t>服务器（数据存取、地图显示、空间分析模型、管理目录服务等）</a:t>
            </a:r>
          </a:p>
        </p:txBody>
      </p:sp>
      <p:sp>
        <p:nvSpPr>
          <p:cNvPr id="6155" name="Rectangle 12"/>
          <p:cNvSpPr>
            <a:spLocks noChangeArrowheads="1"/>
          </p:cNvSpPr>
          <p:nvPr/>
        </p:nvSpPr>
        <p:spPr bwMode="auto">
          <a:xfrm>
            <a:off x="1544638" y="3267075"/>
            <a:ext cx="3533775" cy="508000"/>
          </a:xfrm>
          <a:prstGeom prst="rect">
            <a:avLst/>
          </a:prstGeom>
          <a:solidFill>
            <a:schemeClr val="accent1"/>
          </a:solidFill>
          <a:ln w="9525">
            <a:solidFill>
              <a:schemeClr val="bg1"/>
            </a:solidFill>
            <a:miter lim="800000"/>
            <a:headEnd/>
            <a:tailE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r>
              <a:rPr lang="zh-CN" altLang="zh-CN" sz="1800" b="1"/>
              <a:t>GIS</a:t>
            </a:r>
            <a:r>
              <a:rPr lang="zh-CN" altLang="en-US" sz="1800" b="1"/>
              <a:t>服务代理</a:t>
            </a:r>
          </a:p>
        </p:txBody>
      </p:sp>
      <p:sp>
        <p:nvSpPr>
          <p:cNvPr id="6156" name="Rectangle 13"/>
          <p:cNvSpPr>
            <a:spLocks noChangeArrowheads="1"/>
          </p:cNvSpPr>
          <p:nvPr/>
        </p:nvSpPr>
        <p:spPr bwMode="auto">
          <a:xfrm>
            <a:off x="838200" y="4114800"/>
            <a:ext cx="4240213" cy="508000"/>
          </a:xfrm>
          <a:prstGeom prst="rect">
            <a:avLst/>
          </a:prstGeom>
          <a:solidFill>
            <a:schemeClr val="accent1"/>
          </a:solidFill>
          <a:ln w="9525">
            <a:solidFill>
              <a:schemeClr val="bg1"/>
            </a:solidFill>
            <a:miter lim="800000"/>
            <a:headEnd/>
            <a:tailE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r>
              <a:rPr lang="zh-CN" altLang="zh-CN" sz="1800" b="1"/>
              <a:t>WWW</a:t>
            </a:r>
            <a:r>
              <a:rPr lang="zh-CN" altLang="en-US" sz="1800" b="1"/>
              <a:t>服务器</a:t>
            </a:r>
          </a:p>
        </p:txBody>
      </p:sp>
      <p:sp>
        <p:nvSpPr>
          <p:cNvPr id="6157" name="Line 14"/>
          <p:cNvSpPr>
            <a:spLocks noChangeShapeType="1"/>
          </p:cNvSpPr>
          <p:nvPr/>
        </p:nvSpPr>
        <p:spPr bwMode="auto">
          <a:xfrm>
            <a:off x="1368425" y="1744663"/>
            <a:ext cx="0" cy="846137"/>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8" name="Line 15"/>
          <p:cNvSpPr>
            <a:spLocks noChangeShapeType="1"/>
          </p:cNvSpPr>
          <p:nvPr/>
        </p:nvSpPr>
        <p:spPr bwMode="auto">
          <a:xfrm>
            <a:off x="1368425" y="2590800"/>
            <a:ext cx="176213"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9" name="Line 16"/>
          <p:cNvSpPr>
            <a:spLocks noChangeShapeType="1"/>
          </p:cNvSpPr>
          <p:nvPr/>
        </p:nvSpPr>
        <p:spPr bwMode="auto">
          <a:xfrm>
            <a:off x="2147888" y="1744663"/>
            <a:ext cx="0" cy="338137"/>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60" name="Line 17"/>
          <p:cNvSpPr>
            <a:spLocks noChangeShapeType="1"/>
          </p:cNvSpPr>
          <p:nvPr/>
        </p:nvSpPr>
        <p:spPr bwMode="auto">
          <a:xfrm>
            <a:off x="3032125" y="1744663"/>
            <a:ext cx="0" cy="338137"/>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61" name="Line 18"/>
          <p:cNvSpPr>
            <a:spLocks noChangeShapeType="1"/>
          </p:cNvSpPr>
          <p:nvPr/>
        </p:nvSpPr>
        <p:spPr bwMode="auto">
          <a:xfrm>
            <a:off x="3914775" y="1744663"/>
            <a:ext cx="0" cy="338137"/>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62" name="Line 19"/>
          <p:cNvSpPr>
            <a:spLocks noChangeShapeType="1"/>
          </p:cNvSpPr>
          <p:nvPr/>
        </p:nvSpPr>
        <p:spPr bwMode="auto">
          <a:xfrm>
            <a:off x="4813300" y="1744663"/>
            <a:ext cx="0" cy="338137"/>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63" name="Line 20"/>
          <p:cNvSpPr>
            <a:spLocks noChangeShapeType="1"/>
          </p:cNvSpPr>
          <p:nvPr/>
        </p:nvSpPr>
        <p:spPr bwMode="auto">
          <a:xfrm>
            <a:off x="3311525" y="2928938"/>
            <a:ext cx="0" cy="338137"/>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64" name="Line 21"/>
          <p:cNvSpPr>
            <a:spLocks noChangeShapeType="1"/>
          </p:cNvSpPr>
          <p:nvPr/>
        </p:nvSpPr>
        <p:spPr bwMode="auto">
          <a:xfrm>
            <a:off x="3311525" y="3775075"/>
            <a:ext cx="0" cy="33972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65" name="Line 22"/>
          <p:cNvSpPr>
            <a:spLocks noChangeShapeType="1"/>
          </p:cNvSpPr>
          <p:nvPr/>
        </p:nvSpPr>
        <p:spPr bwMode="auto">
          <a:xfrm>
            <a:off x="1192213" y="1744663"/>
            <a:ext cx="0" cy="2370137"/>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66" name="Rectangle 23"/>
          <p:cNvSpPr>
            <a:spLocks noChangeArrowheads="1"/>
          </p:cNvSpPr>
          <p:nvPr/>
        </p:nvSpPr>
        <p:spPr bwMode="auto">
          <a:xfrm>
            <a:off x="5764213" y="962025"/>
            <a:ext cx="2911475" cy="2200275"/>
          </a:xfrm>
          <a:prstGeom prst="rect">
            <a:avLst/>
          </a:prstGeom>
          <a:solidFill>
            <a:schemeClr val="accent1"/>
          </a:solidFill>
          <a:ln w="9525">
            <a:solidFill>
              <a:schemeClr val="bg1"/>
            </a:solidFill>
            <a:miter lim="800000"/>
            <a:headEnd/>
            <a:tailE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600" b="1"/>
              <a:t>应用软件</a:t>
            </a:r>
          </a:p>
          <a:p>
            <a:pPr algn="ctr"/>
            <a:r>
              <a:rPr lang="zh-CN" altLang="en-US" sz="1600" b="1"/>
              <a:t>空间数据管理维护</a:t>
            </a:r>
          </a:p>
          <a:p>
            <a:pPr algn="ctr"/>
            <a:r>
              <a:rPr lang="zh-CN" altLang="en-US" sz="1600" b="1"/>
              <a:t>属性数据管理维护</a:t>
            </a:r>
          </a:p>
          <a:p>
            <a:pPr algn="ctr"/>
            <a:r>
              <a:rPr lang="zh-CN" altLang="en-US" sz="1600" b="1"/>
              <a:t>评价模型管理维护</a:t>
            </a:r>
          </a:p>
          <a:p>
            <a:pPr algn="ctr"/>
            <a:r>
              <a:rPr lang="zh-CN" altLang="en-US" sz="1600" b="1"/>
              <a:t>地理空间查询，等</a:t>
            </a:r>
          </a:p>
          <a:p>
            <a:pPr algn="ctr"/>
            <a:r>
              <a:rPr lang="zh-CN" altLang="en-US" sz="1600" b="1"/>
              <a:t>（</a:t>
            </a:r>
            <a:r>
              <a:rPr lang="zh-CN" altLang="zh-CN" sz="1600" b="1"/>
              <a:t>NET,C/C++</a:t>
            </a:r>
            <a:r>
              <a:rPr lang="zh-CN" altLang="en-US" sz="1600" b="1"/>
              <a:t>，</a:t>
            </a:r>
          </a:p>
          <a:p>
            <a:pPr algn="ctr"/>
            <a:r>
              <a:rPr lang="zh-CN" altLang="zh-CN" sz="1600" b="1"/>
              <a:t>Java</a:t>
            </a:r>
            <a:r>
              <a:rPr lang="zh-CN" altLang="en-US" sz="1600" b="1"/>
              <a:t>，</a:t>
            </a:r>
            <a:r>
              <a:rPr lang="zh-CN" altLang="zh-CN" sz="1600" b="1"/>
              <a:t>SQL</a:t>
            </a:r>
            <a:r>
              <a:rPr lang="zh-CN" altLang="en-US" sz="1600" b="1"/>
              <a:t>等）</a:t>
            </a:r>
          </a:p>
        </p:txBody>
      </p:sp>
      <p:sp>
        <p:nvSpPr>
          <p:cNvPr id="6167" name="Line 24"/>
          <p:cNvSpPr>
            <a:spLocks noChangeShapeType="1"/>
          </p:cNvSpPr>
          <p:nvPr/>
        </p:nvSpPr>
        <p:spPr bwMode="auto">
          <a:xfrm>
            <a:off x="5410200" y="304800"/>
            <a:ext cx="0" cy="4419600"/>
          </a:xfrm>
          <a:prstGeom prst="line">
            <a:avLst/>
          </a:prstGeom>
          <a:noFill/>
          <a:ln w="9525">
            <a:solidFill>
              <a:schemeClr val="bg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68" name="Rectangle 25"/>
          <p:cNvSpPr>
            <a:spLocks noChangeArrowheads="1"/>
          </p:cNvSpPr>
          <p:nvPr/>
        </p:nvSpPr>
        <p:spPr bwMode="auto">
          <a:xfrm>
            <a:off x="5764213" y="3502025"/>
            <a:ext cx="3055937" cy="846138"/>
          </a:xfrm>
          <a:prstGeom prst="rect">
            <a:avLst/>
          </a:prstGeom>
          <a:solidFill>
            <a:schemeClr val="accent1"/>
          </a:solidFill>
          <a:ln w="9525">
            <a:solidFill>
              <a:schemeClr val="bg1"/>
            </a:solidFill>
            <a:miter lim="800000"/>
            <a:headEnd/>
            <a:tailE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r>
              <a:rPr lang="zh-CN" altLang="zh-CN" sz="1600" b="1"/>
              <a:t>WWW</a:t>
            </a:r>
            <a:r>
              <a:rPr lang="zh-CN" altLang="en-US" sz="1600" b="1"/>
              <a:t>浏览器</a:t>
            </a:r>
          </a:p>
          <a:p>
            <a:pPr algn="ctr"/>
            <a:r>
              <a:rPr lang="zh-CN" altLang="en-US" sz="1600" b="1"/>
              <a:t>（</a:t>
            </a:r>
            <a:r>
              <a:rPr lang="en-US" altLang="zh-CN" sz="1600" b="1"/>
              <a:t>JavaScript</a:t>
            </a:r>
            <a:r>
              <a:rPr lang="zh-CN" altLang="en-US" sz="1600" b="1"/>
              <a:t>，</a:t>
            </a:r>
            <a:r>
              <a:rPr lang="en-US" altLang="zh-CN" sz="1600" b="1"/>
              <a:t>iOS</a:t>
            </a:r>
            <a:r>
              <a:rPr lang="zh-CN" altLang="zh-CN" sz="1600" b="1"/>
              <a:t>,</a:t>
            </a:r>
            <a:endParaRPr lang="en-US" altLang="zh-CN" sz="1600" b="1"/>
          </a:p>
          <a:p>
            <a:pPr algn="ctr"/>
            <a:r>
              <a:rPr lang="zh-CN" altLang="zh-CN" sz="1600" b="1"/>
              <a:t>Android,</a:t>
            </a:r>
            <a:r>
              <a:rPr lang="zh-CN" altLang="en-US" sz="1600" b="1"/>
              <a:t>等）</a:t>
            </a:r>
          </a:p>
        </p:txBody>
      </p:sp>
      <p:sp>
        <p:nvSpPr>
          <p:cNvPr id="6169" name="Line 26"/>
          <p:cNvSpPr>
            <a:spLocks noChangeShapeType="1"/>
          </p:cNvSpPr>
          <p:nvPr/>
        </p:nvSpPr>
        <p:spPr bwMode="auto">
          <a:xfrm>
            <a:off x="5078413" y="2420938"/>
            <a:ext cx="706437" cy="0"/>
          </a:xfrm>
          <a:prstGeom prst="line">
            <a:avLst/>
          </a:prstGeom>
          <a:noFill/>
          <a:ln w="9525">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70" name="Line 27"/>
          <p:cNvSpPr>
            <a:spLocks noChangeShapeType="1"/>
          </p:cNvSpPr>
          <p:nvPr/>
        </p:nvSpPr>
        <p:spPr bwMode="auto">
          <a:xfrm>
            <a:off x="5078413" y="4283075"/>
            <a:ext cx="706437" cy="0"/>
          </a:xfrm>
          <a:prstGeom prst="line">
            <a:avLst/>
          </a:prstGeom>
          <a:noFill/>
          <a:ln w="9525">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71" name="Line 28"/>
          <p:cNvSpPr>
            <a:spLocks noChangeShapeType="1"/>
          </p:cNvSpPr>
          <p:nvPr/>
        </p:nvSpPr>
        <p:spPr bwMode="auto">
          <a:xfrm flipV="1">
            <a:off x="5078413" y="3098800"/>
            <a:ext cx="706437" cy="1016000"/>
          </a:xfrm>
          <a:prstGeom prst="line">
            <a:avLst/>
          </a:prstGeom>
          <a:noFill/>
          <a:ln w="9525">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72" name="Text Box 29"/>
          <p:cNvSpPr txBox="1">
            <a:spLocks noChangeArrowheads="1"/>
          </p:cNvSpPr>
          <p:nvPr/>
        </p:nvSpPr>
        <p:spPr bwMode="auto">
          <a:xfrm>
            <a:off x="2743200" y="5562600"/>
            <a:ext cx="4724400"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bg1"/>
                </a:solidFill>
              </a:rPr>
              <a:t>空间信息服务系统模型</a:t>
            </a:r>
          </a:p>
        </p:txBody>
      </p:sp>
      <p:sp>
        <p:nvSpPr>
          <p:cNvPr id="6173" name="Text Box 30"/>
          <p:cNvSpPr txBox="1">
            <a:spLocks noChangeArrowheads="1"/>
          </p:cNvSpPr>
          <p:nvPr/>
        </p:nvSpPr>
        <p:spPr bwMode="auto">
          <a:xfrm>
            <a:off x="4495800" y="4800600"/>
            <a:ext cx="2743200"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800">
                <a:solidFill>
                  <a:schemeClr val="bg1"/>
                </a:solidFill>
              </a:rPr>
              <a:t>无线或网络通讯</a:t>
            </a:r>
          </a:p>
        </p:txBody>
      </p:sp>
      <p:sp>
        <p:nvSpPr>
          <p:cNvPr id="6174" name="Text Box 31"/>
          <p:cNvSpPr txBox="1">
            <a:spLocks noChangeArrowheads="1"/>
          </p:cNvSpPr>
          <p:nvPr/>
        </p:nvSpPr>
        <p:spPr bwMode="auto">
          <a:xfrm>
            <a:off x="6659563" y="476250"/>
            <a:ext cx="1296987" cy="46672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bg1"/>
                </a:solidFill>
              </a:rPr>
              <a:t>用户</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body" idx="4294967295"/>
          </p:nvPr>
        </p:nvSpPr>
        <p:spPr bwMode="auto">
          <a:xfrm>
            <a:off x="900113" y="981075"/>
            <a:ext cx="7993062" cy="43926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lnSpc>
                <a:spcPct val="80000"/>
              </a:lnSpc>
            </a:pPr>
            <a:r>
              <a:rPr lang="zh-CN" altLang="zh-CN" sz="2800" dirty="0" smtClean="0">
                <a:solidFill>
                  <a:schemeClr val="bg1"/>
                </a:solidFill>
              </a:rPr>
              <a:t>GIS</a:t>
            </a:r>
            <a:r>
              <a:rPr lang="zh-CN" altLang="en-US" sz="2800" dirty="0" smtClean="0">
                <a:solidFill>
                  <a:schemeClr val="bg1"/>
                </a:solidFill>
              </a:rPr>
              <a:t>中心的服务器包括网络服务器、数据库管理服务器、</a:t>
            </a:r>
            <a:r>
              <a:rPr lang="zh-CN" altLang="zh-CN" sz="2800" dirty="0" smtClean="0">
                <a:solidFill>
                  <a:schemeClr val="bg1"/>
                </a:solidFill>
              </a:rPr>
              <a:t>GIS</a:t>
            </a:r>
            <a:r>
              <a:rPr lang="zh-CN" altLang="en-US" sz="2800" dirty="0" smtClean="0">
                <a:solidFill>
                  <a:schemeClr val="bg1"/>
                </a:solidFill>
              </a:rPr>
              <a:t>服务器、</a:t>
            </a:r>
            <a:r>
              <a:rPr lang="zh-CN" altLang="zh-CN" sz="2800" dirty="0" smtClean="0">
                <a:solidFill>
                  <a:schemeClr val="bg1"/>
                </a:solidFill>
              </a:rPr>
              <a:t>Web</a:t>
            </a:r>
            <a:r>
              <a:rPr lang="zh-CN" altLang="en-US" sz="2800" dirty="0" smtClean="0">
                <a:solidFill>
                  <a:schemeClr val="bg1"/>
                </a:solidFill>
              </a:rPr>
              <a:t>服务器等。</a:t>
            </a:r>
          </a:p>
          <a:p>
            <a:pPr algn="just" eaLnBrk="1" hangingPunct="1">
              <a:lnSpc>
                <a:spcPct val="80000"/>
              </a:lnSpc>
            </a:pPr>
            <a:endParaRPr lang="zh-CN" altLang="zh-CN" sz="2800" dirty="0" smtClean="0">
              <a:solidFill>
                <a:schemeClr val="bg1"/>
              </a:solidFill>
            </a:endParaRPr>
          </a:p>
          <a:p>
            <a:pPr algn="just" eaLnBrk="1" hangingPunct="1">
              <a:lnSpc>
                <a:spcPct val="80000"/>
              </a:lnSpc>
            </a:pPr>
            <a:r>
              <a:rPr lang="zh-CN" altLang="en-US" sz="2800" dirty="0" smtClean="0">
                <a:solidFill>
                  <a:schemeClr val="bg1"/>
                </a:solidFill>
              </a:rPr>
              <a:t>操作系统一般采用</a:t>
            </a:r>
            <a:r>
              <a:rPr lang="zh-CN" altLang="zh-CN" sz="2800" dirty="0" smtClean="0">
                <a:solidFill>
                  <a:schemeClr val="bg1"/>
                </a:solidFill>
              </a:rPr>
              <a:t>Linux</a:t>
            </a:r>
            <a:r>
              <a:rPr lang="zh-CN" altLang="en-US" sz="2800" dirty="0" smtClean="0">
                <a:solidFill>
                  <a:schemeClr val="bg1"/>
                </a:solidFill>
              </a:rPr>
              <a:t>或</a:t>
            </a:r>
            <a:r>
              <a:rPr lang="zh-CN" altLang="zh-CN" sz="2800" dirty="0" smtClean="0">
                <a:solidFill>
                  <a:schemeClr val="bg1"/>
                </a:solidFill>
              </a:rPr>
              <a:t>Windows Server</a:t>
            </a:r>
            <a:r>
              <a:rPr lang="zh-CN" altLang="en-US" sz="2800" dirty="0" smtClean="0">
                <a:solidFill>
                  <a:schemeClr val="bg1"/>
                </a:solidFill>
              </a:rPr>
              <a:t>系列</a:t>
            </a:r>
            <a:r>
              <a:rPr lang="zh-CN" altLang="zh-CN" sz="2800" dirty="0" smtClean="0">
                <a:solidFill>
                  <a:schemeClr val="bg1"/>
                </a:solidFill>
              </a:rPr>
              <a:t>(server2008</a:t>
            </a:r>
            <a:r>
              <a:rPr lang="zh-CN" altLang="en-US" sz="2800" dirty="0" smtClean="0">
                <a:solidFill>
                  <a:schemeClr val="bg1"/>
                </a:solidFill>
              </a:rPr>
              <a:t>,</a:t>
            </a:r>
            <a:r>
              <a:rPr lang="en-US" altLang="zh-CN" sz="2800" dirty="0" smtClean="0">
                <a:solidFill>
                  <a:schemeClr val="bg1"/>
                </a:solidFill>
              </a:rPr>
              <a:t>server 2012</a:t>
            </a:r>
            <a:r>
              <a:rPr lang="zh-CN" altLang="en-US" sz="2800" dirty="0" smtClean="0">
                <a:solidFill>
                  <a:schemeClr val="bg1"/>
                </a:solidFill>
              </a:rPr>
              <a:t>，</a:t>
            </a:r>
            <a:r>
              <a:rPr lang="en-US" altLang="zh-CN" sz="2800" dirty="0" smtClean="0">
                <a:solidFill>
                  <a:schemeClr val="bg1"/>
                </a:solidFill>
              </a:rPr>
              <a:t>server2015,server2019</a:t>
            </a:r>
            <a:r>
              <a:rPr lang="zh-CN" altLang="zh-CN" sz="2800" dirty="0" smtClean="0">
                <a:solidFill>
                  <a:schemeClr val="bg1"/>
                </a:solidFill>
              </a:rPr>
              <a:t>), </a:t>
            </a:r>
            <a:r>
              <a:rPr lang="zh-CN" altLang="en-US" sz="2800" dirty="0" smtClean="0">
                <a:solidFill>
                  <a:schemeClr val="bg1"/>
                </a:solidFill>
              </a:rPr>
              <a:t>等。</a:t>
            </a:r>
          </a:p>
          <a:p>
            <a:pPr algn="just" eaLnBrk="1" hangingPunct="1">
              <a:lnSpc>
                <a:spcPct val="80000"/>
              </a:lnSpc>
            </a:pPr>
            <a:endParaRPr lang="zh-CN" altLang="zh-CN" sz="2800" dirty="0" smtClean="0">
              <a:solidFill>
                <a:schemeClr val="bg1"/>
              </a:solidFill>
            </a:endParaRPr>
          </a:p>
          <a:p>
            <a:pPr algn="just" eaLnBrk="1" hangingPunct="1">
              <a:lnSpc>
                <a:spcPct val="80000"/>
              </a:lnSpc>
            </a:pPr>
            <a:r>
              <a:rPr lang="zh-CN" altLang="en-US" sz="2800" dirty="0" smtClean="0">
                <a:solidFill>
                  <a:schemeClr val="bg1"/>
                </a:solidFill>
              </a:rPr>
              <a:t>数据库管理系统</a:t>
            </a:r>
            <a:r>
              <a:rPr lang="zh-CN" altLang="zh-CN" sz="2800" dirty="0" smtClean="0">
                <a:solidFill>
                  <a:schemeClr val="bg1"/>
                </a:solidFill>
              </a:rPr>
              <a:t>RDBMS</a:t>
            </a:r>
            <a:r>
              <a:rPr lang="zh-CN" altLang="en-US" sz="2800" dirty="0" smtClean="0">
                <a:solidFill>
                  <a:schemeClr val="bg1"/>
                </a:solidFill>
              </a:rPr>
              <a:t>，使用高性能的</a:t>
            </a:r>
            <a:r>
              <a:rPr lang="zh-CN" altLang="zh-CN" sz="2800" dirty="0" smtClean="0">
                <a:solidFill>
                  <a:schemeClr val="bg1"/>
                </a:solidFill>
              </a:rPr>
              <a:t>Oracle</a:t>
            </a:r>
            <a:r>
              <a:rPr lang="zh-CN" altLang="en-US" sz="2800" dirty="0" smtClean="0">
                <a:solidFill>
                  <a:schemeClr val="bg1"/>
                </a:solidFill>
              </a:rPr>
              <a:t>、</a:t>
            </a:r>
            <a:r>
              <a:rPr lang="zh-CN" altLang="zh-CN" sz="2800" dirty="0" smtClean="0">
                <a:solidFill>
                  <a:schemeClr val="bg1"/>
                </a:solidFill>
              </a:rPr>
              <a:t>SQL Server</a:t>
            </a:r>
            <a:r>
              <a:rPr lang="zh-CN" altLang="en-US" sz="2800" dirty="0" smtClean="0">
                <a:solidFill>
                  <a:schemeClr val="bg1"/>
                </a:solidFill>
              </a:rPr>
              <a:t>数据库系统，</a:t>
            </a:r>
            <a:r>
              <a:rPr lang="en-GB" altLang="zh-CN" sz="3600" u="sng" dirty="0" err="1" smtClean="0">
                <a:solidFill>
                  <a:schemeClr val="bg1"/>
                </a:solidFill>
              </a:rPr>
              <a:t>postgres</a:t>
            </a:r>
            <a:r>
              <a:rPr lang="en-GB" altLang="zh-CN" sz="2800" dirty="0" smtClean="0">
                <a:solidFill>
                  <a:schemeClr val="bg1"/>
                </a:solidFill>
              </a:rPr>
              <a:t>,</a:t>
            </a:r>
            <a:r>
              <a:rPr lang="zh-CN" altLang="en-US" sz="2800" dirty="0" smtClean="0">
                <a:solidFill>
                  <a:schemeClr val="bg1"/>
                </a:solidFill>
              </a:rPr>
              <a:t>或简单易用的</a:t>
            </a:r>
            <a:r>
              <a:rPr lang="zh-CN" altLang="zh-CN" sz="2800" dirty="0" smtClean="0">
                <a:solidFill>
                  <a:schemeClr val="bg1"/>
                </a:solidFill>
              </a:rPr>
              <a:t>Access</a:t>
            </a:r>
            <a:r>
              <a:rPr lang="zh-CN" altLang="en-US" sz="2800" dirty="0" smtClean="0">
                <a:solidFill>
                  <a:schemeClr val="bg1"/>
                </a:solidFill>
              </a:rPr>
              <a:t>、</a:t>
            </a:r>
            <a:r>
              <a:rPr lang="en-US" altLang="zh-CN" sz="2800" dirty="0" err="1" smtClean="0">
                <a:solidFill>
                  <a:schemeClr val="bg1"/>
                </a:solidFill>
              </a:rPr>
              <a:t>sqlite</a:t>
            </a:r>
            <a:r>
              <a:rPr lang="zh-CN" altLang="en-US" sz="2800" dirty="0" smtClean="0">
                <a:solidFill>
                  <a:schemeClr val="bg1"/>
                </a:solidFill>
              </a:rPr>
              <a:t>；新型的数据库：</a:t>
            </a:r>
            <a:r>
              <a:rPr lang="en-US" altLang="zh-CN" sz="2800" dirty="0" err="1" smtClean="0">
                <a:solidFill>
                  <a:schemeClr val="bg1"/>
                </a:solidFill>
              </a:rPr>
              <a:t>mongodb</a:t>
            </a:r>
            <a:r>
              <a:rPr lang="zh-CN" altLang="en-US" sz="2800" dirty="0" smtClean="0">
                <a:solidFill>
                  <a:schemeClr val="bg1"/>
                </a:solidFill>
              </a:rPr>
              <a:t>、</a:t>
            </a:r>
            <a:r>
              <a:rPr lang="en-US" altLang="zh-CN" sz="2800" dirty="0" err="1" smtClean="0">
                <a:solidFill>
                  <a:schemeClr val="bg1"/>
                </a:solidFill>
              </a:rPr>
              <a:t>duckdb</a:t>
            </a:r>
            <a:r>
              <a:rPr lang="zh-CN" altLang="en-US" sz="2800" dirty="0" smtClean="0">
                <a:solidFill>
                  <a:schemeClr val="bg1"/>
                </a:solidFill>
              </a:rPr>
              <a:t>、</a:t>
            </a:r>
            <a:r>
              <a:rPr lang="en-US" altLang="zh-CN" sz="2800" dirty="0" smtClean="0">
                <a:solidFill>
                  <a:schemeClr val="bg1"/>
                </a:solidFill>
              </a:rPr>
              <a:t>Apache </a:t>
            </a:r>
            <a:r>
              <a:rPr lang="en-US" altLang="zh-CN" sz="2800" dirty="0" err="1" smtClean="0">
                <a:solidFill>
                  <a:schemeClr val="bg1"/>
                </a:solidFill>
              </a:rPr>
              <a:t>sedona</a:t>
            </a:r>
            <a:r>
              <a:rPr lang="en-US" altLang="zh-CN" sz="2800" dirty="0" smtClean="0">
                <a:solidFill>
                  <a:schemeClr val="bg1"/>
                </a:solidFill>
              </a:rPr>
              <a:t>.</a:t>
            </a:r>
            <a:r>
              <a:rPr lang="zh-CN" altLang="en-US" sz="2800" dirty="0" smtClean="0">
                <a:solidFill>
                  <a:schemeClr val="bg1"/>
                </a:solidFill>
              </a:rPr>
              <a:t>；</a:t>
            </a:r>
            <a:r>
              <a:rPr lang="zh-CN" altLang="en-US" sz="2800" dirty="0" smtClean="0">
                <a:solidFill>
                  <a:schemeClr val="bg1"/>
                </a:solidFill>
              </a:rPr>
              <a:t>数据</a:t>
            </a:r>
            <a:r>
              <a:rPr lang="zh-CN" altLang="en-US" sz="2800" dirty="0" smtClean="0">
                <a:solidFill>
                  <a:schemeClr val="bg1"/>
                </a:solidFill>
              </a:rPr>
              <a:t>存取采用较流行的</a:t>
            </a:r>
            <a:r>
              <a:rPr lang="zh-CN" altLang="zh-CN" sz="2800" dirty="0" smtClean="0">
                <a:solidFill>
                  <a:schemeClr val="bg1"/>
                </a:solidFill>
              </a:rPr>
              <a:t>ODBC</a:t>
            </a:r>
            <a:r>
              <a:rPr lang="zh-CN" altLang="en-US" sz="2800" dirty="0" smtClean="0">
                <a:solidFill>
                  <a:schemeClr val="bg1"/>
                </a:solidFill>
              </a:rPr>
              <a:t>或</a:t>
            </a:r>
            <a:r>
              <a:rPr lang="zh-CN" altLang="zh-CN" sz="2800" dirty="0" smtClean="0">
                <a:solidFill>
                  <a:schemeClr val="bg1"/>
                </a:solidFill>
              </a:rPr>
              <a:t>JDBC,net</a:t>
            </a:r>
            <a:r>
              <a:rPr lang="zh-CN" altLang="en-US" sz="2800" dirty="0" smtClean="0">
                <a:solidFill>
                  <a:schemeClr val="bg1"/>
                </a:solidFill>
              </a:rPr>
              <a:t>数据库类库等数据库连接标准。</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539750" y="404813"/>
            <a:ext cx="7772400" cy="1143000"/>
          </a:xfrm>
          <a:noFill/>
        </p:spPr>
        <p:txBody>
          <a:bodyPr/>
          <a:lstStyle/>
          <a:p>
            <a:pPr eaLnBrk="1" hangingPunct="1"/>
            <a:r>
              <a:rPr lang="zh-CN" altLang="zh-CN" smtClean="0">
                <a:solidFill>
                  <a:schemeClr val="bg1"/>
                </a:solidFill>
              </a:rPr>
              <a:t>GIS</a:t>
            </a:r>
            <a:r>
              <a:rPr lang="zh-CN" altLang="en-US" smtClean="0">
                <a:solidFill>
                  <a:schemeClr val="bg1"/>
                </a:solidFill>
              </a:rPr>
              <a:t>服务器</a:t>
            </a:r>
          </a:p>
        </p:txBody>
      </p:sp>
      <p:sp>
        <p:nvSpPr>
          <p:cNvPr id="8195" name="Rectangle 3"/>
          <p:cNvSpPr>
            <a:spLocks noGrp="1" noChangeArrowheads="1"/>
          </p:cNvSpPr>
          <p:nvPr>
            <p:ph type="body" idx="4294967295"/>
          </p:nvPr>
        </p:nvSpPr>
        <p:spPr bwMode="auto">
          <a:xfrm>
            <a:off x="827088" y="1628775"/>
            <a:ext cx="77724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lnSpc>
                <a:spcPct val="90000"/>
              </a:lnSpc>
            </a:pPr>
            <a:r>
              <a:rPr lang="zh-CN" altLang="zh-CN" sz="2800" smtClean="0">
                <a:solidFill>
                  <a:schemeClr val="bg1"/>
                </a:solidFill>
              </a:rPr>
              <a:t>GIS</a:t>
            </a:r>
            <a:r>
              <a:rPr lang="zh-CN" altLang="en-US" sz="2800" smtClean="0">
                <a:solidFill>
                  <a:schemeClr val="bg1"/>
                </a:solidFill>
              </a:rPr>
              <a:t>服务器是指能够为网络客户提供各种地理服务的软件系统和硬件系统的总称。</a:t>
            </a:r>
          </a:p>
          <a:p>
            <a:pPr algn="just" eaLnBrk="1" hangingPunct="1">
              <a:lnSpc>
                <a:spcPct val="90000"/>
              </a:lnSpc>
            </a:pPr>
            <a:endParaRPr lang="zh-CN" altLang="zh-CN" sz="2800" smtClean="0">
              <a:solidFill>
                <a:schemeClr val="bg1"/>
              </a:solidFill>
            </a:endParaRPr>
          </a:p>
          <a:p>
            <a:pPr algn="just" eaLnBrk="1" hangingPunct="1">
              <a:lnSpc>
                <a:spcPct val="90000"/>
              </a:lnSpc>
            </a:pPr>
            <a:r>
              <a:rPr lang="zh-CN" altLang="en-US" sz="2800" smtClean="0">
                <a:solidFill>
                  <a:schemeClr val="bg1"/>
                </a:solidFill>
              </a:rPr>
              <a:t>服务包括数据存取、地图显示、空间分析、模型管理、目录检索等。</a:t>
            </a:r>
          </a:p>
          <a:p>
            <a:pPr algn="just" eaLnBrk="1" hangingPunct="1">
              <a:lnSpc>
                <a:spcPct val="90000"/>
              </a:lnSpc>
            </a:pPr>
            <a:endParaRPr lang="zh-CN" altLang="zh-CN" sz="2800" smtClean="0">
              <a:solidFill>
                <a:schemeClr val="bg1"/>
              </a:solidFill>
            </a:endParaRPr>
          </a:p>
          <a:p>
            <a:pPr algn="just" eaLnBrk="1" hangingPunct="1">
              <a:lnSpc>
                <a:spcPct val="90000"/>
              </a:lnSpc>
            </a:pPr>
            <a:r>
              <a:rPr lang="zh-CN" altLang="en-US" sz="2800" smtClean="0">
                <a:solidFill>
                  <a:schemeClr val="bg1"/>
                </a:solidFill>
              </a:rPr>
              <a:t>通过扩充</a:t>
            </a:r>
            <a:r>
              <a:rPr lang="zh-CN" altLang="zh-CN" sz="2800" smtClean="0">
                <a:solidFill>
                  <a:schemeClr val="bg1"/>
                </a:solidFill>
              </a:rPr>
              <a:t>Web</a:t>
            </a:r>
            <a:r>
              <a:rPr lang="zh-CN" altLang="en-US" sz="2800" smtClean="0">
                <a:solidFill>
                  <a:schemeClr val="bg1"/>
                </a:solidFill>
              </a:rPr>
              <a:t>服务器，使</a:t>
            </a:r>
            <a:r>
              <a:rPr lang="zh-CN" altLang="zh-CN" sz="2800" smtClean="0">
                <a:solidFill>
                  <a:schemeClr val="bg1"/>
                </a:solidFill>
              </a:rPr>
              <a:t>GIS</a:t>
            </a:r>
            <a:r>
              <a:rPr lang="zh-CN" altLang="en-US" sz="2800" smtClean="0">
                <a:solidFill>
                  <a:schemeClr val="bg1"/>
                </a:solidFill>
              </a:rPr>
              <a:t>服务器透过</a:t>
            </a:r>
            <a:r>
              <a:rPr lang="zh-CN" altLang="zh-CN" sz="2800" smtClean="0">
                <a:solidFill>
                  <a:schemeClr val="bg1"/>
                </a:solidFill>
              </a:rPr>
              <a:t>WWW</a:t>
            </a:r>
            <a:r>
              <a:rPr lang="zh-CN" altLang="en-US" sz="2800" smtClean="0">
                <a:solidFill>
                  <a:schemeClr val="bg1"/>
                </a:solidFill>
              </a:rPr>
              <a:t>协议为</a:t>
            </a:r>
            <a:r>
              <a:rPr lang="zh-CN" altLang="zh-CN" sz="2800" smtClean="0">
                <a:solidFill>
                  <a:schemeClr val="bg1"/>
                </a:solidFill>
              </a:rPr>
              <a:t>Internet</a:t>
            </a:r>
            <a:r>
              <a:rPr lang="zh-CN" altLang="en-US" sz="2800" smtClean="0">
                <a:solidFill>
                  <a:schemeClr val="bg1"/>
                </a:solidFill>
              </a:rPr>
              <a:t>用户提供地理信息服务。</a:t>
            </a:r>
            <a:r>
              <a:rPr lang="zh-CN" altLang="zh-CN" sz="2800" smtClean="0">
                <a:solidFill>
                  <a:schemeClr val="bg1"/>
                </a:solidFill>
              </a:rPr>
              <a:t>GIS</a:t>
            </a:r>
            <a:r>
              <a:rPr lang="zh-CN" altLang="en-US" sz="2800" smtClean="0">
                <a:solidFill>
                  <a:schemeClr val="bg1"/>
                </a:solidFill>
              </a:rPr>
              <a:t>服务器的设计是核心之一。</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body" idx="1"/>
          </p:nvPr>
        </p:nvSpPr>
        <p:spPr bwMode="auto">
          <a:xfrm>
            <a:off x="755650" y="333375"/>
            <a:ext cx="8208963" cy="604837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just" eaLnBrk="1" hangingPunct="1">
              <a:lnSpc>
                <a:spcPct val="80000"/>
              </a:lnSpc>
            </a:pPr>
            <a:endParaRPr lang="zh-CN" altLang="zh-CN" sz="2600" smtClean="0">
              <a:solidFill>
                <a:schemeClr val="bg1"/>
              </a:solidFill>
            </a:endParaRPr>
          </a:p>
          <a:p>
            <a:pPr algn="just" eaLnBrk="1" hangingPunct="1">
              <a:lnSpc>
                <a:spcPct val="80000"/>
              </a:lnSpc>
            </a:pPr>
            <a:r>
              <a:rPr lang="zh-CN" altLang="zh-CN" sz="2600" smtClean="0">
                <a:solidFill>
                  <a:schemeClr val="bg1"/>
                </a:solidFill>
              </a:rPr>
              <a:t>WWW</a:t>
            </a:r>
            <a:r>
              <a:rPr lang="zh-CN" altLang="en-US" sz="2600" smtClean="0">
                <a:solidFill>
                  <a:schemeClr val="bg1"/>
                </a:solidFill>
              </a:rPr>
              <a:t>服务器负责接受客户端的</a:t>
            </a:r>
            <a:r>
              <a:rPr lang="zh-CN" altLang="zh-CN" sz="2600" smtClean="0">
                <a:solidFill>
                  <a:schemeClr val="bg1"/>
                </a:solidFill>
              </a:rPr>
              <a:t>GIS</a:t>
            </a:r>
            <a:r>
              <a:rPr lang="zh-CN" altLang="en-US" sz="2600" smtClean="0">
                <a:solidFill>
                  <a:schemeClr val="bg1"/>
                </a:solidFill>
              </a:rPr>
              <a:t>服务请求，传递给</a:t>
            </a:r>
            <a:r>
              <a:rPr lang="zh-CN" altLang="zh-CN" sz="2600" smtClean="0">
                <a:solidFill>
                  <a:schemeClr val="bg1"/>
                </a:solidFill>
              </a:rPr>
              <a:t>GIS</a:t>
            </a:r>
            <a:r>
              <a:rPr lang="zh-CN" altLang="en-US" sz="2600" smtClean="0">
                <a:solidFill>
                  <a:schemeClr val="bg1"/>
                </a:solidFill>
              </a:rPr>
              <a:t>服务器或</a:t>
            </a:r>
            <a:r>
              <a:rPr lang="zh-CN" altLang="zh-CN" sz="2600" smtClean="0">
                <a:solidFill>
                  <a:schemeClr val="bg1"/>
                </a:solidFill>
              </a:rPr>
              <a:t>GIS</a:t>
            </a:r>
            <a:r>
              <a:rPr lang="zh-CN" altLang="en-US" sz="2600" smtClean="0">
                <a:solidFill>
                  <a:schemeClr val="bg1"/>
                </a:solidFill>
              </a:rPr>
              <a:t>元数据服务器，交把结果送回给客户；通常的</a:t>
            </a:r>
            <a:r>
              <a:rPr lang="zh-CN" altLang="zh-CN" sz="2600" smtClean="0">
                <a:solidFill>
                  <a:schemeClr val="bg1"/>
                </a:solidFill>
              </a:rPr>
              <a:t>www</a:t>
            </a:r>
            <a:r>
              <a:rPr lang="zh-CN" altLang="en-US" sz="2600" smtClean="0">
                <a:solidFill>
                  <a:schemeClr val="bg1"/>
                </a:solidFill>
              </a:rPr>
              <a:t>服务器有</a:t>
            </a:r>
            <a:r>
              <a:rPr lang="zh-CN" altLang="zh-CN" sz="2600" smtClean="0">
                <a:solidFill>
                  <a:schemeClr val="bg1"/>
                </a:solidFill>
              </a:rPr>
              <a:t>IIS</a:t>
            </a:r>
            <a:r>
              <a:rPr lang="zh-CN" altLang="en-US" sz="2600" smtClean="0">
                <a:solidFill>
                  <a:schemeClr val="bg1"/>
                </a:solidFill>
              </a:rPr>
              <a:t>（</a:t>
            </a:r>
            <a:r>
              <a:rPr lang="zh-CN" altLang="zh-CN" sz="2600" smtClean="0">
                <a:solidFill>
                  <a:schemeClr val="bg1"/>
                </a:solidFill>
              </a:rPr>
              <a:t>internet informaiton System),Apache</a:t>
            </a:r>
            <a:r>
              <a:rPr lang="zh-CN" altLang="en-US" sz="2600" smtClean="0">
                <a:solidFill>
                  <a:schemeClr val="bg1"/>
                </a:solidFill>
              </a:rPr>
              <a:t>，</a:t>
            </a:r>
            <a:r>
              <a:rPr lang="en-US" altLang="zh-CN" sz="2600" smtClean="0">
                <a:solidFill>
                  <a:schemeClr val="bg1"/>
                </a:solidFill>
              </a:rPr>
              <a:t>Tomcat</a:t>
            </a:r>
            <a:r>
              <a:rPr lang="zh-CN" altLang="zh-CN" sz="2600" smtClean="0">
                <a:solidFill>
                  <a:schemeClr val="bg1"/>
                </a:solidFill>
              </a:rPr>
              <a:t>….</a:t>
            </a:r>
          </a:p>
          <a:p>
            <a:pPr algn="just" eaLnBrk="1" hangingPunct="1">
              <a:lnSpc>
                <a:spcPct val="80000"/>
              </a:lnSpc>
            </a:pPr>
            <a:endParaRPr lang="zh-CN" altLang="zh-CN" sz="2600" smtClean="0">
              <a:solidFill>
                <a:schemeClr val="bg1"/>
              </a:solidFill>
            </a:endParaRPr>
          </a:p>
          <a:p>
            <a:pPr eaLnBrk="1" hangingPunct="1">
              <a:lnSpc>
                <a:spcPct val="80000"/>
              </a:lnSpc>
            </a:pPr>
            <a:r>
              <a:rPr lang="zh-CN" altLang="zh-CN" sz="2600" smtClean="0">
                <a:solidFill>
                  <a:schemeClr val="bg1"/>
                </a:solidFill>
              </a:rPr>
              <a:t>GIS</a:t>
            </a:r>
            <a:r>
              <a:rPr lang="zh-CN" altLang="en-US" sz="2600" smtClean="0">
                <a:solidFill>
                  <a:schemeClr val="bg1"/>
                </a:solidFill>
              </a:rPr>
              <a:t>服务器完成客户的</a:t>
            </a:r>
            <a:r>
              <a:rPr lang="zh-CN" altLang="zh-CN" sz="2600" smtClean="0">
                <a:solidFill>
                  <a:schemeClr val="bg1"/>
                </a:solidFill>
              </a:rPr>
              <a:t>GIS</a:t>
            </a:r>
            <a:r>
              <a:rPr lang="zh-CN" altLang="en-US" sz="2600" smtClean="0">
                <a:solidFill>
                  <a:schemeClr val="bg1"/>
                </a:solidFill>
              </a:rPr>
              <a:t>服务请求的功能，将结果转为</a:t>
            </a:r>
            <a:r>
              <a:rPr lang="zh-CN" altLang="zh-CN" sz="2600" smtClean="0">
                <a:solidFill>
                  <a:schemeClr val="bg1"/>
                </a:solidFill>
              </a:rPr>
              <a:t>HTML</a:t>
            </a:r>
            <a:r>
              <a:rPr lang="zh-CN" altLang="en-US" sz="2600" smtClean="0">
                <a:solidFill>
                  <a:schemeClr val="bg1"/>
                </a:solidFill>
              </a:rPr>
              <a:t>页面或直接把</a:t>
            </a:r>
            <a:r>
              <a:rPr lang="zh-CN" altLang="zh-CN" sz="2600" smtClean="0">
                <a:solidFill>
                  <a:schemeClr val="bg1"/>
                </a:solidFill>
              </a:rPr>
              <a:t>GIS</a:t>
            </a:r>
            <a:r>
              <a:rPr lang="zh-CN" altLang="en-US" sz="2600" smtClean="0">
                <a:solidFill>
                  <a:schemeClr val="bg1"/>
                </a:solidFill>
              </a:rPr>
              <a:t>数据通过</a:t>
            </a:r>
            <a:r>
              <a:rPr lang="zh-CN" altLang="zh-CN" sz="2600" smtClean="0">
                <a:solidFill>
                  <a:schemeClr val="bg1"/>
                </a:solidFill>
              </a:rPr>
              <a:t>WWW</a:t>
            </a:r>
            <a:r>
              <a:rPr lang="zh-CN" altLang="en-US" sz="2600" smtClean="0">
                <a:solidFill>
                  <a:schemeClr val="bg1"/>
                </a:solidFill>
              </a:rPr>
              <a:t>服务器返回客户端；</a:t>
            </a:r>
            <a:r>
              <a:rPr lang="zh-CN" altLang="zh-CN" sz="2600" smtClean="0">
                <a:solidFill>
                  <a:schemeClr val="bg1"/>
                </a:solidFill>
              </a:rPr>
              <a:t>GIS</a:t>
            </a:r>
            <a:r>
              <a:rPr lang="zh-CN" altLang="en-US" sz="2600" smtClean="0">
                <a:solidFill>
                  <a:schemeClr val="bg1"/>
                </a:solidFill>
              </a:rPr>
              <a:t>服务器也能同客户端直接通信，完成</a:t>
            </a:r>
            <a:r>
              <a:rPr lang="zh-CN" altLang="zh-CN" sz="2600" smtClean="0">
                <a:solidFill>
                  <a:schemeClr val="bg1"/>
                </a:solidFill>
              </a:rPr>
              <a:t>GIS</a:t>
            </a:r>
            <a:r>
              <a:rPr lang="zh-CN" altLang="en-US" sz="2600" smtClean="0">
                <a:solidFill>
                  <a:schemeClr val="bg1"/>
                </a:solidFill>
              </a:rPr>
              <a:t>服务；</a:t>
            </a:r>
            <a:endParaRPr lang="en-US" altLang="zh-CN" sz="2600" smtClean="0">
              <a:solidFill>
                <a:schemeClr val="bg1"/>
              </a:solidFill>
            </a:endParaRPr>
          </a:p>
          <a:p>
            <a:pPr eaLnBrk="1" hangingPunct="1">
              <a:lnSpc>
                <a:spcPct val="80000"/>
              </a:lnSpc>
            </a:pPr>
            <a:endParaRPr lang="zh-CN" altLang="zh-CN" sz="2600" smtClean="0">
              <a:solidFill>
                <a:schemeClr val="bg1"/>
              </a:solidFill>
            </a:endParaRPr>
          </a:p>
          <a:p>
            <a:pPr eaLnBrk="1" hangingPunct="1">
              <a:lnSpc>
                <a:spcPct val="80000"/>
              </a:lnSpc>
            </a:pPr>
            <a:r>
              <a:rPr lang="zh-CN" altLang="en-US" sz="2600" smtClean="0">
                <a:solidFill>
                  <a:schemeClr val="bg1"/>
                </a:solidFill>
              </a:rPr>
              <a:t>在</a:t>
            </a:r>
            <a:r>
              <a:rPr lang="zh-CN" altLang="zh-CN" sz="2600" smtClean="0">
                <a:solidFill>
                  <a:schemeClr val="bg1"/>
                </a:solidFill>
              </a:rPr>
              <a:t>WWW</a:t>
            </a:r>
            <a:r>
              <a:rPr lang="zh-CN" altLang="en-US" sz="2600" smtClean="0">
                <a:solidFill>
                  <a:schemeClr val="bg1"/>
                </a:solidFill>
              </a:rPr>
              <a:t>服务器和</a:t>
            </a:r>
            <a:r>
              <a:rPr lang="zh-CN" altLang="zh-CN" sz="2600" smtClean="0">
                <a:solidFill>
                  <a:schemeClr val="bg1"/>
                </a:solidFill>
              </a:rPr>
              <a:t>GIS</a:t>
            </a:r>
            <a:r>
              <a:rPr lang="zh-CN" altLang="en-US" sz="2600" smtClean="0">
                <a:solidFill>
                  <a:schemeClr val="bg1"/>
                </a:solidFill>
              </a:rPr>
              <a:t>服务器间还可以增加</a:t>
            </a:r>
            <a:r>
              <a:rPr lang="zh-CN" altLang="zh-CN" sz="2600" smtClean="0">
                <a:solidFill>
                  <a:schemeClr val="bg1"/>
                </a:solidFill>
              </a:rPr>
              <a:t>GIS</a:t>
            </a:r>
            <a:r>
              <a:rPr lang="zh-CN" altLang="en-US" sz="2600" smtClean="0">
                <a:solidFill>
                  <a:schemeClr val="bg1"/>
                </a:solidFill>
              </a:rPr>
              <a:t>服务代理，协调服务器端</a:t>
            </a:r>
            <a:r>
              <a:rPr lang="zh-CN" altLang="zh-CN" sz="2600" smtClean="0">
                <a:solidFill>
                  <a:schemeClr val="bg1"/>
                </a:solidFill>
              </a:rPr>
              <a:t>GIS</a:t>
            </a:r>
            <a:r>
              <a:rPr lang="zh-CN" altLang="en-US" sz="2600" smtClean="0">
                <a:solidFill>
                  <a:schemeClr val="bg1"/>
                </a:solidFill>
              </a:rPr>
              <a:t>软件、</a:t>
            </a:r>
            <a:r>
              <a:rPr lang="zh-CN" altLang="zh-CN" sz="2600" smtClean="0">
                <a:solidFill>
                  <a:schemeClr val="bg1"/>
                </a:solidFill>
              </a:rPr>
              <a:t>GIS</a:t>
            </a:r>
            <a:r>
              <a:rPr lang="zh-CN" altLang="en-US" sz="2600" smtClean="0">
                <a:solidFill>
                  <a:schemeClr val="bg1"/>
                </a:solidFill>
              </a:rPr>
              <a:t>数据库和</a:t>
            </a:r>
            <a:r>
              <a:rPr lang="zh-CN" altLang="zh-CN" sz="2600" smtClean="0">
                <a:solidFill>
                  <a:schemeClr val="bg1"/>
                </a:solidFill>
              </a:rPr>
              <a:t>GIS</a:t>
            </a:r>
            <a:r>
              <a:rPr lang="zh-CN" altLang="en-US" sz="2600" smtClean="0">
                <a:solidFill>
                  <a:schemeClr val="bg1"/>
                </a:solidFill>
              </a:rPr>
              <a:t>应用程序间的通信，提高</a:t>
            </a:r>
            <a:r>
              <a:rPr lang="zh-CN" altLang="zh-CN" sz="2600" smtClean="0">
                <a:solidFill>
                  <a:schemeClr val="bg1"/>
                </a:solidFill>
              </a:rPr>
              <a:t>GIS</a:t>
            </a:r>
            <a:r>
              <a:rPr lang="zh-CN" altLang="en-US" sz="2600" smtClean="0">
                <a:solidFill>
                  <a:schemeClr val="bg1"/>
                </a:solidFill>
              </a:rPr>
              <a:t>服务器性能。</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endParaRPr lang="zh-CN" altLang="zh-CN" smtClean="0"/>
          </a:p>
        </p:txBody>
      </p:sp>
      <p:sp>
        <p:nvSpPr>
          <p:cNvPr id="10243" name="Rectangle 3"/>
          <p:cNvSpPr>
            <a:spLocks noGrp="1" noChangeArrowheads="1"/>
          </p:cNvSpPr>
          <p:nvPr>
            <p:ph type="body" idx="1"/>
          </p:nvPr>
        </p:nvSpPr>
        <p:spPr bwMode="auto">
          <a:xfrm>
            <a:off x="457200" y="5157192"/>
            <a:ext cx="8229600" cy="1079772"/>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eaLnBrk="1" hangingPunct="1"/>
            <a:r>
              <a:rPr lang="en-US" altLang="zh-CN" dirty="0" smtClean="0">
                <a:solidFill>
                  <a:schemeClr val="bg1"/>
                </a:solidFill>
              </a:rPr>
              <a:t>ArcGIS Server </a:t>
            </a:r>
            <a:r>
              <a:rPr lang="zh-CN" altLang="en-US" dirty="0" smtClean="0">
                <a:solidFill>
                  <a:schemeClr val="bg1"/>
                </a:solidFill>
              </a:rPr>
              <a:t>早先版本选择使用</a:t>
            </a:r>
            <a:r>
              <a:rPr lang="en-US" altLang="zh-CN" dirty="0" smtClean="0">
                <a:solidFill>
                  <a:schemeClr val="bg1"/>
                </a:solidFill>
              </a:rPr>
              <a:t>IIS</a:t>
            </a:r>
            <a:r>
              <a:rPr lang="zh-CN" altLang="en-US" dirty="0" smtClean="0">
                <a:solidFill>
                  <a:schemeClr val="bg1"/>
                </a:solidFill>
              </a:rPr>
              <a:t>作为</a:t>
            </a:r>
            <a:r>
              <a:rPr lang="en-US" altLang="zh-CN" dirty="0" smtClean="0">
                <a:solidFill>
                  <a:schemeClr val="bg1"/>
                </a:solidFill>
              </a:rPr>
              <a:t>GIS</a:t>
            </a:r>
            <a:r>
              <a:rPr lang="zh-CN" altLang="en-US" dirty="0" smtClean="0">
                <a:solidFill>
                  <a:schemeClr val="bg1"/>
                </a:solidFill>
              </a:rPr>
              <a:t>服务代理范例</a:t>
            </a:r>
            <a:endParaRPr lang="zh-CN" altLang="zh-CN" dirty="0" smtClean="0">
              <a:solidFill>
                <a:schemeClr val="bg1"/>
              </a:solidFill>
            </a:endParaRPr>
          </a:p>
        </p:txBody>
      </p:sp>
      <p:pic>
        <p:nvPicPr>
          <p:cNvPr id="10244"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9425" y="476672"/>
            <a:ext cx="8207375"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539750" y="5445125"/>
            <a:ext cx="8316913" cy="893763"/>
          </a:xfrm>
        </p:spPr>
        <p:txBody>
          <a:bodyPr/>
          <a:lstStyle/>
          <a:p>
            <a:pPr eaLnBrk="1" hangingPunct="1"/>
            <a:r>
              <a:rPr lang="zh-CN" altLang="en-US" sz="3200" smtClean="0">
                <a:solidFill>
                  <a:schemeClr val="bg1"/>
                </a:solidFill>
              </a:rPr>
              <a:t>内嵌在</a:t>
            </a:r>
            <a:r>
              <a:rPr lang="zh-CN" altLang="zh-CN" sz="3200" smtClean="0">
                <a:solidFill>
                  <a:schemeClr val="bg1"/>
                </a:solidFill>
              </a:rPr>
              <a:t>MS4W(Mapserver for windows)</a:t>
            </a:r>
            <a:r>
              <a:rPr lang="zh-CN" altLang="en-US" sz="3200" smtClean="0">
                <a:solidFill>
                  <a:schemeClr val="bg1"/>
                </a:solidFill>
              </a:rPr>
              <a:t>中的</a:t>
            </a:r>
            <a:r>
              <a:rPr lang="zh-CN" altLang="zh-CN" sz="3200" smtClean="0">
                <a:solidFill>
                  <a:schemeClr val="bg1"/>
                </a:solidFill>
              </a:rPr>
              <a:t>apache</a:t>
            </a:r>
            <a:r>
              <a:rPr lang="zh-CN" altLang="en-US" sz="3200" smtClean="0">
                <a:solidFill>
                  <a:schemeClr val="bg1"/>
                </a:solidFill>
              </a:rPr>
              <a:t>服务器</a:t>
            </a:r>
          </a:p>
        </p:txBody>
      </p:sp>
      <p:pic>
        <p:nvPicPr>
          <p:cNvPr id="11267" name="Picture 3"/>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bwMode="auto">
          <a:xfrm>
            <a:off x="684213" y="260350"/>
            <a:ext cx="8229600" cy="452596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body" idx="4294967295"/>
          </p:nvPr>
        </p:nvSpPr>
        <p:spPr bwMode="auto">
          <a:xfrm>
            <a:off x="611188" y="260350"/>
            <a:ext cx="8066087" cy="5761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lnSpc>
                <a:spcPct val="90000"/>
              </a:lnSpc>
            </a:pPr>
            <a:r>
              <a:rPr lang="zh-CN" altLang="en-US" sz="2600" smtClean="0">
                <a:solidFill>
                  <a:schemeClr val="bg1"/>
                </a:solidFill>
              </a:rPr>
              <a:t>数据存取服务指服务器响应客户的操作请求，以数据记录或空间图形要素为单位，通过数据库管理系统或</a:t>
            </a:r>
            <a:r>
              <a:rPr lang="zh-CN" altLang="zh-CN" sz="2600" smtClean="0">
                <a:solidFill>
                  <a:schemeClr val="bg1"/>
                </a:solidFill>
              </a:rPr>
              <a:t>GIS</a:t>
            </a:r>
            <a:r>
              <a:rPr lang="zh-CN" altLang="en-US" sz="2600" smtClean="0">
                <a:solidFill>
                  <a:schemeClr val="bg1"/>
                </a:solidFill>
              </a:rPr>
              <a:t>软件，完成存取空间数据及相关属性数据，数据存取服务要支持多用户请求，并保持空间数据的完整性和一致性。</a:t>
            </a:r>
          </a:p>
          <a:p>
            <a:pPr algn="just" eaLnBrk="1" hangingPunct="1">
              <a:lnSpc>
                <a:spcPct val="90000"/>
              </a:lnSpc>
            </a:pPr>
            <a:endParaRPr lang="zh-CN" altLang="zh-CN" sz="2600" smtClean="0">
              <a:solidFill>
                <a:schemeClr val="bg1"/>
              </a:solidFill>
            </a:endParaRPr>
          </a:p>
          <a:p>
            <a:pPr algn="just" eaLnBrk="1" hangingPunct="1">
              <a:lnSpc>
                <a:spcPct val="90000"/>
              </a:lnSpc>
            </a:pPr>
            <a:r>
              <a:rPr lang="zh-CN" altLang="en-US" sz="2600" smtClean="0">
                <a:solidFill>
                  <a:schemeClr val="bg1"/>
                </a:solidFill>
              </a:rPr>
              <a:t>地图显示服务指服务器能够按特定的要求，取出满足条件的空间信息。组织成地图格式（如</a:t>
            </a:r>
            <a:r>
              <a:rPr lang="zh-CN" altLang="zh-CN" sz="2600" smtClean="0">
                <a:solidFill>
                  <a:schemeClr val="bg1"/>
                </a:solidFill>
              </a:rPr>
              <a:t>SVG</a:t>
            </a:r>
            <a:r>
              <a:rPr lang="zh-CN" altLang="en-US" sz="2600" smtClean="0">
                <a:solidFill>
                  <a:schemeClr val="bg1"/>
                </a:solidFill>
              </a:rPr>
              <a:t>），或图像格式（</a:t>
            </a:r>
            <a:r>
              <a:rPr lang="zh-CN" altLang="zh-CN" sz="2600" smtClean="0">
                <a:solidFill>
                  <a:schemeClr val="bg1"/>
                </a:solidFill>
              </a:rPr>
              <a:t>JEPG</a:t>
            </a:r>
            <a:r>
              <a:rPr lang="zh-CN" altLang="en-US" sz="2600" smtClean="0">
                <a:solidFill>
                  <a:schemeClr val="bg1"/>
                </a:solidFill>
              </a:rPr>
              <a:t>，</a:t>
            </a:r>
            <a:r>
              <a:rPr lang="zh-CN" altLang="zh-CN" sz="2600" smtClean="0">
                <a:solidFill>
                  <a:schemeClr val="bg1"/>
                </a:solidFill>
              </a:rPr>
              <a:t>PNG</a:t>
            </a:r>
            <a:r>
              <a:rPr lang="zh-CN" altLang="en-US" sz="2600" smtClean="0">
                <a:solidFill>
                  <a:schemeClr val="bg1"/>
                </a:solidFill>
              </a:rPr>
              <a:t>），然后送给用户。</a:t>
            </a:r>
          </a:p>
          <a:p>
            <a:pPr algn="just" eaLnBrk="1" hangingPunct="1">
              <a:lnSpc>
                <a:spcPct val="90000"/>
              </a:lnSpc>
            </a:pPr>
            <a:endParaRPr lang="zh-CN" altLang="zh-CN" sz="2600" smtClean="0">
              <a:solidFill>
                <a:schemeClr val="bg1"/>
              </a:solidFill>
            </a:endParaRPr>
          </a:p>
          <a:p>
            <a:pPr algn="just" eaLnBrk="1" hangingPunct="1">
              <a:lnSpc>
                <a:spcPct val="90000"/>
              </a:lnSpc>
            </a:pPr>
            <a:r>
              <a:rPr lang="zh-CN" altLang="en-US" sz="2600" smtClean="0">
                <a:solidFill>
                  <a:schemeClr val="bg1"/>
                </a:solidFill>
              </a:rPr>
              <a:t>地理空间分析服务指服务器能够按照客户的请求，对特定的空间数据，进行最基本的空间分析，分析的结果可返回给用户。</a:t>
            </a:r>
          </a:p>
          <a:p>
            <a:pPr algn="just" eaLnBrk="1" hangingPunct="1">
              <a:lnSpc>
                <a:spcPct val="90000"/>
              </a:lnSpc>
            </a:pPr>
            <a:endParaRPr lang="zh-CN" altLang="zh-CN" sz="2600" smtClean="0">
              <a:solidFill>
                <a:schemeClr val="bg1"/>
              </a:solidFill>
            </a:endParaRPr>
          </a:p>
          <a:p>
            <a:pPr algn="just" eaLnBrk="1" hangingPunct="1">
              <a:lnSpc>
                <a:spcPct val="90000"/>
              </a:lnSpc>
            </a:pPr>
            <a:r>
              <a:rPr lang="zh-CN" altLang="en-US" sz="2600" smtClean="0">
                <a:solidFill>
                  <a:schemeClr val="bg1"/>
                </a:solidFill>
              </a:rPr>
              <a:t>地理目录服务指服务器集中管理本地的空间数据目录，供给客户检索和判断所需的地理数据。</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116013" y="557213"/>
            <a:ext cx="7696200" cy="533400"/>
          </a:xfrm>
        </p:spPr>
        <p:txBody>
          <a:bodyPr/>
          <a:lstStyle/>
          <a:p>
            <a:pPr eaLnBrk="1" hangingPunct="1"/>
            <a:r>
              <a:rPr lang="zh-CN" altLang="en-US" sz="4000" smtClean="0">
                <a:solidFill>
                  <a:schemeClr val="bg1"/>
                </a:solidFill>
              </a:rPr>
              <a:t>目录服务</a:t>
            </a:r>
          </a:p>
        </p:txBody>
      </p:sp>
      <p:sp>
        <p:nvSpPr>
          <p:cNvPr id="13315" name="Rectangle 4"/>
          <p:cNvSpPr>
            <a:spLocks noChangeArrowheads="1"/>
          </p:cNvSpPr>
          <p:nvPr/>
        </p:nvSpPr>
        <p:spPr bwMode="auto">
          <a:xfrm>
            <a:off x="1187450" y="5445125"/>
            <a:ext cx="777716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en-GB" altLang="zh-CN" sz="1600" dirty="0">
                <a:solidFill>
                  <a:schemeClr val="bg1"/>
                </a:solidFill>
              </a:rPr>
              <a:t>http://www.webmap.cn/commres.do?method=cataLogStore&amp;storeID=22&amp;storeName=%E7%A6%8F%E5%BB%BA%E7%9C%81%E5%9F%BA%E7%A1%80%E5%9C%B0%E7%90%86%E4%BF%A1%E6%81%AF%E4%B8%AD%E5%BF%83</a:t>
            </a:r>
            <a:endParaRPr lang="zh-CN" altLang="zh-CN" sz="1600" dirty="0">
              <a:solidFill>
                <a:schemeClr val="bg1"/>
              </a:solidFill>
            </a:endParaRPr>
          </a:p>
        </p:txBody>
      </p:sp>
      <p:pic>
        <p:nvPicPr>
          <p:cNvPr id="13316" name="内容占位符 2"/>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08138" y="1123950"/>
            <a:ext cx="6711950" cy="41640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684213" y="115888"/>
            <a:ext cx="7772400" cy="908050"/>
          </a:xfrm>
          <a:noFill/>
        </p:spPr>
        <p:txBody>
          <a:bodyPr/>
          <a:lstStyle/>
          <a:p>
            <a:pPr eaLnBrk="1" hangingPunct="1"/>
            <a:r>
              <a:rPr lang="zh-CN" altLang="en-US" sz="4000" smtClean="0">
                <a:solidFill>
                  <a:schemeClr val="bg1"/>
                </a:solidFill>
              </a:rPr>
              <a:t>本地地理应用软件</a:t>
            </a:r>
          </a:p>
        </p:txBody>
      </p:sp>
      <p:sp>
        <p:nvSpPr>
          <p:cNvPr id="14339" name="Rectangle 3"/>
          <p:cNvSpPr>
            <a:spLocks noGrp="1" noChangeArrowheads="1"/>
          </p:cNvSpPr>
          <p:nvPr>
            <p:ph type="body" idx="4294967295"/>
          </p:nvPr>
        </p:nvSpPr>
        <p:spPr bwMode="auto">
          <a:xfrm>
            <a:off x="684213" y="1052513"/>
            <a:ext cx="8208962" cy="54721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lnSpc>
                <a:spcPct val="80000"/>
              </a:lnSpc>
            </a:pPr>
            <a:r>
              <a:rPr lang="zh-CN" altLang="en-US" sz="2800" smtClean="0">
                <a:solidFill>
                  <a:schemeClr val="bg1"/>
                </a:solidFill>
              </a:rPr>
              <a:t>在</a:t>
            </a:r>
            <a:r>
              <a:rPr lang="zh-CN" altLang="zh-CN" sz="2800" smtClean="0">
                <a:solidFill>
                  <a:schemeClr val="bg1"/>
                </a:solidFill>
              </a:rPr>
              <a:t>C/S</a:t>
            </a:r>
            <a:r>
              <a:rPr lang="zh-CN" altLang="en-US" sz="2800" smtClean="0">
                <a:solidFill>
                  <a:schemeClr val="bg1"/>
                </a:solidFill>
              </a:rPr>
              <a:t>（</a:t>
            </a:r>
            <a:r>
              <a:rPr lang="zh-CN" altLang="zh-CN" sz="2800" smtClean="0">
                <a:solidFill>
                  <a:schemeClr val="bg1"/>
                </a:solidFill>
              </a:rPr>
              <a:t>client/Server)</a:t>
            </a:r>
            <a:r>
              <a:rPr lang="zh-CN" altLang="en-US" sz="2800" smtClean="0">
                <a:solidFill>
                  <a:schemeClr val="bg1"/>
                </a:solidFill>
              </a:rPr>
              <a:t>模式中应用</a:t>
            </a:r>
          </a:p>
          <a:p>
            <a:pPr algn="just" eaLnBrk="1" hangingPunct="1">
              <a:lnSpc>
                <a:spcPct val="80000"/>
              </a:lnSpc>
            </a:pPr>
            <a:r>
              <a:rPr lang="zh-CN" altLang="en-US" sz="2800" smtClean="0">
                <a:solidFill>
                  <a:schemeClr val="bg1"/>
                </a:solidFill>
              </a:rPr>
              <a:t>指在本地</a:t>
            </a:r>
            <a:r>
              <a:rPr lang="zh-CN" altLang="zh-CN" sz="2800" smtClean="0">
                <a:solidFill>
                  <a:schemeClr val="bg1"/>
                </a:solidFill>
              </a:rPr>
              <a:t>LAN/Intranet</a:t>
            </a:r>
            <a:r>
              <a:rPr lang="zh-CN" altLang="en-US" sz="2800" smtClean="0">
                <a:solidFill>
                  <a:schemeClr val="bg1"/>
                </a:solidFill>
              </a:rPr>
              <a:t>环境中运行的系列软件。</a:t>
            </a:r>
            <a:endParaRPr lang="en-US" altLang="zh-CN" sz="2800" smtClean="0">
              <a:solidFill>
                <a:schemeClr val="bg1"/>
              </a:solidFill>
            </a:endParaRPr>
          </a:p>
          <a:p>
            <a:pPr lvl="1" algn="just" eaLnBrk="1" hangingPunct="1">
              <a:lnSpc>
                <a:spcPct val="80000"/>
              </a:lnSpc>
            </a:pPr>
            <a:r>
              <a:rPr lang="zh-CN" altLang="en-US" sz="2400" smtClean="0">
                <a:solidFill>
                  <a:schemeClr val="bg1"/>
                </a:solidFill>
              </a:rPr>
              <a:t>如空间数据维护管理，包括空间数据采集、空间数据目录管理等；</a:t>
            </a:r>
            <a:endParaRPr lang="en-US" altLang="zh-CN" sz="2400" smtClean="0">
              <a:solidFill>
                <a:schemeClr val="bg1"/>
              </a:solidFill>
            </a:endParaRPr>
          </a:p>
          <a:p>
            <a:pPr lvl="1" algn="just" eaLnBrk="1" hangingPunct="1">
              <a:lnSpc>
                <a:spcPct val="80000"/>
              </a:lnSpc>
            </a:pPr>
            <a:r>
              <a:rPr lang="zh-CN" altLang="en-US" sz="2400" smtClean="0">
                <a:solidFill>
                  <a:schemeClr val="bg1"/>
                </a:solidFill>
              </a:rPr>
              <a:t>属性数据维护管理，包括空间属性数据管理、非空间关系型数据管理等；</a:t>
            </a:r>
            <a:endParaRPr lang="en-US" altLang="zh-CN" sz="2400" smtClean="0">
              <a:solidFill>
                <a:schemeClr val="bg1"/>
              </a:solidFill>
            </a:endParaRPr>
          </a:p>
          <a:p>
            <a:pPr lvl="1" algn="just" eaLnBrk="1" hangingPunct="1">
              <a:lnSpc>
                <a:spcPct val="80000"/>
              </a:lnSpc>
            </a:pPr>
            <a:r>
              <a:rPr lang="zh-CN" altLang="en-US" sz="2400" smtClean="0">
                <a:solidFill>
                  <a:schemeClr val="bg1"/>
                </a:solidFill>
              </a:rPr>
              <a:t>评价模型维护管理，包括模型的定义、建立、维护、运行等；</a:t>
            </a:r>
            <a:endParaRPr lang="en-US" altLang="zh-CN" sz="2400" smtClean="0">
              <a:solidFill>
                <a:schemeClr val="bg1"/>
              </a:solidFill>
            </a:endParaRPr>
          </a:p>
          <a:p>
            <a:pPr lvl="1" algn="just" eaLnBrk="1" hangingPunct="1">
              <a:lnSpc>
                <a:spcPct val="80000"/>
              </a:lnSpc>
            </a:pPr>
            <a:r>
              <a:rPr lang="zh-CN" altLang="en-US" sz="2400" smtClean="0">
                <a:solidFill>
                  <a:schemeClr val="bg1"/>
                </a:solidFill>
              </a:rPr>
              <a:t>地理空间查询系统，如土地登记图形查询、市政设施管理等。</a:t>
            </a:r>
          </a:p>
          <a:p>
            <a:pPr algn="just" eaLnBrk="1" hangingPunct="1">
              <a:lnSpc>
                <a:spcPct val="80000"/>
              </a:lnSpc>
            </a:pPr>
            <a:r>
              <a:rPr lang="zh-CN" altLang="en-US" sz="2800" smtClean="0">
                <a:solidFill>
                  <a:schemeClr val="bg1"/>
                </a:solidFill>
              </a:rPr>
              <a:t>这些应用软件部分是</a:t>
            </a:r>
            <a:r>
              <a:rPr lang="zh-CN" altLang="zh-CN" sz="2800" smtClean="0">
                <a:solidFill>
                  <a:schemeClr val="bg1"/>
                </a:solidFill>
              </a:rPr>
              <a:t>GIS</a:t>
            </a:r>
            <a:r>
              <a:rPr lang="zh-CN" altLang="en-US" sz="2800" smtClean="0">
                <a:solidFill>
                  <a:schemeClr val="bg1"/>
                </a:solidFill>
              </a:rPr>
              <a:t>，其他可以是用</a:t>
            </a:r>
            <a:r>
              <a:rPr lang="zh-CN" altLang="zh-CN" sz="2800" smtClean="0">
                <a:solidFill>
                  <a:schemeClr val="bg1"/>
                </a:solidFill>
              </a:rPr>
              <a:t>NET</a:t>
            </a:r>
            <a:r>
              <a:rPr lang="zh-CN" altLang="en-US" sz="2800" smtClean="0">
                <a:solidFill>
                  <a:schemeClr val="bg1"/>
                </a:solidFill>
              </a:rPr>
              <a:t>，</a:t>
            </a:r>
            <a:r>
              <a:rPr lang="zh-CN" altLang="zh-CN" sz="2800" smtClean="0">
                <a:solidFill>
                  <a:schemeClr val="bg1"/>
                </a:solidFill>
              </a:rPr>
              <a:t>C/C++</a:t>
            </a:r>
            <a:r>
              <a:rPr lang="zh-CN" altLang="en-US" sz="2800" smtClean="0">
                <a:solidFill>
                  <a:schemeClr val="bg1"/>
                </a:solidFill>
              </a:rPr>
              <a:t>、</a:t>
            </a:r>
            <a:r>
              <a:rPr lang="zh-CN" altLang="zh-CN" sz="2800" smtClean="0">
                <a:solidFill>
                  <a:schemeClr val="bg1"/>
                </a:solidFill>
              </a:rPr>
              <a:t>Java</a:t>
            </a:r>
            <a:r>
              <a:rPr lang="zh-CN" altLang="en-US" sz="2800" smtClean="0">
                <a:solidFill>
                  <a:schemeClr val="bg1"/>
                </a:solidFill>
              </a:rPr>
              <a:t>等工具编写的</a:t>
            </a:r>
            <a:r>
              <a:rPr lang="zh-CN" altLang="zh-CN" sz="2800" smtClean="0">
                <a:solidFill>
                  <a:schemeClr val="bg1"/>
                </a:solidFill>
              </a:rPr>
              <a:t>GIS</a:t>
            </a:r>
            <a:r>
              <a:rPr lang="zh-CN" altLang="en-US" sz="2800" smtClean="0">
                <a:solidFill>
                  <a:schemeClr val="bg1"/>
                </a:solidFill>
              </a:rPr>
              <a:t>相关应用。</a:t>
            </a:r>
            <a:endParaRPr lang="en-US" altLang="zh-CN" sz="2800" smtClean="0">
              <a:solidFill>
                <a:schemeClr val="bg1"/>
              </a:solidFill>
            </a:endParaRPr>
          </a:p>
          <a:p>
            <a:pPr algn="just" eaLnBrk="1" hangingPunct="1">
              <a:lnSpc>
                <a:spcPct val="80000"/>
              </a:lnSpc>
            </a:pPr>
            <a:endParaRPr lang="zh-CN" altLang="en-US" sz="2800" smtClean="0">
              <a:solidFill>
                <a:schemeClr val="bg1"/>
              </a:solidFill>
            </a:endParaRPr>
          </a:p>
          <a:p>
            <a:pPr algn="just" eaLnBrk="1" hangingPunct="1">
              <a:lnSpc>
                <a:spcPct val="80000"/>
              </a:lnSpc>
            </a:pPr>
            <a:r>
              <a:rPr lang="zh-CN" altLang="en-US" sz="2800" smtClean="0">
                <a:solidFill>
                  <a:schemeClr val="bg1"/>
                </a:solidFill>
              </a:rPr>
              <a:t>例子：用本机的</a:t>
            </a:r>
            <a:r>
              <a:rPr lang="zh-CN" altLang="zh-CN" sz="2800" smtClean="0">
                <a:solidFill>
                  <a:schemeClr val="bg1"/>
                </a:solidFill>
              </a:rPr>
              <a:t>ArcCatalog</a:t>
            </a:r>
            <a:r>
              <a:rPr lang="zh-CN" altLang="en-US" sz="2800" smtClean="0">
                <a:solidFill>
                  <a:schemeClr val="bg1"/>
                </a:solidFill>
              </a:rPr>
              <a:t>连接</a:t>
            </a:r>
            <a:r>
              <a:rPr lang="zh-CN" altLang="zh-CN" sz="2800" smtClean="0">
                <a:solidFill>
                  <a:schemeClr val="bg1"/>
                </a:solidFill>
              </a:rPr>
              <a:t>ArcSDE</a:t>
            </a:r>
            <a:r>
              <a:rPr lang="zh-CN" altLang="en-US" sz="2800" smtClean="0">
                <a:solidFill>
                  <a:schemeClr val="bg1"/>
                </a:solidFill>
              </a:rPr>
              <a:t>服务器中数据进行处理</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71775" y="188913"/>
            <a:ext cx="3806825" cy="547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矩形 2"/>
          <p:cNvSpPr>
            <a:spLocks noChangeArrowheads="1"/>
          </p:cNvSpPr>
          <p:nvPr/>
        </p:nvSpPr>
        <p:spPr bwMode="auto">
          <a:xfrm>
            <a:off x="1042988" y="6092825"/>
            <a:ext cx="7632700"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80000"/>
              </a:lnSpc>
            </a:pPr>
            <a:r>
              <a:rPr lang="zh-CN" altLang="en-US">
                <a:solidFill>
                  <a:schemeClr val="bg1"/>
                </a:solidFill>
              </a:rPr>
              <a:t>例子：用本机的</a:t>
            </a:r>
            <a:r>
              <a:rPr lang="zh-CN" altLang="zh-CN">
                <a:solidFill>
                  <a:schemeClr val="bg1"/>
                </a:solidFill>
              </a:rPr>
              <a:t>ArcCatalog</a:t>
            </a:r>
            <a:r>
              <a:rPr lang="zh-CN" altLang="en-US">
                <a:solidFill>
                  <a:schemeClr val="bg1"/>
                </a:solidFill>
              </a:rPr>
              <a:t>连接远程的</a:t>
            </a:r>
            <a:r>
              <a:rPr lang="zh-CN" altLang="zh-CN">
                <a:solidFill>
                  <a:schemeClr val="bg1"/>
                </a:solidFill>
              </a:rPr>
              <a:t>ArcSDE</a:t>
            </a:r>
            <a:r>
              <a:rPr lang="zh-CN" altLang="en-US">
                <a:solidFill>
                  <a:schemeClr val="bg1"/>
                </a:solidFill>
              </a:rPr>
              <a:t>服务器</a:t>
            </a:r>
            <a:r>
              <a:rPr lang="en-US" altLang="zh-CN">
                <a:solidFill>
                  <a:schemeClr val="bg1"/>
                </a:solidFill>
              </a:rPr>
              <a:t>.</a:t>
            </a:r>
            <a:endParaRPr lang="zh-CN" altLang="en-US">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304800" y="914400"/>
            <a:ext cx="7772400" cy="1143000"/>
          </a:xfrm>
          <a:noFill/>
        </p:spPr>
        <p:txBody>
          <a:bodyPr/>
          <a:lstStyle/>
          <a:p>
            <a:pPr eaLnBrk="1" hangingPunct="1"/>
            <a:r>
              <a:rPr lang="zh-CN" altLang="en-US" smtClean="0">
                <a:solidFill>
                  <a:schemeClr val="bg1"/>
                </a:solidFill>
              </a:rPr>
              <a:t>远程用户地理应用软件</a:t>
            </a:r>
          </a:p>
        </p:txBody>
      </p:sp>
      <p:sp>
        <p:nvSpPr>
          <p:cNvPr id="16387" name="Rectangle 3"/>
          <p:cNvSpPr>
            <a:spLocks noGrp="1" noChangeArrowheads="1"/>
          </p:cNvSpPr>
          <p:nvPr>
            <p:ph type="body" idx="4294967295"/>
          </p:nvPr>
        </p:nvSpPr>
        <p:spPr bwMode="auto">
          <a:xfrm>
            <a:off x="539750" y="2060575"/>
            <a:ext cx="8431213"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lang="zh-CN" altLang="en-US" dirty="0" smtClean="0">
                <a:solidFill>
                  <a:schemeClr val="bg1"/>
                </a:solidFill>
              </a:rPr>
              <a:t>通过</a:t>
            </a:r>
            <a:r>
              <a:rPr lang="zh-CN" altLang="zh-CN" dirty="0" smtClean="0">
                <a:solidFill>
                  <a:schemeClr val="bg1"/>
                </a:solidFill>
              </a:rPr>
              <a:t>Internet</a:t>
            </a:r>
            <a:r>
              <a:rPr lang="zh-CN" altLang="en-US" dirty="0" smtClean="0">
                <a:solidFill>
                  <a:schemeClr val="bg1"/>
                </a:solidFill>
              </a:rPr>
              <a:t>协议，为远程用户提供空间信息服务的软件。远程用户地理应用软件的运行，要求信息通信量尽可能少，地理分析工作尽可能在服务器端完成。</a:t>
            </a:r>
          </a:p>
          <a:p>
            <a:pPr algn="just" eaLnBrk="1" hangingPunct="1"/>
            <a:r>
              <a:rPr lang="zh-CN" altLang="en-US" dirty="0" smtClean="0">
                <a:solidFill>
                  <a:schemeClr val="bg1"/>
                </a:solidFill>
              </a:rPr>
              <a:t>远程用户地理应用软件主要采用</a:t>
            </a:r>
            <a:r>
              <a:rPr lang="zh-CN" altLang="zh-CN" dirty="0" smtClean="0">
                <a:solidFill>
                  <a:schemeClr val="bg1"/>
                </a:solidFill>
              </a:rPr>
              <a:t>Javascript </a:t>
            </a:r>
            <a:r>
              <a:rPr lang="zh-CN" altLang="en-US" dirty="0" smtClean="0">
                <a:solidFill>
                  <a:schemeClr val="bg1"/>
                </a:solidFill>
              </a:rPr>
              <a:t>等技术。</a:t>
            </a:r>
          </a:p>
          <a:p>
            <a:pPr eaLnBrk="1" hangingPunct="1"/>
            <a:endParaRPr lang="zh-CN" altLang="zh-CN" dirty="0" smtClean="0">
              <a:solidFill>
                <a:schemeClr val="bg1"/>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827088" y="908050"/>
            <a:ext cx="7772400" cy="1143000"/>
          </a:xfrm>
          <a:noFill/>
        </p:spPr>
        <p:txBody>
          <a:bodyPr/>
          <a:lstStyle/>
          <a:p>
            <a:pPr eaLnBrk="1" hangingPunct="1"/>
            <a:r>
              <a:rPr lang="zh-CN" altLang="zh-CN" sz="3600" smtClean="0">
                <a:solidFill>
                  <a:schemeClr val="bg1"/>
                </a:solidFill>
              </a:rPr>
              <a:t>WebGIS</a:t>
            </a:r>
            <a:r>
              <a:rPr lang="zh-CN" altLang="en-US" sz="3600" smtClean="0">
                <a:solidFill>
                  <a:schemeClr val="bg1"/>
                </a:solidFill>
              </a:rPr>
              <a:t>地理数据管理及检索机制</a:t>
            </a:r>
            <a:br>
              <a:rPr lang="zh-CN" altLang="en-US" sz="3600" smtClean="0">
                <a:solidFill>
                  <a:schemeClr val="bg1"/>
                </a:solidFill>
              </a:rPr>
            </a:br>
            <a:endParaRPr lang="zh-CN" altLang="en-US" sz="3600" smtClean="0">
              <a:solidFill>
                <a:schemeClr val="bg1"/>
              </a:solidFill>
            </a:endParaRPr>
          </a:p>
        </p:txBody>
      </p:sp>
      <p:sp>
        <p:nvSpPr>
          <p:cNvPr id="17411" name="Rectangle 3"/>
          <p:cNvSpPr>
            <a:spLocks noGrp="1" noChangeArrowheads="1"/>
          </p:cNvSpPr>
          <p:nvPr>
            <p:ph type="body" idx="4294967295"/>
          </p:nvPr>
        </p:nvSpPr>
        <p:spPr bwMode="auto">
          <a:xfrm>
            <a:off x="971550" y="2060575"/>
            <a:ext cx="77724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lang="zh-CN" altLang="en-US" sz="2400" smtClean="0">
                <a:solidFill>
                  <a:schemeClr val="bg1"/>
                </a:solidFill>
              </a:rPr>
              <a:t>地理空间数据是</a:t>
            </a:r>
            <a:r>
              <a:rPr lang="zh-CN" altLang="zh-CN" sz="2400" smtClean="0">
                <a:solidFill>
                  <a:schemeClr val="bg1"/>
                </a:solidFill>
              </a:rPr>
              <a:t>GIS</a:t>
            </a:r>
            <a:r>
              <a:rPr lang="zh-CN" altLang="en-US" sz="2400" smtClean="0">
                <a:solidFill>
                  <a:schemeClr val="bg1"/>
                </a:solidFill>
              </a:rPr>
              <a:t>最重要的资源，因而对于</a:t>
            </a:r>
            <a:r>
              <a:rPr lang="zh-CN" altLang="zh-CN" sz="2400" smtClean="0">
                <a:solidFill>
                  <a:schemeClr val="bg1"/>
                </a:solidFill>
              </a:rPr>
              <a:t>WebGIS</a:t>
            </a:r>
            <a:r>
              <a:rPr lang="zh-CN" altLang="en-US" sz="2400" smtClean="0">
                <a:solidFill>
                  <a:schemeClr val="bg1"/>
                </a:solidFill>
              </a:rPr>
              <a:t>来说，地理数据目录管理及检索相当重要；通过有效的目录服务，可以开拓新的地图传播途径，快速扩散地理空间数据，提高地理空间信息共享程度，使地理空间信息更加大化。</a:t>
            </a:r>
          </a:p>
          <a:p>
            <a:pPr algn="just" eaLnBrk="1" hangingPunct="1"/>
            <a:r>
              <a:rPr lang="zh-CN" altLang="en-US" sz="2400" smtClean="0">
                <a:solidFill>
                  <a:schemeClr val="bg1"/>
                </a:solidFill>
              </a:rPr>
              <a:t>地理数据目录服务的核心问题是地理目录数据标准、目录数据管理、目录数据服务、目录数据语义分析等。</a:t>
            </a:r>
          </a:p>
          <a:p>
            <a:pPr algn="just" eaLnBrk="1" hangingPunct="1"/>
            <a:endParaRPr lang="en-US" altLang="zh-CN" sz="2400" smtClean="0">
              <a:solidFill>
                <a:schemeClr val="bg1"/>
              </a:solidFill>
            </a:endParaRPr>
          </a:p>
          <a:p>
            <a:pPr algn="just" eaLnBrk="1" hangingPunct="1"/>
            <a:r>
              <a:rPr lang="zh-CN" altLang="en-US" sz="2400" smtClean="0">
                <a:solidFill>
                  <a:schemeClr val="bg1"/>
                </a:solidFill>
              </a:rPr>
              <a:t>现用处较少，主要用于大型空间数据共享网站</a:t>
            </a:r>
          </a:p>
          <a:p>
            <a:pPr eaLnBrk="1" hangingPunct="1"/>
            <a:endParaRPr lang="zh-CN" altLang="zh-CN" smtClean="0">
              <a:solidFill>
                <a:schemeClr val="bg1"/>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042988" y="333375"/>
            <a:ext cx="7696200" cy="533400"/>
          </a:xfrm>
        </p:spPr>
        <p:txBody>
          <a:bodyPr/>
          <a:lstStyle/>
          <a:p>
            <a:pPr eaLnBrk="1" hangingPunct="1"/>
            <a:r>
              <a:rPr lang="zh-CN" altLang="en-US" smtClean="0">
                <a:solidFill>
                  <a:schemeClr val="bg1"/>
                </a:solidFill>
              </a:rPr>
              <a:t>元数据查询</a:t>
            </a:r>
          </a:p>
        </p:txBody>
      </p:sp>
      <p:pic>
        <p:nvPicPr>
          <p:cNvPr id="18435" name="Picture 3"/>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bwMode="auto">
          <a:xfrm>
            <a:off x="684213" y="1268413"/>
            <a:ext cx="8229600" cy="4525962"/>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436" name="Rectangle 4"/>
          <p:cNvSpPr>
            <a:spLocks noChangeArrowheads="1"/>
          </p:cNvSpPr>
          <p:nvPr/>
        </p:nvSpPr>
        <p:spPr bwMode="auto">
          <a:xfrm>
            <a:off x="2098675" y="5794375"/>
            <a:ext cx="5400675"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rPr>
              <a:t>国家地球系统科学数据共享服务平台</a:t>
            </a:r>
            <a:endParaRPr lang="en-GB" altLang="zh-CN" dirty="0">
              <a:solidFill>
                <a:schemeClr val="bg1"/>
              </a:solidFill>
            </a:endParaRPr>
          </a:p>
          <a:p>
            <a:pPr eaLnBrk="1" hangingPunct="1"/>
            <a:r>
              <a:rPr lang="en-GB" altLang="zh-CN" dirty="0">
                <a:solidFill>
                  <a:schemeClr val="bg1"/>
                </a:solidFill>
              </a:rPr>
              <a:t>http://www.geodata.cn/</a:t>
            </a:r>
            <a:endParaRPr lang="zh-CN" altLang="zh-CN" dirty="0">
              <a:solidFill>
                <a:schemeClr val="bg1"/>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body" idx="4294967295"/>
          </p:nvPr>
        </p:nvSpPr>
        <p:spPr bwMode="auto">
          <a:xfrm>
            <a:off x="755650" y="1052513"/>
            <a:ext cx="7885113" cy="45354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lnSpc>
                <a:spcPct val="90000"/>
              </a:lnSpc>
            </a:pPr>
            <a:r>
              <a:rPr lang="zh-CN" altLang="en-US" sz="2400" smtClean="0">
                <a:solidFill>
                  <a:schemeClr val="bg1"/>
                </a:solidFill>
              </a:rPr>
              <a:t>地理目录数据（或称元数据，</a:t>
            </a:r>
            <a:r>
              <a:rPr lang="zh-CN" altLang="zh-CN" sz="2400" smtClean="0">
                <a:solidFill>
                  <a:schemeClr val="bg1"/>
                </a:solidFill>
              </a:rPr>
              <a:t>Metadata</a:t>
            </a:r>
            <a:r>
              <a:rPr lang="zh-CN" altLang="en-US" sz="2400" smtClean="0">
                <a:solidFill>
                  <a:schemeClr val="bg1"/>
                </a:solidFill>
              </a:rPr>
              <a:t>）是对地理空间数据的定量和定性描述，主要包括以下内容：</a:t>
            </a:r>
            <a:endParaRPr lang="en-US" altLang="zh-CN" sz="2400" smtClean="0">
              <a:solidFill>
                <a:schemeClr val="bg1"/>
              </a:solidFill>
            </a:endParaRPr>
          </a:p>
          <a:p>
            <a:pPr lvl="1" algn="just" eaLnBrk="1" hangingPunct="1">
              <a:lnSpc>
                <a:spcPct val="90000"/>
              </a:lnSpc>
            </a:pPr>
            <a:r>
              <a:rPr lang="zh-CN" altLang="en-US" sz="2000" smtClean="0">
                <a:solidFill>
                  <a:schemeClr val="bg1"/>
                </a:solidFill>
              </a:rPr>
              <a:t>所在区域、采集者、所有者、覆盖范围、涉及专题和用途、</a:t>
            </a:r>
            <a:endParaRPr lang="en-US" altLang="zh-CN" sz="2000" smtClean="0">
              <a:solidFill>
                <a:schemeClr val="bg1"/>
              </a:solidFill>
            </a:endParaRPr>
          </a:p>
          <a:p>
            <a:pPr lvl="1" algn="just" eaLnBrk="1" hangingPunct="1">
              <a:lnSpc>
                <a:spcPct val="90000"/>
              </a:lnSpc>
            </a:pPr>
            <a:r>
              <a:rPr lang="zh-CN" altLang="en-US" sz="2000" smtClean="0">
                <a:solidFill>
                  <a:schemeClr val="bg1"/>
                </a:solidFill>
              </a:rPr>
              <a:t>比例尺和精度（分辩率）、采集日期和更新、</a:t>
            </a:r>
            <a:endParaRPr lang="en-US" altLang="zh-CN" sz="2000" smtClean="0">
              <a:solidFill>
                <a:schemeClr val="bg1"/>
              </a:solidFill>
            </a:endParaRPr>
          </a:p>
          <a:p>
            <a:pPr lvl="1" algn="just" eaLnBrk="1" hangingPunct="1">
              <a:lnSpc>
                <a:spcPct val="90000"/>
              </a:lnSpc>
            </a:pPr>
            <a:r>
              <a:rPr lang="zh-CN" altLang="en-US" sz="2000" smtClean="0">
                <a:solidFill>
                  <a:schemeClr val="bg1"/>
                </a:solidFill>
              </a:rPr>
              <a:t>数据结构和属性、时空参照以及数据所在位置等。</a:t>
            </a:r>
          </a:p>
          <a:p>
            <a:pPr algn="just" eaLnBrk="1" hangingPunct="1">
              <a:lnSpc>
                <a:spcPct val="90000"/>
              </a:lnSpc>
            </a:pPr>
            <a:endParaRPr lang="zh-CN" altLang="zh-CN" sz="2400" smtClean="0">
              <a:solidFill>
                <a:schemeClr val="bg1"/>
              </a:solidFill>
            </a:endParaRPr>
          </a:p>
          <a:p>
            <a:pPr algn="just" eaLnBrk="1" hangingPunct="1">
              <a:lnSpc>
                <a:spcPct val="90000"/>
              </a:lnSpc>
            </a:pPr>
            <a:endParaRPr lang="zh-CN" altLang="zh-CN" sz="2400" smtClean="0">
              <a:solidFill>
                <a:schemeClr val="bg1"/>
              </a:solidFill>
            </a:endParaRPr>
          </a:p>
          <a:p>
            <a:pPr algn="just" eaLnBrk="1" hangingPunct="1">
              <a:lnSpc>
                <a:spcPct val="90000"/>
              </a:lnSpc>
            </a:pPr>
            <a:r>
              <a:rPr lang="zh-CN" altLang="en-US" sz="2400" smtClean="0">
                <a:solidFill>
                  <a:schemeClr val="bg1"/>
                </a:solidFill>
              </a:rPr>
              <a:t>在分布环境中，数据对象是分布的，不同</a:t>
            </a:r>
            <a:r>
              <a:rPr lang="zh-CN" altLang="zh-CN" sz="2400" smtClean="0">
                <a:solidFill>
                  <a:schemeClr val="bg1"/>
                </a:solidFill>
              </a:rPr>
              <a:t>GIS“</a:t>
            </a:r>
            <a:r>
              <a:rPr lang="zh-CN" altLang="en-US" sz="2400" smtClean="0">
                <a:solidFill>
                  <a:schemeClr val="bg1"/>
                </a:solidFill>
              </a:rPr>
              <a:t>信息团体”内可能使用不同的语义。</a:t>
            </a:r>
            <a:endParaRPr lang="en-US" altLang="zh-CN" sz="2400" smtClean="0">
              <a:solidFill>
                <a:schemeClr val="bg1"/>
              </a:solidFill>
            </a:endParaRPr>
          </a:p>
          <a:p>
            <a:pPr lvl="1" algn="just" eaLnBrk="1" hangingPunct="1">
              <a:lnSpc>
                <a:spcPct val="90000"/>
              </a:lnSpc>
            </a:pPr>
            <a:r>
              <a:rPr lang="zh-CN" altLang="en-US" sz="2000" smtClean="0">
                <a:solidFill>
                  <a:schemeClr val="bg1"/>
                </a:solidFill>
              </a:rPr>
              <a:t>为满足分布式</a:t>
            </a:r>
            <a:r>
              <a:rPr lang="zh-CN" altLang="zh-CN" sz="2000" smtClean="0">
                <a:solidFill>
                  <a:schemeClr val="bg1"/>
                </a:solidFill>
              </a:rPr>
              <a:t>GIS</a:t>
            </a:r>
            <a:r>
              <a:rPr lang="zh-CN" altLang="en-US" sz="2000" smtClean="0">
                <a:solidFill>
                  <a:schemeClr val="bg1"/>
                </a:solidFill>
              </a:rPr>
              <a:t>要求，须引入语义分析机制通过这一机制达到语义“理解”，使</a:t>
            </a:r>
            <a:r>
              <a:rPr lang="zh-CN" altLang="zh-CN" sz="2000" smtClean="0">
                <a:solidFill>
                  <a:schemeClr val="bg1"/>
                </a:solidFill>
              </a:rPr>
              <a:t>GIS</a:t>
            </a:r>
            <a:r>
              <a:rPr lang="zh-CN" altLang="en-US" sz="2000" smtClean="0">
                <a:solidFill>
                  <a:schemeClr val="bg1"/>
                </a:solidFill>
              </a:rPr>
              <a:t>判别分布数据的可用性和可达性。例如不同部门制定的土地利用的分类方法就不一样。</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452</TotalTime>
  <Pages>0</Pages>
  <Words>996</Words>
  <Characters>0</Characters>
  <Application>Microsoft Office PowerPoint</Application>
  <DocSecurity>0</DocSecurity>
  <PresentationFormat>全屏显示(4:3)</PresentationFormat>
  <Lines>0</Lines>
  <Paragraphs>91</Paragraphs>
  <Slides>17</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17</vt:i4>
      </vt:variant>
    </vt:vector>
  </HeadingPairs>
  <TitlesOfParts>
    <vt:vector size="20" baseType="lpstr">
      <vt:lpstr>宋体</vt:lpstr>
      <vt:lpstr>Times New Roman</vt:lpstr>
      <vt:lpstr>默认设计模板</vt:lpstr>
      <vt:lpstr>PowerPoint 演示文稿</vt:lpstr>
      <vt:lpstr>内容</vt:lpstr>
      <vt:lpstr>WebGIS的客户机/服务器模型</vt:lpstr>
      <vt:lpstr>PowerPoint 演示文稿</vt:lpstr>
      <vt:lpstr>PowerPoint 演示文稿</vt:lpstr>
      <vt:lpstr>GIS服务器</vt:lpstr>
      <vt:lpstr>PowerPoint 演示文稿</vt:lpstr>
      <vt:lpstr>PowerPoint 演示文稿</vt:lpstr>
      <vt:lpstr>内嵌在MS4W(Mapserver for windows)中的apache服务器</vt:lpstr>
      <vt:lpstr>PowerPoint 演示文稿</vt:lpstr>
      <vt:lpstr>目录服务</vt:lpstr>
      <vt:lpstr>本地地理应用软件</vt:lpstr>
      <vt:lpstr>PowerPoint 演示文稿</vt:lpstr>
      <vt:lpstr>远程用户地理应用软件</vt:lpstr>
      <vt:lpstr>WebGIS地理数据管理及检索机制 </vt:lpstr>
      <vt:lpstr>元数据查询</vt:lpstr>
      <vt:lpstr>PowerPoint 演示文稿</vt:lpstr>
    </vt:vector>
  </TitlesOfParts>
  <Manager/>
  <Company>king</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king</dc:creator>
  <cp:keywords/>
  <dc:description/>
  <cp:lastModifiedBy>China</cp:lastModifiedBy>
  <cp:revision>62</cp:revision>
  <dcterms:created xsi:type="dcterms:W3CDTF">2005-04-04T13:47:32Z</dcterms:created>
  <dcterms:modified xsi:type="dcterms:W3CDTF">2026-03-26T12:54:45Z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2052-8.1.0.3526</vt:lpwstr>
  </property>
</Properties>
</file>