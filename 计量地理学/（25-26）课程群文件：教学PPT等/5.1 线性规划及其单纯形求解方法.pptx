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399" r:id="rId3"/>
    <p:sldId id="487" r:id="rId4"/>
    <p:sldId id="358" r:id="rId5"/>
    <p:sldId id="259" r:id="rId6"/>
    <p:sldId id="260" r:id="rId7"/>
    <p:sldId id="263" r:id="rId8"/>
    <p:sldId id="264" r:id="rId9"/>
    <p:sldId id="265" r:id="rId10"/>
    <p:sldId id="266" r:id="rId11"/>
    <p:sldId id="267" r:id="rId12"/>
    <p:sldId id="442" r:id="rId13"/>
    <p:sldId id="443" r:id="rId14"/>
    <p:sldId id="444" r:id="rId15"/>
    <p:sldId id="621" r:id="rId16"/>
    <p:sldId id="622" r:id="rId17"/>
    <p:sldId id="446" r:id="rId18"/>
    <p:sldId id="447" r:id="rId19"/>
    <p:sldId id="449" r:id="rId20"/>
    <p:sldId id="540" r:id="rId21"/>
    <p:sldId id="624" r:id="rId22"/>
    <p:sldId id="625" r:id="rId23"/>
    <p:sldId id="626" r:id="rId24"/>
    <p:sldId id="627" r:id="rId25"/>
    <p:sldId id="628" r:id="rId26"/>
    <p:sldId id="629" r:id="rId27"/>
    <p:sldId id="631" r:id="rId28"/>
    <p:sldId id="450" r:id="rId29"/>
    <p:sldId id="451" r:id="rId30"/>
    <p:sldId id="452" r:id="rId31"/>
    <p:sldId id="579" r:id="rId32"/>
    <p:sldId id="453" r:id="rId33"/>
    <p:sldId id="857" r:id="rId35"/>
    <p:sldId id="582" r:id="rId36"/>
    <p:sldId id="858" r:id="rId37"/>
    <p:sldId id="675" r:id="rId38"/>
    <p:sldId id="268" r:id="rId39"/>
    <p:sldId id="269" r:id="rId40"/>
    <p:sldId id="270" r:id="rId41"/>
    <p:sldId id="710" r:id="rId42"/>
    <p:sldId id="711" r:id="rId43"/>
    <p:sldId id="712" r:id="rId44"/>
    <p:sldId id="713" r:id="rId45"/>
    <p:sldId id="745" r:id="rId46"/>
    <p:sldId id="746" r:id="rId47"/>
    <p:sldId id="778" r:id="rId48"/>
    <p:sldId id="779" r:id="rId49"/>
    <p:sldId id="845" r:id="rId50"/>
    <p:sldId id="271" r:id="rId51"/>
    <p:sldId id="272" r:id="rId52"/>
    <p:sldId id="273" r:id="rId53"/>
    <p:sldId id="332" r:id="rId54"/>
    <p:sldId id="274" r:id="rId55"/>
    <p:sldId id="369" r:id="rId56"/>
    <p:sldId id="333" r:id="rId57"/>
    <p:sldId id="362" r:id="rId58"/>
    <p:sldId id="275" r:id="rId59"/>
    <p:sldId id="276" r:id="rId6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8" userDrawn="1">
          <p15:clr>
            <a:srgbClr val="A4A3A4"/>
          </p15:clr>
        </p15:guide>
        <p15:guide id="2" pos="291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7F8"/>
    <a:srgbClr val="F6D7F7"/>
    <a:srgbClr val="FFFFCC"/>
    <a:srgbClr val="66D9F4"/>
    <a:srgbClr val="FFCCFF"/>
    <a:srgbClr val="FF9900"/>
    <a:srgbClr val="0066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7"/>
    <p:restoredTop sz="94736"/>
  </p:normalViewPr>
  <p:slideViewPr>
    <p:cSldViewPr showGuides="1">
      <p:cViewPr varScale="1">
        <p:scale>
          <a:sx n="78" d="100"/>
          <a:sy n="78" d="100"/>
        </p:scale>
        <p:origin x="1522" y="58"/>
      </p:cViewPr>
      <p:guideLst>
        <p:guide orient="horz" pos="2198"/>
        <p:guide pos="291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46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4" Type="http://schemas.openxmlformats.org/officeDocument/2006/relationships/commentAuthors" Target="commentAuthors.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01T22:22:54.445" idx="1">
    <p:pos x="5579" y="1194"/>
    <p:text/>
  </p:cm>
</p:cmLst>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D023B82-B6D2-46BA-8116-777CBF66B4B5}" type="doc">
      <dgm:prSet loTypeId="urn:microsoft.com/office/officeart/2008/layout/HorizontalMultiLevelHierarchy#1" loCatId="hierarchy" qsTypeId="urn:microsoft.com/office/officeart/2005/8/quickstyle/simple1#1" qsCatId="simple" csTypeId="urn:microsoft.com/office/officeart/2005/8/colors/accent1_2#1" csCatId="accent1" phldr="1"/>
      <dgm:spPr/>
      <dgm:t>
        <a:bodyPr/>
        <a:lstStyle/>
        <a:p>
          <a:endParaRPr lang="zh-CN" altLang="en-US"/>
        </a:p>
      </dgm:t>
    </dgm:pt>
    <dgm:pt modelId="{2C755B47-A635-49E4-8C89-443B8A54D0BC}">
      <dgm:prSet phldrT="[文本]"/>
      <dgm:spPr/>
      <dgm:t>
        <a:bodyPr vert="vert"/>
        <a:lstStyle/>
        <a:p>
          <a:r>
            <a:rPr lang="zh-CN" altLang="en-US" dirty="0">
              <a:solidFill>
                <a:schemeClr val="accent4"/>
              </a:solidFill>
            </a:rPr>
            <a:t>需获取数据</a:t>
          </a:r>
        </a:p>
      </dgm:t>
    </dgm:pt>
    <dgm:pt modelId="{ACD2BF94-FF14-4A50-A2D3-217E94130496}" cxnId="{C4AA9A8A-4BE1-4990-A0DE-0226F9173AC5}" type="parTrans">
      <dgm:prSet/>
      <dgm:spPr/>
      <dgm:t>
        <a:bodyPr/>
        <a:lstStyle/>
        <a:p>
          <a:endParaRPr lang="zh-CN" altLang="en-US">
            <a:solidFill>
              <a:schemeClr val="accent4"/>
            </a:solidFill>
          </a:endParaRPr>
        </a:p>
      </dgm:t>
    </dgm:pt>
    <dgm:pt modelId="{90F88590-4D67-4D40-BCC1-249BA9FC1ECC}" cxnId="{C4AA9A8A-4BE1-4990-A0DE-0226F9173AC5}" type="sibTrans">
      <dgm:prSet/>
      <dgm:spPr/>
      <dgm:t>
        <a:bodyPr/>
        <a:lstStyle/>
        <a:p>
          <a:endParaRPr lang="zh-CN" altLang="en-US">
            <a:solidFill>
              <a:schemeClr val="accent4"/>
            </a:solidFill>
          </a:endParaRPr>
        </a:p>
      </dgm:t>
    </dgm:pt>
    <dgm:pt modelId="{288A3588-8B20-4141-8255-5CFD2C6C3296}">
      <dgm:prSet phldrT="[文本]" custT="1"/>
      <dgm:spPr/>
      <dgm:t>
        <a:bodyPr/>
        <a:lstStyle/>
        <a:p>
          <a:r>
            <a:rPr lang="zh-CN" altLang="en-US" sz="2000" dirty="0">
              <a:solidFill>
                <a:schemeClr val="accent4"/>
              </a:solidFill>
            </a:rPr>
            <a:t>总量</a:t>
          </a:r>
        </a:p>
      </dgm:t>
    </dgm:pt>
    <dgm:pt modelId="{32DD66D5-F6F2-496E-A138-112D414C82E3}" cxnId="{DE7D2895-7279-4F33-89C5-60A9D4747FB0}" type="parTrans">
      <dgm:prSet/>
      <dgm:spPr/>
      <dgm:t>
        <a:bodyPr/>
        <a:lstStyle/>
        <a:p>
          <a:endParaRPr lang="zh-CN" altLang="en-US">
            <a:solidFill>
              <a:schemeClr val="accent4"/>
            </a:solidFill>
          </a:endParaRPr>
        </a:p>
      </dgm:t>
    </dgm:pt>
    <dgm:pt modelId="{29D666DB-ABFA-467B-A84A-4B24FB2D4E1A}" cxnId="{DE7D2895-7279-4F33-89C5-60A9D4747FB0}" type="sibTrans">
      <dgm:prSet/>
      <dgm:spPr/>
      <dgm:t>
        <a:bodyPr/>
        <a:lstStyle/>
        <a:p>
          <a:endParaRPr lang="zh-CN" altLang="en-US">
            <a:solidFill>
              <a:schemeClr val="accent4"/>
            </a:solidFill>
          </a:endParaRPr>
        </a:p>
      </dgm:t>
    </dgm:pt>
    <dgm:pt modelId="{7E104DF5-D823-47B0-A2E8-59C6C35151A2}">
      <dgm:prSet phldrT="[文本]" custT="1"/>
      <dgm:spPr/>
      <dgm:t>
        <a:bodyPr/>
        <a:lstStyle/>
        <a:p>
          <a:r>
            <a:rPr lang="zh-CN" altLang="en-US" sz="1800" dirty="0">
              <a:solidFill>
                <a:schemeClr val="accent4"/>
              </a:solidFill>
            </a:rPr>
            <a:t>种植面积（</a:t>
          </a:r>
          <a:r>
            <a:rPr lang="en-US" altLang="en-US" sz="1800" dirty="0">
              <a:solidFill>
                <a:schemeClr val="accent4"/>
              </a:solidFill>
            </a:rPr>
            <a:t>X</a:t>
          </a:r>
          <a:r>
            <a:rPr lang="zh-CN" altLang="en-US" sz="1800" dirty="0">
              <a:solidFill>
                <a:schemeClr val="accent4"/>
              </a:solidFill>
            </a:rPr>
            <a:t>）</a:t>
          </a:r>
        </a:p>
      </dgm:t>
    </dgm:pt>
    <dgm:pt modelId="{DB5E50E2-EF45-438D-8428-CA811FF93540}" cxnId="{BE9068B4-CDFE-418A-9C61-661178C5990E}" type="parTrans">
      <dgm:prSet/>
      <dgm:spPr/>
      <dgm:t>
        <a:bodyPr/>
        <a:lstStyle/>
        <a:p>
          <a:endParaRPr lang="zh-CN" altLang="en-US"/>
        </a:p>
      </dgm:t>
    </dgm:pt>
    <dgm:pt modelId="{20BBF9FC-CC96-4082-8B01-AB6B2AAE4B2E}" cxnId="{BE9068B4-CDFE-418A-9C61-661178C5990E}" type="sibTrans">
      <dgm:prSet/>
      <dgm:spPr/>
      <dgm:t>
        <a:bodyPr/>
        <a:lstStyle/>
        <a:p>
          <a:endParaRPr lang="zh-CN" altLang="en-US"/>
        </a:p>
      </dgm:t>
    </dgm:pt>
    <dgm:pt modelId="{8F933682-E11D-43D2-9F49-F2CF8C95976A}">
      <dgm:prSet phldrT="[文本]" custT="1"/>
      <dgm:spPr/>
      <dgm:t>
        <a:bodyPr/>
        <a:lstStyle/>
        <a:p>
          <a:r>
            <a:rPr lang="zh-CN" altLang="en-US" sz="1800" dirty="0">
              <a:solidFill>
                <a:schemeClr val="accent4"/>
              </a:solidFill>
            </a:rPr>
            <a:t>劳动力总量</a:t>
          </a:r>
          <a:r>
            <a:rPr lang="en-US" altLang="en-US" sz="1800" dirty="0">
              <a:solidFill>
                <a:schemeClr val="accent4"/>
              </a:solidFill>
            </a:rPr>
            <a:t>(A)</a:t>
          </a:r>
          <a:endParaRPr lang="zh-CN" altLang="en-US" sz="1800" dirty="0">
            <a:solidFill>
              <a:schemeClr val="accent4"/>
            </a:solidFill>
          </a:endParaRPr>
        </a:p>
      </dgm:t>
    </dgm:pt>
    <dgm:pt modelId="{BFD84FE5-CF86-4C2E-A05E-96B2AD66D576}" cxnId="{62C0E44C-CA73-4503-8466-77EE707E9745}" type="parTrans">
      <dgm:prSet/>
      <dgm:spPr/>
      <dgm:t>
        <a:bodyPr/>
        <a:lstStyle/>
        <a:p>
          <a:endParaRPr lang="zh-CN" altLang="en-US"/>
        </a:p>
      </dgm:t>
    </dgm:pt>
    <dgm:pt modelId="{07766FEA-03F6-42C0-A775-517AE79E976F}" cxnId="{62C0E44C-CA73-4503-8466-77EE707E9745}" type="sibTrans">
      <dgm:prSet/>
      <dgm:spPr/>
      <dgm:t>
        <a:bodyPr/>
        <a:lstStyle/>
        <a:p>
          <a:endParaRPr lang="zh-CN" altLang="en-US"/>
        </a:p>
      </dgm:t>
    </dgm:pt>
    <dgm:pt modelId="{178D0D48-FE52-4468-941D-2707D2DE838F}">
      <dgm:prSet phldrT="[文本]" custT="1"/>
      <dgm:spPr/>
      <dgm:t>
        <a:bodyPr/>
        <a:lstStyle/>
        <a:p>
          <a:r>
            <a:rPr lang="zh-CN" altLang="en-US" sz="1800" dirty="0">
              <a:solidFill>
                <a:schemeClr val="accent4"/>
              </a:solidFill>
            </a:rPr>
            <a:t>资金投入量</a:t>
          </a:r>
          <a:r>
            <a:rPr lang="en-US" altLang="en-US" sz="1800" dirty="0">
              <a:solidFill>
                <a:schemeClr val="accent4"/>
              </a:solidFill>
            </a:rPr>
            <a:t>(B)</a:t>
          </a:r>
          <a:endParaRPr lang="zh-CN" altLang="en-US" sz="1800" dirty="0">
            <a:solidFill>
              <a:schemeClr val="accent4"/>
            </a:solidFill>
          </a:endParaRPr>
        </a:p>
      </dgm:t>
    </dgm:pt>
    <dgm:pt modelId="{9A5FF0A7-5A66-4334-9C03-9F8CC1B826EF}" cxnId="{8F130120-1B7C-411C-A139-F2513ED8ECDC}" type="parTrans">
      <dgm:prSet/>
      <dgm:spPr/>
      <dgm:t>
        <a:bodyPr/>
        <a:lstStyle/>
        <a:p>
          <a:endParaRPr lang="zh-CN" altLang="en-US"/>
        </a:p>
      </dgm:t>
    </dgm:pt>
    <dgm:pt modelId="{07572063-14C3-48EA-9EF7-8355F081E67C}" cxnId="{8F130120-1B7C-411C-A139-F2513ED8ECDC}" type="sibTrans">
      <dgm:prSet/>
      <dgm:spPr/>
      <dgm:t>
        <a:bodyPr/>
        <a:lstStyle/>
        <a:p>
          <a:endParaRPr lang="zh-CN" altLang="en-US"/>
        </a:p>
      </dgm:t>
    </dgm:pt>
    <dgm:pt modelId="{C33C0C57-9787-4D26-A469-C301BCDA0E2F}">
      <dgm:prSet phldrT="[文本]" custT="1"/>
      <dgm:spPr/>
      <dgm:t>
        <a:bodyPr/>
        <a:lstStyle/>
        <a:p>
          <a:r>
            <a:rPr lang="zh-CN" altLang="en-US" sz="2000" dirty="0">
              <a:solidFill>
                <a:schemeClr val="accent4"/>
              </a:solidFill>
            </a:rPr>
            <a:t>参量</a:t>
          </a:r>
        </a:p>
      </dgm:t>
    </dgm:pt>
    <dgm:pt modelId="{67EE6229-FE2D-460D-AC2C-3877AAF040CD}" cxnId="{6FC0A52E-0913-411E-A83A-95C68DBE2E70}" type="parTrans">
      <dgm:prSet/>
      <dgm:spPr/>
      <dgm:t>
        <a:bodyPr/>
        <a:lstStyle/>
        <a:p>
          <a:endParaRPr lang="zh-CN" altLang="en-US">
            <a:solidFill>
              <a:schemeClr val="accent4"/>
            </a:solidFill>
          </a:endParaRPr>
        </a:p>
      </dgm:t>
    </dgm:pt>
    <dgm:pt modelId="{BBC16A0A-1CF1-42BE-86B3-371E298DA309}" cxnId="{6FC0A52E-0913-411E-A83A-95C68DBE2E70}" type="sibTrans">
      <dgm:prSet/>
      <dgm:spPr/>
      <dgm:t>
        <a:bodyPr/>
        <a:lstStyle/>
        <a:p>
          <a:endParaRPr lang="zh-CN" altLang="en-US">
            <a:solidFill>
              <a:schemeClr val="accent4"/>
            </a:solidFill>
          </a:endParaRPr>
        </a:p>
      </dgm:t>
    </dgm:pt>
    <dgm:pt modelId="{89562F54-C69B-4401-AE8C-614BEA9AF1B5}">
      <dgm:prSet phldrT="[文本]" custT="1"/>
      <dgm:spPr/>
      <dgm:t>
        <a:bodyPr/>
        <a:lstStyle/>
        <a:p>
          <a:r>
            <a:rPr lang="en-US" altLang="zh-CN" sz="1800" dirty="0">
              <a:solidFill>
                <a:schemeClr val="accent4"/>
              </a:solidFill>
            </a:rPr>
            <a:t>a1</a:t>
          </a:r>
          <a:r>
            <a:rPr lang="zh-CN" altLang="en-US" sz="1800" dirty="0">
              <a:solidFill>
                <a:schemeClr val="accent4"/>
              </a:solidFill>
            </a:rPr>
            <a:t>茶叶每亩所需劳动力</a:t>
          </a:r>
        </a:p>
      </dgm:t>
    </dgm:pt>
    <dgm:pt modelId="{2A6B6DCD-5A33-4B05-87DA-2E0A41341702}" cxnId="{8211A346-FF0A-4DF5-B009-BD16512D1CDE}" type="parTrans">
      <dgm:prSet/>
      <dgm:spPr/>
      <dgm:t>
        <a:bodyPr/>
        <a:lstStyle/>
        <a:p>
          <a:endParaRPr lang="zh-CN" altLang="en-US"/>
        </a:p>
      </dgm:t>
    </dgm:pt>
    <dgm:pt modelId="{0434F26A-4B85-462C-860E-DA10376CE2FF}" cxnId="{8211A346-FF0A-4DF5-B009-BD16512D1CDE}" type="sibTrans">
      <dgm:prSet/>
      <dgm:spPr/>
      <dgm:t>
        <a:bodyPr/>
        <a:lstStyle/>
        <a:p>
          <a:endParaRPr lang="zh-CN" altLang="en-US"/>
        </a:p>
      </dgm:t>
    </dgm:pt>
    <dgm:pt modelId="{7F07A4D5-DC52-4F9F-8425-10FD9EE03D9E}">
      <dgm:prSet phldrT="[文本]" custT="1"/>
      <dgm:spPr/>
      <dgm:t>
        <a:bodyPr/>
        <a:lstStyle/>
        <a:p>
          <a:r>
            <a:rPr lang="en-US" altLang="zh-CN" sz="1800" dirty="0">
              <a:solidFill>
                <a:schemeClr val="accent4"/>
              </a:solidFill>
            </a:rPr>
            <a:t>a2</a:t>
          </a:r>
          <a:r>
            <a:rPr lang="zh-CN" altLang="en-US" sz="1800" dirty="0">
              <a:solidFill>
                <a:schemeClr val="accent4"/>
              </a:solidFill>
            </a:rPr>
            <a:t>果树每亩所需劳动力</a:t>
          </a:r>
        </a:p>
      </dgm:t>
    </dgm:pt>
    <dgm:pt modelId="{141E5E00-2781-4813-A8CA-565AF09CB4A8}" cxnId="{35AAC867-B48D-47D6-951A-66BEFE8C9A44}" type="parTrans">
      <dgm:prSet/>
      <dgm:spPr/>
      <dgm:t>
        <a:bodyPr/>
        <a:lstStyle/>
        <a:p>
          <a:endParaRPr lang="zh-CN" altLang="en-US"/>
        </a:p>
      </dgm:t>
    </dgm:pt>
    <dgm:pt modelId="{1180335A-9DD2-4022-8F21-EA9CD931A9F6}" cxnId="{35AAC867-B48D-47D6-951A-66BEFE8C9A44}" type="sibTrans">
      <dgm:prSet/>
      <dgm:spPr/>
      <dgm:t>
        <a:bodyPr/>
        <a:lstStyle/>
        <a:p>
          <a:endParaRPr lang="zh-CN" altLang="en-US"/>
        </a:p>
      </dgm:t>
    </dgm:pt>
    <dgm:pt modelId="{A1FB2562-1C66-421F-B1F5-AF2872F78801}">
      <dgm:prSet phldrT="[文本]" custT="1"/>
      <dgm:spPr/>
      <dgm:t>
        <a:bodyPr/>
        <a:lstStyle/>
        <a:p>
          <a:r>
            <a:rPr lang="en-US" altLang="zh-CN" sz="1800" dirty="0">
              <a:solidFill>
                <a:schemeClr val="accent4"/>
              </a:solidFill>
            </a:rPr>
            <a:t>b1</a:t>
          </a:r>
          <a:r>
            <a:rPr lang="zh-CN" altLang="en-US" sz="1800" dirty="0">
              <a:solidFill>
                <a:schemeClr val="accent4"/>
              </a:solidFill>
            </a:rPr>
            <a:t>茶叶每亩所需资金</a:t>
          </a:r>
        </a:p>
      </dgm:t>
    </dgm:pt>
    <dgm:pt modelId="{DDDDC312-ED99-4F73-8D5E-018D179FB55A}" cxnId="{41562A65-0CC2-4773-87A7-EBE709FCAEA8}" type="parTrans">
      <dgm:prSet/>
      <dgm:spPr/>
      <dgm:t>
        <a:bodyPr/>
        <a:lstStyle/>
        <a:p>
          <a:endParaRPr lang="zh-CN" altLang="en-US"/>
        </a:p>
      </dgm:t>
    </dgm:pt>
    <dgm:pt modelId="{65073E86-833F-40FA-A4BF-56DC088CA056}" cxnId="{41562A65-0CC2-4773-87A7-EBE709FCAEA8}" type="sibTrans">
      <dgm:prSet/>
      <dgm:spPr/>
      <dgm:t>
        <a:bodyPr/>
        <a:lstStyle/>
        <a:p>
          <a:endParaRPr lang="zh-CN" altLang="en-US"/>
        </a:p>
      </dgm:t>
    </dgm:pt>
    <dgm:pt modelId="{AB3A1B84-FBE8-467E-AC01-9E8153CDD2DC}">
      <dgm:prSet phldrT="[文本]" phldr="0" custT="1"/>
      <dgm:spPr/>
      <dgm:t>
        <a:bodyPr vert="horz" wrap="square"/>
        <a:lstStyle/>
        <a:p>
          <a:pPr>
            <a:lnSpc>
              <a:spcPct val="100000"/>
            </a:lnSpc>
            <a:spcBef>
              <a:spcPct val="0"/>
            </a:spcBef>
            <a:spcAft>
              <a:spcPct val="35000"/>
            </a:spcAft>
          </a:pPr>
          <a:r>
            <a:rPr lang="en-US" altLang="zh-CN" sz="1800" dirty="0">
              <a:solidFill>
                <a:schemeClr val="accent4"/>
              </a:solidFill>
            </a:rPr>
            <a:t>b2</a:t>
          </a:r>
          <a:r>
            <a:rPr lang="zh-CN" altLang="en-US" sz="1800" dirty="0">
              <a:solidFill>
                <a:schemeClr val="accent4"/>
              </a:solidFill>
            </a:rPr>
            <a:t>果树每亩所需资金</a:t>
          </a:r>
          <a:endParaRPr sz="2500"/>
        </a:p>
      </dgm:t>
    </dgm:pt>
    <dgm:pt modelId="{26CCB142-3C0F-4FB5-98C3-840D1230A5B1}" cxnId="{E95DA987-60FD-4809-91CA-E9FBF9269587}" type="parTrans">
      <dgm:prSet/>
      <dgm:spPr/>
      <dgm:t>
        <a:bodyPr/>
        <a:lstStyle/>
        <a:p>
          <a:endParaRPr lang="zh-CN" altLang="en-US"/>
        </a:p>
      </dgm:t>
    </dgm:pt>
    <dgm:pt modelId="{1415247D-41B3-4D08-883C-AC0BCFFF94B4}" cxnId="{E95DA987-60FD-4809-91CA-E9FBF9269587}" type="sibTrans">
      <dgm:prSet/>
      <dgm:spPr/>
      <dgm:t>
        <a:bodyPr/>
        <a:lstStyle/>
        <a:p>
          <a:endParaRPr lang="zh-CN" altLang="en-US"/>
        </a:p>
      </dgm:t>
    </dgm:pt>
    <dgm:pt modelId="{44445FF5-5566-46B5-9D86-AB88E588C369}">
      <dgm:prSet phldrT="[文本]" phldr="0" custT="1"/>
      <dgm:spPr/>
      <dgm:t>
        <a:bodyPr vert="horz" wrap="square"/>
        <a:lstStyle/>
        <a:p>
          <a:pPr>
            <a:lnSpc>
              <a:spcPct val="100000"/>
            </a:lnSpc>
            <a:spcBef>
              <a:spcPct val="0"/>
            </a:spcBef>
            <a:spcAft>
              <a:spcPct val="35000"/>
            </a:spcAft>
          </a:pPr>
          <a:r>
            <a:rPr lang="en-US" altLang="zh-CN" sz="1800" dirty="0">
              <a:solidFill>
                <a:schemeClr val="accent4"/>
              </a:solidFill>
            </a:rPr>
            <a:t>c1</a:t>
          </a:r>
          <a:r>
            <a:rPr lang="zh-CN" altLang="en-US" sz="1800" dirty="0">
              <a:solidFill>
                <a:schemeClr val="accent4"/>
              </a:solidFill>
            </a:rPr>
            <a:t>茶叶单产</a:t>
          </a:r>
          <a:endParaRPr sz="2500"/>
        </a:p>
      </dgm:t>
    </dgm:pt>
    <dgm:pt modelId="{B70FFA22-2B97-4E3A-A401-90EC07780D8F}" cxnId="{356684A5-2F29-4DB4-83AA-CA865CEAC774}" type="parTrans">
      <dgm:prSet/>
      <dgm:spPr/>
      <dgm:t>
        <a:bodyPr/>
        <a:lstStyle/>
        <a:p>
          <a:endParaRPr lang="zh-CN" altLang="en-US"/>
        </a:p>
      </dgm:t>
    </dgm:pt>
    <dgm:pt modelId="{C01036BF-C569-49C2-8D5F-129EE18EFD07}" cxnId="{356684A5-2F29-4DB4-83AA-CA865CEAC774}" type="sibTrans">
      <dgm:prSet/>
      <dgm:spPr/>
      <dgm:t>
        <a:bodyPr/>
        <a:lstStyle/>
        <a:p>
          <a:endParaRPr lang="zh-CN" altLang="en-US"/>
        </a:p>
      </dgm:t>
    </dgm:pt>
    <dgm:pt modelId="{616E061C-F9D7-4D31-BD16-9C5337B35C55}">
      <dgm:prSet phldrT="[文本]" custT="1"/>
      <dgm:spPr/>
      <dgm:t>
        <a:bodyPr/>
        <a:lstStyle/>
        <a:p>
          <a:r>
            <a:rPr lang="en-US" altLang="zh-CN" sz="1800" dirty="0">
              <a:solidFill>
                <a:schemeClr val="accent4"/>
              </a:solidFill>
            </a:rPr>
            <a:t>c2</a:t>
          </a:r>
          <a:r>
            <a:rPr lang="zh-CN" altLang="en-US" sz="1800" dirty="0">
              <a:solidFill>
                <a:schemeClr val="accent4"/>
              </a:solidFill>
            </a:rPr>
            <a:t>果树单产</a:t>
          </a:r>
        </a:p>
      </dgm:t>
    </dgm:pt>
    <dgm:pt modelId="{5571FC6D-353E-4475-AA7F-EAE64FF54C16}" cxnId="{E3B974BD-DB13-43A7-8B8F-65B3EF4C0E3B}" type="parTrans">
      <dgm:prSet/>
      <dgm:spPr/>
      <dgm:t>
        <a:bodyPr/>
        <a:lstStyle/>
        <a:p>
          <a:endParaRPr lang="zh-CN" altLang="en-US"/>
        </a:p>
      </dgm:t>
    </dgm:pt>
    <dgm:pt modelId="{4354AD8B-6980-4C38-A17F-32B61BA2A6A0}" cxnId="{E3B974BD-DB13-43A7-8B8F-65B3EF4C0E3B}" type="sibTrans">
      <dgm:prSet/>
      <dgm:spPr/>
      <dgm:t>
        <a:bodyPr/>
        <a:lstStyle/>
        <a:p>
          <a:endParaRPr lang="zh-CN" altLang="en-US"/>
        </a:p>
      </dgm:t>
    </dgm:pt>
    <dgm:pt modelId="{21ABFC13-6DAA-4BE3-A122-8283A6897ED2}" type="pres">
      <dgm:prSet presAssocID="{ED023B82-B6D2-46BA-8116-777CBF66B4B5}" presName="Name0" presStyleCnt="0">
        <dgm:presLayoutVars>
          <dgm:chPref val="1"/>
          <dgm:dir/>
          <dgm:animOne val="branch"/>
          <dgm:animLvl val="lvl"/>
          <dgm:resizeHandles val="exact"/>
        </dgm:presLayoutVars>
      </dgm:prSet>
      <dgm:spPr/>
    </dgm:pt>
    <dgm:pt modelId="{D47ACE2D-CD26-4B7C-A954-453421B5758A}" type="pres">
      <dgm:prSet presAssocID="{2C755B47-A635-49E4-8C89-443B8A54D0BC}" presName="root1" presStyleCnt="0"/>
      <dgm:spPr/>
    </dgm:pt>
    <dgm:pt modelId="{15A29D30-2B57-4AA3-ABBC-BD24A075F1E8}" type="pres">
      <dgm:prSet presAssocID="{2C755B47-A635-49E4-8C89-443B8A54D0BC}" presName="LevelOneTextNode" presStyleLbl="node0" presStyleIdx="0" presStyleCnt="1">
        <dgm:presLayoutVars>
          <dgm:chPref val="3"/>
        </dgm:presLayoutVars>
      </dgm:prSet>
      <dgm:spPr/>
    </dgm:pt>
    <dgm:pt modelId="{7F07305F-1664-4BCF-BD05-0C046B3FFB43}" type="pres">
      <dgm:prSet presAssocID="{2C755B47-A635-49E4-8C89-443B8A54D0BC}" presName="level2hierChild" presStyleCnt="0"/>
      <dgm:spPr/>
    </dgm:pt>
    <dgm:pt modelId="{E1CAB648-50BD-4890-98C1-FE6503CAF854}" type="pres">
      <dgm:prSet presAssocID="{32DD66D5-F6F2-496E-A138-112D414C82E3}" presName="conn2-1" presStyleLbl="parChTrans1D2" presStyleIdx="0" presStyleCnt="2"/>
      <dgm:spPr/>
    </dgm:pt>
    <dgm:pt modelId="{528CDFA4-5AC8-4302-81EC-0F80E13B2AD6}" type="pres">
      <dgm:prSet presAssocID="{32DD66D5-F6F2-496E-A138-112D414C82E3}" presName="connTx" presStyleLbl="parChTrans1D2" presStyleIdx="0" presStyleCnt="2"/>
      <dgm:spPr/>
    </dgm:pt>
    <dgm:pt modelId="{41FD448F-3903-4560-828D-25BF39EEDA48}" type="pres">
      <dgm:prSet presAssocID="{288A3588-8B20-4141-8255-5CFD2C6C3296}" presName="root2" presStyleCnt="0"/>
      <dgm:spPr/>
    </dgm:pt>
    <dgm:pt modelId="{E0FAB3E9-ED5B-41F5-840C-E5F841926076}" type="pres">
      <dgm:prSet presAssocID="{288A3588-8B20-4141-8255-5CFD2C6C3296}" presName="LevelTwoTextNode" presStyleLbl="node2" presStyleIdx="0" presStyleCnt="2">
        <dgm:presLayoutVars>
          <dgm:chPref val="3"/>
        </dgm:presLayoutVars>
      </dgm:prSet>
      <dgm:spPr/>
    </dgm:pt>
    <dgm:pt modelId="{B3287FFF-2F64-4315-896A-4E4D4BECB41E}" type="pres">
      <dgm:prSet presAssocID="{288A3588-8B20-4141-8255-5CFD2C6C3296}" presName="level3hierChild" presStyleCnt="0"/>
      <dgm:spPr/>
    </dgm:pt>
    <dgm:pt modelId="{1C49A887-A871-4456-A46E-A718BDED663F}" type="pres">
      <dgm:prSet presAssocID="{DB5E50E2-EF45-438D-8428-CA811FF93540}" presName="conn2-1" presStyleLbl="parChTrans1D3" presStyleIdx="0" presStyleCnt="9"/>
      <dgm:spPr/>
    </dgm:pt>
    <dgm:pt modelId="{1D5D640D-7BE3-4C32-97BE-4F1ADBB38640}" type="pres">
      <dgm:prSet presAssocID="{DB5E50E2-EF45-438D-8428-CA811FF93540}" presName="connTx" presStyleLbl="parChTrans1D3" presStyleIdx="0" presStyleCnt="9"/>
      <dgm:spPr/>
    </dgm:pt>
    <dgm:pt modelId="{599FDD44-5AF5-401D-AD5B-3F27AC57700F}" type="pres">
      <dgm:prSet presAssocID="{7E104DF5-D823-47B0-A2E8-59C6C35151A2}" presName="root2" presStyleCnt="0"/>
      <dgm:spPr/>
    </dgm:pt>
    <dgm:pt modelId="{764EC702-5F80-4A1B-BABB-56C9A350A61A}" type="pres">
      <dgm:prSet presAssocID="{7E104DF5-D823-47B0-A2E8-59C6C35151A2}" presName="LevelTwoTextNode" presStyleLbl="node3" presStyleIdx="0" presStyleCnt="9" custScaleX="132819">
        <dgm:presLayoutVars>
          <dgm:chPref val="3"/>
        </dgm:presLayoutVars>
      </dgm:prSet>
      <dgm:spPr/>
    </dgm:pt>
    <dgm:pt modelId="{5A566C61-D7F6-4639-B529-84F35AF153CD}" type="pres">
      <dgm:prSet presAssocID="{7E104DF5-D823-47B0-A2E8-59C6C35151A2}" presName="level3hierChild" presStyleCnt="0"/>
      <dgm:spPr/>
    </dgm:pt>
    <dgm:pt modelId="{E0EFF9CB-401B-474D-8180-B93A2E21BB71}" type="pres">
      <dgm:prSet presAssocID="{BFD84FE5-CF86-4C2E-A05E-96B2AD66D576}" presName="conn2-1" presStyleLbl="parChTrans1D3" presStyleIdx="1" presStyleCnt="9"/>
      <dgm:spPr/>
    </dgm:pt>
    <dgm:pt modelId="{454625D0-97EC-47F8-8834-0BA5E88F5A1B}" type="pres">
      <dgm:prSet presAssocID="{BFD84FE5-CF86-4C2E-A05E-96B2AD66D576}" presName="connTx" presStyleLbl="parChTrans1D3" presStyleIdx="1" presStyleCnt="9"/>
      <dgm:spPr/>
    </dgm:pt>
    <dgm:pt modelId="{7B73BA4B-2200-4BDD-B936-E8237DB8F5D1}" type="pres">
      <dgm:prSet presAssocID="{8F933682-E11D-43D2-9F49-F2CF8C95976A}" presName="root2" presStyleCnt="0"/>
      <dgm:spPr/>
    </dgm:pt>
    <dgm:pt modelId="{7E9F186F-802D-468B-8AB2-942806AF5E06}" type="pres">
      <dgm:prSet presAssocID="{8F933682-E11D-43D2-9F49-F2CF8C95976A}" presName="LevelTwoTextNode" presStyleLbl="node3" presStyleIdx="1" presStyleCnt="9" custScaleX="132819">
        <dgm:presLayoutVars>
          <dgm:chPref val="3"/>
        </dgm:presLayoutVars>
      </dgm:prSet>
      <dgm:spPr/>
    </dgm:pt>
    <dgm:pt modelId="{6ED2FB77-A0F2-4225-9666-44E088997D84}" type="pres">
      <dgm:prSet presAssocID="{8F933682-E11D-43D2-9F49-F2CF8C95976A}" presName="level3hierChild" presStyleCnt="0"/>
      <dgm:spPr/>
    </dgm:pt>
    <dgm:pt modelId="{EABDA8B9-3A6D-48AD-8210-1996226882AF}" type="pres">
      <dgm:prSet presAssocID="{9A5FF0A7-5A66-4334-9C03-9F8CC1B826EF}" presName="conn2-1" presStyleLbl="parChTrans1D3" presStyleIdx="2" presStyleCnt="9"/>
      <dgm:spPr/>
    </dgm:pt>
    <dgm:pt modelId="{336F2134-AC3A-4B19-BA79-BD751127E15B}" type="pres">
      <dgm:prSet presAssocID="{9A5FF0A7-5A66-4334-9C03-9F8CC1B826EF}" presName="connTx" presStyleLbl="parChTrans1D3" presStyleIdx="2" presStyleCnt="9"/>
      <dgm:spPr/>
    </dgm:pt>
    <dgm:pt modelId="{ECFCDCB4-88D1-4230-9D77-5D162AFCA776}" type="pres">
      <dgm:prSet presAssocID="{178D0D48-FE52-4468-941D-2707D2DE838F}" presName="root2" presStyleCnt="0"/>
      <dgm:spPr/>
    </dgm:pt>
    <dgm:pt modelId="{1BD4C3BE-3A63-4DA9-A390-547D4319CAE3}" type="pres">
      <dgm:prSet presAssocID="{178D0D48-FE52-4468-941D-2707D2DE838F}" presName="LevelTwoTextNode" presStyleLbl="node3" presStyleIdx="2" presStyleCnt="9" custScaleX="132819">
        <dgm:presLayoutVars>
          <dgm:chPref val="3"/>
        </dgm:presLayoutVars>
      </dgm:prSet>
      <dgm:spPr/>
    </dgm:pt>
    <dgm:pt modelId="{41B9BA5A-CD59-411A-9275-728229CB6EA5}" type="pres">
      <dgm:prSet presAssocID="{178D0D48-FE52-4468-941D-2707D2DE838F}" presName="level3hierChild" presStyleCnt="0"/>
      <dgm:spPr/>
    </dgm:pt>
    <dgm:pt modelId="{B692A469-4AAD-4C5C-9CFA-AA6CFCE70B0B}" type="pres">
      <dgm:prSet presAssocID="{67EE6229-FE2D-460D-AC2C-3877AAF040CD}" presName="conn2-1" presStyleLbl="parChTrans1D2" presStyleIdx="1" presStyleCnt="2"/>
      <dgm:spPr/>
    </dgm:pt>
    <dgm:pt modelId="{E0280F8A-7475-4497-9B79-68C3C15D799D}" type="pres">
      <dgm:prSet presAssocID="{67EE6229-FE2D-460D-AC2C-3877AAF040CD}" presName="connTx" presStyleLbl="parChTrans1D2" presStyleIdx="1" presStyleCnt="2"/>
      <dgm:spPr/>
    </dgm:pt>
    <dgm:pt modelId="{23BB99EA-DA79-4D6F-A9E7-4B8C1BF09F0B}" type="pres">
      <dgm:prSet presAssocID="{C33C0C57-9787-4D26-A469-C301BCDA0E2F}" presName="root2" presStyleCnt="0"/>
      <dgm:spPr/>
    </dgm:pt>
    <dgm:pt modelId="{5D28EBC8-40CC-42C5-9D96-F15F1EAE317D}" type="pres">
      <dgm:prSet presAssocID="{C33C0C57-9787-4D26-A469-C301BCDA0E2F}" presName="LevelTwoTextNode" presStyleLbl="node2" presStyleIdx="1" presStyleCnt="2">
        <dgm:presLayoutVars>
          <dgm:chPref val="3"/>
        </dgm:presLayoutVars>
      </dgm:prSet>
      <dgm:spPr/>
    </dgm:pt>
    <dgm:pt modelId="{6A40FB72-5522-497C-A627-1C008E207215}" type="pres">
      <dgm:prSet presAssocID="{C33C0C57-9787-4D26-A469-C301BCDA0E2F}" presName="level3hierChild" presStyleCnt="0"/>
      <dgm:spPr/>
    </dgm:pt>
    <dgm:pt modelId="{3FCF3505-0123-4988-B720-149F20AEDC47}" type="pres">
      <dgm:prSet presAssocID="{2A6B6DCD-5A33-4B05-87DA-2E0A41341702}" presName="conn2-1" presStyleLbl="parChTrans1D3" presStyleIdx="3" presStyleCnt="9"/>
      <dgm:spPr/>
    </dgm:pt>
    <dgm:pt modelId="{C17223FE-3F6F-41AC-8236-ADE17830089C}" type="pres">
      <dgm:prSet presAssocID="{2A6B6DCD-5A33-4B05-87DA-2E0A41341702}" presName="connTx" presStyleLbl="parChTrans1D3" presStyleIdx="3" presStyleCnt="9"/>
      <dgm:spPr/>
    </dgm:pt>
    <dgm:pt modelId="{684463A0-A895-478C-909F-B88FF5614D19}" type="pres">
      <dgm:prSet presAssocID="{89562F54-C69B-4401-AE8C-614BEA9AF1B5}" presName="root2" presStyleCnt="0"/>
      <dgm:spPr/>
    </dgm:pt>
    <dgm:pt modelId="{2542DDC6-646A-4116-8C73-5661FAFE0FD2}" type="pres">
      <dgm:prSet presAssocID="{89562F54-C69B-4401-AE8C-614BEA9AF1B5}" presName="LevelTwoTextNode" presStyleLbl="node3" presStyleIdx="3" presStyleCnt="9" custScaleX="214156">
        <dgm:presLayoutVars>
          <dgm:chPref val="3"/>
        </dgm:presLayoutVars>
      </dgm:prSet>
      <dgm:spPr/>
    </dgm:pt>
    <dgm:pt modelId="{53E4EEEE-0072-48B6-AE3B-B5165413461E}" type="pres">
      <dgm:prSet presAssocID="{89562F54-C69B-4401-AE8C-614BEA9AF1B5}" presName="level3hierChild" presStyleCnt="0"/>
      <dgm:spPr/>
    </dgm:pt>
    <dgm:pt modelId="{823FC844-2774-4A58-BBFE-A82217E09579}" type="pres">
      <dgm:prSet presAssocID="{141E5E00-2781-4813-A8CA-565AF09CB4A8}" presName="conn2-1" presStyleLbl="parChTrans1D3" presStyleIdx="4" presStyleCnt="9"/>
      <dgm:spPr/>
    </dgm:pt>
    <dgm:pt modelId="{53652530-68F9-466C-8CD1-DE658FCBCFA1}" type="pres">
      <dgm:prSet presAssocID="{141E5E00-2781-4813-A8CA-565AF09CB4A8}" presName="connTx" presStyleLbl="parChTrans1D3" presStyleIdx="4" presStyleCnt="9"/>
      <dgm:spPr/>
    </dgm:pt>
    <dgm:pt modelId="{ABABBA44-9663-42D8-96D7-D80DB6D1C4CC}" type="pres">
      <dgm:prSet presAssocID="{7F07A4D5-DC52-4F9F-8425-10FD9EE03D9E}" presName="root2" presStyleCnt="0"/>
      <dgm:spPr/>
    </dgm:pt>
    <dgm:pt modelId="{57405C83-B1F0-4F76-BD4F-826E00C9A178}" type="pres">
      <dgm:prSet presAssocID="{7F07A4D5-DC52-4F9F-8425-10FD9EE03D9E}" presName="LevelTwoTextNode" presStyleLbl="node3" presStyleIdx="4" presStyleCnt="9" custScaleX="214156">
        <dgm:presLayoutVars>
          <dgm:chPref val="3"/>
        </dgm:presLayoutVars>
      </dgm:prSet>
      <dgm:spPr/>
    </dgm:pt>
    <dgm:pt modelId="{485CA7BF-CC11-49E8-9CEF-57DE912B6338}" type="pres">
      <dgm:prSet presAssocID="{7F07A4D5-DC52-4F9F-8425-10FD9EE03D9E}" presName="level3hierChild" presStyleCnt="0"/>
      <dgm:spPr/>
    </dgm:pt>
    <dgm:pt modelId="{11A15F70-66DC-4485-AA88-BA791B528D0F}" type="pres">
      <dgm:prSet presAssocID="{DDDDC312-ED99-4F73-8D5E-018D179FB55A}" presName="conn2-1" presStyleLbl="parChTrans1D3" presStyleIdx="5" presStyleCnt="9"/>
      <dgm:spPr/>
    </dgm:pt>
    <dgm:pt modelId="{C13C9D34-D14D-43FD-B86C-0630364BF146}" type="pres">
      <dgm:prSet presAssocID="{DDDDC312-ED99-4F73-8D5E-018D179FB55A}" presName="connTx" presStyleLbl="parChTrans1D3" presStyleIdx="5" presStyleCnt="9"/>
      <dgm:spPr/>
    </dgm:pt>
    <dgm:pt modelId="{CD1FAC7B-BFC8-41DE-A186-8A0EDD12800C}" type="pres">
      <dgm:prSet presAssocID="{A1FB2562-1C66-421F-B1F5-AF2872F78801}" presName="root2" presStyleCnt="0"/>
      <dgm:spPr/>
    </dgm:pt>
    <dgm:pt modelId="{C2A71CCC-8685-45A2-B18B-F0A41F6AFBFF}" type="pres">
      <dgm:prSet presAssocID="{A1FB2562-1C66-421F-B1F5-AF2872F78801}" presName="LevelTwoTextNode" presStyleLbl="node3" presStyleIdx="5" presStyleCnt="9" custScaleX="205472">
        <dgm:presLayoutVars>
          <dgm:chPref val="3"/>
        </dgm:presLayoutVars>
      </dgm:prSet>
      <dgm:spPr/>
    </dgm:pt>
    <dgm:pt modelId="{BF27807A-8A5C-47F4-B73F-CAF56E6E7247}" type="pres">
      <dgm:prSet presAssocID="{A1FB2562-1C66-421F-B1F5-AF2872F78801}" presName="level3hierChild" presStyleCnt="0"/>
      <dgm:spPr/>
    </dgm:pt>
    <dgm:pt modelId="{CE5A8936-0669-48CB-B3A6-43D314BE75FB}" type="pres">
      <dgm:prSet presAssocID="{26CCB142-3C0F-4FB5-98C3-840D1230A5B1}" presName="conn2-1" presStyleLbl="parChTrans1D3" presStyleIdx="6" presStyleCnt="9"/>
      <dgm:spPr/>
    </dgm:pt>
    <dgm:pt modelId="{7EE07BA2-9F8F-4855-9787-55FD6C3B6393}" type="pres">
      <dgm:prSet presAssocID="{26CCB142-3C0F-4FB5-98C3-840D1230A5B1}" presName="connTx" presStyleLbl="parChTrans1D3" presStyleIdx="6" presStyleCnt="9"/>
      <dgm:spPr/>
    </dgm:pt>
    <dgm:pt modelId="{859C9460-6668-47C6-A545-C884DC82F237}" type="pres">
      <dgm:prSet presAssocID="{AB3A1B84-FBE8-467E-AC01-9E8153CDD2DC}" presName="root2" presStyleCnt="0"/>
      <dgm:spPr/>
    </dgm:pt>
    <dgm:pt modelId="{24726482-911B-45C0-B5C9-8C2428849975}" type="pres">
      <dgm:prSet presAssocID="{AB3A1B84-FBE8-467E-AC01-9E8153CDD2DC}" presName="LevelTwoTextNode" presStyleLbl="node3" presStyleIdx="6" presStyleCnt="9" custScaleX="192448">
        <dgm:presLayoutVars>
          <dgm:chPref val="3"/>
        </dgm:presLayoutVars>
      </dgm:prSet>
      <dgm:spPr/>
    </dgm:pt>
    <dgm:pt modelId="{B9A2065E-00D7-4A13-BD94-C9E0C13957D6}" type="pres">
      <dgm:prSet presAssocID="{AB3A1B84-FBE8-467E-AC01-9E8153CDD2DC}" presName="level3hierChild" presStyleCnt="0"/>
      <dgm:spPr/>
    </dgm:pt>
    <dgm:pt modelId="{0117BADE-12FB-419D-8497-42C821BBA6C2}" type="pres">
      <dgm:prSet presAssocID="{B70FFA22-2B97-4E3A-A401-90EC07780D8F}" presName="conn2-1" presStyleLbl="parChTrans1D3" presStyleIdx="7" presStyleCnt="9"/>
      <dgm:spPr/>
    </dgm:pt>
    <dgm:pt modelId="{01694D90-DCA9-4B9D-8FF2-73238826C02B}" type="pres">
      <dgm:prSet presAssocID="{B70FFA22-2B97-4E3A-A401-90EC07780D8F}" presName="connTx" presStyleLbl="parChTrans1D3" presStyleIdx="7" presStyleCnt="9"/>
      <dgm:spPr/>
    </dgm:pt>
    <dgm:pt modelId="{9746529D-B081-4394-8E0B-7D3362BF71B7}" type="pres">
      <dgm:prSet presAssocID="{44445FF5-5566-46B5-9D86-AB88E588C369}" presName="root2" presStyleCnt="0"/>
      <dgm:spPr/>
    </dgm:pt>
    <dgm:pt modelId="{80BC3D9F-A898-48D1-BAEB-3AD0E59357E3}" type="pres">
      <dgm:prSet presAssocID="{44445FF5-5566-46B5-9D86-AB88E588C369}" presName="LevelTwoTextNode" presStyleLbl="node3" presStyleIdx="7" presStyleCnt="9" custScaleX="111606">
        <dgm:presLayoutVars>
          <dgm:chPref val="3"/>
        </dgm:presLayoutVars>
      </dgm:prSet>
      <dgm:spPr/>
    </dgm:pt>
    <dgm:pt modelId="{11BF4736-E324-462C-8486-F0E1DF42A742}" type="pres">
      <dgm:prSet presAssocID="{44445FF5-5566-46B5-9D86-AB88E588C369}" presName="level3hierChild" presStyleCnt="0"/>
      <dgm:spPr/>
    </dgm:pt>
    <dgm:pt modelId="{255CE648-42AA-41BE-AC9F-21182EC33087}" type="pres">
      <dgm:prSet presAssocID="{5571FC6D-353E-4475-AA7F-EAE64FF54C16}" presName="conn2-1" presStyleLbl="parChTrans1D3" presStyleIdx="8" presStyleCnt="9"/>
      <dgm:spPr/>
    </dgm:pt>
    <dgm:pt modelId="{8629AAEF-E76B-4D25-B2F2-382890EF6CDB}" type="pres">
      <dgm:prSet presAssocID="{5571FC6D-353E-4475-AA7F-EAE64FF54C16}" presName="connTx" presStyleLbl="parChTrans1D3" presStyleIdx="8" presStyleCnt="9"/>
      <dgm:spPr/>
    </dgm:pt>
    <dgm:pt modelId="{23BC6C3B-4A06-42DD-8366-02447751CF78}" type="pres">
      <dgm:prSet presAssocID="{616E061C-F9D7-4D31-BD16-9C5337B35C55}" presName="root2" presStyleCnt="0"/>
      <dgm:spPr/>
    </dgm:pt>
    <dgm:pt modelId="{2021622E-8142-49A5-B1D7-58687DE29604}" type="pres">
      <dgm:prSet presAssocID="{616E061C-F9D7-4D31-BD16-9C5337B35C55}" presName="LevelTwoTextNode" presStyleLbl="node3" presStyleIdx="8" presStyleCnt="9" custScaleX="111606">
        <dgm:presLayoutVars>
          <dgm:chPref val="3"/>
        </dgm:presLayoutVars>
      </dgm:prSet>
      <dgm:spPr/>
    </dgm:pt>
    <dgm:pt modelId="{203C3AAC-0422-4D23-90F4-717DB49D5766}" type="pres">
      <dgm:prSet presAssocID="{616E061C-F9D7-4D31-BD16-9C5337B35C55}" presName="level3hierChild" presStyleCnt="0"/>
      <dgm:spPr/>
    </dgm:pt>
  </dgm:ptLst>
  <dgm:cxnLst>
    <dgm:cxn modelId="{5553920D-4F9C-4C56-ADB0-E72375A346B4}" type="presOf" srcId="{B70FFA22-2B97-4E3A-A401-90EC07780D8F}" destId="{01694D90-DCA9-4B9D-8FF2-73238826C02B}" srcOrd="1" destOrd="0" presId="urn:microsoft.com/office/officeart/2008/layout/HorizontalMultiLevelHierarchy#1"/>
    <dgm:cxn modelId="{F812161D-4FAC-4E26-B7CD-BC02503F239D}" type="presOf" srcId="{DB5E50E2-EF45-438D-8428-CA811FF93540}" destId="{1C49A887-A871-4456-A46E-A718BDED663F}" srcOrd="0" destOrd="0" presId="urn:microsoft.com/office/officeart/2008/layout/HorizontalMultiLevelHierarchy#1"/>
    <dgm:cxn modelId="{8F130120-1B7C-411C-A139-F2513ED8ECDC}" srcId="{288A3588-8B20-4141-8255-5CFD2C6C3296}" destId="{178D0D48-FE52-4468-941D-2707D2DE838F}" srcOrd="2" destOrd="0" parTransId="{9A5FF0A7-5A66-4334-9C03-9F8CC1B826EF}" sibTransId="{07572063-14C3-48EA-9EF7-8355F081E67C}"/>
    <dgm:cxn modelId="{586E8E23-CED0-41F6-9B4F-7A7DDA04CB0E}" type="presOf" srcId="{DB5E50E2-EF45-438D-8428-CA811FF93540}" destId="{1D5D640D-7BE3-4C32-97BE-4F1ADBB38640}" srcOrd="1" destOrd="0" presId="urn:microsoft.com/office/officeart/2008/layout/HorizontalMultiLevelHierarchy#1"/>
    <dgm:cxn modelId="{F30B052A-4637-4408-AC8B-72FDC37D1152}" type="presOf" srcId="{9A5FF0A7-5A66-4334-9C03-9F8CC1B826EF}" destId="{336F2134-AC3A-4B19-BA79-BD751127E15B}" srcOrd="1" destOrd="0" presId="urn:microsoft.com/office/officeart/2008/layout/HorizontalMultiLevelHierarchy#1"/>
    <dgm:cxn modelId="{C09B072A-2C1B-434C-BCAB-E6B03A7F7EE1}" type="presOf" srcId="{2A6B6DCD-5A33-4B05-87DA-2E0A41341702}" destId="{3FCF3505-0123-4988-B720-149F20AEDC47}" srcOrd="0" destOrd="0" presId="urn:microsoft.com/office/officeart/2008/layout/HorizontalMultiLevelHierarchy#1"/>
    <dgm:cxn modelId="{E829F32A-246E-4679-9ADD-9375BC279AE3}" type="presOf" srcId="{8F933682-E11D-43D2-9F49-F2CF8C95976A}" destId="{7E9F186F-802D-468B-8AB2-942806AF5E06}" srcOrd="0" destOrd="0" presId="urn:microsoft.com/office/officeart/2008/layout/HorizontalMultiLevelHierarchy#1"/>
    <dgm:cxn modelId="{C167C72B-DF46-40F3-AF37-E2CB0CA214DA}" type="presOf" srcId="{141E5E00-2781-4813-A8CA-565AF09CB4A8}" destId="{823FC844-2774-4A58-BBFE-A82217E09579}" srcOrd="0" destOrd="0" presId="urn:microsoft.com/office/officeart/2008/layout/HorizontalMultiLevelHierarchy#1"/>
    <dgm:cxn modelId="{F0125A2C-2DA5-4375-9356-DD6D25174C96}" type="presOf" srcId="{A1FB2562-1C66-421F-B1F5-AF2872F78801}" destId="{C2A71CCC-8685-45A2-B18B-F0A41F6AFBFF}" srcOrd="0" destOrd="0" presId="urn:microsoft.com/office/officeart/2008/layout/HorizontalMultiLevelHierarchy#1"/>
    <dgm:cxn modelId="{7E12632E-E90C-48ED-BE2D-F396ACF623FB}" type="presOf" srcId="{7E104DF5-D823-47B0-A2E8-59C6C35151A2}" destId="{764EC702-5F80-4A1B-BABB-56C9A350A61A}" srcOrd="0" destOrd="0" presId="urn:microsoft.com/office/officeart/2008/layout/HorizontalMultiLevelHierarchy#1"/>
    <dgm:cxn modelId="{6FC0A52E-0913-411E-A83A-95C68DBE2E70}" srcId="{2C755B47-A635-49E4-8C89-443B8A54D0BC}" destId="{C33C0C57-9787-4D26-A469-C301BCDA0E2F}" srcOrd="1" destOrd="0" parTransId="{67EE6229-FE2D-460D-AC2C-3877AAF040CD}" sibTransId="{BBC16A0A-1CF1-42BE-86B3-371E298DA309}"/>
    <dgm:cxn modelId="{3B8CA032-A7D5-413E-9E9B-D351193AD0B5}" type="presOf" srcId="{B70FFA22-2B97-4E3A-A401-90EC07780D8F}" destId="{0117BADE-12FB-419D-8497-42C821BBA6C2}" srcOrd="0" destOrd="0" presId="urn:microsoft.com/office/officeart/2008/layout/HorizontalMultiLevelHierarchy#1"/>
    <dgm:cxn modelId="{1F4A9234-8090-4921-A8D1-7CFA87302BEE}" type="presOf" srcId="{141E5E00-2781-4813-A8CA-565AF09CB4A8}" destId="{53652530-68F9-466C-8CD1-DE658FCBCFA1}" srcOrd="1" destOrd="0" presId="urn:microsoft.com/office/officeart/2008/layout/HorizontalMultiLevelHierarchy#1"/>
    <dgm:cxn modelId="{27F2C540-F3E8-4ED1-8A2F-22C0AFD0ABCB}" type="presOf" srcId="{288A3588-8B20-4141-8255-5CFD2C6C3296}" destId="{E0FAB3E9-ED5B-41F5-840C-E5F841926076}" srcOrd="0" destOrd="0" presId="urn:microsoft.com/office/officeart/2008/layout/HorizontalMultiLevelHierarchy#1"/>
    <dgm:cxn modelId="{8B8FA45C-3388-4F4F-BB28-D700A9FF6D78}" type="presOf" srcId="{AB3A1B84-FBE8-467E-AC01-9E8153CDD2DC}" destId="{24726482-911B-45C0-B5C9-8C2428849975}" srcOrd="0" destOrd="0" presId="urn:microsoft.com/office/officeart/2008/layout/HorizontalMultiLevelHierarchy#1"/>
    <dgm:cxn modelId="{41562A65-0CC2-4773-87A7-EBE709FCAEA8}" srcId="{C33C0C57-9787-4D26-A469-C301BCDA0E2F}" destId="{A1FB2562-1C66-421F-B1F5-AF2872F78801}" srcOrd="2" destOrd="0" parTransId="{DDDDC312-ED99-4F73-8D5E-018D179FB55A}" sibTransId="{65073E86-833F-40FA-A4BF-56DC088CA056}"/>
    <dgm:cxn modelId="{8211A346-FF0A-4DF5-B009-BD16512D1CDE}" srcId="{C33C0C57-9787-4D26-A469-C301BCDA0E2F}" destId="{89562F54-C69B-4401-AE8C-614BEA9AF1B5}" srcOrd="0" destOrd="0" parTransId="{2A6B6DCD-5A33-4B05-87DA-2E0A41341702}" sibTransId="{0434F26A-4B85-462C-860E-DA10376CE2FF}"/>
    <dgm:cxn modelId="{35AAC867-B48D-47D6-951A-66BEFE8C9A44}" srcId="{C33C0C57-9787-4D26-A469-C301BCDA0E2F}" destId="{7F07A4D5-DC52-4F9F-8425-10FD9EE03D9E}" srcOrd="1" destOrd="0" parTransId="{141E5E00-2781-4813-A8CA-565AF09CB4A8}" sibTransId="{1180335A-9DD2-4022-8F21-EA9CD931A9F6}"/>
    <dgm:cxn modelId="{62C0E44C-CA73-4503-8466-77EE707E9745}" srcId="{288A3588-8B20-4141-8255-5CFD2C6C3296}" destId="{8F933682-E11D-43D2-9F49-F2CF8C95976A}" srcOrd="1" destOrd="0" parTransId="{BFD84FE5-CF86-4C2E-A05E-96B2AD66D576}" sibTransId="{07766FEA-03F6-42C0-A775-517AE79E976F}"/>
    <dgm:cxn modelId="{88282774-4072-4FE7-BCA2-3376C67870A0}" type="presOf" srcId="{DDDDC312-ED99-4F73-8D5E-018D179FB55A}" destId="{C13C9D34-D14D-43FD-B86C-0630364BF146}" srcOrd="1" destOrd="0" presId="urn:microsoft.com/office/officeart/2008/layout/HorizontalMultiLevelHierarchy#1"/>
    <dgm:cxn modelId="{C94EB554-DE33-439C-9DDC-CE9A1BA1E13A}" type="presOf" srcId="{ED023B82-B6D2-46BA-8116-777CBF66B4B5}" destId="{21ABFC13-6DAA-4BE3-A122-8283A6897ED2}" srcOrd="0" destOrd="0" presId="urn:microsoft.com/office/officeart/2008/layout/HorizontalMultiLevelHierarchy#1"/>
    <dgm:cxn modelId="{F7005557-4282-4D1B-A887-1D812A5694FE}" type="presOf" srcId="{44445FF5-5566-46B5-9D86-AB88E588C369}" destId="{80BC3D9F-A898-48D1-BAEB-3AD0E59357E3}" srcOrd="0" destOrd="0" presId="urn:microsoft.com/office/officeart/2008/layout/HorizontalMultiLevelHierarchy#1"/>
    <dgm:cxn modelId="{FE86C97A-0DE8-4767-A6CD-1D38D44F7834}" type="presOf" srcId="{DDDDC312-ED99-4F73-8D5E-018D179FB55A}" destId="{11A15F70-66DC-4485-AA88-BA791B528D0F}" srcOrd="0" destOrd="0" presId="urn:microsoft.com/office/officeart/2008/layout/HorizontalMultiLevelHierarchy#1"/>
    <dgm:cxn modelId="{2C31AF7B-8279-4CFC-80B6-9D3BC482C8B7}" type="presOf" srcId="{67EE6229-FE2D-460D-AC2C-3877AAF040CD}" destId="{E0280F8A-7475-4497-9B79-68C3C15D799D}" srcOrd="1" destOrd="0" presId="urn:microsoft.com/office/officeart/2008/layout/HorizontalMultiLevelHierarchy#1"/>
    <dgm:cxn modelId="{01B39480-B323-46B2-94C9-E46C0F43660C}" type="presOf" srcId="{616E061C-F9D7-4D31-BD16-9C5337B35C55}" destId="{2021622E-8142-49A5-B1D7-58687DE29604}" srcOrd="0" destOrd="0" presId="urn:microsoft.com/office/officeart/2008/layout/HorizontalMultiLevelHierarchy#1"/>
    <dgm:cxn modelId="{D8973C84-781A-4C2D-A927-FA86205975EE}" type="presOf" srcId="{C33C0C57-9787-4D26-A469-C301BCDA0E2F}" destId="{5D28EBC8-40CC-42C5-9D96-F15F1EAE317D}" srcOrd="0" destOrd="0" presId="urn:microsoft.com/office/officeart/2008/layout/HorizontalMultiLevelHierarchy#1"/>
    <dgm:cxn modelId="{231C2386-0895-499F-BDCD-E339E1038933}" type="presOf" srcId="{178D0D48-FE52-4468-941D-2707D2DE838F}" destId="{1BD4C3BE-3A63-4DA9-A390-547D4319CAE3}" srcOrd="0" destOrd="0" presId="urn:microsoft.com/office/officeart/2008/layout/HorizontalMultiLevelHierarchy#1"/>
    <dgm:cxn modelId="{E95DA987-60FD-4809-91CA-E9FBF9269587}" srcId="{C33C0C57-9787-4D26-A469-C301BCDA0E2F}" destId="{AB3A1B84-FBE8-467E-AC01-9E8153CDD2DC}" srcOrd="3" destOrd="0" parTransId="{26CCB142-3C0F-4FB5-98C3-840D1230A5B1}" sibTransId="{1415247D-41B3-4D08-883C-AC0BCFFF94B4}"/>
    <dgm:cxn modelId="{C4AA9A8A-4BE1-4990-A0DE-0226F9173AC5}" srcId="{ED023B82-B6D2-46BA-8116-777CBF66B4B5}" destId="{2C755B47-A635-49E4-8C89-443B8A54D0BC}" srcOrd="0" destOrd="0" parTransId="{ACD2BF94-FF14-4A50-A2D3-217E94130496}" sibTransId="{90F88590-4D67-4D40-BCC1-249BA9FC1ECC}"/>
    <dgm:cxn modelId="{FA02668D-44D5-483C-9E64-842EC680DDCE}" type="presOf" srcId="{BFD84FE5-CF86-4C2E-A05E-96B2AD66D576}" destId="{E0EFF9CB-401B-474D-8180-B93A2E21BB71}" srcOrd="0" destOrd="0" presId="urn:microsoft.com/office/officeart/2008/layout/HorizontalMultiLevelHierarchy#1"/>
    <dgm:cxn modelId="{CF822791-A74A-4D05-A4B9-92F953573F88}" type="presOf" srcId="{5571FC6D-353E-4475-AA7F-EAE64FF54C16}" destId="{8629AAEF-E76B-4D25-B2F2-382890EF6CDB}" srcOrd="1" destOrd="0" presId="urn:microsoft.com/office/officeart/2008/layout/HorizontalMultiLevelHierarchy#1"/>
    <dgm:cxn modelId="{DE7D2895-7279-4F33-89C5-60A9D4747FB0}" srcId="{2C755B47-A635-49E4-8C89-443B8A54D0BC}" destId="{288A3588-8B20-4141-8255-5CFD2C6C3296}" srcOrd="0" destOrd="0" parTransId="{32DD66D5-F6F2-496E-A138-112D414C82E3}" sibTransId="{29D666DB-ABFA-467B-A84A-4B24FB2D4E1A}"/>
    <dgm:cxn modelId="{75FEA19A-BC87-4555-9DB3-173BC15CC354}" type="presOf" srcId="{2A6B6DCD-5A33-4B05-87DA-2E0A41341702}" destId="{C17223FE-3F6F-41AC-8236-ADE17830089C}" srcOrd="1" destOrd="0" presId="urn:microsoft.com/office/officeart/2008/layout/HorizontalMultiLevelHierarchy#1"/>
    <dgm:cxn modelId="{916FDA9D-336A-455D-9DDB-F00925F8FDE9}" type="presOf" srcId="{5571FC6D-353E-4475-AA7F-EAE64FF54C16}" destId="{255CE648-42AA-41BE-AC9F-21182EC33087}" srcOrd="0" destOrd="0" presId="urn:microsoft.com/office/officeart/2008/layout/HorizontalMultiLevelHierarchy#1"/>
    <dgm:cxn modelId="{356684A5-2F29-4DB4-83AA-CA865CEAC774}" srcId="{C33C0C57-9787-4D26-A469-C301BCDA0E2F}" destId="{44445FF5-5566-46B5-9D86-AB88E588C369}" srcOrd="4" destOrd="0" parTransId="{B70FFA22-2B97-4E3A-A401-90EC07780D8F}" sibTransId="{C01036BF-C569-49C2-8D5F-129EE18EFD07}"/>
    <dgm:cxn modelId="{F8CED4B2-088B-480E-A90E-3E4A06F0A3F1}" type="presOf" srcId="{26CCB142-3C0F-4FB5-98C3-840D1230A5B1}" destId="{7EE07BA2-9F8F-4855-9787-55FD6C3B6393}" srcOrd="1" destOrd="0" presId="urn:microsoft.com/office/officeart/2008/layout/HorizontalMultiLevelHierarchy#1"/>
    <dgm:cxn modelId="{BE9068B4-CDFE-418A-9C61-661178C5990E}" srcId="{288A3588-8B20-4141-8255-5CFD2C6C3296}" destId="{7E104DF5-D823-47B0-A2E8-59C6C35151A2}" srcOrd="0" destOrd="0" parTransId="{DB5E50E2-EF45-438D-8428-CA811FF93540}" sibTransId="{20BBF9FC-CC96-4082-8B01-AB6B2AAE4B2E}"/>
    <dgm:cxn modelId="{B5985EB7-A29C-4C2A-BDB5-8611BA1156BA}" type="presOf" srcId="{7F07A4D5-DC52-4F9F-8425-10FD9EE03D9E}" destId="{57405C83-B1F0-4F76-BD4F-826E00C9A178}" srcOrd="0" destOrd="0" presId="urn:microsoft.com/office/officeart/2008/layout/HorizontalMultiLevelHierarchy#1"/>
    <dgm:cxn modelId="{7F5F82BB-079B-4C0F-BFE0-F1D0534DDF4F}" type="presOf" srcId="{32DD66D5-F6F2-496E-A138-112D414C82E3}" destId="{E1CAB648-50BD-4890-98C1-FE6503CAF854}" srcOrd="0" destOrd="0" presId="urn:microsoft.com/office/officeart/2008/layout/HorizontalMultiLevelHierarchy#1"/>
    <dgm:cxn modelId="{E5C20DBC-C680-4F54-A1CF-A30CC8FED328}" type="presOf" srcId="{9A5FF0A7-5A66-4334-9C03-9F8CC1B826EF}" destId="{EABDA8B9-3A6D-48AD-8210-1996226882AF}" srcOrd="0" destOrd="0" presId="urn:microsoft.com/office/officeart/2008/layout/HorizontalMultiLevelHierarchy#1"/>
    <dgm:cxn modelId="{1CD345BC-2E1A-4E89-A9C6-D039AB6B0AB2}" type="presOf" srcId="{2C755B47-A635-49E4-8C89-443B8A54D0BC}" destId="{15A29D30-2B57-4AA3-ABBC-BD24A075F1E8}" srcOrd="0" destOrd="0" presId="urn:microsoft.com/office/officeart/2008/layout/HorizontalMultiLevelHierarchy#1"/>
    <dgm:cxn modelId="{E3B974BD-DB13-43A7-8B8F-65B3EF4C0E3B}" srcId="{C33C0C57-9787-4D26-A469-C301BCDA0E2F}" destId="{616E061C-F9D7-4D31-BD16-9C5337B35C55}" srcOrd="5" destOrd="0" parTransId="{5571FC6D-353E-4475-AA7F-EAE64FF54C16}" sibTransId="{4354AD8B-6980-4C38-A17F-32B61BA2A6A0}"/>
    <dgm:cxn modelId="{B6F2DDBE-962B-4F3D-AEE7-33E96E9C41B7}" type="presOf" srcId="{67EE6229-FE2D-460D-AC2C-3877AAF040CD}" destId="{B692A469-4AAD-4C5C-9CFA-AA6CFCE70B0B}" srcOrd="0" destOrd="0" presId="urn:microsoft.com/office/officeart/2008/layout/HorizontalMultiLevelHierarchy#1"/>
    <dgm:cxn modelId="{392F10C2-3B93-40DE-A4A0-EBADD0F7076D}" type="presOf" srcId="{26CCB142-3C0F-4FB5-98C3-840D1230A5B1}" destId="{CE5A8936-0669-48CB-B3A6-43D314BE75FB}" srcOrd="0" destOrd="0" presId="urn:microsoft.com/office/officeart/2008/layout/HorizontalMultiLevelHierarchy#1"/>
    <dgm:cxn modelId="{B4F638C6-6672-407F-8E72-82AE412212B5}" type="presOf" srcId="{89562F54-C69B-4401-AE8C-614BEA9AF1B5}" destId="{2542DDC6-646A-4116-8C73-5661FAFE0FD2}" srcOrd="0" destOrd="0" presId="urn:microsoft.com/office/officeart/2008/layout/HorizontalMultiLevelHierarchy#1"/>
    <dgm:cxn modelId="{F58FBAC7-B963-405E-9EA6-0FF370AEE690}" type="presOf" srcId="{BFD84FE5-CF86-4C2E-A05E-96B2AD66D576}" destId="{454625D0-97EC-47F8-8834-0BA5E88F5A1B}" srcOrd="1" destOrd="0" presId="urn:microsoft.com/office/officeart/2008/layout/HorizontalMultiLevelHierarchy#1"/>
    <dgm:cxn modelId="{C2849EF5-91AC-4226-A41C-8090D7245447}" type="presOf" srcId="{32DD66D5-F6F2-496E-A138-112D414C82E3}" destId="{528CDFA4-5AC8-4302-81EC-0F80E13B2AD6}" srcOrd="1" destOrd="0" presId="urn:microsoft.com/office/officeart/2008/layout/HorizontalMultiLevelHierarchy#1"/>
    <dgm:cxn modelId="{0CA03AB3-4B6D-4148-8A4E-E98D183B0C65}" type="presParOf" srcId="{21ABFC13-6DAA-4BE3-A122-8283A6897ED2}" destId="{D47ACE2D-CD26-4B7C-A954-453421B5758A}" srcOrd="0" destOrd="0" presId="urn:microsoft.com/office/officeart/2008/layout/HorizontalMultiLevelHierarchy#1"/>
    <dgm:cxn modelId="{924E99CA-43AB-4333-B7DE-F163961C30B6}" type="presParOf" srcId="{D47ACE2D-CD26-4B7C-A954-453421B5758A}" destId="{15A29D30-2B57-4AA3-ABBC-BD24A075F1E8}" srcOrd="0" destOrd="0" presId="urn:microsoft.com/office/officeart/2008/layout/HorizontalMultiLevelHierarchy#1"/>
    <dgm:cxn modelId="{025B6200-DABF-406B-99C2-F6AB1CD79133}" type="presParOf" srcId="{D47ACE2D-CD26-4B7C-A954-453421B5758A}" destId="{7F07305F-1664-4BCF-BD05-0C046B3FFB43}" srcOrd="1" destOrd="0" presId="urn:microsoft.com/office/officeart/2008/layout/HorizontalMultiLevelHierarchy#1"/>
    <dgm:cxn modelId="{D5ECE7CB-0480-47AE-900D-7282EEBE0A9D}" type="presParOf" srcId="{7F07305F-1664-4BCF-BD05-0C046B3FFB43}" destId="{E1CAB648-50BD-4890-98C1-FE6503CAF854}" srcOrd="0" destOrd="0" presId="urn:microsoft.com/office/officeart/2008/layout/HorizontalMultiLevelHierarchy#1"/>
    <dgm:cxn modelId="{F0739763-E862-4CDE-83F8-286924EE4820}" type="presParOf" srcId="{E1CAB648-50BD-4890-98C1-FE6503CAF854}" destId="{528CDFA4-5AC8-4302-81EC-0F80E13B2AD6}" srcOrd="0" destOrd="0" presId="urn:microsoft.com/office/officeart/2008/layout/HorizontalMultiLevelHierarchy#1"/>
    <dgm:cxn modelId="{12EDA74B-001D-4304-9775-683140881BCB}" type="presParOf" srcId="{7F07305F-1664-4BCF-BD05-0C046B3FFB43}" destId="{41FD448F-3903-4560-828D-25BF39EEDA48}" srcOrd="1" destOrd="0" presId="urn:microsoft.com/office/officeart/2008/layout/HorizontalMultiLevelHierarchy#1"/>
    <dgm:cxn modelId="{AF85E048-FE2C-4C2F-B999-5C5D405AD73A}" type="presParOf" srcId="{41FD448F-3903-4560-828D-25BF39EEDA48}" destId="{E0FAB3E9-ED5B-41F5-840C-E5F841926076}" srcOrd="0" destOrd="0" presId="urn:microsoft.com/office/officeart/2008/layout/HorizontalMultiLevelHierarchy#1"/>
    <dgm:cxn modelId="{368CD4D6-9039-4C04-9287-DB9FBF59C888}" type="presParOf" srcId="{41FD448F-3903-4560-828D-25BF39EEDA48}" destId="{B3287FFF-2F64-4315-896A-4E4D4BECB41E}" srcOrd="1" destOrd="0" presId="urn:microsoft.com/office/officeart/2008/layout/HorizontalMultiLevelHierarchy#1"/>
    <dgm:cxn modelId="{9A8B66A0-ABFA-438B-994A-3BD8F115524A}" type="presParOf" srcId="{B3287FFF-2F64-4315-896A-4E4D4BECB41E}" destId="{1C49A887-A871-4456-A46E-A718BDED663F}" srcOrd="0" destOrd="0" presId="urn:microsoft.com/office/officeart/2008/layout/HorizontalMultiLevelHierarchy#1"/>
    <dgm:cxn modelId="{9FEA3835-CC67-41AA-93E9-11751A5B8B89}" type="presParOf" srcId="{1C49A887-A871-4456-A46E-A718BDED663F}" destId="{1D5D640D-7BE3-4C32-97BE-4F1ADBB38640}" srcOrd="0" destOrd="0" presId="urn:microsoft.com/office/officeart/2008/layout/HorizontalMultiLevelHierarchy#1"/>
    <dgm:cxn modelId="{0ED167A9-4778-4418-93BE-502248243C1D}" type="presParOf" srcId="{B3287FFF-2F64-4315-896A-4E4D4BECB41E}" destId="{599FDD44-5AF5-401D-AD5B-3F27AC57700F}" srcOrd="1" destOrd="0" presId="urn:microsoft.com/office/officeart/2008/layout/HorizontalMultiLevelHierarchy#1"/>
    <dgm:cxn modelId="{6A96C244-F460-427F-8211-41506920B2D4}" type="presParOf" srcId="{599FDD44-5AF5-401D-AD5B-3F27AC57700F}" destId="{764EC702-5F80-4A1B-BABB-56C9A350A61A}" srcOrd="0" destOrd="0" presId="urn:microsoft.com/office/officeart/2008/layout/HorizontalMultiLevelHierarchy#1"/>
    <dgm:cxn modelId="{7C5E3CF7-F831-405A-88D5-F772E8C162DD}" type="presParOf" srcId="{599FDD44-5AF5-401D-AD5B-3F27AC57700F}" destId="{5A566C61-D7F6-4639-B529-84F35AF153CD}" srcOrd="1" destOrd="0" presId="urn:microsoft.com/office/officeart/2008/layout/HorizontalMultiLevelHierarchy#1"/>
    <dgm:cxn modelId="{907E1910-ECD2-4AD1-B75A-8BF210C441BD}" type="presParOf" srcId="{B3287FFF-2F64-4315-896A-4E4D4BECB41E}" destId="{E0EFF9CB-401B-474D-8180-B93A2E21BB71}" srcOrd="2" destOrd="0" presId="urn:microsoft.com/office/officeart/2008/layout/HorizontalMultiLevelHierarchy#1"/>
    <dgm:cxn modelId="{2FD03409-095C-4C4D-B7F5-C64807E45726}" type="presParOf" srcId="{E0EFF9CB-401B-474D-8180-B93A2E21BB71}" destId="{454625D0-97EC-47F8-8834-0BA5E88F5A1B}" srcOrd="0" destOrd="0" presId="urn:microsoft.com/office/officeart/2008/layout/HorizontalMultiLevelHierarchy#1"/>
    <dgm:cxn modelId="{89348FAD-29F6-42F4-9814-C385079892B7}" type="presParOf" srcId="{B3287FFF-2F64-4315-896A-4E4D4BECB41E}" destId="{7B73BA4B-2200-4BDD-B936-E8237DB8F5D1}" srcOrd="3" destOrd="0" presId="urn:microsoft.com/office/officeart/2008/layout/HorizontalMultiLevelHierarchy#1"/>
    <dgm:cxn modelId="{8C7FF911-A27B-4A50-B0C3-351C4769AC4A}" type="presParOf" srcId="{7B73BA4B-2200-4BDD-B936-E8237DB8F5D1}" destId="{7E9F186F-802D-468B-8AB2-942806AF5E06}" srcOrd="0" destOrd="0" presId="urn:microsoft.com/office/officeart/2008/layout/HorizontalMultiLevelHierarchy#1"/>
    <dgm:cxn modelId="{6E296E91-4286-4B92-B11B-3997B5352A20}" type="presParOf" srcId="{7B73BA4B-2200-4BDD-B936-E8237DB8F5D1}" destId="{6ED2FB77-A0F2-4225-9666-44E088997D84}" srcOrd="1" destOrd="0" presId="urn:microsoft.com/office/officeart/2008/layout/HorizontalMultiLevelHierarchy#1"/>
    <dgm:cxn modelId="{A124C652-AA41-44FE-96D3-CB76A21C9F43}" type="presParOf" srcId="{B3287FFF-2F64-4315-896A-4E4D4BECB41E}" destId="{EABDA8B9-3A6D-48AD-8210-1996226882AF}" srcOrd="4" destOrd="0" presId="urn:microsoft.com/office/officeart/2008/layout/HorizontalMultiLevelHierarchy#1"/>
    <dgm:cxn modelId="{ECB6BADB-65D1-4FD6-90D3-EF778F3BF49D}" type="presParOf" srcId="{EABDA8B9-3A6D-48AD-8210-1996226882AF}" destId="{336F2134-AC3A-4B19-BA79-BD751127E15B}" srcOrd="0" destOrd="0" presId="urn:microsoft.com/office/officeart/2008/layout/HorizontalMultiLevelHierarchy#1"/>
    <dgm:cxn modelId="{2D5270ED-1488-47B4-94C0-7C1AE31D0286}" type="presParOf" srcId="{B3287FFF-2F64-4315-896A-4E4D4BECB41E}" destId="{ECFCDCB4-88D1-4230-9D77-5D162AFCA776}" srcOrd="5" destOrd="0" presId="urn:microsoft.com/office/officeart/2008/layout/HorizontalMultiLevelHierarchy#1"/>
    <dgm:cxn modelId="{5E9F5635-9410-48E5-BCEA-0BBD3E21F748}" type="presParOf" srcId="{ECFCDCB4-88D1-4230-9D77-5D162AFCA776}" destId="{1BD4C3BE-3A63-4DA9-A390-547D4319CAE3}" srcOrd="0" destOrd="0" presId="urn:microsoft.com/office/officeart/2008/layout/HorizontalMultiLevelHierarchy#1"/>
    <dgm:cxn modelId="{A37C3829-B827-4F09-ADF3-140B302631EE}" type="presParOf" srcId="{ECFCDCB4-88D1-4230-9D77-5D162AFCA776}" destId="{41B9BA5A-CD59-411A-9275-728229CB6EA5}" srcOrd="1" destOrd="0" presId="urn:microsoft.com/office/officeart/2008/layout/HorizontalMultiLevelHierarchy#1"/>
    <dgm:cxn modelId="{704DAD38-0A2C-4B7C-B9EC-9AA3121275B4}" type="presParOf" srcId="{7F07305F-1664-4BCF-BD05-0C046B3FFB43}" destId="{B692A469-4AAD-4C5C-9CFA-AA6CFCE70B0B}" srcOrd="2" destOrd="0" presId="urn:microsoft.com/office/officeart/2008/layout/HorizontalMultiLevelHierarchy#1"/>
    <dgm:cxn modelId="{E4701317-73C2-4D4A-BCF4-86CEF9FAAB0E}" type="presParOf" srcId="{B692A469-4AAD-4C5C-9CFA-AA6CFCE70B0B}" destId="{E0280F8A-7475-4497-9B79-68C3C15D799D}" srcOrd="0" destOrd="0" presId="urn:microsoft.com/office/officeart/2008/layout/HorizontalMultiLevelHierarchy#1"/>
    <dgm:cxn modelId="{C3B0338C-4AEC-46E4-A270-8F43E3F7F5FF}" type="presParOf" srcId="{7F07305F-1664-4BCF-BD05-0C046B3FFB43}" destId="{23BB99EA-DA79-4D6F-A9E7-4B8C1BF09F0B}" srcOrd="3" destOrd="0" presId="urn:microsoft.com/office/officeart/2008/layout/HorizontalMultiLevelHierarchy#1"/>
    <dgm:cxn modelId="{769EE831-4708-458D-97A2-C029A94EDEB5}" type="presParOf" srcId="{23BB99EA-DA79-4D6F-A9E7-4B8C1BF09F0B}" destId="{5D28EBC8-40CC-42C5-9D96-F15F1EAE317D}" srcOrd="0" destOrd="0" presId="urn:microsoft.com/office/officeart/2008/layout/HorizontalMultiLevelHierarchy#1"/>
    <dgm:cxn modelId="{1F15C570-CAF6-4F9D-B692-0FD56B0FC0BF}" type="presParOf" srcId="{23BB99EA-DA79-4D6F-A9E7-4B8C1BF09F0B}" destId="{6A40FB72-5522-497C-A627-1C008E207215}" srcOrd="1" destOrd="0" presId="urn:microsoft.com/office/officeart/2008/layout/HorizontalMultiLevelHierarchy#1"/>
    <dgm:cxn modelId="{2DA2279C-D420-43E0-AD4A-9D952FF03CEE}" type="presParOf" srcId="{6A40FB72-5522-497C-A627-1C008E207215}" destId="{3FCF3505-0123-4988-B720-149F20AEDC47}" srcOrd="0" destOrd="0" presId="urn:microsoft.com/office/officeart/2008/layout/HorizontalMultiLevelHierarchy#1"/>
    <dgm:cxn modelId="{28F0B094-5DD5-404F-B812-0683F2DA4CD5}" type="presParOf" srcId="{3FCF3505-0123-4988-B720-149F20AEDC47}" destId="{C17223FE-3F6F-41AC-8236-ADE17830089C}" srcOrd="0" destOrd="0" presId="urn:microsoft.com/office/officeart/2008/layout/HorizontalMultiLevelHierarchy#1"/>
    <dgm:cxn modelId="{59D087F7-80A3-4D43-955D-11607CD7258E}" type="presParOf" srcId="{6A40FB72-5522-497C-A627-1C008E207215}" destId="{684463A0-A895-478C-909F-B88FF5614D19}" srcOrd="1" destOrd="0" presId="urn:microsoft.com/office/officeart/2008/layout/HorizontalMultiLevelHierarchy#1"/>
    <dgm:cxn modelId="{47F90E73-E6E6-4FE3-9345-AF54E99F3513}" type="presParOf" srcId="{684463A0-A895-478C-909F-B88FF5614D19}" destId="{2542DDC6-646A-4116-8C73-5661FAFE0FD2}" srcOrd="0" destOrd="0" presId="urn:microsoft.com/office/officeart/2008/layout/HorizontalMultiLevelHierarchy#1"/>
    <dgm:cxn modelId="{9808BAD9-3762-4399-9696-39901B228E18}" type="presParOf" srcId="{684463A0-A895-478C-909F-B88FF5614D19}" destId="{53E4EEEE-0072-48B6-AE3B-B5165413461E}" srcOrd="1" destOrd="0" presId="urn:microsoft.com/office/officeart/2008/layout/HorizontalMultiLevelHierarchy#1"/>
    <dgm:cxn modelId="{9CDEC3BE-042B-435B-A9C8-348B773CDBD3}" type="presParOf" srcId="{6A40FB72-5522-497C-A627-1C008E207215}" destId="{823FC844-2774-4A58-BBFE-A82217E09579}" srcOrd="2" destOrd="0" presId="urn:microsoft.com/office/officeart/2008/layout/HorizontalMultiLevelHierarchy#1"/>
    <dgm:cxn modelId="{E3100014-7225-406B-9A3A-41AC2106C9D2}" type="presParOf" srcId="{823FC844-2774-4A58-BBFE-A82217E09579}" destId="{53652530-68F9-466C-8CD1-DE658FCBCFA1}" srcOrd="0" destOrd="0" presId="urn:microsoft.com/office/officeart/2008/layout/HorizontalMultiLevelHierarchy#1"/>
    <dgm:cxn modelId="{DCC1ECB7-6BAF-47B2-9A63-D47610999E17}" type="presParOf" srcId="{6A40FB72-5522-497C-A627-1C008E207215}" destId="{ABABBA44-9663-42D8-96D7-D80DB6D1C4CC}" srcOrd="3" destOrd="0" presId="urn:microsoft.com/office/officeart/2008/layout/HorizontalMultiLevelHierarchy#1"/>
    <dgm:cxn modelId="{5B12D79F-AE9E-4E83-AE38-441985E26F4D}" type="presParOf" srcId="{ABABBA44-9663-42D8-96D7-D80DB6D1C4CC}" destId="{57405C83-B1F0-4F76-BD4F-826E00C9A178}" srcOrd="0" destOrd="0" presId="urn:microsoft.com/office/officeart/2008/layout/HorizontalMultiLevelHierarchy#1"/>
    <dgm:cxn modelId="{B60DF005-7D2A-4D0F-8C80-9A79417CD534}" type="presParOf" srcId="{ABABBA44-9663-42D8-96D7-D80DB6D1C4CC}" destId="{485CA7BF-CC11-49E8-9CEF-57DE912B6338}" srcOrd="1" destOrd="0" presId="urn:microsoft.com/office/officeart/2008/layout/HorizontalMultiLevelHierarchy#1"/>
    <dgm:cxn modelId="{EA517822-ACC7-4744-B5B0-D9346BE442C9}" type="presParOf" srcId="{6A40FB72-5522-497C-A627-1C008E207215}" destId="{11A15F70-66DC-4485-AA88-BA791B528D0F}" srcOrd="4" destOrd="0" presId="urn:microsoft.com/office/officeart/2008/layout/HorizontalMultiLevelHierarchy#1"/>
    <dgm:cxn modelId="{948963A4-2751-4F0D-A66D-F6D9B930B8BA}" type="presParOf" srcId="{11A15F70-66DC-4485-AA88-BA791B528D0F}" destId="{C13C9D34-D14D-43FD-B86C-0630364BF146}" srcOrd="0" destOrd="0" presId="urn:microsoft.com/office/officeart/2008/layout/HorizontalMultiLevelHierarchy#1"/>
    <dgm:cxn modelId="{F6B7C268-1528-4FD3-946B-CBF8B4A13C66}" type="presParOf" srcId="{6A40FB72-5522-497C-A627-1C008E207215}" destId="{CD1FAC7B-BFC8-41DE-A186-8A0EDD12800C}" srcOrd="5" destOrd="0" presId="urn:microsoft.com/office/officeart/2008/layout/HorizontalMultiLevelHierarchy#1"/>
    <dgm:cxn modelId="{D4E47653-301F-4C65-BA7D-CCA87AD944B9}" type="presParOf" srcId="{CD1FAC7B-BFC8-41DE-A186-8A0EDD12800C}" destId="{C2A71CCC-8685-45A2-B18B-F0A41F6AFBFF}" srcOrd="0" destOrd="0" presId="urn:microsoft.com/office/officeart/2008/layout/HorizontalMultiLevelHierarchy#1"/>
    <dgm:cxn modelId="{4FB0BA08-EBA1-4B8D-A9D3-8DA078E3C209}" type="presParOf" srcId="{CD1FAC7B-BFC8-41DE-A186-8A0EDD12800C}" destId="{BF27807A-8A5C-47F4-B73F-CAF56E6E7247}" srcOrd="1" destOrd="0" presId="urn:microsoft.com/office/officeart/2008/layout/HorizontalMultiLevelHierarchy#1"/>
    <dgm:cxn modelId="{EBD81D0B-012A-4A8D-B095-28573EF5F47E}" type="presParOf" srcId="{6A40FB72-5522-497C-A627-1C008E207215}" destId="{CE5A8936-0669-48CB-B3A6-43D314BE75FB}" srcOrd="6" destOrd="0" presId="urn:microsoft.com/office/officeart/2008/layout/HorizontalMultiLevelHierarchy#1"/>
    <dgm:cxn modelId="{2F9E4756-9739-45CB-97E7-160C0FF19E76}" type="presParOf" srcId="{CE5A8936-0669-48CB-B3A6-43D314BE75FB}" destId="{7EE07BA2-9F8F-4855-9787-55FD6C3B6393}" srcOrd="0" destOrd="0" presId="urn:microsoft.com/office/officeart/2008/layout/HorizontalMultiLevelHierarchy#1"/>
    <dgm:cxn modelId="{0A299507-C86C-47B8-915F-53D259C044CB}" type="presParOf" srcId="{6A40FB72-5522-497C-A627-1C008E207215}" destId="{859C9460-6668-47C6-A545-C884DC82F237}" srcOrd="7" destOrd="0" presId="urn:microsoft.com/office/officeart/2008/layout/HorizontalMultiLevelHierarchy#1"/>
    <dgm:cxn modelId="{800325C7-9CCA-4A36-98C1-209C644E2398}" type="presParOf" srcId="{859C9460-6668-47C6-A545-C884DC82F237}" destId="{24726482-911B-45C0-B5C9-8C2428849975}" srcOrd="0" destOrd="0" presId="urn:microsoft.com/office/officeart/2008/layout/HorizontalMultiLevelHierarchy#1"/>
    <dgm:cxn modelId="{82F53F95-2732-46BC-9B50-182847A474E1}" type="presParOf" srcId="{859C9460-6668-47C6-A545-C884DC82F237}" destId="{B9A2065E-00D7-4A13-BD94-C9E0C13957D6}" srcOrd="1" destOrd="0" presId="urn:microsoft.com/office/officeart/2008/layout/HorizontalMultiLevelHierarchy#1"/>
    <dgm:cxn modelId="{2F7895AC-6DA1-43A8-838B-D07C5C6BB10F}" type="presParOf" srcId="{6A40FB72-5522-497C-A627-1C008E207215}" destId="{0117BADE-12FB-419D-8497-42C821BBA6C2}" srcOrd="8" destOrd="0" presId="urn:microsoft.com/office/officeart/2008/layout/HorizontalMultiLevelHierarchy#1"/>
    <dgm:cxn modelId="{2D20BD20-287A-4EA8-A329-DBD2A81D9DE8}" type="presParOf" srcId="{0117BADE-12FB-419D-8497-42C821BBA6C2}" destId="{01694D90-DCA9-4B9D-8FF2-73238826C02B}" srcOrd="0" destOrd="0" presId="urn:microsoft.com/office/officeart/2008/layout/HorizontalMultiLevelHierarchy#1"/>
    <dgm:cxn modelId="{454EACA4-3E39-4EC2-B933-242FE58BEFB5}" type="presParOf" srcId="{6A40FB72-5522-497C-A627-1C008E207215}" destId="{9746529D-B081-4394-8E0B-7D3362BF71B7}" srcOrd="9" destOrd="0" presId="urn:microsoft.com/office/officeart/2008/layout/HorizontalMultiLevelHierarchy#1"/>
    <dgm:cxn modelId="{E7902FEF-4299-4906-9C09-CC6893C80109}" type="presParOf" srcId="{9746529D-B081-4394-8E0B-7D3362BF71B7}" destId="{80BC3D9F-A898-48D1-BAEB-3AD0E59357E3}" srcOrd="0" destOrd="0" presId="urn:microsoft.com/office/officeart/2008/layout/HorizontalMultiLevelHierarchy#1"/>
    <dgm:cxn modelId="{3A8D36F6-75AB-41FE-BA6B-F1A2150CBDF8}" type="presParOf" srcId="{9746529D-B081-4394-8E0B-7D3362BF71B7}" destId="{11BF4736-E324-462C-8486-F0E1DF42A742}" srcOrd="1" destOrd="0" presId="urn:microsoft.com/office/officeart/2008/layout/HorizontalMultiLevelHierarchy#1"/>
    <dgm:cxn modelId="{51729B7E-2DBB-4B65-91BA-4A501203A5E1}" type="presParOf" srcId="{6A40FB72-5522-497C-A627-1C008E207215}" destId="{255CE648-42AA-41BE-AC9F-21182EC33087}" srcOrd="10" destOrd="0" presId="urn:microsoft.com/office/officeart/2008/layout/HorizontalMultiLevelHierarchy#1"/>
    <dgm:cxn modelId="{B579C43C-E19E-4F21-B141-CD8BA00E8F3B}" type="presParOf" srcId="{255CE648-42AA-41BE-AC9F-21182EC33087}" destId="{8629AAEF-E76B-4D25-B2F2-382890EF6CDB}" srcOrd="0" destOrd="0" presId="urn:microsoft.com/office/officeart/2008/layout/HorizontalMultiLevelHierarchy#1"/>
    <dgm:cxn modelId="{B62C7A23-C008-466B-8E4E-89AA5A71D0DF}" type="presParOf" srcId="{6A40FB72-5522-497C-A627-1C008E207215}" destId="{23BC6C3B-4A06-42DD-8366-02447751CF78}" srcOrd="11" destOrd="0" presId="urn:microsoft.com/office/officeart/2008/layout/HorizontalMultiLevelHierarchy#1"/>
    <dgm:cxn modelId="{E98890C0-7B25-440D-9B84-88754BF70745}" type="presParOf" srcId="{23BC6C3B-4A06-42DD-8366-02447751CF78}" destId="{2021622E-8142-49A5-B1D7-58687DE29604}" srcOrd="0" destOrd="0" presId="urn:microsoft.com/office/officeart/2008/layout/HorizontalMultiLevelHierarchy#1"/>
    <dgm:cxn modelId="{1708A457-A6E7-4E00-823F-6D015E0EB337}" type="presParOf" srcId="{23BC6C3B-4A06-42DD-8366-02447751CF78}" destId="{203C3AAC-0422-4D23-90F4-717DB49D5766}" srcOrd="1" destOrd="0" presId="urn:microsoft.com/office/officeart/2008/layout/HorizontalMultiLevel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BCD492-4A2E-4026-89DE-9C5AFE65A614}" type="doc">
      <dgm:prSet loTypeId="urn:microsoft.com/office/officeart/2005/8/layout/hierarchy2#1" loCatId="hierarchy" qsTypeId="urn:microsoft.com/office/officeart/2005/8/quickstyle/simple1#2" qsCatId="simple" csTypeId="urn:microsoft.com/office/officeart/2005/8/colors/accent1_2#2" csCatId="accent1" phldr="1"/>
      <dgm:spPr/>
      <dgm:t>
        <a:bodyPr/>
        <a:lstStyle/>
        <a:p>
          <a:endParaRPr lang="zh-CN" altLang="en-US"/>
        </a:p>
      </dgm:t>
    </dgm:pt>
    <dgm:pt modelId="{7A8032C7-5946-4299-AC5C-3E4EB4D9E6BA}">
      <dgm:prSet phldrT="[文本]" custT="1"/>
      <dgm:spPr/>
      <dgm:t>
        <a:bodyPr/>
        <a:lstStyle/>
        <a:p>
          <a:pPr algn="l"/>
          <a:r>
            <a:rPr lang="zh-CN" altLang="en-US" sz="18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连续多年的时间序列数据</a:t>
          </a:r>
          <a:endParaRPr lang="zh-CN" altLang="en-US" sz="1800" dirty="0">
            <a:solidFill>
              <a:srgbClr val="002060"/>
            </a:solidFill>
          </a:endParaRPr>
        </a:p>
      </dgm:t>
    </dgm:pt>
    <dgm:pt modelId="{990EEBC3-2D0D-4808-97DE-33C24487D9A3}" cxnId="{038D9C44-3E9B-4723-AA0D-478C38B6E44A}" type="parTrans">
      <dgm:prSet/>
      <dgm:spPr/>
      <dgm:t>
        <a:bodyPr/>
        <a:lstStyle/>
        <a:p>
          <a:endParaRPr lang="zh-CN" altLang="en-US">
            <a:solidFill>
              <a:srgbClr val="002060"/>
            </a:solidFill>
          </a:endParaRPr>
        </a:p>
      </dgm:t>
    </dgm:pt>
    <dgm:pt modelId="{9C5AD346-37E1-4024-A911-634825903646}" cxnId="{038D9C44-3E9B-4723-AA0D-478C38B6E44A}" type="sibTrans">
      <dgm:prSet/>
      <dgm:spPr/>
      <dgm:t>
        <a:bodyPr/>
        <a:lstStyle/>
        <a:p>
          <a:endParaRPr lang="zh-CN" altLang="en-US">
            <a:solidFill>
              <a:srgbClr val="002060"/>
            </a:solidFill>
          </a:endParaRPr>
        </a:p>
      </dgm:t>
    </dgm:pt>
    <dgm:pt modelId="{B09E7F35-B7AA-4ED4-9C94-AC783CD71C59}">
      <dgm:prSet phldrT="[文本]" custT="1"/>
      <dgm:spPr/>
      <dgm:t>
        <a:bodyPr lIns="43200"/>
        <a:lstStyle/>
        <a:p>
          <a:pPr algn="l"/>
          <a:r>
            <a:rPr lang="en-US" altLang="zh-CN"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z</a:t>
          </a:r>
          <a:r>
            <a:rPr lang="zh-CN" altLang="zh-CN"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茶园</a:t>
          </a:r>
          <a:r>
            <a:rPr lang="zh-CN" altLang="en-US"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和果园</a:t>
          </a:r>
          <a:r>
            <a:rPr lang="zh-CN" altLang="zh-CN"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面积</a:t>
          </a:r>
          <a:endParaRPr lang="zh-CN" altLang="en-US" sz="1800" b="0" dirty="0">
            <a:solidFill>
              <a:srgbClr val="002060"/>
            </a:solidFill>
          </a:endParaRPr>
        </a:p>
      </dgm:t>
    </dgm:pt>
    <dgm:pt modelId="{55C231A5-0754-4FB2-8634-5D89502F9097}" cxnId="{265C5BA2-BC86-40D9-9868-FEBD23CCCFE1}" type="parTrans">
      <dgm:prSet/>
      <dgm:spPr/>
      <dgm:t>
        <a:bodyPr/>
        <a:lstStyle/>
        <a:p>
          <a:endParaRPr lang="zh-CN" altLang="en-US">
            <a:solidFill>
              <a:srgbClr val="002060"/>
            </a:solidFill>
          </a:endParaRPr>
        </a:p>
      </dgm:t>
    </dgm:pt>
    <dgm:pt modelId="{5B9FB318-E22C-47B6-9AB8-727816BF05F9}" cxnId="{265C5BA2-BC86-40D9-9868-FEBD23CCCFE1}" type="sibTrans">
      <dgm:prSet/>
      <dgm:spPr/>
      <dgm:t>
        <a:bodyPr/>
        <a:lstStyle/>
        <a:p>
          <a:endParaRPr lang="zh-CN" altLang="en-US">
            <a:solidFill>
              <a:srgbClr val="002060"/>
            </a:solidFill>
          </a:endParaRPr>
        </a:p>
      </dgm:t>
    </dgm:pt>
    <dgm:pt modelId="{99D75128-58F9-4D05-BFE0-138431D5D19A}">
      <dgm:prSet phldrT="[文本]" custT="1"/>
      <dgm:spPr/>
      <dgm:t>
        <a:bodyPr lIns="43200"/>
        <a:lstStyle/>
        <a:p>
          <a:pPr algn="l"/>
          <a:r>
            <a:rPr lang="en-US" altLang="zh-CN"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x</a:t>
          </a:r>
          <a:r>
            <a:rPr lang="zh-CN" altLang="zh-CN"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资金投入</a:t>
          </a:r>
          <a:endParaRPr lang="zh-CN" altLang="en-US" sz="1800" b="0" dirty="0">
            <a:solidFill>
              <a:srgbClr val="002060"/>
            </a:solidFill>
          </a:endParaRPr>
        </a:p>
      </dgm:t>
    </dgm:pt>
    <dgm:pt modelId="{CC04F2DD-1449-4B48-9D01-3C149F71D0A5}" cxnId="{6C8D3066-2619-42BE-8388-F652524AF507}" type="parTrans">
      <dgm:prSet/>
      <dgm:spPr/>
      <dgm:t>
        <a:bodyPr/>
        <a:lstStyle/>
        <a:p>
          <a:endParaRPr lang="zh-CN" altLang="en-US">
            <a:solidFill>
              <a:srgbClr val="002060"/>
            </a:solidFill>
          </a:endParaRPr>
        </a:p>
      </dgm:t>
    </dgm:pt>
    <dgm:pt modelId="{E91F2677-B0EB-4D76-9E70-54E0A932C578}" cxnId="{6C8D3066-2619-42BE-8388-F652524AF507}" type="sibTrans">
      <dgm:prSet/>
      <dgm:spPr/>
      <dgm:t>
        <a:bodyPr/>
        <a:lstStyle/>
        <a:p>
          <a:endParaRPr lang="zh-CN" altLang="en-US">
            <a:solidFill>
              <a:srgbClr val="002060"/>
            </a:solidFill>
          </a:endParaRPr>
        </a:p>
      </dgm:t>
    </dgm:pt>
    <dgm:pt modelId="{874DB7D7-1459-4ED1-989A-E8FC2A75C555}">
      <dgm:prSet phldrT="[文本]" custT="1"/>
      <dgm:spPr/>
      <dgm:t>
        <a:bodyPr lIns="43200"/>
        <a:lstStyle/>
        <a:p>
          <a:pPr algn="l"/>
          <a:r>
            <a:rPr lang="en-US" altLang="zh-CN"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y</a:t>
          </a:r>
          <a:r>
            <a:rPr lang="zh-CN" altLang="zh-CN" sz="1800" b="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劳动力投入</a:t>
          </a:r>
          <a:endParaRPr lang="zh-CN" altLang="en-US" sz="1800" b="0" dirty="0">
            <a:solidFill>
              <a:srgbClr val="002060"/>
            </a:solidFill>
          </a:endParaRPr>
        </a:p>
      </dgm:t>
    </dgm:pt>
    <dgm:pt modelId="{5C024BEF-2B8A-4ECF-9923-38C64FB79081}" cxnId="{FFF0B05A-1DCB-4138-AC61-FAD1BC8AF614}" type="parTrans">
      <dgm:prSet/>
      <dgm:spPr/>
      <dgm:t>
        <a:bodyPr/>
        <a:lstStyle/>
        <a:p>
          <a:endParaRPr lang="zh-CN" altLang="en-US">
            <a:solidFill>
              <a:srgbClr val="002060"/>
            </a:solidFill>
          </a:endParaRPr>
        </a:p>
      </dgm:t>
    </dgm:pt>
    <dgm:pt modelId="{536EF5C7-1292-47C5-B8F7-12EC23944952}" cxnId="{FFF0B05A-1DCB-4138-AC61-FAD1BC8AF614}" type="sibTrans">
      <dgm:prSet/>
      <dgm:spPr/>
      <dgm:t>
        <a:bodyPr/>
        <a:lstStyle/>
        <a:p>
          <a:endParaRPr lang="zh-CN" altLang="en-US">
            <a:solidFill>
              <a:srgbClr val="002060"/>
            </a:solidFill>
          </a:endParaRPr>
        </a:p>
      </dgm:t>
    </dgm:pt>
    <dgm:pt modelId="{B685E2CE-F553-456A-8A9B-58F84FC06BE8}">
      <dgm:prSet phldrT="[文本]" custT="1"/>
      <dgm:spPr/>
      <dgm:t>
        <a:bodyPr lIns="43200"/>
        <a:lstStyle/>
        <a:p>
          <a:pPr algn="l"/>
          <a:r>
            <a:rPr lang="en-US" altLang="zh-CN" sz="1800" b="0" dirty="0">
              <a:solidFill>
                <a:srgbClr val="002060"/>
              </a:solidFill>
            </a:rPr>
            <a:t>f </a:t>
          </a:r>
          <a:r>
            <a:rPr lang="zh-CN" altLang="en-US" sz="1800" b="0" dirty="0">
              <a:solidFill>
                <a:srgbClr val="002060"/>
              </a:solidFill>
            </a:rPr>
            <a:t>经济产值</a:t>
          </a:r>
        </a:p>
      </dgm:t>
    </dgm:pt>
    <dgm:pt modelId="{124122AE-8D34-41ED-9293-53158E4424F2}" cxnId="{7181D827-36A8-4937-9065-C97D514F9DED}" type="parTrans">
      <dgm:prSet/>
      <dgm:spPr/>
      <dgm:t>
        <a:bodyPr/>
        <a:lstStyle/>
        <a:p>
          <a:endParaRPr lang="zh-CN" altLang="en-US"/>
        </a:p>
      </dgm:t>
    </dgm:pt>
    <dgm:pt modelId="{ECD66D92-F320-4E82-BF74-D67FBC80F0C0}" cxnId="{7181D827-36A8-4937-9065-C97D514F9DED}" type="sibTrans">
      <dgm:prSet/>
      <dgm:spPr/>
      <dgm:t>
        <a:bodyPr/>
        <a:lstStyle/>
        <a:p>
          <a:endParaRPr lang="zh-CN" altLang="en-US"/>
        </a:p>
      </dgm:t>
    </dgm:pt>
    <dgm:pt modelId="{0FD30A2D-16CC-4735-9723-8935A9A63147}" type="pres">
      <dgm:prSet presAssocID="{48BCD492-4A2E-4026-89DE-9C5AFE65A614}" presName="diagram" presStyleCnt="0">
        <dgm:presLayoutVars>
          <dgm:chPref val="1"/>
          <dgm:dir/>
          <dgm:animOne val="branch"/>
          <dgm:animLvl val="lvl"/>
          <dgm:resizeHandles val="exact"/>
        </dgm:presLayoutVars>
      </dgm:prSet>
      <dgm:spPr/>
    </dgm:pt>
    <dgm:pt modelId="{93CFDD11-098E-4899-8469-E79F2AE4DAE1}" type="pres">
      <dgm:prSet presAssocID="{7A8032C7-5946-4299-AC5C-3E4EB4D9E6BA}" presName="root1" presStyleCnt="0"/>
      <dgm:spPr/>
    </dgm:pt>
    <dgm:pt modelId="{97C3F081-9D77-4BD6-A0A4-52B8EB117191}" type="pres">
      <dgm:prSet presAssocID="{7A8032C7-5946-4299-AC5C-3E4EB4D9E6BA}" presName="LevelOneTextNode" presStyleLbl="node0" presStyleIdx="0" presStyleCnt="1" custScaleY="220846">
        <dgm:presLayoutVars>
          <dgm:chPref val="3"/>
        </dgm:presLayoutVars>
      </dgm:prSet>
      <dgm:spPr/>
    </dgm:pt>
    <dgm:pt modelId="{F39502C2-D7D3-4EDC-9FAA-2311DC003128}" type="pres">
      <dgm:prSet presAssocID="{7A8032C7-5946-4299-AC5C-3E4EB4D9E6BA}" presName="level2hierChild" presStyleCnt="0"/>
      <dgm:spPr/>
    </dgm:pt>
    <dgm:pt modelId="{72FDB1D7-0F7E-40E0-A3DA-3F4A85B98DC9}" type="pres">
      <dgm:prSet presAssocID="{124122AE-8D34-41ED-9293-53158E4424F2}" presName="conn2-1" presStyleLbl="parChTrans1D2" presStyleIdx="0" presStyleCnt="4"/>
      <dgm:spPr/>
    </dgm:pt>
    <dgm:pt modelId="{FF447773-8881-4C88-9DA0-B5213A64277B}" type="pres">
      <dgm:prSet presAssocID="{124122AE-8D34-41ED-9293-53158E4424F2}" presName="connTx" presStyleLbl="parChTrans1D2" presStyleIdx="0" presStyleCnt="4"/>
      <dgm:spPr/>
    </dgm:pt>
    <dgm:pt modelId="{14B429A8-9AEC-4002-B8F8-946887CE0AD1}" type="pres">
      <dgm:prSet presAssocID="{B685E2CE-F553-456A-8A9B-58F84FC06BE8}" presName="root2" presStyleCnt="0"/>
      <dgm:spPr/>
    </dgm:pt>
    <dgm:pt modelId="{FBA5FFAE-97A6-4CEC-8141-16E3CAE2752F}" type="pres">
      <dgm:prSet presAssocID="{B685E2CE-F553-456A-8A9B-58F84FC06BE8}" presName="LevelTwoTextNode" presStyleLbl="node2" presStyleIdx="0" presStyleCnt="4" custScaleX="191652">
        <dgm:presLayoutVars>
          <dgm:chPref val="3"/>
        </dgm:presLayoutVars>
      </dgm:prSet>
      <dgm:spPr/>
    </dgm:pt>
    <dgm:pt modelId="{A7162F7E-B106-4F88-B5E0-0B9AC3B02038}" type="pres">
      <dgm:prSet presAssocID="{B685E2CE-F553-456A-8A9B-58F84FC06BE8}" presName="level3hierChild" presStyleCnt="0"/>
      <dgm:spPr/>
    </dgm:pt>
    <dgm:pt modelId="{C9F8F994-C1B2-49F7-BB8E-AE381D9D65F3}" type="pres">
      <dgm:prSet presAssocID="{55C231A5-0754-4FB2-8634-5D89502F9097}" presName="conn2-1" presStyleLbl="parChTrans1D2" presStyleIdx="1" presStyleCnt="4"/>
      <dgm:spPr/>
    </dgm:pt>
    <dgm:pt modelId="{6A0FE039-24D7-4D07-8FA7-AF9621EE318F}" type="pres">
      <dgm:prSet presAssocID="{55C231A5-0754-4FB2-8634-5D89502F9097}" presName="connTx" presStyleLbl="parChTrans1D2" presStyleIdx="1" presStyleCnt="4"/>
      <dgm:spPr/>
    </dgm:pt>
    <dgm:pt modelId="{37AEBCCF-5036-48FE-97F2-9721951F330F}" type="pres">
      <dgm:prSet presAssocID="{B09E7F35-B7AA-4ED4-9C94-AC783CD71C59}" presName="root2" presStyleCnt="0"/>
      <dgm:spPr/>
    </dgm:pt>
    <dgm:pt modelId="{76FF202B-7B6D-4519-8839-8F60C5FB2AFE}" type="pres">
      <dgm:prSet presAssocID="{B09E7F35-B7AA-4ED4-9C94-AC783CD71C59}" presName="LevelTwoTextNode" presStyleLbl="node2" presStyleIdx="1" presStyleCnt="4" custScaleX="185615">
        <dgm:presLayoutVars>
          <dgm:chPref val="3"/>
        </dgm:presLayoutVars>
      </dgm:prSet>
      <dgm:spPr/>
    </dgm:pt>
    <dgm:pt modelId="{2F26BB6C-C461-450C-87F3-289D6A87DCC4}" type="pres">
      <dgm:prSet presAssocID="{B09E7F35-B7AA-4ED4-9C94-AC783CD71C59}" presName="level3hierChild" presStyleCnt="0"/>
      <dgm:spPr/>
    </dgm:pt>
    <dgm:pt modelId="{15A77FE8-2E0D-4AF3-B55D-0570C0C8495D}" type="pres">
      <dgm:prSet presAssocID="{CC04F2DD-1449-4B48-9D01-3C149F71D0A5}" presName="conn2-1" presStyleLbl="parChTrans1D2" presStyleIdx="2" presStyleCnt="4"/>
      <dgm:spPr/>
    </dgm:pt>
    <dgm:pt modelId="{B482646B-0060-4A70-B391-9FB5342058E1}" type="pres">
      <dgm:prSet presAssocID="{CC04F2DD-1449-4B48-9D01-3C149F71D0A5}" presName="connTx" presStyleLbl="parChTrans1D2" presStyleIdx="2" presStyleCnt="4"/>
      <dgm:spPr/>
    </dgm:pt>
    <dgm:pt modelId="{0BE1E40E-C4C7-4337-B780-58191FE4235B}" type="pres">
      <dgm:prSet presAssocID="{99D75128-58F9-4D05-BFE0-138431D5D19A}" presName="root2" presStyleCnt="0"/>
      <dgm:spPr/>
    </dgm:pt>
    <dgm:pt modelId="{E6B85EB4-D40F-4AC6-944D-417721435C38}" type="pres">
      <dgm:prSet presAssocID="{99D75128-58F9-4D05-BFE0-138431D5D19A}" presName="LevelTwoTextNode" presStyleLbl="node2" presStyleIdx="2" presStyleCnt="4" custScaleX="172238">
        <dgm:presLayoutVars>
          <dgm:chPref val="3"/>
        </dgm:presLayoutVars>
      </dgm:prSet>
      <dgm:spPr/>
    </dgm:pt>
    <dgm:pt modelId="{8D937F52-53D0-4787-9ECC-D0C929895902}" type="pres">
      <dgm:prSet presAssocID="{99D75128-58F9-4D05-BFE0-138431D5D19A}" presName="level3hierChild" presStyleCnt="0"/>
      <dgm:spPr/>
    </dgm:pt>
    <dgm:pt modelId="{70941675-5329-4C60-AAE1-B079086E1955}" type="pres">
      <dgm:prSet presAssocID="{5C024BEF-2B8A-4ECF-9923-38C64FB79081}" presName="conn2-1" presStyleLbl="parChTrans1D2" presStyleIdx="3" presStyleCnt="4"/>
      <dgm:spPr/>
    </dgm:pt>
    <dgm:pt modelId="{8EB7B4E1-380D-46F2-9A5C-21327DF6FCBB}" type="pres">
      <dgm:prSet presAssocID="{5C024BEF-2B8A-4ECF-9923-38C64FB79081}" presName="connTx" presStyleLbl="parChTrans1D2" presStyleIdx="3" presStyleCnt="4"/>
      <dgm:spPr/>
    </dgm:pt>
    <dgm:pt modelId="{89041D09-36A5-40E5-A048-D5929A19EAF2}" type="pres">
      <dgm:prSet presAssocID="{874DB7D7-1459-4ED1-989A-E8FC2A75C555}" presName="root2" presStyleCnt="0"/>
      <dgm:spPr/>
    </dgm:pt>
    <dgm:pt modelId="{23FB93B9-A789-486B-8603-0DBCF1051B2C}" type="pres">
      <dgm:prSet presAssocID="{874DB7D7-1459-4ED1-989A-E8FC2A75C555}" presName="LevelTwoTextNode" presStyleLbl="node2" presStyleIdx="3" presStyleCnt="4" custScaleX="164625">
        <dgm:presLayoutVars>
          <dgm:chPref val="3"/>
        </dgm:presLayoutVars>
      </dgm:prSet>
      <dgm:spPr/>
    </dgm:pt>
    <dgm:pt modelId="{B90917A8-433B-403D-8087-29429BC1EBDA}" type="pres">
      <dgm:prSet presAssocID="{874DB7D7-1459-4ED1-989A-E8FC2A75C555}" presName="level3hierChild" presStyleCnt="0"/>
      <dgm:spPr/>
    </dgm:pt>
  </dgm:ptLst>
  <dgm:cxnLst>
    <dgm:cxn modelId="{DFBE2305-D50D-4974-A3F6-9B9EA36041CF}" type="presOf" srcId="{48BCD492-4A2E-4026-89DE-9C5AFE65A614}" destId="{0FD30A2D-16CC-4735-9723-8935A9A63147}" srcOrd="0" destOrd="0" presId="urn:microsoft.com/office/officeart/2005/8/layout/hierarchy2#1"/>
    <dgm:cxn modelId="{DB274105-36D6-4AA6-B1D0-782821A8BE0E}" type="presOf" srcId="{B685E2CE-F553-456A-8A9B-58F84FC06BE8}" destId="{FBA5FFAE-97A6-4CEC-8141-16E3CAE2752F}" srcOrd="0" destOrd="0" presId="urn:microsoft.com/office/officeart/2005/8/layout/hierarchy2#1"/>
    <dgm:cxn modelId="{D90E251B-D951-4343-8616-DDDAD219AE4A}" type="presOf" srcId="{CC04F2DD-1449-4B48-9D01-3C149F71D0A5}" destId="{15A77FE8-2E0D-4AF3-B55D-0570C0C8495D}" srcOrd="0" destOrd="0" presId="urn:microsoft.com/office/officeart/2005/8/layout/hierarchy2#1"/>
    <dgm:cxn modelId="{7181D827-36A8-4937-9065-C97D514F9DED}" srcId="{7A8032C7-5946-4299-AC5C-3E4EB4D9E6BA}" destId="{B685E2CE-F553-456A-8A9B-58F84FC06BE8}" srcOrd="0" destOrd="0" parTransId="{124122AE-8D34-41ED-9293-53158E4424F2}" sibTransId="{ECD66D92-F320-4E82-BF74-D67FBC80F0C0}"/>
    <dgm:cxn modelId="{AD55A661-9366-43AD-9927-6DDCAD2CFD15}" type="presOf" srcId="{5C024BEF-2B8A-4ECF-9923-38C64FB79081}" destId="{70941675-5329-4C60-AAE1-B079086E1955}" srcOrd="0" destOrd="0" presId="urn:microsoft.com/office/officeart/2005/8/layout/hierarchy2#1"/>
    <dgm:cxn modelId="{038D9C44-3E9B-4723-AA0D-478C38B6E44A}" srcId="{48BCD492-4A2E-4026-89DE-9C5AFE65A614}" destId="{7A8032C7-5946-4299-AC5C-3E4EB4D9E6BA}" srcOrd="0" destOrd="0" parTransId="{990EEBC3-2D0D-4808-97DE-33C24487D9A3}" sibTransId="{9C5AD346-37E1-4024-A911-634825903646}"/>
    <dgm:cxn modelId="{6C8D3066-2619-42BE-8388-F652524AF507}" srcId="{7A8032C7-5946-4299-AC5C-3E4EB4D9E6BA}" destId="{99D75128-58F9-4D05-BFE0-138431D5D19A}" srcOrd="2" destOrd="0" parTransId="{CC04F2DD-1449-4B48-9D01-3C149F71D0A5}" sibTransId="{E91F2677-B0EB-4D76-9E70-54E0A932C578}"/>
    <dgm:cxn modelId="{FFF0B05A-1DCB-4138-AC61-FAD1BC8AF614}" srcId="{7A8032C7-5946-4299-AC5C-3E4EB4D9E6BA}" destId="{874DB7D7-1459-4ED1-989A-E8FC2A75C555}" srcOrd="3" destOrd="0" parTransId="{5C024BEF-2B8A-4ECF-9923-38C64FB79081}" sibTransId="{536EF5C7-1292-47C5-B8F7-12EC23944952}"/>
    <dgm:cxn modelId="{6789918A-57E7-43BB-90E5-BB690A0DACFE}" type="presOf" srcId="{7A8032C7-5946-4299-AC5C-3E4EB4D9E6BA}" destId="{97C3F081-9D77-4BD6-A0A4-52B8EB117191}" srcOrd="0" destOrd="0" presId="urn:microsoft.com/office/officeart/2005/8/layout/hierarchy2#1"/>
    <dgm:cxn modelId="{25A5548B-027A-4C50-BC25-450A53557BBD}" type="presOf" srcId="{124122AE-8D34-41ED-9293-53158E4424F2}" destId="{72FDB1D7-0F7E-40E0-A3DA-3F4A85B98DC9}" srcOrd="0" destOrd="0" presId="urn:microsoft.com/office/officeart/2005/8/layout/hierarchy2#1"/>
    <dgm:cxn modelId="{265C5BA2-BC86-40D9-9868-FEBD23CCCFE1}" srcId="{7A8032C7-5946-4299-AC5C-3E4EB4D9E6BA}" destId="{B09E7F35-B7AA-4ED4-9C94-AC783CD71C59}" srcOrd="1" destOrd="0" parTransId="{55C231A5-0754-4FB2-8634-5D89502F9097}" sibTransId="{5B9FB318-E22C-47B6-9AB8-727816BF05F9}"/>
    <dgm:cxn modelId="{A7B74DAA-5FEC-4E57-8A2F-4ACB27CC1A59}" type="presOf" srcId="{55C231A5-0754-4FB2-8634-5D89502F9097}" destId="{6A0FE039-24D7-4D07-8FA7-AF9621EE318F}" srcOrd="1" destOrd="0" presId="urn:microsoft.com/office/officeart/2005/8/layout/hierarchy2#1"/>
    <dgm:cxn modelId="{B245B4D0-87EA-4B1B-8D13-DFE86EB1435A}" type="presOf" srcId="{124122AE-8D34-41ED-9293-53158E4424F2}" destId="{FF447773-8881-4C88-9DA0-B5213A64277B}" srcOrd="1" destOrd="0" presId="urn:microsoft.com/office/officeart/2005/8/layout/hierarchy2#1"/>
    <dgm:cxn modelId="{B0017BD3-F83F-42EB-BF10-FDF5B585AD12}" type="presOf" srcId="{B09E7F35-B7AA-4ED4-9C94-AC783CD71C59}" destId="{76FF202B-7B6D-4519-8839-8F60C5FB2AFE}" srcOrd="0" destOrd="0" presId="urn:microsoft.com/office/officeart/2005/8/layout/hierarchy2#1"/>
    <dgm:cxn modelId="{7EACDED5-1AEB-483E-8C86-D592D5100434}" type="presOf" srcId="{874DB7D7-1459-4ED1-989A-E8FC2A75C555}" destId="{23FB93B9-A789-486B-8603-0DBCF1051B2C}" srcOrd="0" destOrd="0" presId="urn:microsoft.com/office/officeart/2005/8/layout/hierarchy2#1"/>
    <dgm:cxn modelId="{157E53DB-6062-492E-9F51-FC8055E65884}" type="presOf" srcId="{99D75128-58F9-4D05-BFE0-138431D5D19A}" destId="{E6B85EB4-D40F-4AC6-944D-417721435C38}" srcOrd="0" destOrd="0" presId="urn:microsoft.com/office/officeart/2005/8/layout/hierarchy2#1"/>
    <dgm:cxn modelId="{2336E6E3-D25A-4385-91B6-6B72D5BBC4FB}" type="presOf" srcId="{55C231A5-0754-4FB2-8634-5D89502F9097}" destId="{C9F8F994-C1B2-49F7-BB8E-AE381D9D65F3}" srcOrd="0" destOrd="0" presId="urn:microsoft.com/office/officeart/2005/8/layout/hierarchy2#1"/>
    <dgm:cxn modelId="{B22407E7-899E-41D4-8E52-D77CAAFB5292}" type="presOf" srcId="{CC04F2DD-1449-4B48-9D01-3C149F71D0A5}" destId="{B482646B-0060-4A70-B391-9FB5342058E1}" srcOrd="1" destOrd="0" presId="urn:microsoft.com/office/officeart/2005/8/layout/hierarchy2#1"/>
    <dgm:cxn modelId="{6A609DF5-0CC3-452F-8820-604918A93CE6}" type="presOf" srcId="{5C024BEF-2B8A-4ECF-9923-38C64FB79081}" destId="{8EB7B4E1-380D-46F2-9A5C-21327DF6FCBB}" srcOrd="1" destOrd="0" presId="urn:microsoft.com/office/officeart/2005/8/layout/hierarchy2#1"/>
    <dgm:cxn modelId="{8E31EE3B-B2B8-4267-AA50-ADBBB4BCA4CF}" type="presParOf" srcId="{0FD30A2D-16CC-4735-9723-8935A9A63147}" destId="{93CFDD11-098E-4899-8469-E79F2AE4DAE1}" srcOrd="0" destOrd="0" presId="urn:microsoft.com/office/officeart/2005/8/layout/hierarchy2#1"/>
    <dgm:cxn modelId="{5BB19762-CDBE-4EDE-B597-4E25DCADF3A3}" type="presParOf" srcId="{93CFDD11-098E-4899-8469-E79F2AE4DAE1}" destId="{97C3F081-9D77-4BD6-A0A4-52B8EB117191}" srcOrd="0" destOrd="0" presId="urn:microsoft.com/office/officeart/2005/8/layout/hierarchy2#1"/>
    <dgm:cxn modelId="{4353967E-EEE5-41DA-8081-2CE28D22D088}" type="presParOf" srcId="{93CFDD11-098E-4899-8469-E79F2AE4DAE1}" destId="{F39502C2-D7D3-4EDC-9FAA-2311DC003128}" srcOrd="1" destOrd="0" presId="urn:microsoft.com/office/officeart/2005/8/layout/hierarchy2#1"/>
    <dgm:cxn modelId="{C7F14F15-D8BC-4400-8504-9899F61641E9}" type="presParOf" srcId="{F39502C2-D7D3-4EDC-9FAA-2311DC003128}" destId="{72FDB1D7-0F7E-40E0-A3DA-3F4A85B98DC9}" srcOrd="0" destOrd="0" presId="urn:microsoft.com/office/officeart/2005/8/layout/hierarchy2#1"/>
    <dgm:cxn modelId="{58E049A3-1C4B-479B-B199-5A2048B45AE7}" type="presParOf" srcId="{72FDB1D7-0F7E-40E0-A3DA-3F4A85B98DC9}" destId="{FF447773-8881-4C88-9DA0-B5213A64277B}" srcOrd="0" destOrd="0" presId="urn:microsoft.com/office/officeart/2005/8/layout/hierarchy2#1"/>
    <dgm:cxn modelId="{C778F396-810B-4875-9080-746436483F45}" type="presParOf" srcId="{F39502C2-D7D3-4EDC-9FAA-2311DC003128}" destId="{14B429A8-9AEC-4002-B8F8-946887CE0AD1}" srcOrd="1" destOrd="0" presId="urn:microsoft.com/office/officeart/2005/8/layout/hierarchy2#1"/>
    <dgm:cxn modelId="{C9BD14BA-5645-4ECD-8639-2B40BBC1C492}" type="presParOf" srcId="{14B429A8-9AEC-4002-B8F8-946887CE0AD1}" destId="{FBA5FFAE-97A6-4CEC-8141-16E3CAE2752F}" srcOrd="0" destOrd="0" presId="urn:microsoft.com/office/officeart/2005/8/layout/hierarchy2#1"/>
    <dgm:cxn modelId="{837AAF37-E0FD-4377-B558-CAE157E425A2}" type="presParOf" srcId="{14B429A8-9AEC-4002-B8F8-946887CE0AD1}" destId="{A7162F7E-B106-4F88-B5E0-0B9AC3B02038}" srcOrd="1" destOrd="0" presId="urn:microsoft.com/office/officeart/2005/8/layout/hierarchy2#1"/>
    <dgm:cxn modelId="{B8996A7F-2652-4888-9732-F45AAE50FE32}" type="presParOf" srcId="{F39502C2-D7D3-4EDC-9FAA-2311DC003128}" destId="{C9F8F994-C1B2-49F7-BB8E-AE381D9D65F3}" srcOrd="2" destOrd="0" presId="urn:microsoft.com/office/officeart/2005/8/layout/hierarchy2#1"/>
    <dgm:cxn modelId="{412F19A0-BC8C-4830-9AA2-8AA58E39D737}" type="presParOf" srcId="{C9F8F994-C1B2-49F7-BB8E-AE381D9D65F3}" destId="{6A0FE039-24D7-4D07-8FA7-AF9621EE318F}" srcOrd="0" destOrd="0" presId="urn:microsoft.com/office/officeart/2005/8/layout/hierarchy2#1"/>
    <dgm:cxn modelId="{80EA49C9-71E5-4E9E-9822-6366D0F543CB}" type="presParOf" srcId="{F39502C2-D7D3-4EDC-9FAA-2311DC003128}" destId="{37AEBCCF-5036-48FE-97F2-9721951F330F}" srcOrd="3" destOrd="0" presId="urn:microsoft.com/office/officeart/2005/8/layout/hierarchy2#1"/>
    <dgm:cxn modelId="{0E064C8C-75BC-4BB9-AE6F-A34E0D145899}" type="presParOf" srcId="{37AEBCCF-5036-48FE-97F2-9721951F330F}" destId="{76FF202B-7B6D-4519-8839-8F60C5FB2AFE}" srcOrd="0" destOrd="0" presId="urn:microsoft.com/office/officeart/2005/8/layout/hierarchy2#1"/>
    <dgm:cxn modelId="{136092AD-C810-4C70-BDC4-10FD296F7E58}" type="presParOf" srcId="{37AEBCCF-5036-48FE-97F2-9721951F330F}" destId="{2F26BB6C-C461-450C-87F3-289D6A87DCC4}" srcOrd="1" destOrd="0" presId="urn:microsoft.com/office/officeart/2005/8/layout/hierarchy2#1"/>
    <dgm:cxn modelId="{2D3A2002-2AD5-45DE-AA37-32FA639C544A}" type="presParOf" srcId="{F39502C2-D7D3-4EDC-9FAA-2311DC003128}" destId="{15A77FE8-2E0D-4AF3-B55D-0570C0C8495D}" srcOrd="4" destOrd="0" presId="urn:microsoft.com/office/officeart/2005/8/layout/hierarchy2#1"/>
    <dgm:cxn modelId="{6D52B19C-E0B3-49EB-A41A-A835327BAFEB}" type="presParOf" srcId="{15A77FE8-2E0D-4AF3-B55D-0570C0C8495D}" destId="{B482646B-0060-4A70-B391-9FB5342058E1}" srcOrd="0" destOrd="0" presId="urn:microsoft.com/office/officeart/2005/8/layout/hierarchy2#1"/>
    <dgm:cxn modelId="{B6451A52-BAD4-448E-AA36-5210B7B563AE}" type="presParOf" srcId="{F39502C2-D7D3-4EDC-9FAA-2311DC003128}" destId="{0BE1E40E-C4C7-4337-B780-58191FE4235B}" srcOrd="5" destOrd="0" presId="urn:microsoft.com/office/officeart/2005/8/layout/hierarchy2#1"/>
    <dgm:cxn modelId="{F749C22C-9655-4A92-A3F1-631A39CD1D03}" type="presParOf" srcId="{0BE1E40E-C4C7-4337-B780-58191FE4235B}" destId="{E6B85EB4-D40F-4AC6-944D-417721435C38}" srcOrd="0" destOrd="0" presId="urn:microsoft.com/office/officeart/2005/8/layout/hierarchy2#1"/>
    <dgm:cxn modelId="{0E267BF2-E525-4970-823E-55C61D998E38}" type="presParOf" srcId="{0BE1E40E-C4C7-4337-B780-58191FE4235B}" destId="{8D937F52-53D0-4787-9ECC-D0C929895902}" srcOrd="1" destOrd="0" presId="urn:microsoft.com/office/officeart/2005/8/layout/hierarchy2#1"/>
    <dgm:cxn modelId="{13925B50-80E7-4F67-B949-8620D26B28CF}" type="presParOf" srcId="{F39502C2-D7D3-4EDC-9FAA-2311DC003128}" destId="{70941675-5329-4C60-AAE1-B079086E1955}" srcOrd="6" destOrd="0" presId="urn:microsoft.com/office/officeart/2005/8/layout/hierarchy2#1"/>
    <dgm:cxn modelId="{26C2C35F-6DE5-4980-AB0C-E3FA873310B2}" type="presParOf" srcId="{70941675-5329-4C60-AAE1-B079086E1955}" destId="{8EB7B4E1-380D-46F2-9A5C-21327DF6FCBB}" srcOrd="0" destOrd="0" presId="urn:microsoft.com/office/officeart/2005/8/layout/hierarchy2#1"/>
    <dgm:cxn modelId="{1898563C-CB1A-4888-814F-F6312AE3918C}" type="presParOf" srcId="{F39502C2-D7D3-4EDC-9FAA-2311DC003128}" destId="{89041D09-36A5-40E5-A048-D5929A19EAF2}" srcOrd="7" destOrd="0" presId="urn:microsoft.com/office/officeart/2005/8/layout/hierarchy2#1"/>
    <dgm:cxn modelId="{61B63E4E-6931-4C78-8A1E-57C4177D528C}" type="presParOf" srcId="{89041D09-36A5-40E5-A048-D5929A19EAF2}" destId="{23FB93B9-A789-486B-8603-0DBCF1051B2C}" srcOrd="0" destOrd="0" presId="urn:microsoft.com/office/officeart/2005/8/layout/hierarchy2#1"/>
    <dgm:cxn modelId="{15993FB0-A472-4F09-8CF9-9898D6998B4B}" type="presParOf" srcId="{89041D09-36A5-40E5-A048-D5929A19EAF2}" destId="{B90917A8-433B-403D-8087-29429BC1EBDA}" srcOrd="1" destOrd="0" presId="urn:microsoft.com/office/officeart/2005/8/layout/hierarchy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492413" cy="4064000"/>
        <a:chOff x="0" y="0"/>
        <a:chExt cx="5492413" cy="4064000"/>
      </a:xfrm>
    </dsp:grpSpPr>
    <dsp:sp modelId="{E1CAB648-50BD-4890-98C1-FE6503CAF854}">
      <dsp:nvSpPr>
        <dsp:cNvPr id="4" name="任意多边形 3"/>
        <dsp:cNvSpPr/>
      </dsp:nvSpPr>
      <dsp:spPr bwMode="white">
        <a:xfrm>
          <a:off x="785083" y="646545"/>
          <a:ext cx="242362" cy="1039091"/>
        </a:xfrm>
        <a:custGeom>
          <a:avLst/>
          <a:gdLst/>
          <a:ahLst/>
          <a:cxnLst/>
          <a:pathLst>
            <a:path w="382" h="1636">
              <a:moveTo>
                <a:pt x="0" y="1636"/>
              </a:moveTo>
              <a:lnTo>
                <a:pt x="191" y="1636"/>
              </a:lnTo>
              <a:lnTo>
                <a:pt x="191" y="0"/>
              </a:lnTo>
              <a:lnTo>
                <a:pt x="382" y="0"/>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0"/>
          </a:lvl1pPr>
          <a:lvl2pPr marL="285750" indent="-285750" algn="ctr">
            <a:defRPr sz="3900"/>
          </a:lvl2pPr>
          <a:lvl3pPr marL="571500" indent="-285750" algn="ctr">
            <a:defRPr sz="3900"/>
          </a:lvl3pPr>
          <a:lvl4pPr marL="857250" indent="-285750" algn="ctr">
            <a:defRPr sz="3900"/>
          </a:lvl4pPr>
          <a:lvl5pPr marL="1143000" indent="-285750" algn="ctr">
            <a:defRPr sz="3900"/>
          </a:lvl5pPr>
          <a:lvl6pPr marL="1428750" indent="-285750" algn="ctr">
            <a:defRPr sz="3900"/>
          </a:lvl6pPr>
          <a:lvl7pPr marL="1714500" indent="-285750" algn="ctr">
            <a:defRPr sz="3900"/>
          </a:lvl7pPr>
          <a:lvl8pPr marL="2000250" indent="-285750" algn="ctr">
            <a:defRPr sz="3900"/>
          </a:lvl8pPr>
          <a:lvl9pPr marL="2286000" indent="-285750" algn="ctr">
            <a:defRPr sz="3900"/>
          </a:lvl9pPr>
        </a:lstStyle>
        <a:p>
          <a:pPr lvl="0">
            <a:lnSpc>
              <a:spcPct val="100000"/>
            </a:lnSpc>
            <a:spcBef>
              <a:spcPct val="0"/>
            </a:spcBef>
            <a:spcAft>
              <a:spcPct val="35000"/>
            </a:spcAft>
          </a:pPr>
          <a:endParaRPr lang="zh-CN" altLang="en-US">
            <a:solidFill>
              <a:schemeClr val="accent4"/>
            </a:solidFill>
          </a:endParaRPr>
        </a:p>
      </dsp:txBody>
      <dsp:txXfrm>
        <a:off x="785083" y="646545"/>
        <a:ext cx="242362" cy="1039091"/>
      </dsp:txXfrm>
    </dsp:sp>
    <dsp:sp modelId="{1C49A887-A871-4456-A46E-A718BDED663F}">
      <dsp:nvSpPr>
        <dsp:cNvPr id="6" name="任意多边形 5"/>
        <dsp:cNvSpPr/>
      </dsp:nvSpPr>
      <dsp:spPr bwMode="white">
        <a:xfrm>
          <a:off x="2239256" y="184727"/>
          <a:ext cx="242362" cy="461818"/>
        </a:xfrm>
        <a:custGeom>
          <a:avLst/>
          <a:gdLst/>
          <a:ahLst/>
          <a:cxnLst/>
          <a:pathLst>
            <a:path w="382" h="727">
              <a:moveTo>
                <a:pt x="0" y="727"/>
              </a:moveTo>
              <a:lnTo>
                <a:pt x="191" y="727"/>
              </a:lnTo>
              <a:lnTo>
                <a:pt x="191" y="0"/>
              </a:lnTo>
              <a:lnTo>
                <a:pt x="382" y="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endParaRPr lang="zh-CN" altLang="en-US">
            <a:solidFill>
              <a:schemeClr val="tx1"/>
            </a:solidFill>
          </a:endParaRPr>
        </a:p>
      </dsp:txBody>
      <dsp:txXfrm>
        <a:off x="2239256" y="184727"/>
        <a:ext cx="242362" cy="461818"/>
      </dsp:txXfrm>
    </dsp:sp>
    <dsp:sp modelId="{E0EFF9CB-401B-474D-8180-B93A2E21BB71}">
      <dsp:nvSpPr>
        <dsp:cNvPr id="8" name="任意多边形 7"/>
        <dsp:cNvSpPr/>
      </dsp:nvSpPr>
      <dsp:spPr bwMode="white">
        <a:xfrm>
          <a:off x="2239256" y="646545"/>
          <a:ext cx="242362" cy="0"/>
        </a:xfrm>
        <a:custGeom>
          <a:avLst/>
          <a:gdLst/>
          <a:ahLst/>
          <a:cxnLst/>
          <a:pathLst>
            <a:path w="382">
              <a:moveTo>
                <a:pt x="0" y="0"/>
              </a:moveTo>
              <a:lnTo>
                <a:pt x="382" y="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239256" y="646545"/>
        <a:ext cx="242362" cy="0"/>
      </dsp:txXfrm>
    </dsp:sp>
    <dsp:sp modelId="{EABDA8B9-3A6D-48AD-8210-1996226882AF}">
      <dsp:nvSpPr>
        <dsp:cNvPr id="10" name="任意多边形 9"/>
        <dsp:cNvSpPr/>
      </dsp:nvSpPr>
      <dsp:spPr bwMode="white">
        <a:xfrm>
          <a:off x="2239256" y="646545"/>
          <a:ext cx="242362" cy="461818"/>
        </a:xfrm>
        <a:custGeom>
          <a:avLst/>
          <a:gdLst/>
          <a:ahLst/>
          <a:cxnLst/>
          <a:pathLst>
            <a:path w="382" h="727">
              <a:moveTo>
                <a:pt x="0" y="0"/>
              </a:moveTo>
              <a:lnTo>
                <a:pt x="191" y="0"/>
              </a:lnTo>
              <a:lnTo>
                <a:pt x="191" y="727"/>
              </a:lnTo>
              <a:lnTo>
                <a:pt x="382" y="727"/>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endParaRPr lang="zh-CN" altLang="en-US">
            <a:solidFill>
              <a:schemeClr val="tx1"/>
            </a:solidFill>
          </a:endParaRPr>
        </a:p>
      </dsp:txBody>
      <dsp:txXfrm>
        <a:off x="2239256" y="646545"/>
        <a:ext cx="242362" cy="461818"/>
      </dsp:txXfrm>
    </dsp:sp>
    <dsp:sp modelId="{B692A469-4AAD-4C5C-9CFA-AA6CFCE70B0B}">
      <dsp:nvSpPr>
        <dsp:cNvPr id="12" name="任意多边形 11"/>
        <dsp:cNvSpPr/>
      </dsp:nvSpPr>
      <dsp:spPr bwMode="white">
        <a:xfrm>
          <a:off x="785083" y="1685636"/>
          <a:ext cx="242362" cy="1039091"/>
        </a:xfrm>
        <a:custGeom>
          <a:avLst/>
          <a:gdLst/>
          <a:ahLst/>
          <a:cxnLst/>
          <a:pathLst>
            <a:path w="382" h="1636">
              <a:moveTo>
                <a:pt x="0" y="0"/>
              </a:moveTo>
              <a:lnTo>
                <a:pt x="191" y="0"/>
              </a:lnTo>
              <a:lnTo>
                <a:pt x="191" y="1636"/>
              </a:lnTo>
              <a:lnTo>
                <a:pt x="382" y="1636"/>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0"/>
          </a:lvl1pPr>
          <a:lvl2pPr marL="285750" indent="-285750" algn="ctr">
            <a:defRPr sz="3900"/>
          </a:lvl2pPr>
          <a:lvl3pPr marL="571500" indent="-285750" algn="ctr">
            <a:defRPr sz="3900"/>
          </a:lvl3pPr>
          <a:lvl4pPr marL="857250" indent="-285750" algn="ctr">
            <a:defRPr sz="3900"/>
          </a:lvl4pPr>
          <a:lvl5pPr marL="1143000" indent="-285750" algn="ctr">
            <a:defRPr sz="3900"/>
          </a:lvl5pPr>
          <a:lvl6pPr marL="1428750" indent="-285750" algn="ctr">
            <a:defRPr sz="3900"/>
          </a:lvl6pPr>
          <a:lvl7pPr marL="1714500" indent="-285750" algn="ctr">
            <a:defRPr sz="3900"/>
          </a:lvl7pPr>
          <a:lvl8pPr marL="2000250" indent="-285750" algn="ctr">
            <a:defRPr sz="3900"/>
          </a:lvl8pPr>
          <a:lvl9pPr marL="2286000" indent="-285750" algn="ctr">
            <a:defRPr sz="3900"/>
          </a:lvl9pPr>
        </a:lstStyle>
        <a:p>
          <a:pPr lvl="0">
            <a:lnSpc>
              <a:spcPct val="100000"/>
            </a:lnSpc>
            <a:spcBef>
              <a:spcPct val="0"/>
            </a:spcBef>
            <a:spcAft>
              <a:spcPct val="35000"/>
            </a:spcAft>
          </a:pPr>
          <a:endParaRPr lang="zh-CN" altLang="en-US">
            <a:solidFill>
              <a:schemeClr val="accent4"/>
            </a:solidFill>
          </a:endParaRPr>
        </a:p>
      </dsp:txBody>
      <dsp:txXfrm>
        <a:off x="785083" y="1685636"/>
        <a:ext cx="242362" cy="1039091"/>
      </dsp:txXfrm>
    </dsp:sp>
    <dsp:sp modelId="{3FCF3505-0123-4988-B720-149F20AEDC47}">
      <dsp:nvSpPr>
        <dsp:cNvPr id="14" name="任意多边形 13"/>
        <dsp:cNvSpPr/>
      </dsp:nvSpPr>
      <dsp:spPr bwMode="white">
        <a:xfrm>
          <a:off x="2239256" y="1570182"/>
          <a:ext cx="242362" cy="1154545"/>
        </a:xfrm>
        <a:custGeom>
          <a:avLst/>
          <a:gdLst/>
          <a:ahLst/>
          <a:cxnLst/>
          <a:pathLst>
            <a:path w="382" h="1818">
              <a:moveTo>
                <a:pt x="0" y="1818"/>
              </a:moveTo>
              <a:lnTo>
                <a:pt x="191" y="1818"/>
              </a:lnTo>
              <a:lnTo>
                <a:pt x="191" y="0"/>
              </a:lnTo>
              <a:lnTo>
                <a:pt x="382" y="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0"/>
          </a:lvl1pPr>
          <a:lvl2pPr marL="285750" indent="-285750" algn="ctr">
            <a:defRPr sz="3900"/>
          </a:lvl2pPr>
          <a:lvl3pPr marL="571500" indent="-285750" algn="ctr">
            <a:defRPr sz="3900"/>
          </a:lvl3pPr>
          <a:lvl4pPr marL="857250" indent="-285750" algn="ctr">
            <a:defRPr sz="3900"/>
          </a:lvl4pPr>
          <a:lvl5pPr marL="1143000" indent="-285750" algn="ctr">
            <a:defRPr sz="3900"/>
          </a:lvl5pPr>
          <a:lvl6pPr marL="1428750" indent="-285750" algn="ctr">
            <a:defRPr sz="3900"/>
          </a:lvl6pPr>
          <a:lvl7pPr marL="1714500" indent="-285750" algn="ctr">
            <a:defRPr sz="3900"/>
          </a:lvl7pPr>
          <a:lvl8pPr marL="2000250" indent="-285750" algn="ctr">
            <a:defRPr sz="3900"/>
          </a:lvl8pPr>
          <a:lvl9pPr marL="2286000" indent="-285750" algn="ctr">
            <a:defRPr sz="3900"/>
          </a:lvl9pPr>
        </a:lstStyle>
        <a:p>
          <a:pPr lvl="0">
            <a:lnSpc>
              <a:spcPct val="100000"/>
            </a:lnSpc>
            <a:spcBef>
              <a:spcPct val="0"/>
            </a:spcBef>
            <a:spcAft>
              <a:spcPct val="35000"/>
            </a:spcAft>
          </a:pPr>
          <a:endParaRPr lang="zh-CN" altLang="en-US">
            <a:solidFill>
              <a:schemeClr val="tx1"/>
            </a:solidFill>
          </a:endParaRPr>
        </a:p>
      </dsp:txBody>
      <dsp:txXfrm>
        <a:off x="2239256" y="1570182"/>
        <a:ext cx="242362" cy="1154545"/>
      </dsp:txXfrm>
    </dsp:sp>
    <dsp:sp modelId="{823FC844-2774-4A58-BBFE-A82217E09579}">
      <dsp:nvSpPr>
        <dsp:cNvPr id="16" name="任意多边形 15"/>
        <dsp:cNvSpPr/>
      </dsp:nvSpPr>
      <dsp:spPr bwMode="white">
        <a:xfrm>
          <a:off x="2239256" y="2032000"/>
          <a:ext cx="242362" cy="692727"/>
        </a:xfrm>
        <a:custGeom>
          <a:avLst/>
          <a:gdLst/>
          <a:ahLst/>
          <a:cxnLst/>
          <a:pathLst>
            <a:path w="382" h="1091">
              <a:moveTo>
                <a:pt x="0" y="1091"/>
              </a:moveTo>
              <a:lnTo>
                <a:pt x="191" y="1091"/>
              </a:lnTo>
              <a:lnTo>
                <a:pt x="191" y="0"/>
              </a:lnTo>
              <a:lnTo>
                <a:pt x="382" y="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4500"/>
          </a:lvl1pPr>
          <a:lvl2pPr marL="285750" indent="-285750" algn="ctr">
            <a:defRPr sz="3500"/>
          </a:lvl2pPr>
          <a:lvl3pPr marL="571500" indent="-285750" algn="ctr">
            <a:defRPr sz="3500"/>
          </a:lvl3pPr>
          <a:lvl4pPr marL="857250" indent="-285750" algn="ctr">
            <a:defRPr sz="3500"/>
          </a:lvl4pPr>
          <a:lvl5pPr marL="1143000" indent="-285750" algn="ctr">
            <a:defRPr sz="3500"/>
          </a:lvl5pPr>
          <a:lvl6pPr marL="1428750" indent="-285750" algn="ctr">
            <a:defRPr sz="3500"/>
          </a:lvl6pPr>
          <a:lvl7pPr marL="1714500" indent="-285750" algn="ctr">
            <a:defRPr sz="3500"/>
          </a:lvl7pPr>
          <a:lvl8pPr marL="2000250" indent="-285750" algn="ctr">
            <a:defRPr sz="3500"/>
          </a:lvl8pPr>
          <a:lvl9pPr marL="2286000" indent="-285750" algn="ctr">
            <a:defRPr sz="3500"/>
          </a:lvl9pPr>
        </a:lstStyle>
        <a:p>
          <a:pPr lvl="0">
            <a:lnSpc>
              <a:spcPct val="100000"/>
            </a:lnSpc>
            <a:spcBef>
              <a:spcPct val="0"/>
            </a:spcBef>
            <a:spcAft>
              <a:spcPct val="35000"/>
            </a:spcAft>
          </a:pPr>
          <a:endParaRPr lang="zh-CN" altLang="en-US">
            <a:solidFill>
              <a:schemeClr val="tx1"/>
            </a:solidFill>
          </a:endParaRPr>
        </a:p>
      </dsp:txBody>
      <dsp:txXfrm>
        <a:off x="2239256" y="2032000"/>
        <a:ext cx="242362" cy="692727"/>
      </dsp:txXfrm>
    </dsp:sp>
    <dsp:sp modelId="{11A15F70-66DC-4485-AA88-BA791B528D0F}">
      <dsp:nvSpPr>
        <dsp:cNvPr id="18" name="任意多边形 17"/>
        <dsp:cNvSpPr/>
      </dsp:nvSpPr>
      <dsp:spPr bwMode="white">
        <a:xfrm>
          <a:off x="2239256" y="2493818"/>
          <a:ext cx="242362" cy="230909"/>
        </a:xfrm>
        <a:custGeom>
          <a:avLst/>
          <a:gdLst/>
          <a:ahLst/>
          <a:cxnLst/>
          <a:pathLst>
            <a:path w="382" h="364">
              <a:moveTo>
                <a:pt x="0" y="364"/>
              </a:moveTo>
              <a:lnTo>
                <a:pt x="191" y="364"/>
              </a:lnTo>
              <a:lnTo>
                <a:pt x="191" y="0"/>
              </a:lnTo>
              <a:lnTo>
                <a:pt x="382" y="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tx1"/>
            </a:solidFill>
          </a:endParaRPr>
        </a:p>
      </dsp:txBody>
      <dsp:txXfrm>
        <a:off x="2239256" y="2493818"/>
        <a:ext cx="242362" cy="230909"/>
      </dsp:txXfrm>
    </dsp:sp>
    <dsp:sp modelId="{CE5A8936-0669-48CB-B3A6-43D314BE75FB}">
      <dsp:nvSpPr>
        <dsp:cNvPr id="20" name="任意多边形 19"/>
        <dsp:cNvSpPr/>
      </dsp:nvSpPr>
      <dsp:spPr bwMode="white">
        <a:xfrm>
          <a:off x="2239256" y="2724727"/>
          <a:ext cx="242362" cy="230909"/>
        </a:xfrm>
        <a:custGeom>
          <a:avLst/>
          <a:gdLst/>
          <a:ahLst/>
          <a:cxnLst/>
          <a:pathLst>
            <a:path w="382" h="364">
              <a:moveTo>
                <a:pt x="0" y="0"/>
              </a:moveTo>
              <a:lnTo>
                <a:pt x="191" y="0"/>
              </a:lnTo>
              <a:lnTo>
                <a:pt x="191" y="364"/>
              </a:lnTo>
              <a:lnTo>
                <a:pt x="382" y="364"/>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tx1"/>
            </a:solidFill>
          </a:endParaRPr>
        </a:p>
      </dsp:txBody>
      <dsp:txXfrm>
        <a:off x="2239256" y="2724727"/>
        <a:ext cx="242362" cy="230909"/>
      </dsp:txXfrm>
    </dsp:sp>
    <dsp:sp modelId="{0117BADE-12FB-419D-8497-42C821BBA6C2}">
      <dsp:nvSpPr>
        <dsp:cNvPr id="22" name="任意多边形 21"/>
        <dsp:cNvSpPr/>
      </dsp:nvSpPr>
      <dsp:spPr bwMode="white">
        <a:xfrm>
          <a:off x="2239256" y="2724727"/>
          <a:ext cx="242362" cy="692727"/>
        </a:xfrm>
        <a:custGeom>
          <a:avLst/>
          <a:gdLst/>
          <a:ahLst/>
          <a:cxnLst/>
          <a:pathLst>
            <a:path w="382" h="1091">
              <a:moveTo>
                <a:pt x="0" y="0"/>
              </a:moveTo>
              <a:lnTo>
                <a:pt x="191" y="0"/>
              </a:lnTo>
              <a:lnTo>
                <a:pt x="191" y="1091"/>
              </a:lnTo>
              <a:lnTo>
                <a:pt x="382" y="109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4500"/>
          </a:lvl1pPr>
          <a:lvl2pPr marL="285750" indent="-285750" algn="ctr">
            <a:defRPr sz="3500"/>
          </a:lvl2pPr>
          <a:lvl3pPr marL="571500" indent="-285750" algn="ctr">
            <a:defRPr sz="3500"/>
          </a:lvl3pPr>
          <a:lvl4pPr marL="857250" indent="-285750" algn="ctr">
            <a:defRPr sz="3500"/>
          </a:lvl4pPr>
          <a:lvl5pPr marL="1143000" indent="-285750" algn="ctr">
            <a:defRPr sz="3500"/>
          </a:lvl5pPr>
          <a:lvl6pPr marL="1428750" indent="-285750" algn="ctr">
            <a:defRPr sz="3500"/>
          </a:lvl6pPr>
          <a:lvl7pPr marL="1714500" indent="-285750" algn="ctr">
            <a:defRPr sz="3500"/>
          </a:lvl7pPr>
          <a:lvl8pPr marL="2000250" indent="-285750" algn="ctr">
            <a:defRPr sz="3500"/>
          </a:lvl8pPr>
          <a:lvl9pPr marL="2286000" indent="-285750" algn="ctr">
            <a:defRPr sz="3500"/>
          </a:lvl9pPr>
        </a:lstStyle>
        <a:p>
          <a:pPr lvl="0">
            <a:lnSpc>
              <a:spcPct val="100000"/>
            </a:lnSpc>
            <a:spcBef>
              <a:spcPct val="0"/>
            </a:spcBef>
            <a:spcAft>
              <a:spcPct val="35000"/>
            </a:spcAft>
          </a:pPr>
          <a:endParaRPr lang="zh-CN" altLang="en-US">
            <a:solidFill>
              <a:schemeClr val="tx1"/>
            </a:solidFill>
          </a:endParaRPr>
        </a:p>
      </dsp:txBody>
      <dsp:txXfrm>
        <a:off x="2239256" y="2724727"/>
        <a:ext cx="242362" cy="692727"/>
      </dsp:txXfrm>
    </dsp:sp>
    <dsp:sp modelId="{255CE648-42AA-41BE-AC9F-21182EC33087}">
      <dsp:nvSpPr>
        <dsp:cNvPr id="24" name="任意多边形 23"/>
        <dsp:cNvSpPr/>
      </dsp:nvSpPr>
      <dsp:spPr bwMode="white">
        <a:xfrm>
          <a:off x="2239256" y="2724727"/>
          <a:ext cx="242362" cy="1154545"/>
        </a:xfrm>
        <a:custGeom>
          <a:avLst/>
          <a:gdLst/>
          <a:ahLst/>
          <a:cxnLst/>
          <a:pathLst>
            <a:path w="382" h="1818">
              <a:moveTo>
                <a:pt x="0" y="0"/>
              </a:moveTo>
              <a:lnTo>
                <a:pt x="191" y="0"/>
              </a:lnTo>
              <a:lnTo>
                <a:pt x="191" y="1818"/>
              </a:lnTo>
              <a:lnTo>
                <a:pt x="382" y="1818"/>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0"/>
          </a:lvl1pPr>
          <a:lvl2pPr marL="285750" indent="-285750" algn="ctr">
            <a:defRPr sz="3900"/>
          </a:lvl2pPr>
          <a:lvl3pPr marL="571500" indent="-285750" algn="ctr">
            <a:defRPr sz="3900"/>
          </a:lvl3pPr>
          <a:lvl4pPr marL="857250" indent="-285750" algn="ctr">
            <a:defRPr sz="3900"/>
          </a:lvl4pPr>
          <a:lvl5pPr marL="1143000" indent="-285750" algn="ctr">
            <a:defRPr sz="3900"/>
          </a:lvl5pPr>
          <a:lvl6pPr marL="1428750" indent="-285750" algn="ctr">
            <a:defRPr sz="3900"/>
          </a:lvl6pPr>
          <a:lvl7pPr marL="1714500" indent="-285750" algn="ctr">
            <a:defRPr sz="3900"/>
          </a:lvl7pPr>
          <a:lvl8pPr marL="2000250" indent="-285750" algn="ctr">
            <a:defRPr sz="3900"/>
          </a:lvl8pPr>
          <a:lvl9pPr marL="2286000" indent="-285750" algn="ctr">
            <a:defRPr sz="3900"/>
          </a:lvl9pPr>
        </a:lstStyle>
        <a:p>
          <a:pPr lvl="0">
            <a:lnSpc>
              <a:spcPct val="100000"/>
            </a:lnSpc>
            <a:spcBef>
              <a:spcPct val="0"/>
            </a:spcBef>
            <a:spcAft>
              <a:spcPct val="35000"/>
            </a:spcAft>
          </a:pPr>
          <a:endParaRPr lang="zh-CN" altLang="en-US">
            <a:solidFill>
              <a:schemeClr val="tx1"/>
            </a:solidFill>
          </a:endParaRPr>
        </a:p>
      </dsp:txBody>
      <dsp:txXfrm>
        <a:off x="2239256" y="2724727"/>
        <a:ext cx="242362" cy="1154545"/>
      </dsp:txXfrm>
    </dsp:sp>
    <dsp:sp modelId="{15A29D30-2B57-4AA3-ABBC-BD24A075F1E8}">
      <dsp:nvSpPr>
        <dsp:cNvPr id="3" name="矩形 2"/>
        <dsp:cNvSpPr/>
      </dsp:nvSpPr>
      <dsp:spPr bwMode="white">
        <a:xfrm rot="16200000">
          <a:off x="-371893" y="1500909"/>
          <a:ext cx="1944498" cy="369455"/>
        </a:xfrm>
        <a:prstGeom prst="rect">
          <a:avLst/>
        </a:prstGeom>
      </dsp:spPr>
      <dsp:style>
        <a:lnRef idx="2">
          <a:schemeClr val="lt1"/>
        </a:lnRef>
        <a:fillRef idx="1">
          <a:schemeClr val="accent1"/>
        </a:fillRef>
        <a:effectRef idx="0">
          <a:scrgbClr r="0" g="0" b="0"/>
        </a:effectRef>
        <a:fontRef idx="minor">
          <a:schemeClr val="lt1"/>
        </a:fontRef>
      </dsp:style>
      <dsp:txBody>
        <a:bodyPr vert="vert" lIns="15875" tIns="15875" rIns="15875" bIns="15875"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a:solidFill>
                <a:schemeClr val="accent4"/>
              </a:solidFill>
            </a:rPr>
            <a:t>需获取数据</a:t>
          </a:r>
        </a:p>
      </dsp:txBody>
      <dsp:txXfrm rot="16200000">
        <a:off x="-371893" y="1500909"/>
        <a:ext cx="1944498" cy="369455"/>
      </dsp:txXfrm>
    </dsp:sp>
    <dsp:sp modelId="{E0FAB3E9-ED5B-41F5-840C-E5F841926076}">
      <dsp:nvSpPr>
        <dsp:cNvPr id="5" name="矩形 4"/>
        <dsp:cNvSpPr/>
      </dsp:nvSpPr>
      <dsp:spPr bwMode="white">
        <a:xfrm>
          <a:off x="1027445" y="461818"/>
          <a:ext cx="1211811" cy="369455"/>
        </a:xfrm>
        <a:prstGeom prst="rect">
          <a:avLst/>
        </a:prstGeom>
      </dsp:spPr>
      <dsp:style>
        <a:lnRef idx="2">
          <a:schemeClr val="lt1"/>
        </a:lnRef>
        <a:fillRef idx="1">
          <a:schemeClr val="accent1"/>
        </a:fillRef>
        <a:effectRef idx="0">
          <a:scrgbClr r="0" g="0" b="0"/>
        </a:effectRef>
        <a:fontRef idx="minor">
          <a:schemeClr val="lt1"/>
        </a:fontRef>
      </dsp:style>
      <dsp:txBody>
        <a:bodyPr lIns="12700" tIns="12700" rIns="12700" bIns="1270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2000" dirty="0">
              <a:solidFill>
                <a:schemeClr val="accent4"/>
              </a:solidFill>
            </a:rPr>
            <a:t>总量</a:t>
          </a:r>
        </a:p>
      </dsp:txBody>
      <dsp:txXfrm>
        <a:off x="1027445" y="461818"/>
        <a:ext cx="1211811" cy="369455"/>
      </dsp:txXfrm>
    </dsp:sp>
    <dsp:sp modelId="{764EC702-5F80-4A1B-BABB-56C9A350A61A}">
      <dsp:nvSpPr>
        <dsp:cNvPr id="7" name="矩形 6"/>
        <dsp:cNvSpPr/>
      </dsp:nvSpPr>
      <dsp:spPr bwMode="white">
        <a:xfrm>
          <a:off x="2481619" y="0"/>
          <a:ext cx="1609515" cy="369455"/>
        </a:xfrm>
        <a:prstGeom prst="rect">
          <a:avLst/>
        </a:prstGeom>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1800" dirty="0">
              <a:solidFill>
                <a:schemeClr val="accent4"/>
              </a:solidFill>
            </a:rPr>
            <a:t>种植面积（</a:t>
          </a:r>
          <a:r>
            <a:rPr lang="en-US" altLang="en-US" sz="1800" dirty="0">
              <a:solidFill>
                <a:schemeClr val="accent4"/>
              </a:solidFill>
            </a:rPr>
            <a:t>X</a:t>
          </a:r>
          <a:r>
            <a:rPr lang="zh-CN" altLang="en-US" sz="1800" dirty="0">
              <a:solidFill>
                <a:schemeClr val="accent4"/>
              </a:solidFill>
            </a:rPr>
            <a:t>）</a:t>
          </a:r>
        </a:p>
      </dsp:txBody>
      <dsp:txXfrm>
        <a:off x="2481619" y="0"/>
        <a:ext cx="1609515" cy="369455"/>
      </dsp:txXfrm>
    </dsp:sp>
    <dsp:sp modelId="{7E9F186F-802D-468B-8AB2-942806AF5E06}">
      <dsp:nvSpPr>
        <dsp:cNvPr id="9" name="矩形 8"/>
        <dsp:cNvSpPr/>
      </dsp:nvSpPr>
      <dsp:spPr bwMode="white">
        <a:xfrm>
          <a:off x="2481619" y="461818"/>
          <a:ext cx="1609515" cy="369455"/>
        </a:xfrm>
        <a:prstGeom prst="rect">
          <a:avLst/>
        </a:prstGeom>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1800" dirty="0">
              <a:solidFill>
                <a:schemeClr val="accent4"/>
              </a:solidFill>
            </a:rPr>
            <a:t>劳动力总量</a:t>
          </a:r>
          <a:r>
            <a:rPr lang="en-US" altLang="en-US" sz="1800" dirty="0">
              <a:solidFill>
                <a:schemeClr val="accent4"/>
              </a:solidFill>
            </a:rPr>
            <a:t>(A)</a:t>
          </a:r>
          <a:endParaRPr lang="zh-CN" altLang="en-US" sz="1800" dirty="0">
            <a:solidFill>
              <a:schemeClr val="accent4"/>
            </a:solidFill>
          </a:endParaRPr>
        </a:p>
      </dsp:txBody>
      <dsp:txXfrm>
        <a:off x="2481619" y="461818"/>
        <a:ext cx="1609515" cy="369455"/>
      </dsp:txXfrm>
    </dsp:sp>
    <dsp:sp modelId="{1BD4C3BE-3A63-4DA9-A390-547D4319CAE3}">
      <dsp:nvSpPr>
        <dsp:cNvPr id="11" name="矩形 10"/>
        <dsp:cNvSpPr/>
      </dsp:nvSpPr>
      <dsp:spPr bwMode="white">
        <a:xfrm>
          <a:off x="2481619" y="923636"/>
          <a:ext cx="1609515" cy="369455"/>
        </a:xfrm>
        <a:prstGeom prst="rect">
          <a:avLst/>
        </a:prstGeom>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1800" dirty="0">
              <a:solidFill>
                <a:schemeClr val="accent4"/>
              </a:solidFill>
            </a:rPr>
            <a:t>资金投入量</a:t>
          </a:r>
          <a:r>
            <a:rPr lang="en-US" altLang="en-US" sz="1800" dirty="0">
              <a:solidFill>
                <a:schemeClr val="accent4"/>
              </a:solidFill>
            </a:rPr>
            <a:t>(B)</a:t>
          </a:r>
          <a:endParaRPr lang="zh-CN" altLang="en-US" sz="1800" dirty="0">
            <a:solidFill>
              <a:schemeClr val="accent4"/>
            </a:solidFill>
          </a:endParaRPr>
        </a:p>
      </dsp:txBody>
      <dsp:txXfrm>
        <a:off x="2481619" y="923636"/>
        <a:ext cx="1609515" cy="369455"/>
      </dsp:txXfrm>
    </dsp:sp>
    <dsp:sp modelId="{5D28EBC8-40CC-42C5-9D96-F15F1EAE317D}">
      <dsp:nvSpPr>
        <dsp:cNvPr id="13" name="矩形 12"/>
        <dsp:cNvSpPr/>
      </dsp:nvSpPr>
      <dsp:spPr bwMode="white">
        <a:xfrm>
          <a:off x="1027445" y="2540000"/>
          <a:ext cx="1211811" cy="369455"/>
        </a:xfrm>
        <a:prstGeom prst="rect">
          <a:avLst/>
        </a:prstGeom>
      </dsp:spPr>
      <dsp:style>
        <a:lnRef idx="2">
          <a:schemeClr val="lt1"/>
        </a:lnRef>
        <a:fillRef idx="1">
          <a:schemeClr val="accent1"/>
        </a:fillRef>
        <a:effectRef idx="0">
          <a:scrgbClr r="0" g="0" b="0"/>
        </a:effectRef>
        <a:fontRef idx="minor">
          <a:schemeClr val="lt1"/>
        </a:fontRef>
      </dsp:style>
      <dsp:txBody>
        <a:bodyPr lIns="12700" tIns="12700" rIns="12700" bIns="1270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2000" dirty="0">
              <a:solidFill>
                <a:schemeClr val="accent4"/>
              </a:solidFill>
            </a:rPr>
            <a:t>参量</a:t>
          </a:r>
        </a:p>
      </dsp:txBody>
      <dsp:txXfrm>
        <a:off x="1027445" y="2540000"/>
        <a:ext cx="1211811" cy="369455"/>
      </dsp:txXfrm>
    </dsp:sp>
    <dsp:sp modelId="{2542DDC6-646A-4116-8C73-5661FAFE0FD2}">
      <dsp:nvSpPr>
        <dsp:cNvPr id="15" name="矩形 14"/>
        <dsp:cNvSpPr/>
      </dsp:nvSpPr>
      <dsp:spPr bwMode="white">
        <a:xfrm>
          <a:off x="2481619" y="1385455"/>
          <a:ext cx="2595166" cy="369455"/>
        </a:xfrm>
        <a:prstGeom prst="rect">
          <a:avLst/>
        </a:prstGeom>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en-US" altLang="zh-CN" sz="1800" dirty="0">
              <a:solidFill>
                <a:schemeClr val="accent4"/>
              </a:solidFill>
            </a:rPr>
            <a:t>a1</a:t>
          </a:r>
          <a:r>
            <a:rPr lang="zh-CN" altLang="en-US" sz="1800" dirty="0">
              <a:solidFill>
                <a:schemeClr val="accent4"/>
              </a:solidFill>
            </a:rPr>
            <a:t>茶叶每亩所需劳动力</a:t>
          </a:r>
        </a:p>
      </dsp:txBody>
      <dsp:txXfrm>
        <a:off x="2481619" y="1385455"/>
        <a:ext cx="2595166" cy="369455"/>
      </dsp:txXfrm>
    </dsp:sp>
    <dsp:sp modelId="{57405C83-B1F0-4F76-BD4F-826E00C9A178}">
      <dsp:nvSpPr>
        <dsp:cNvPr id="17" name="矩形 16"/>
        <dsp:cNvSpPr/>
      </dsp:nvSpPr>
      <dsp:spPr bwMode="white">
        <a:xfrm>
          <a:off x="2481619" y="1847273"/>
          <a:ext cx="2595166" cy="369455"/>
        </a:xfrm>
        <a:prstGeom prst="rect">
          <a:avLst/>
        </a:prstGeom>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en-US" altLang="zh-CN" sz="1800" dirty="0">
              <a:solidFill>
                <a:schemeClr val="accent4"/>
              </a:solidFill>
            </a:rPr>
            <a:t>a2</a:t>
          </a:r>
          <a:r>
            <a:rPr lang="zh-CN" altLang="en-US" sz="1800" dirty="0">
              <a:solidFill>
                <a:schemeClr val="accent4"/>
              </a:solidFill>
            </a:rPr>
            <a:t>果树每亩所需劳动力</a:t>
          </a:r>
        </a:p>
      </dsp:txBody>
      <dsp:txXfrm>
        <a:off x="2481619" y="1847273"/>
        <a:ext cx="2595166" cy="369455"/>
      </dsp:txXfrm>
    </dsp:sp>
    <dsp:sp modelId="{C2A71CCC-8685-45A2-B18B-F0A41F6AFBFF}">
      <dsp:nvSpPr>
        <dsp:cNvPr id="19" name="矩形 18"/>
        <dsp:cNvSpPr/>
      </dsp:nvSpPr>
      <dsp:spPr bwMode="white">
        <a:xfrm>
          <a:off x="2481619" y="2309091"/>
          <a:ext cx="2489932" cy="369455"/>
        </a:xfrm>
        <a:prstGeom prst="rect">
          <a:avLst/>
        </a:prstGeom>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en-US" altLang="zh-CN" sz="1800" dirty="0">
              <a:solidFill>
                <a:schemeClr val="accent4"/>
              </a:solidFill>
            </a:rPr>
            <a:t>b1</a:t>
          </a:r>
          <a:r>
            <a:rPr lang="zh-CN" altLang="en-US" sz="1800" dirty="0">
              <a:solidFill>
                <a:schemeClr val="accent4"/>
              </a:solidFill>
            </a:rPr>
            <a:t>茶叶每亩所需资金</a:t>
          </a:r>
        </a:p>
      </dsp:txBody>
      <dsp:txXfrm>
        <a:off x="2481619" y="2309091"/>
        <a:ext cx="2489932" cy="369455"/>
      </dsp:txXfrm>
    </dsp:sp>
    <dsp:sp modelId="{24726482-911B-45C0-B5C9-8C2428849975}">
      <dsp:nvSpPr>
        <dsp:cNvPr id="21" name="矩形 20"/>
        <dsp:cNvSpPr/>
      </dsp:nvSpPr>
      <dsp:spPr bwMode="white">
        <a:xfrm>
          <a:off x="2481619" y="2770909"/>
          <a:ext cx="2332106" cy="369455"/>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en-US" altLang="zh-CN" sz="1800" dirty="0">
              <a:solidFill>
                <a:schemeClr val="accent4"/>
              </a:solidFill>
            </a:rPr>
            <a:t>b2</a:t>
          </a:r>
          <a:r>
            <a:rPr lang="zh-CN" altLang="en-US" sz="1800" dirty="0">
              <a:solidFill>
                <a:schemeClr val="accent4"/>
              </a:solidFill>
            </a:rPr>
            <a:t>果树每亩所需资金</a:t>
          </a:r>
          <a:endParaRPr sz="2500"/>
        </a:p>
      </dsp:txBody>
      <dsp:txXfrm>
        <a:off x="2481619" y="2770909"/>
        <a:ext cx="2332106" cy="369455"/>
      </dsp:txXfrm>
    </dsp:sp>
    <dsp:sp modelId="{80BC3D9F-A898-48D1-BAEB-3AD0E59357E3}">
      <dsp:nvSpPr>
        <dsp:cNvPr id="23" name="矩形 22"/>
        <dsp:cNvSpPr/>
      </dsp:nvSpPr>
      <dsp:spPr bwMode="white">
        <a:xfrm>
          <a:off x="2481619" y="3232727"/>
          <a:ext cx="1352454" cy="369455"/>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en-US" altLang="zh-CN" sz="1800" dirty="0">
              <a:solidFill>
                <a:schemeClr val="accent4"/>
              </a:solidFill>
            </a:rPr>
            <a:t>c1</a:t>
          </a:r>
          <a:r>
            <a:rPr lang="zh-CN" altLang="en-US" sz="1800" dirty="0">
              <a:solidFill>
                <a:schemeClr val="accent4"/>
              </a:solidFill>
            </a:rPr>
            <a:t>茶叶单产</a:t>
          </a:r>
          <a:endParaRPr sz="2500"/>
        </a:p>
      </dsp:txBody>
      <dsp:txXfrm>
        <a:off x="2481619" y="3232727"/>
        <a:ext cx="1352454" cy="369455"/>
      </dsp:txXfrm>
    </dsp:sp>
    <dsp:sp modelId="{2021622E-8142-49A5-B1D7-58687DE29604}">
      <dsp:nvSpPr>
        <dsp:cNvPr id="25" name="矩形 24"/>
        <dsp:cNvSpPr/>
      </dsp:nvSpPr>
      <dsp:spPr bwMode="white">
        <a:xfrm>
          <a:off x="2481619" y="3694545"/>
          <a:ext cx="1352454" cy="369455"/>
        </a:xfrm>
        <a:prstGeom prst="rect">
          <a:avLst/>
        </a:prstGeom>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en-US" altLang="zh-CN" sz="1800" dirty="0">
              <a:solidFill>
                <a:schemeClr val="accent4"/>
              </a:solidFill>
            </a:rPr>
            <a:t>c2</a:t>
          </a:r>
          <a:r>
            <a:rPr lang="zh-CN" altLang="en-US" sz="1800" dirty="0">
              <a:solidFill>
                <a:schemeClr val="accent4"/>
              </a:solidFill>
            </a:rPr>
            <a:t>果树单产</a:t>
          </a:r>
        </a:p>
      </dsp:txBody>
      <dsp:txXfrm>
        <a:off x="2481619" y="3694545"/>
        <a:ext cx="1352454" cy="3694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3F081-9D77-4BD6-A0A4-52B8EB117191}">
      <dsp:nvSpPr>
        <dsp:cNvPr id="0" name=""/>
        <dsp:cNvSpPr/>
      </dsp:nvSpPr>
      <dsp:spPr bwMode="white">
        <a:xfrm>
          <a:off x="314528" y="592142"/>
          <a:ext cx="1056669" cy="116680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hemeClr val="lt1"/>
        </a:lnRef>
        <a:fillRef idx="1">
          <a:schemeClr val="accent1"/>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zh-CN" altLang="en-US" sz="180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连续多年的时间序列数据</a:t>
          </a:r>
          <a:endParaRPr lang="zh-CN" altLang="en-US" sz="1800" kern="1200" dirty="0">
            <a:solidFill>
              <a:srgbClr val="002060"/>
            </a:solidFill>
          </a:endParaRPr>
        </a:p>
      </dsp:txBody>
      <dsp:txXfrm>
        <a:off x="314528" y="592142"/>
        <a:ext cx="1056669" cy="1166806"/>
      </dsp:txXfrm>
    </dsp:sp>
    <dsp:sp modelId="{72FDB1D7-0F7E-40E0-A3DA-3F4A85B98DC9}">
      <dsp:nvSpPr>
        <dsp:cNvPr id="0" name=""/>
        <dsp:cNvSpPr/>
      </dsp:nvSpPr>
      <dsp:spPr bwMode="white">
        <a:xfrm>
          <a:off x="1080222" y="699631"/>
          <a:ext cx="1004618" cy="40449"/>
        </a:xfrm>
        <a:custGeom>
          <a:avLst/>
          <a:gdLst/>
          <a:ahLst/>
          <a:cxnLst/>
          <a:rect l="0" t="0" r="0" b="0"/>
          <a:pathLst>
            <a:path w="1582" h="64">
              <a:moveTo>
                <a:pt x="458" y="749"/>
              </a:moveTo>
              <a:lnTo>
                <a:pt x="1124" y="-6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hemeClr val="accent1">
            <a:shade val="60000"/>
          </a:schemeClr>
        </a:lnRef>
        <a:fillRef idx="0">
          <a:schemeClr val="accent1"/>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600200">
            <a:lnSpc>
              <a:spcPct val="90000"/>
            </a:lnSpc>
            <a:spcBef>
              <a:spcPct val="0"/>
            </a:spcBef>
            <a:spcAft>
              <a:spcPct val="35000"/>
            </a:spcAft>
            <a:buNone/>
          </a:pPr>
          <a:endParaRPr lang="zh-CN" altLang="en-US" sz="3600" kern="1200">
            <a:solidFill>
              <a:schemeClr val="tx1"/>
            </a:solidFill>
          </a:endParaRPr>
        </a:p>
      </dsp:txBody>
      <dsp:txXfrm>
        <a:off x="1080222" y="699631"/>
        <a:ext cx="1004618" cy="40449"/>
      </dsp:txXfrm>
    </dsp:sp>
    <dsp:sp modelId="{FBA5FFAE-97A6-4CEC-8141-16E3CAE2752F}">
      <dsp:nvSpPr>
        <dsp:cNvPr id="0" name=""/>
        <dsp:cNvSpPr/>
      </dsp:nvSpPr>
      <dsp:spPr bwMode="white">
        <a:xfrm>
          <a:off x="1793865" y="0"/>
          <a:ext cx="2025128" cy="528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hemeClr val="lt1"/>
        </a:lnRef>
        <a:fillRef idx="1">
          <a:schemeClr val="accent1"/>
        </a:fillRef>
        <a:effectRef idx="0">
          <a:scrgbClr r="0" g="0" b="0"/>
        </a:effectRef>
        <a:fontRef idx="minor">
          <a:schemeClr val="lt1"/>
        </a:fontRef>
      </dsp:style>
      <dsp:txBody>
        <a:bodyPr spcFirstLastPara="0" vert="horz" wrap="square" lIns="43200" tIns="11430" rIns="11430" bIns="11430" numCol="1" spcCol="1270" anchor="ctr" anchorCtr="0">
          <a:noAutofit/>
        </a:bodyPr>
        <a:lstStyle/>
        <a:p>
          <a:pPr marL="0" lvl="0" indent="0" algn="l" defTabSz="800100">
            <a:lnSpc>
              <a:spcPct val="90000"/>
            </a:lnSpc>
            <a:spcBef>
              <a:spcPct val="0"/>
            </a:spcBef>
            <a:spcAft>
              <a:spcPct val="35000"/>
            </a:spcAft>
            <a:buNone/>
          </a:pPr>
          <a:r>
            <a:rPr lang="en-US" altLang="zh-CN" sz="1800" b="0" kern="1200" dirty="0">
              <a:solidFill>
                <a:srgbClr val="002060"/>
              </a:solidFill>
            </a:rPr>
            <a:t>f </a:t>
          </a:r>
          <a:r>
            <a:rPr lang="zh-CN" altLang="en-US" sz="1800" b="0" kern="1200" dirty="0">
              <a:solidFill>
                <a:srgbClr val="002060"/>
              </a:solidFill>
            </a:rPr>
            <a:t>经济产值</a:t>
          </a:r>
        </a:p>
      </dsp:txBody>
      <dsp:txXfrm>
        <a:off x="1793865" y="0"/>
        <a:ext cx="2025128" cy="528335"/>
      </dsp:txXfrm>
    </dsp:sp>
    <dsp:sp modelId="{C9F8F994-C1B2-49F7-BB8E-AE381D9D65F3}">
      <dsp:nvSpPr>
        <dsp:cNvPr id="0" name=""/>
        <dsp:cNvSpPr/>
      </dsp:nvSpPr>
      <dsp:spPr bwMode="white">
        <a:xfrm>
          <a:off x="1322272" y="1003424"/>
          <a:ext cx="520517" cy="40449"/>
        </a:xfrm>
        <a:custGeom>
          <a:avLst/>
          <a:gdLst/>
          <a:ahLst/>
          <a:cxnLst/>
          <a:rect l="0" t="0" r="0" b="0"/>
          <a:pathLst>
            <a:path w="820" h="64">
              <a:moveTo>
                <a:pt x="77" y="271"/>
              </a:moveTo>
              <a:lnTo>
                <a:pt x="743" y="-2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hemeClr val="accent1">
            <a:shade val="60000"/>
          </a:schemeClr>
        </a:lnRef>
        <a:fillRef idx="0">
          <a:schemeClr val="accent1"/>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600200">
            <a:lnSpc>
              <a:spcPct val="90000"/>
            </a:lnSpc>
            <a:spcBef>
              <a:spcPct val="0"/>
            </a:spcBef>
            <a:spcAft>
              <a:spcPct val="35000"/>
            </a:spcAft>
            <a:buNone/>
          </a:pPr>
          <a:endParaRPr lang="zh-CN" altLang="en-US" sz="3600" kern="1200">
            <a:solidFill>
              <a:srgbClr val="002060"/>
            </a:solidFill>
          </a:endParaRPr>
        </a:p>
      </dsp:txBody>
      <dsp:txXfrm>
        <a:off x="1322272" y="1003424"/>
        <a:ext cx="520517" cy="40449"/>
      </dsp:txXfrm>
    </dsp:sp>
    <dsp:sp modelId="{76FF202B-7B6D-4519-8839-8F60C5FB2AFE}">
      <dsp:nvSpPr>
        <dsp:cNvPr id="0" name=""/>
        <dsp:cNvSpPr/>
      </dsp:nvSpPr>
      <dsp:spPr bwMode="white">
        <a:xfrm>
          <a:off x="1793865" y="607585"/>
          <a:ext cx="1961337" cy="528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hemeClr val="lt1"/>
        </a:lnRef>
        <a:fillRef idx="1">
          <a:schemeClr val="accent1"/>
        </a:fillRef>
        <a:effectRef idx="0">
          <a:scrgbClr r="0" g="0" b="0"/>
        </a:effectRef>
        <a:fontRef idx="minor">
          <a:schemeClr val="lt1"/>
        </a:fontRef>
      </dsp:style>
      <dsp:txBody>
        <a:bodyPr spcFirstLastPara="0" vert="horz" wrap="square" lIns="43200" tIns="11430" rIns="11430" bIns="11430" numCol="1" spcCol="1270" anchor="ctr" anchorCtr="0">
          <a:noAutofit/>
        </a:bodyPr>
        <a:lstStyle/>
        <a:p>
          <a:pPr marL="0" lvl="0" indent="0" algn="l" defTabSz="800100">
            <a:lnSpc>
              <a:spcPct val="90000"/>
            </a:lnSpc>
            <a:spcBef>
              <a:spcPct val="0"/>
            </a:spcBef>
            <a:spcAft>
              <a:spcPct val="35000"/>
            </a:spcAft>
            <a:buNone/>
          </a:pPr>
          <a:r>
            <a:rPr lang="en-US" altLang="zh-CN"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z</a:t>
          </a:r>
          <a:r>
            <a:rPr lang="zh-CN" altLang="zh-CN"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茶园</a:t>
          </a:r>
          <a:r>
            <a:rPr lang="zh-CN" altLang="en-US"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和果园</a:t>
          </a:r>
          <a:r>
            <a:rPr lang="zh-CN" altLang="zh-CN"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面积</a:t>
          </a:r>
          <a:endParaRPr lang="zh-CN" altLang="en-US" sz="1800" b="0" kern="1200" dirty="0">
            <a:solidFill>
              <a:srgbClr val="002060"/>
            </a:solidFill>
          </a:endParaRPr>
        </a:p>
      </dsp:txBody>
      <dsp:txXfrm>
        <a:off x="1793865" y="607585"/>
        <a:ext cx="1961337" cy="528335"/>
      </dsp:txXfrm>
    </dsp:sp>
    <dsp:sp modelId="{15A77FE8-2E0D-4AF3-B55D-0570C0C8495D}">
      <dsp:nvSpPr>
        <dsp:cNvPr id="0" name=""/>
        <dsp:cNvSpPr/>
      </dsp:nvSpPr>
      <dsp:spPr bwMode="white">
        <a:xfrm>
          <a:off x="1322272" y="1307216"/>
          <a:ext cx="520517" cy="40449"/>
        </a:xfrm>
        <a:custGeom>
          <a:avLst/>
          <a:gdLst/>
          <a:ahLst/>
          <a:cxnLst/>
          <a:rect l="0" t="0" r="0" b="0"/>
          <a:pathLst>
            <a:path w="820" h="64">
              <a:moveTo>
                <a:pt x="77" y="-207"/>
              </a:moveTo>
              <a:lnTo>
                <a:pt x="743" y="2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hemeClr val="accent1">
            <a:shade val="60000"/>
          </a:schemeClr>
        </a:lnRef>
        <a:fillRef idx="0">
          <a:schemeClr val="accent1"/>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600200">
            <a:lnSpc>
              <a:spcPct val="90000"/>
            </a:lnSpc>
            <a:spcBef>
              <a:spcPct val="0"/>
            </a:spcBef>
            <a:spcAft>
              <a:spcPct val="35000"/>
            </a:spcAft>
            <a:buNone/>
          </a:pPr>
          <a:endParaRPr lang="zh-CN" altLang="en-US" sz="3600" kern="1200">
            <a:solidFill>
              <a:srgbClr val="002060"/>
            </a:solidFill>
          </a:endParaRPr>
        </a:p>
      </dsp:txBody>
      <dsp:txXfrm>
        <a:off x="1322272" y="1307216"/>
        <a:ext cx="520517" cy="40449"/>
      </dsp:txXfrm>
    </dsp:sp>
    <dsp:sp modelId="{E6B85EB4-D40F-4AC6-944D-417721435C38}">
      <dsp:nvSpPr>
        <dsp:cNvPr id="0" name=""/>
        <dsp:cNvSpPr/>
      </dsp:nvSpPr>
      <dsp:spPr bwMode="white">
        <a:xfrm>
          <a:off x="1793865" y="1215170"/>
          <a:ext cx="1819986" cy="528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hemeClr val="lt1"/>
        </a:lnRef>
        <a:fillRef idx="1">
          <a:schemeClr val="accent1"/>
        </a:fillRef>
        <a:effectRef idx="0">
          <a:scrgbClr r="0" g="0" b="0"/>
        </a:effectRef>
        <a:fontRef idx="minor">
          <a:schemeClr val="lt1"/>
        </a:fontRef>
      </dsp:style>
      <dsp:txBody>
        <a:bodyPr spcFirstLastPara="0" vert="horz" wrap="square" lIns="43200" tIns="11430" rIns="11430" bIns="11430" numCol="1" spcCol="1270" anchor="ctr" anchorCtr="0">
          <a:noAutofit/>
        </a:bodyPr>
        <a:lstStyle/>
        <a:p>
          <a:pPr marL="0" lvl="0" indent="0" algn="l" defTabSz="800100">
            <a:lnSpc>
              <a:spcPct val="90000"/>
            </a:lnSpc>
            <a:spcBef>
              <a:spcPct val="0"/>
            </a:spcBef>
            <a:spcAft>
              <a:spcPct val="35000"/>
            </a:spcAft>
            <a:buNone/>
          </a:pPr>
          <a:r>
            <a:rPr lang="en-US" altLang="zh-CN"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x</a:t>
          </a:r>
          <a:r>
            <a:rPr lang="zh-CN" altLang="zh-CN"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资金投入</a:t>
          </a:r>
          <a:endParaRPr lang="zh-CN" altLang="en-US" sz="1800" b="0" kern="1200" dirty="0">
            <a:solidFill>
              <a:srgbClr val="002060"/>
            </a:solidFill>
          </a:endParaRPr>
        </a:p>
      </dsp:txBody>
      <dsp:txXfrm>
        <a:off x="1793865" y="1215170"/>
        <a:ext cx="1819986" cy="528335"/>
      </dsp:txXfrm>
    </dsp:sp>
    <dsp:sp modelId="{70941675-5329-4C60-AAE1-B079086E1955}">
      <dsp:nvSpPr>
        <dsp:cNvPr id="0" name=""/>
        <dsp:cNvSpPr/>
      </dsp:nvSpPr>
      <dsp:spPr bwMode="white">
        <a:xfrm>
          <a:off x="1080222" y="1611008"/>
          <a:ext cx="1004618" cy="40449"/>
        </a:xfrm>
        <a:custGeom>
          <a:avLst/>
          <a:gdLst/>
          <a:ahLst/>
          <a:cxnLst/>
          <a:rect l="0" t="0" r="0" b="0"/>
          <a:pathLst>
            <a:path w="1582" h="64">
              <a:moveTo>
                <a:pt x="458" y="-686"/>
              </a:moveTo>
              <a:lnTo>
                <a:pt x="1124" y="74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hemeClr val="accent1">
            <a:shade val="60000"/>
          </a:schemeClr>
        </a:lnRef>
        <a:fillRef idx="0">
          <a:schemeClr val="accent1"/>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600200">
            <a:lnSpc>
              <a:spcPct val="90000"/>
            </a:lnSpc>
            <a:spcBef>
              <a:spcPct val="0"/>
            </a:spcBef>
            <a:spcAft>
              <a:spcPct val="35000"/>
            </a:spcAft>
            <a:buNone/>
          </a:pPr>
          <a:endParaRPr lang="zh-CN" altLang="en-US" sz="3600" kern="1200">
            <a:solidFill>
              <a:srgbClr val="002060"/>
            </a:solidFill>
          </a:endParaRPr>
        </a:p>
      </dsp:txBody>
      <dsp:txXfrm>
        <a:off x="1080222" y="1611008"/>
        <a:ext cx="1004618" cy="40449"/>
      </dsp:txXfrm>
    </dsp:sp>
    <dsp:sp modelId="{23FB93B9-A789-486B-8603-0DBCF1051B2C}">
      <dsp:nvSpPr>
        <dsp:cNvPr id="0" name=""/>
        <dsp:cNvSpPr/>
      </dsp:nvSpPr>
      <dsp:spPr bwMode="white">
        <a:xfrm>
          <a:off x="1793865" y="1822754"/>
          <a:ext cx="1739542" cy="528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hemeClr val="lt1"/>
        </a:lnRef>
        <a:fillRef idx="1">
          <a:schemeClr val="accent1"/>
        </a:fillRef>
        <a:effectRef idx="0">
          <a:scrgbClr r="0" g="0" b="0"/>
        </a:effectRef>
        <a:fontRef idx="minor">
          <a:schemeClr val="lt1"/>
        </a:fontRef>
      </dsp:style>
      <dsp:txBody>
        <a:bodyPr spcFirstLastPara="0" vert="horz" wrap="square" lIns="43200" tIns="11430" rIns="11430" bIns="11430" numCol="1" spcCol="1270" anchor="ctr" anchorCtr="0">
          <a:noAutofit/>
        </a:bodyPr>
        <a:lstStyle/>
        <a:p>
          <a:pPr marL="0" lvl="0" indent="0" algn="l" defTabSz="800100">
            <a:lnSpc>
              <a:spcPct val="90000"/>
            </a:lnSpc>
            <a:spcBef>
              <a:spcPct val="0"/>
            </a:spcBef>
            <a:spcAft>
              <a:spcPct val="35000"/>
            </a:spcAft>
            <a:buNone/>
          </a:pPr>
          <a:r>
            <a:rPr lang="en-US" altLang="zh-CN"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y</a:t>
          </a:r>
          <a:r>
            <a:rPr lang="zh-CN" altLang="zh-CN" sz="1800" b="0" kern="12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劳动力投入</a:t>
          </a:r>
          <a:endParaRPr lang="zh-CN" altLang="en-US" sz="1800" b="0" kern="1200" dirty="0">
            <a:solidFill>
              <a:srgbClr val="002060"/>
            </a:solidFill>
          </a:endParaRPr>
        </a:p>
      </dsp:txBody>
      <dsp:txXfrm>
        <a:off x="1793865" y="1822754"/>
        <a:ext cx="1739542" cy="528335"/>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1">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1">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20.wmf"/><Relationship Id="rId8" Type="http://schemas.openxmlformats.org/officeDocument/2006/relationships/image" Target="../media/image19.wmf"/><Relationship Id="rId7" Type="http://schemas.openxmlformats.org/officeDocument/2006/relationships/image" Target="../media/image18.wmf"/><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2" Type="http://schemas.openxmlformats.org/officeDocument/2006/relationships/image" Target="../media/image23.wmf"/><Relationship Id="rId11" Type="http://schemas.openxmlformats.org/officeDocument/2006/relationships/image" Target="../media/image22.wmf"/><Relationship Id="rId10" Type="http://schemas.openxmlformats.org/officeDocument/2006/relationships/image" Target="../media/image21.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62A18E-7CDF-4496-8B71-32205864BA2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0BFF2-7576-4648-8BE7-81A63410E8F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50BFF2-7576-4648-8BE7-81A63410E8F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50BFF2-7576-4648-8BE7-81A63410E8F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0226" name="标题 180225"/>
          <p:cNvSpPr>
            <a:spLocks noGrp="1" noRot="1"/>
          </p:cNvSpPr>
          <p:nvPr>
            <p:ph type="ctrTitle"/>
          </p:nvPr>
        </p:nvSpPr>
        <p:spPr>
          <a:xfrm>
            <a:off x="3962400" y="1066800"/>
            <a:ext cx="4648200" cy="1981200"/>
          </a:xfrm>
          <a:prstGeom prst="rect">
            <a:avLst/>
          </a:prstGeom>
          <a:noFill/>
          <a:ln w="9525">
            <a:noFill/>
          </a:ln>
        </p:spPr>
        <p:txBody>
          <a:bodyPr anchor="ctr"/>
          <a:lstStyle>
            <a:lvl1pPr lvl="0">
              <a:buClrTx/>
              <a:buSzTx/>
              <a:buFontTx/>
              <a:defRPr/>
            </a:lvl1pPr>
          </a:lstStyle>
          <a:p>
            <a:pPr lvl="0" fontAlgn="base"/>
            <a:r>
              <a:rPr lang="zh-CN" altLang="en-US" strike="noStrike" noProof="1"/>
              <a:t>单击此处编辑母版标题样式</a:t>
            </a:r>
            <a:endParaRPr lang="zh-CN" altLang="en-US" strike="noStrike" noProof="1"/>
          </a:p>
        </p:txBody>
      </p:sp>
      <p:sp>
        <p:nvSpPr>
          <p:cNvPr id="180227" name="副标题 180226"/>
          <p:cNvSpPr>
            <a:spLocks noGrp="1" noRot="1"/>
          </p:cNvSpPr>
          <p:nvPr>
            <p:ph type="subTitle" idx="1"/>
          </p:nvPr>
        </p:nvSpPr>
        <p:spPr>
          <a:xfrm>
            <a:off x="3962400" y="3657600"/>
            <a:ext cx="4572000" cy="1676400"/>
          </a:xfrm>
          <a:prstGeom prst="rect">
            <a:avLst/>
          </a:prstGeom>
          <a:noFill/>
          <a:ln w="9525">
            <a:noFill/>
          </a:ln>
        </p:spPr>
        <p:txBody>
          <a:bodyPr anchor="t"/>
          <a:lstStyle>
            <a:lvl1pPr marL="0" lvl="0" indent="0" algn="ctr">
              <a:buClr>
                <a:schemeClr val="hlink"/>
              </a:buClr>
              <a:buSzPct val="70000"/>
              <a:buFont typeface="Wingdings" panose="05000000000000000000" pitchFamily="2" charset="2"/>
              <a:buNone/>
              <a:defRPr/>
            </a:lvl1pPr>
            <a:lvl2pPr marL="457200" lvl="1" indent="0" algn="ctr">
              <a:buClr>
                <a:schemeClr val="accent2"/>
              </a:buClr>
              <a:buSzPct val="85000"/>
              <a:buFont typeface="Wingdings" panose="05000000000000000000" pitchFamily="2" charset="2"/>
              <a:buNone/>
              <a:defRPr/>
            </a:lvl2pPr>
            <a:lvl3pPr marL="914400" lvl="2" indent="0" algn="ctr">
              <a:buClr>
                <a:schemeClr val="hlink"/>
              </a:buClr>
              <a:buSzPct val="80000"/>
              <a:buFont typeface="Wingdings" panose="05000000000000000000" pitchFamily="2" charset="2"/>
              <a:buNone/>
              <a:defRPr/>
            </a:lvl3pPr>
            <a:lvl4pPr marL="1371600" lvl="3" indent="0" algn="ctr">
              <a:buClr>
                <a:schemeClr val="accent2"/>
              </a:buClr>
              <a:buSzPct val="90000"/>
              <a:buFont typeface="Wingdings" panose="05000000000000000000" pitchFamily="2" charset="2"/>
              <a:buNone/>
              <a:defRPr/>
            </a:lvl4pPr>
            <a:lvl5pPr marL="1828800" lvl="4" indent="0" algn="ctr">
              <a:buClr>
                <a:schemeClr val="hlink"/>
              </a:buClr>
              <a:buSzPct val="85000"/>
              <a:buFont typeface="Wingdings" panose="05000000000000000000" pitchFamily="2" charset="2"/>
              <a:buNone/>
              <a:defRPr/>
            </a:lvl5pPr>
          </a:lstStyle>
          <a:p>
            <a:pPr lvl="0" fontAlgn="base"/>
            <a:r>
              <a:rPr lang="zh-CN" altLang="en-US" strike="noStrike" noProof="1"/>
              <a:t>单击此处编辑母版副标题样式</a:t>
            </a:r>
            <a:endParaRPr lang="zh-CN" altLang="en-US" strike="noStrike" noProof="1"/>
          </a:p>
        </p:txBody>
      </p:sp>
      <p:sp>
        <p:nvSpPr>
          <p:cNvPr id="180228" name="日期占位符 180227"/>
          <p:cNvSpPr>
            <a:spLocks noGrp="1"/>
          </p:cNvSpPr>
          <p:nvPr>
            <p:ph type="dt" sz="half" idx="2"/>
          </p:nvPr>
        </p:nvSpPr>
        <p:spPr>
          <a:xfrm>
            <a:off x="301625" y="6076950"/>
            <a:ext cx="2289175" cy="476250"/>
          </a:xfrm>
          <a:prstGeom prst="rect">
            <a:avLst/>
          </a:prstGeom>
          <a:noFill/>
          <a:ln w="9525">
            <a:noFill/>
          </a:ln>
        </p:spPr>
        <p:txBody>
          <a:bodyPr anchor="t"/>
          <a:lstStyle>
            <a:lvl1pPr>
              <a:defRPr sz="1400">
                <a:latin typeface="Arial" panose="020B0604020202020204" pitchFamily="34" charset="0"/>
              </a:defRPr>
            </a:lvl1pPr>
          </a:lstStyle>
          <a:p>
            <a:pPr fontAlgn="base"/>
            <a:endParaRPr lang="zh-CN" altLang="en-US" strike="noStrike" noProof="1">
              <a:latin typeface="Times New Roman" panose="02020603050405020304" pitchFamily="18" charset="0"/>
            </a:endParaRPr>
          </a:p>
        </p:txBody>
      </p:sp>
      <p:sp>
        <p:nvSpPr>
          <p:cNvPr id="180229" name="页脚占位符 180228"/>
          <p:cNvSpPr>
            <a:spLocks noGrp="1"/>
          </p:cNvSpPr>
          <p:nvPr>
            <p:ph type="ftr" sz="quarter" idx="3"/>
          </p:nvPr>
        </p:nvSpPr>
        <p:spPr>
          <a:xfrm>
            <a:off x="3124200" y="6076950"/>
            <a:ext cx="2895600" cy="476250"/>
          </a:xfrm>
          <a:prstGeom prst="rect">
            <a:avLst/>
          </a:prstGeom>
          <a:noFill/>
          <a:ln w="9525">
            <a:noFill/>
          </a:ln>
        </p:spPr>
        <p:txBody>
          <a:bodyPr anchor="t"/>
          <a:lstStyle>
            <a:lvl1pPr algn="ctr">
              <a:defRPr sz="1400">
                <a:latin typeface="Arial" panose="020B0604020202020204" pitchFamily="34" charset="0"/>
              </a:defRPr>
            </a:lvl1pPr>
          </a:lstStyle>
          <a:p>
            <a:pPr fontAlgn="base"/>
            <a:endParaRPr lang="zh-CN" altLang="en-US" strike="noStrike" noProof="1"/>
          </a:p>
        </p:txBody>
      </p:sp>
      <p:sp>
        <p:nvSpPr>
          <p:cNvPr id="180230" name="灯片编号占位符 180229"/>
          <p:cNvSpPr>
            <a:spLocks noGrp="1"/>
          </p:cNvSpPr>
          <p:nvPr>
            <p:ph type="sldNum" sz="quarter" idx="4"/>
          </p:nvPr>
        </p:nvSpPr>
        <p:spPr>
          <a:xfrm>
            <a:off x="6553200" y="6076950"/>
            <a:ext cx="2289175" cy="476250"/>
          </a:xfrm>
          <a:prstGeom prst="rect">
            <a:avLst/>
          </a:prstGeom>
          <a:noFill/>
          <a:ln w="9525">
            <a:noFill/>
          </a:ln>
        </p:spPr>
        <p:txBody>
          <a:bodyPr anchor="t"/>
          <a:lstStyle>
            <a:lvl1pPr algn="r">
              <a:defRPr sz="1400">
                <a:latin typeface="Arial" panose="020B0604020202020204" pitchFamily="34" charset="0"/>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04800" y="1981200"/>
            <a:ext cx="4184968" cy="3886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60583" y="1981200"/>
            <a:ext cx="4184968" cy="3886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9569" y="685800"/>
            <a:ext cx="2135981" cy="5181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01625" y="685800"/>
            <a:ext cx="6284119" cy="5181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85800"/>
            <a:ext cx="8543925" cy="51816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标题 179201"/>
          <p:cNvSpPr>
            <a:spLocks noGrp="1" noRot="1"/>
          </p:cNvSpPr>
          <p:nvPr>
            <p:ph type="title"/>
          </p:nvPr>
        </p:nvSpPr>
        <p:spPr>
          <a:xfrm>
            <a:off x="301625" y="685800"/>
            <a:ext cx="854075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文本占位符 179202"/>
          <p:cNvSpPr>
            <a:spLocks noGrp="1" noRot="1"/>
          </p:cNvSpPr>
          <p:nvPr>
            <p:ph type="body"/>
          </p:nvPr>
        </p:nvSpPr>
        <p:spPr>
          <a:xfrm>
            <a:off x="304800" y="1981200"/>
            <a:ext cx="8540750" cy="3886200"/>
          </a:xfrm>
          <a:prstGeom prst="rect">
            <a:avLst/>
          </a:prstGeom>
          <a:noFill/>
          <a:ln w="9525">
            <a:noFill/>
          </a:ln>
        </p:spPr>
        <p:txBody>
          <a:bodyPr anchor="t" anchorCtr="0"/>
          <a:lstStyle/>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79204" name="日期占位符 179203"/>
          <p:cNvSpPr>
            <a:spLocks noGrp="1"/>
          </p:cNvSpPr>
          <p:nvPr>
            <p:ph type="dt" sz="half" idx="2"/>
          </p:nvPr>
        </p:nvSpPr>
        <p:spPr>
          <a:xfrm>
            <a:off x="301625" y="6019800"/>
            <a:ext cx="2289175" cy="476250"/>
          </a:xfrm>
          <a:prstGeom prst="rect">
            <a:avLst/>
          </a:prstGeom>
          <a:noFill/>
          <a:ln w="9525">
            <a:noFill/>
          </a:ln>
        </p:spPr>
        <p:txBody>
          <a:bodyPr/>
          <a:lstStyle>
            <a:lvl1pPr>
              <a:defRPr sz="1400">
                <a:latin typeface="Arial" panose="020B0604020202020204" pitchFamily="34" charset="0"/>
              </a:defRPr>
            </a:lvl1pPr>
          </a:lstStyle>
          <a:p>
            <a:pPr lvl="0" fontAlgn="base"/>
            <a:endParaRPr lang="zh-CN" altLang="en-US" strike="noStrike" noProof="1">
              <a:latin typeface="Times New Roman" panose="02020603050405020304" pitchFamily="18" charset="0"/>
            </a:endParaRPr>
          </a:p>
        </p:txBody>
      </p:sp>
      <p:sp>
        <p:nvSpPr>
          <p:cNvPr id="179205" name="页脚占位符 179204"/>
          <p:cNvSpPr>
            <a:spLocks noGrp="1"/>
          </p:cNvSpPr>
          <p:nvPr>
            <p:ph type="ftr" sz="quarter" idx="3"/>
          </p:nvPr>
        </p:nvSpPr>
        <p:spPr>
          <a:xfrm>
            <a:off x="3124200" y="6019800"/>
            <a:ext cx="2895600" cy="476250"/>
          </a:xfrm>
          <a:prstGeom prst="rect">
            <a:avLst/>
          </a:prstGeom>
          <a:noFill/>
          <a:ln w="9525">
            <a:noFill/>
          </a:ln>
        </p:spPr>
        <p:txBody>
          <a:bodyPr/>
          <a:lstStyle>
            <a:lvl1pPr algn="ctr">
              <a:defRPr sz="1400">
                <a:latin typeface="Arial" panose="020B0604020202020204" pitchFamily="34" charset="0"/>
              </a:defRPr>
            </a:lvl1pPr>
          </a:lstStyle>
          <a:p>
            <a:pPr lvl="0" fontAlgn="base"/>
            <a:endParaRPr lang="zh-CN" altLang="en-US" strike="noStrike" noProof="1"/>
          </a:p>
        </p:txBody>
      </p:sp>
      <p:sp>
        <p:nvSpPr>
          <p:cNvPr id="179206" name="灯片编号占位符 179205"/>
          <p:cNvSpPr>
            <a:spLocks noGrp="1"/>
          </p:cNvSpPr>
          <p:nvPr>
            <p:ph type="sldNum" sz="quarter" idx="4"/>
          </p:nvPr>
        </p:nvSpPr>
        <p:spPr>
          <a:xfrm>
            <a:off x="6553200" y="6019800"/>
            <a:ext cx="2289175" cy="476250"/>
          </a:xfrm>
          <a:prstGeom prst="rect">
            <a:avLst/>
          </a:prstGeom>
          <a:noFill/>
          <a:ln w="9525">
            <a:noFill/>
          </a:ln>
        </p:spPr>
        <p:txBody>
          <a:bodyPr/>
          <a:lstStyle>
            <a:lvl1pPr algn="r">
              <a:defRPr sz="1400">
                <a:latin typeface="Arial" panose="020B0604020202020204" pitchFamily="34" charset="0"/>
              </a:defRPr>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image" Target="../media/image4.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5.bin"/><Relationship Id="rId2" Type="http://schemas.openxmlformats.org/officeDocument/2006/relationships/image" Target="../media/image6.wmf"/><Relationship Id="rId1"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9.wmf"/><Relationship Id="rId3" Type="http://schemas.openxmlformats.org/officeDocument/2006/relationships/oleObject" Target="../embeddings/oleObject7.bin"/><Relationship Id="rId2" Type="http://schemas.openxmlformats.org/officeDocument/2006/relationships/image" Target="../media/image8.wmf"/><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5.wmf"/><Relationship Id="rId1"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5.wmf"/><Relationship Id="rId7" Type="http://schemas.openxmlformats.org/officeDocument/2006/relationships/oleObject" Target="../embeddings/oleObject12.bin"/><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wmf"/><Relationship Id="rId3" Type="http://schemas.openxmlformats.org/officeDocument/2006/relationships/oleObject" Target="../embeddings/oleObject10.bin"/><Relationship Id="rId26" Type="http://schemas.openxmlformats.org/officeDocument/2006/relationships/vmlDrawing" Target="../drawings/vmlDrawing6.vml"/><Relationship Id="rId25" Type="http://schemas.openxmlformats.org/officeDocument/2006/relationships/slideLayout" Target="../slideLayouts/slideLayout7.xml"/><Relationship Id="rId24" Type="http://schemas.openxmlformats.org/officeDocument/2006/relationships/image" Target="../media/image23.wmf"/><Relationship Id="rId23" Type="http://schemas.openxmlformats.org/officeDocument/2006/relationships/oleObject" Target="../embeddings/oleObject20.bin"/><Relationship Id="rId22" Type="http://schemas.openxmlformats.org/officeDocument/2006/relationships/image" Target="../media/image22.wmf"/><Relationship Id="rId21" Type="http://schemas.openxmlformats.org/officeDocument/2006/relationships/oleObject" Target="../embeddings/oleObject19.bin"/><Relationship Id="rId20" Type="http://schemas.openxmlformats.org/officeDocument/2006/relationships/image" Target="../media/image21.wmf"/><Relationship Id="rId2" Type="http://schemas.openxmlformats.org/officeDocument/2006/relationships/image" Target="../media/image12.wmf"/><Relationship Id="rId19" Type="http://schemas.openxmlformats.org/officeDocument/2006/relationships/oleObject" Target="../embeddings/oleObject18.bin"/><Relationship Id="rId18" Type="http://schemas.openxmlformats.org/officeDocument/2006/relationships/image" Target="../media/image20.wmf"/><Relationship Id="rId17" Type="http://schemas.openxmlformats.org/officeDocument/2006/relationships/oleObject" Target="../embeddings/oleObject17.bin"/><Relationship Id="rId16" Type="http://schemas.openxmlformats.org/officeDocument/2006/relationships/image" Target="../media/image19.wmf"/><Relationship Id="rId15" Type="http://schemas.openxmlformats.org/officeDocument/2006/relationships/oleObject" Target="../embeddings/oleObject16.bin"/><Relationship Id="rId14" Type="http://schemas.openxmlformats.org/officeDocument/2006/relationships/image" Target="../media/image18.wmf"/><Relationship Id="rId13" Type="http://schemas.openxmlformats.org/officeDocument/2006/relationships/oleObject" Target="../embeddings/oleObject15.bin"/><Relationship Id="rId12" Type="http://schemas.openxmlformats.org/officeDocument/2006/relationships/image" Target="../media/image17.wmf"/><Relationship Id="rId11" Type="http://schemas.openxmlformats.org/officeDocument/2006/relationships/oleObject" Target="../embeddings/oleObject14.bin"/><Relationship Id="rId10" Type="http://schemas.openxmlformats.org/officeDocument/2006/relationships/image" Target="../media/image16.wmf"/><Relationship Id="rId1"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23.bin"/><Relationship Id="rId4" Type="http://schemas.openxmlformats.org/officeDocument/2006/relationships/image" Target="../media/image25.wmf"/><Relationship Id="rId3" Type="http://schemas.openxmlformats.org/officeDocument/2006/relationships/oleObject" Target="../embeddings/oleObject22.bin"/><Relationship Id="rId2" Type="http://schemas.openxmlformats.org/officeDocument/2006/relationships/image" Target="../media/image24.wmf"/><Relationship Id="rId1" Type="http://schemas.openxmlformats.org/officeDocument/2006/relationships/oleObject" Target="../embeddings/oleObject21.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24.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2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31.wmf"/><Relationship Id="rId3" Type="http://schemas.openxmlformats.org/officeDocument/2006/relationships/oleObject" Target="../embeddings/oleObject27.bin"/><Relationship Id="rId2" Type="http://schemas.openxmlformats.org/officeDocument/2006/relationships/image" Target="../media/image30.wmf"/><Relationship Id="rId1" Type="http://schemas.openxmlformats.org/officeDocument/2006/relationships/oleObject" Target="../embeddings/oleObject26.bin"/></Relationships>
</file>

<file path=ppt/slides/_rels/slide38.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7.xml"/><Relationship Id="rId6" Type="http://schemas.openxmlformats.org/officeDocument/2006/relationships/image" Target="../media/image34.wmf"/><Relationship Id="rId5" Type="http://schemas.openxmlformats.org/officeDocument/2006/relationships/oleObject" Target="../embeddings/oleObject30.bin"/><Relationship Id="rId4" Type="http://schemas.openxmlformats.org/officeDocument/2006/relationships/image" Target="../media/image33.wmf"/><Relationship Id="rId3" Type="http://schemas.openxmlformats.org/officeDocument/2006/relationships/oleObject" Target="../embeddings/oleObject29.bin"/><Relationship Id="rId2" Type="http://schemas.openxmlformats.org/officeDocument/2006/relationships/image" Target="../media/image32.wmf"/><Relationship Id="rId1" Type="http://schemas.openxmlformats.org/officeDocument/2006/relationships/oleObject" Target="../embeddings/oleObject2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7.xml"/><Relationship Id="rId3" Type="http://schemas.openxmlformats.org/officeDocument/2006/relationships/image" Target="../media/image35.wmf"/><Relationship Id="rId2" Type="http://schemas.openxmlformats.org/officeDocument/2006/relationships/oleObject" Target="../embeddings/oleObject31.bin"/><Relationship Id="rId1" Type="http://schemas.openxmlformats.org/officeDocument/2006/relationships/tags" Target="../tags/tag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tags" Target="../tags/tag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38.wmf"/><Relationship Id="rId3" Type="http://schemas.openxmlformats.org/officeDocument/2006/relationships/oleObject" Target="../embeddings/oleObject33.bin"/><Relationship Id="rId2" Type="http://schemas.openxmlformats.org/officeDocument/2006/relationships/image" Target="../media/image37.wmf"/><Relationship Id="rId1" Type="http://schemas.openxmlformats.org/officeDocument/2006/relationships/oleObject" Target="../embeddings/oleObject32.bin"/></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2.wmf"/><Relationship Id="rId7" Type="http://schemas.openxmlformats.org/officeDocument/2006/relationships/oleObject" Target="../embeddings/oleObject37.bin"/><Relationship Id="rId6" Type="http://schemas.openxmlformats.org/officeDocument/2006/relationships/image" Target="../media/image41.wmf"/><Relationship Id="rId5" Type="http://schemas.openxmlformats.org/officeDocument/2006/relationships/oleObject" Target="../embeddings/oleObject36.bin"/><Relationship Id="rId4" Type="http://schemas.openxmlformats.org/officeDocument/2006/relationships/image" Target="../media/image40.wmf"/><Relationship Id="rId3" Type="http://schemas.openxmlformats.org/officeDocument/2006/relationships/oleObject" Target="../embeddings/oleObject35.bin"/><Relationship Id="rId2" Type="http://schemas.openxmlformats.org/officeDocument/2006/relationships/image" Target="../media/image39.wmf"/><Relationship Id="rId10" Type="http://schemas.openxmlformats.org/officeDocument/2006/relationships/vmlDrawing" Target="../drawings/vmlDrawing14.vml"/><Relationship Id="rId1" Type="http://schemas.openxmlformats.org/officeDocument/2006/relationships/oleObject" Target="../embeddings/oleObject34.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6.wmf"/><Relationship Id="rId7" Type="http://schemas.openxmlformats.org/officeDocument/2006/relationships/oleObject" Target="../embeddings/oleObject41.bin"/><Relationship Id="rId6" Type="http://schemas.openxmlformats.org/officeDocument/2006/relationships/image" Target="../media/image45.wmf"/><Relationship Id="rId5" Type="http://schemas.openxmlformats.org/officeDocument/2006/relationships/oleObject" Target="../embeddings/oleObject40.bin"/><Relationship Id="rId4" Type="http://schemas.openxmlformats.org/officeDocument/2006/relationships/image" Target="../media/image44.wmf"/><Relationship Id="rId3" Type="http://schemas.openxmlformats.org/officeDocument/2006/relationships/oleObject" Target="../embeddings/oleObject39.bin"/><Relationship Id="rId2" Type="http://schemas.openxmlformats.org/officeDocument/2006/relationships/image" Target="../media/image43.wmf"/><Relationship Id="rId10" Type="http://schemas.openxmlformats.org/officeDocument/2006/relationships/vmlDrawing" Target="../drawings/vmlDrawing15.vml"/><Relationship Id="rId1" Type="http://schemas.openxmlformats.org/officeDocument/2006/relationships/oleObject" Target="../embeddings/oleObject38.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12.xml"/><Relationship Id="rId4" Type="http://schemas.openxmlformats.org/officeDocument/2006/relationships/image" Target="../media/image48.wmf"/><Relationship Id="rId3" Type="http://schemas.openxmlformats.org/officeDocument/2006/relationships/oleObject" Target="../embeddings/oleObject43.bin"/><Relationship Id="rId2" Type="http://schemas.openxmlformats.org/officeDocument/2006/relationships/image" Target="../media/image47.wmf"/><Relationship Id="rId1" Type="http://schemas.openxmlformats.org/officeDocument/2006/relationships/oleObject" Target="../embeddings/oleObject42.bin"/></Relationships>
</file>

<file path=ppt/slides/_rels/slide5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2.wmf"/><Relationship Id="rId7" Type="http://schemas.openxmlformats.org/officeDocument/2006/relationships/oleObject" Target="../embeddings/oleObject47.bin"/><Relationship Id="rId6" Type="http://schemas.openxmlformats.org/officeDocument/2006/relationships/image" Target="../media/image51.wmf"/><Relationship Id="rId5" Type="http://schemas.openxmlformats.org/officeDocument/2006/relationships/oleObject" Target="../embeddings/oleObject46.bin"/><Relationship Id="rId4" Type="http://schemas.openxmlformats.org/officeDocument/2006/relationships/image" Target="../media/image50.wmf"/><Relationship Id="rId3" Type="http://schemas.openxmlformats.org/officeDocument/2006/relationships/oleObject" Target="../embeddings/oleObject45.bin"/><Relationship Id="rId2" Type="http://schemas.openxmlformats.org/officeDocument/2006/relationships/image" Target="../media/image49.wmf"/><Relationship Id="rId10" Type="http://schemas.openxmlformats.org/officeDocument/2006/relationships/vmlDrawing" Target="../drawings/vmlDrawing17.vml"/><Relationship Id="rId1" Type="http://schemas.openxmlformats.org/officeDocument/2006/relationships/oleObject" Target="../embeddings/oleObject44.bin"/></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6.wmf"/><Relationship Id="rId7" Type="http://schemas.openxmlformats.org/officeDocument/2006/relationships/oleObject" Target="../embeddings/oleObject51.bin"/><Relationship Id="rId6" Type="http://schemas.openxmlformats.org/officeDocument/2006/relationships/image" Target="../media/image55.wmf"/><Relationship Id="rId5" Type="http://schemas.openxmlformats.org/officeDocument/2006/relationships/oleObject" Target="../embeddings/oleObject50.bin"/><Relationship Id="rId4" Type="http://schemas.openxmlformats.org/officeDocument/2006/relationships/image" Target="../media/image54.wmf"/><Relationship Id="rId3" Type="http://schemas.openxmlformats.org/officeDocument/2006/relationships/oleObject" Target="../embeddings/oleObject49.bin"/><Relationship Id="rId2" Type="http://schemas.openxmlformats.org/officeDocument/2006/relationships/image" Target="../media/image53.wmf"/><Relationship Id="rId10" Type="http://schemas.openxmlformats.org/officeDocument/2006/relationships/vmlDrawing" Target="../drawings/vmlDrawing18.vml"/><Relationship Id="rId1" Type="http://schemas.openxmlformats.org/officeDocument/2006/relationships/oleObject" Target="../embeddings/oleObject48.bin"/></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noRot="1"/>
          </p:cNvSpPr>
          <p:nvPr>
            <p:ph type="title"/>
          </p:nvPr>
        </p:nvSpPr>
        <p:spPr/>
        <p:txBody>
          <a:bodyPr anchor="ctr" anchorCtr="0"/>
          <a:lstStyle/>
          <a:p>
            <a:r>
              <a:rPr lang="zh-CN" altLang="en-US" dirty="0">
                <a:solidFill>
                  <a:schemeClr val="tx1"/>
                </a:solidFill>
                <a:latin typeface="黑体" panose="02010609060101010101" pitchFamily="2" charset="-122"/>
                <a:ea typeface="黑体" panose="02010609060101010101" pitchFamily="2" charset="-122"/>
                <a:sym typeface="+mn-ea"/>
              </a:rPr>
              <a:t>第</a:t>
            </a:r>
            <a:r>
              <a:rPr lang="en-US" altLang="zh-CN" dirty="0">
                <a:solidFill>
                  <a:schemeClr val="tx1"/>
                </a:solidFill>
                <a:latin typeface="黑体" panose="02010609060101010101" pitchFamily="2" charset="-122"/>
                <a:ea typeface="黑体" panose="02010609060101010101" pitchFamily="2" charset="-122"/>
                <a:sym typeface="+mn-ea"/>
              </a:rPr>
              <a:t>5</a:t>
            </a:r>
            <a:r>
              <a:rPr lang="zh-CN" altLang="en-US" dirty="0">
                <a:solidFill>
                  <a:schemeClr val="tx1"/>
                </a:solidFill>
                <a:latin typeface="黑体" panose="02010609060101010101" pitchFamily="2" charset="-122"/>
                <a:ea typeface="黑体" panose="02010609060101010101" pitchFamily="2" charset="-122"/>
                <a:sym typeface="+mn-ea"/>
              </a:rPr>
              <a:t>章 线性规划方法</a:t>
            </a:r>
            <a:endParaRPr lang="zh-CN" altLang="en-US"/>
          </a:p>
        </p:txBody>
      </p:sp>
      <p:sp>
        <p:nvSpPr>
          <p:cNvPr id="4098" name="内容占位符 2"/>
          <p:cNvSpPr>
            <a:spLocks noGrp="1" noRot="1"/>
          </p:cNvSpPr>
          <p:nvPr>
            <p:ph idx="1"/>
          </p:nvPr>
        </p:nvSpPr>
        <p:spPr/>
        <p:txBody>
          <a:bodyPr anchor="t" anchorCtr="0"/>
          <a:lstStyle/>
          <a:p>
            <a:r>
              <a:rPr lang="zh-CN" altLang="en-US" dirty="0"/>
              <a:t>线性规划是运筹学中发展起来的一个分支。早在</a:t>
            </a:r>
            <a:r>
              <a:rPr lang="en-US" altLang="zh-CN" dirty="0"/>
              <a:t>30</a:t>
            </a:r>
            <a:r>
              <a:rPr lang="zh-CN" altLang="en-US" dirty="0"/>
              <a:t>年代末，就有人从运输问题开始研究线性规划方法的应用，</a:t>
            </a:r>
            <a:r>
              <a:rPr lang="en-US" altLang="zh-CN" dirty="0"/>
              <a:t>1947</a:t>
            </a:r>
            <a:r>
              <a:rPr lang="zh-CN" altLang="en-US" dirty="0"/>
              <a:t>年，提出解线性规划方法</a:t>
            </a:r>
            <a:r>
              <a:rPr lang="en-US" altLang="zh-CN" dirty="0"/>
              <a:t>--</a:t>
            </a:r>
            <a:r>
              <a:rPr lang="zh-CN" altLang="en-US" dirty="0"/>
              <a:t>单纯形方法。</a:t>
            </a:r>
            <a:endParaRPr lang="zh-CN" altLang="en-US" dirty="0"/>
          </a:p>
          <a:p>
            <a:r>
              <a:rPr lang="zh-CN" altLang="en-US" dirty="0"/>
              <a:t>在地理领域，线性规划作为传统的计量地理学方法之一，是解决有关规划、决策和系统优化问题的重要手段。</a:t>
            </a:r>
            <a:endParaRPr lang="zh-CN" altLang="en-US" dirty="0"/>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1"/>
                </a:solidFill>
                <a:latin typeface="黑体" panose="02010609060101010101" pitchFamily="2" charset="-122"/>
                <a:ea typeface="黑体" panose="02010609060101010101" pitchFamily="2" charset="-122"/>
                <a:sym typeface="+mn-ea"/>
              </a:rPr>
              <a:t>第</a:t>
            </a:r>
            <a:r>
              <a:rPr lang="en-US" altLang="zh-CN" dirty="0">
                <a:solidFill>
                  <a:schemeClr val="tx1"/>
                </a:solidFill>
                <a:latin typeface="黑体" panose="02010609060101010101" pitchFamily="2" charset="-122"/>
                <a:ea typeface="黑体" panose="02010609060101010101" pitchFamily="2" charset="-122"/>
                <a:sym typeface="+mn-ea"/>
              </a:rPr>
              <a:t>5</a:t>
            </a:r>
            <a:r>
              <a:rPr lang="zh-CN" altLang="en-US" dirty="0">
                <a:solidFill>
                  <a:schemeClr val="tx1"/>
                </a:solidFill>
                <a:latin typeface="黑体" panose="02010609060101010101" pitchFamily="2" charset="-122"/>
                <a:ea typeface="黑体" panose="02010609060101010101" pitchFamily="2" charset="-122"/>
                <a:sym typeface="+mn-ea"/>
              </a:rPr>
              <a:t>章 线性规划方法</a:t>
            </a:r>
            <a:br>
              <a:rPr lang="zh-CN" altLang="en-US"/>
            </a:br>
            <a:endParaRPr lang="zh-CN" altLang="en-US"/>
          </a:p>
        </p:txBody>
      </p:sp>
      <p:sp>
        <p:nvSpPr>
          <p:cNvPr id="3" name="内容占位符 2"/>
          <p:cNvSpPr>
            <a:spLocks noGrp="1"/>
          </p:cNvSpPr>
          <p:nvPr>
            <p:ph idx="1"/>
          </p:nvPr>
        </p:nvSpPr>
        <p:spPr/>
        <p:txBody>
          <a:bodyPr/>
          <a:lstStyle/>
          <a:p>
            <a:r>
              <a:rPr lang="zh-CN" altLang="en-US">
                <a:sym typeface="+mn-ea"/>
              </a:rPr>
              <a:t>让学生认识优化资源配置、提高生产效率是现实的需要、掌握线性规划的原理与模型。能够利用单纯型法求解实际的线性规划问题。本节将结合有关实例，介绍和讨论线形规划方</a:t>
            </a:r>
            <a:endParaRPr lang="zh-CN" altLang="en-US"/>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5" name="文本占位符 131074"/>
          <p:cNvSpPr>
            <a:spLocks noGrp="1" noRot="1"/>
          </p:cNvSpPr>
          <p:nvPr>
            <p:ph idx="1"/>
          </p:nvPr>
        </p:nvSpPr>
        <p:spPr>
          <a:xfrm>
            <a:off x="1524000" y="2286000"/>
            <a:ext cx="7620000" cy="3048000"/>
          </a:xfrm>
        </p:spPr>
        <p:txBody>
          <a:bodyPr anchor="t" anchorCtr="0"/>
          <a:lstStyle/>
          <a:p>
            <a:pPr marL="0" indent="0">
              <a:buSzPct val="150000"/>
              <a:buFont typeface="Wingdings" panose="05000000000000000000" pitchFamily="2" charset="2"/>
              <a:buChar char="Ø"/>
            </a:pPr>
            <a:r>
              <a:rPr lang="zh-CN" altLang="en-US" sz="2800" dirty="0"/>
              <a:t>线性规划的数学模型</a:t>
            </a:r>
            <a:endParaRPr lang="zh-CN" altLang="en-US" sz="2800" dirty="0"/>
          </a:p>
          <a:p>
            <a:pPr marL="0" indent="0">
              <a:buSzPct val="150000"/>
              <a:buFont typeface="Wingdings" panose="05000000000000000000" pitchFamily="2" charset="2"/>
              <a:buChar char="Ø"/>
            </a:pPr>
            <a:r>
              <a:rPr lang="zh-CN" altLang="en-US" sz="2800" dirty="0">
                <a:latin typeface="宋体" panose="02010600030101010101" pitchFamily="2" charset="-122"/>
              </a:rPr>
              <a:t>线性规划的标准形式及方法</a:t>
            </a:r>
            <a:endParaRPr lang="zh-CN" altLang="en-US" sz="2800" dirty="0"/>
          </a:p>
          <a:p>
            <a:pPr marL="0" indent="0">
              <a:buSzPct val="150000"/>
              <a:buFont typeface="Wingdings" panose="05000000000000000000" pitchFamily="2" charset="2"/>
              <a:buChar char="Ø"/>
            </a:pPr>
            <a:r>
              <a:rPr lang="zh-CN" altLang="en-US" sz="2800" dirty="0">
                <a:latin typeface="宋体" panose="02010600030101010101" pitchFamily="2" charset="-122"/>
              </a:rPr>
              <a:t>线性规划的解及其性质</a:t>
            </a:r>
            <a:endParaRPr lang="zh-CN" altLang="en-US" sz="2800" dirty="0">
              <a:latin typeface="宋体" panose="02010600030101010101" pitchFamily="2" charset="-122"/>
            </a:endParaRPr>
          </a:p>
          <a:p>
            <a:pPr marL="0" indent="0">
              <a:buSzPct val="150000"/>
              <a:buFont typeface="Wingdings" panose="05000000000000000000" pitchFamily="2" charset="2"/>
              <a:buChar char="Ø"/>
            </a:pPr>
            <a:r>
              <a:rPr lang="zh-CN" altLang="en-US" sz="2800" dirty="0">
                <a:latin typeface="宋体" panose="02010600030101010101" pitchFamily="2" charset="-122"/>
              </a:rPr>
              <a:t>线性规划问题的求解方法</a:t>
            </a:r>
            <a:r>
              <a:rPr lang="en-US" altLang="zh-CN" sz="2800"/>
              <a:t>——</a:t>
            </a:r>
            <a:r>
              <a:rPr lang="zh-CN" altLang="en-US" sz="2800" dirty="0">
                <a:latin typeface="宋体" panose="02010600030101010101" pitchFamily="2" charset="-122"/>
              </a:rPr>
              <a:t>单纯形法</a:t>
            </a:r>
            <a:endParaRPr lang="zh-CN" altLang="en-US" sz="2800" dirty="0">
              <a:latin typeface="宋体" panose="02010600030101010101" pitchFamily="2" charset="-122"/>
            </a:endParaRPr>
          </a:p>
          <a:p>
            <a:pPr marL="0" indent="0">
              <a:buSzPct val="150000"/>
              <a:buFont typeface="Wingdings" panose="05000000000000000000" pitchFamily="2" charset="2"/>
              <a:buChar char="Ø"/>
            </a:pPr>
            <a:r>
              <a:rPr lang="zh-CN" altLang="en-US" sz="2800" dirty="0">
                <a:latin typeface="宋体" panose="02010600030101010101" pitchFamily="2" charset="-122"/>
              </a:rPr>
              <a:t>应用实例</a:t>
            </a:r>
            <a:r>
              <a:rPr lang="en-US" altLang="zh-CN" sz="2800">
                <a:latin typeface="宋体" panose="02010600030101010101" pitchFamily="2" charset="-122"/>
              </a:rPr>
              <a:t>: </a:t>
            </a:r>
            <a:r>
              <a:rPr lang="zh-CN" altLang="en-US" sz="2800" dirty="0">
                <a:latin typeface="宋体" panose="02010600030101010101" pitchFamily="2" charset="-122"/>
              </a:rPr>
              <a:t>农场种植计划模型 </a:t>
            </a:r>
            <a:endParaRPr lang="zh-CN" altLang="en-US" sz="2800">
              <a:latin typeface="宋体" panose="02010600030101010101" pitchFamily="2" charset="-122"/>
            </a:endParaRPr>
          </a:p>
        </p:txBody>
      </p:sp>
      <p:sp>
        <p:nvSpPr>
          <p:cNvPr id="6146" name="标题 131075"/>
          <p:cNvSpPr>
            <a:spLocks noGrp="1" noRot="1"/>
          </p:cNvSpPr>
          <p:nvPr>
            <p:ph type="title"/>
          </p:nvPr>
        </p:nvSpPr>
        <p:spPr>
          <a:xfrm>
            <a:off x="1371600" y="685800"/>
            <a:ext cx="7772400" cy="1143000"/>
          </a:xfrm>
        </p:spPr>
        <p:txBody>
          <a:bodyPr vert="horz" wrap="square" lIns="91440" tIns="45720" rIns="91440" bIns="45720" anchor="ctr" anchorCtr="0"/>
          <a:lstStyle/>
          <a:p>
            <a:pPr marL="838200" indent="-838200"/>
            <a:r>
              <a:rPr lang="zh-CN" altLang="en-US" dirty="0">
                <a:solidFill>
                  <a:schemeClr val="tx1"/>
                </a:solidFill>
                <a:latin typeface="黑体" panose="02010609060101010101" pitchFamily="2" charset="-122"/>
                <a:ea typeface="黑体" panose="02010609060101010101" pitchFamily="2" charset="-122"/>
              </a:rPr>
              <a:t>第</a:t>
            </a:r>
            <a:r>
              <a:rPr lang="en-US" altLang="zh-CN" dirty="0">
                <a:solidFill>
                  <a:schemeClr val="tx1"/>
                </a:solidFill>
                <a:latin typeface="黑体" panose="02010609060101010101" pitchFamily="2" charset="-122"/>
                <a:ea typeface="黑体" panose="02010609060101010101" pitchFamily="2" charset="-122"/>
              </a:rPr>
              <a:t>1</a:t>
            </a:r>
            <a:r>
              <a:rPr lang="zh-CN" altLang="en-US" dirty="0">
                <a:solidFill>
                  <a:schemeClr val="tx1"/>
                </a:solidFill>
                <a:latin typeface="黑体" panose="02010609060101010101" pitchFamily="2" charset="-122"/>
                <a:ea typeface="黑体" panose="02010609060101010101" pitchFamily="2" charset="-122"/>
              </a:rPr>
              <a:t>节 线性规划及其单纯形求解方法</a:t>
            </a:r>
            <a:endParaRPr lang="zh-CN" altLang="en-US">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9" name="文本占位符 9218"/>
          <p:cNvSpPr>
            <a:spLocks noGrp="1" noRot="1"/>
          </p:cNvSpPr>
          <p:nvPr>
            <p:ph idx="1"/>
          </p:nvPr>
        </p:nvSpPr>
        <p:spPr>
          <a:xfrm>
            <a:off x="1371600" y="1600200"/>
            <a:ext cx="7772400" cy="4876800"/>
          </a:xfrm>
        </p:spPr>
        <p:txBody>
          <a:bodyPr anchor="t" anchorCtr="0"/>
          <a:lstStyle/>
          <a:p>
            <a:pPr marL="0" indent="0">
              <a:lnSpc>
                <a:spcPct val="120000"/>
              </a:lnSpc>
            </a:pPr>
            <a:r>
              <a:rPr lang="en-US" altLang="zh-CN" sz="2800" b="1" dirty="0">
                <a:latin typeface="Times New Roman" panose="02020603050405020304" pitchFamily="18" charset="0"/>
                <a:ea typeface="黑体" panose="02010609060101010101" pitchFamily="2" charset="-122"/>
              </a:rPr>
              <a:t>    </a:t>
            </a:r>
            <a:r>
              <a:rPr lang="zh-CN" altLang="en-US" sz="2800" b="1" dirty="0">
                <a:latin typeface="Times New Roman" panose="02020603050405020304" pitchFamily="18" charset="0"/>
                <a:ea typeface="黑体" panose="02010609060101010101" pitchFamily="2" charset="-122"/>
              </a:rPr>
              <a:t>（一）线性规划模型之实例</a:t>
            </a:r>
            <a:endParaRPr lang="zh-CN" altLang="en-US" sz="2800" b="1" dirty="0">
              <a:latin typeface="Times New Roman" panose="02020603050405020304" pitchFamily="18" charset="0"/>
              <a:ea typeface="黑体" panose="02010609060101010101" pitchFamily="2" charset="-122"/>
            </a:endParaRPr>
          </a:p>
          <a:p>
            <a:pPr marL="0" indent="0">
              <a:lnSpc>
                <a:spcPct val="120000"/>
              </a:lnSpc>
            </a:pPr>
            <a:r>
              <a:rPr lang="zh-CN" altLang="en-US" sz="2800" dirty="0"/>
              <a:t>      线性规划研究的两类问题：</a:t>
            </a:r>
            <a:endParaRPr lang="zh-CN" altLang="en-US" sz="2800" dirty="0"/>
          </a:p>
          <a:p>
            <a:pPr marL="0" indent="0">
              <a:lnSpc>
                <a:spcPct val="120000"/>
              </a:lnSpc>
            </a:pPr>
            <a:r>
              <a:rPr lang="zh-CN" altLang="en-US" sz="2800" dirty="0"/>
              <a:t>      某项任务确定后，如何统筹安排，以最少的人力、物力和财力去完成该项任务；</a:t>
            </a:r>
            <a:endParaRPr lang="zh-CN" altLang="en-US" sz="2800" dirty="0"/>
          </a:p>
          <a:p>
            <a:pPr marL="0" indent="0">
              <a:lnSpc>
                <a:spcPct val="120000"/>
              </a:lnSpc>
            </a:pPr>
            <a:r>
              <a:rPr lang="zh-CN" altLang="en-US" sz="2800" dirty="0"/>
              <a:t>       面对一定数量的人力、物力和财力资源，如何安排使用，使得完成的任务最多。它们都属于最优规划的范畴。</a:t>
            </a:r>
            <a:endParaRPr lang="zh-CN" altLang="en-US" sz="2800" dirty="0"/>
          </a:p>
          <a:p>
            <a:pPr marL="0" indent="0">
              <a:lnSpc>
                <a:spcPct val="120000"/>
              </a:lnSpc>
            </a:pPr>
            <a:r>
              <a:rPr lang="zh-CN" altLang="en-US" sz="2800" dirty="0"/>
              <a:t>       以下为一些实例。</a:t>
            </a:r>
            <a:endParaRPr lang="zh-CN" altLang="en-US" sz="2800"/>
          </a:p>
        </p:txBody>
      </p:sp>
      <p:sp>
        <p:nvSpPr>
          <p:cNvPr id="7170" name="标题 9219"/>
          <p:cNvSpPr>
            <a:spLocks noGrp="1" noRot="1"/>
          </p:cNvSpPr>
          <p:nvPr>
            <p:ph type="title"/>
          </p:nvPr>
        </p:nvSpPr>
        <p:spPr>
          <a:xfrm>
            <a:off x="1187450" y="476250"/>
            <a:ext cx="7632700" cy="936625"/>
          </a:xfrm>
        </p:spPr>
        <p:txBody>
          <a:bodyPr anchor="ctr" anchorCtr="0"/>
          <a:lstStyle/>
          <a:p>
            <a:pPr>
              <a:buClr>
                <a:schemeClr val="accent2"/>
              </a:buClr>
              <a:buSzPct val="150000"/>
            </a:pPr>
            <a:r>
              <a:rPr lang="zh-CN" altLang="en-US" b="1" dirty="0">
                <a:latin typeface="Times New Roman" panose="02020603050405020304" pitchFamily="18" charset="0"/>
                <a:ea typeface="黑体" panose="02010609060101010101" pitchFamily="2" charset="-122"/>
              </a:rPr>
              <a:t>一、线性规划的数学模型 </a:t>
            </a:r>
            <a:endParaRPr lang="zh-CN" altLang="en-US" b="1">
              <a:latin typeface="Times New Roman" panose="02020603050405020304" pitchFamily="18" charset="0"/>
              <a:ea typeface="黑体" panose="0201060906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3" name="矩形 10241"/>
          <p:cNvSpPr/>
          <p:nvPr/>
        </p:nvSpPr>
        <p:spPr>
          <a:xfrm>
            <a:off x="1547813" y="765175"/>
            <a:ext cx="7086600" cy="4895850"/>
          </a:xfrm>
          <a:prstGeom prst="rect">
            <a:avLst/>
          </a:prstGeom>
          <a:noFill/>
          <a:ln w="9525">
            <a:noFill/>
          </a:ln>
        </p:spPr>
        <p:txBody>
          <a:bodyPr anchor="t" anchorCtr="0">
            <a:spAutoFit/>
          </a:bodyPr>
          <a:lstStyle/>
          <a:p>
            <a:pPr>
              <a:spcBef>
                <a:spcPct val="50000"/>
              </a:spcBef>
              <a:buClr>
                <a:srgbClr val="FF9900"/>
              </a:buClr>
              <a:buSzPct val="80000"/>
              <a:buFont typeface="Wingdings" panose="05000000000000000000" pitchFamily="2" charset="2"/>
              <a:buChar char="n"/>
            </a:pPr>
            <a:r>
              <a:rPr lang="zh-CN" altLang="en-US" sz="3200" b="1" dirty="0">
                <a:latin typeface="Arial" panose="020B0604020202020204" pitchFamily="34" charset="0"/>
                <a:ea typeface="宋体" panose="02010600030101010101" pitchFamily="2" charset="-122"/>
              </a:rPr>
              <a:t>运输问题</a:t>
            </a:r>
            <a:endParaRPr lang="zh-CN" altLang="en-US" sz="3200" b="1" dirty="0">
              <a:latin typeface="Arial" panose="020B0604020202020204" pitchFamily="34" charset="0"/>
              <a:ea typeface="宋体" panose="02010600030101010101" pitchFamily="2" charset="-122"/>
            </a:endParaRPr>
          </a:p>
          <a:p>
            <a:pPr>
              <a:spcBef>
                <a:spcPct val="50000"/>
              </a:spcBef>
              <a:buSzPct val="150000"/>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        假设某种物资（譬如煤炭、钢铁、石油等）有</a:t>
            </a:r>
            <a:r>
              <a:rPr lang="en-US" altLang="zh-CN" sz="2800" i="1">
                <a:latin typeface="Times New Roman" panose="02020603050405020304" pitchFamily="18" charset="0"/>
                <a:ea typeface="宋体" panose="02010600030101010101" pitchFamily="2" charset="-122"/>
              </a:rPr>
              <a:t>m</a:t>
            </a:r>
            <a:r>
              <a:rPr lang="zh-CN" altLang="en-US" sz="2800" dirty="0">
                <a:latin typeface="Times New Roman" panose="02020603050405020304" pitchFamily="18" charset="0"/>
                <a:ea typeface="宋体" panose="02010600030101010101" pitchFamily="2" charset="-122"/>
              </a:rPr>
              <a:t>个产地，</a:t>
            </a:r>
            <a:r>
              <a:rPr lang="en-US" altLang="zh-CN" sz="2800" i="1">
                <a:latin typeface="Times New Roman" panose="02020603050405020304" pitchFamily="18" charset="0"/>
                <a:ea typeface="宋体" panose="02010600030101010101" pitchFamily="2" charset="-122"/>
              </a:rPr>
              <a:t>n</a:t>
            </a:r>
            <a:r>
              <a:rPr lang="zh-CN" altLang="en-US" sz="2800" dirty="0">
                <a:latin typeface="Times New Roman" panose="02020603050405020304" pitchFamily="18" charset="0"/>
                <a:ea typeface="宋体" panose="02010600030101010101" pitchFamily="2" charset="-122"/>
              </a:rPr>
              <a:t>个销地。第</a:t>
            </a:r>
            <a:r>
              <a:rPr lang="en-US" altLang="zh-CN" sz="2800" i="1">
                <a:latin typeface="Times New Roman" panose="02020603050405020304" pitchFamily="18" charset="0"/>
                <a:ea typeface="宋体" panose="02010600030101010101" pitchFamily="2" charset="-122"/>
              </a:rPr>
              <a:t>i</a:t>
            </a:r>
            <a:r>
              <a:rPr lang="zh-CN" altLang="en-US" sz="2800" dirty="0">
                <a:latin typeface="Times New Roman" panose="02020603050405020304" pitchFamily="18" charset="0"/>
                <a:ea typeface="宋体" panose="02010600030101010101" pitchFamily="2" charset="-122"/>
              </a:rPr>
              <a:t>产地的产量为</a:t>
            </a:r>
            <a:r>
              <a:rPr lang="en-US" altLang="zh-CN" sz="2800" i="1">
                <a:latin typeface="Times New Roman" panose="02020603050405020304" pitchFamily="18" charset="0"/>
                <a:ea typeface="宋体" panose="02010600030101010101" pitchFamily="2" charset="-122"/>
              </a:rPr>
              <a:t>a</a:t>
            </a:r>
            <a:r>
              <a:rPr lang="en-US" altLang="zh-CN" sz="2800" i="1" baseline="-25000">
                <a:latin typeface="Times New Roman" panose="02020603050405020304" pitchFamily="18" charset="0"/>
                <a:ea typeface="宋体" panose="02010600030101010101" pitchFamily="2" charset="-122"/>
              </a:rPr>
              <a:t>i</a:t>
            </a:r>
            <a:r>
              <a:rPr lang="zh-CN" altLang="en-US"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i</a:t>
            </a:r>
            <a:r>
              <a:rPr lang="en-US" altLang="zh-CN" sz="2800">
                <a:latin typeface="Times New Roman" panose="02020603050405020304" pitchFamily="18" charset="0"/>
                <a:ea typeface="宋体" panose="02010600030101010101" pitchFamily="2" charset="-122"/>
              </a:rPr>
              <a:t>=1</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2</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m</a:t>
            </a:r>
            <a:r>
              <a:rPr lang="zh-CN" altLang="en-US" sz="2800">
                <a:latin typeface="Times New Roman" panose="02020603050405020304" pitchFamily="18" charset="0"/>
                <a:ea typeface="宋体" panose="02010600030101010101" pitchFamily="2" charset="-122"/>
              </a:rPr>
              <a:t>），第</a:t>
            </a:r>
            <a:r>
              <a:rPr lang="en-US" altLang="zh-CN" sz="2800" i="1">
                <a:latin typeface="Times New Roman" panose="02020603050405020304" pitchFamily="18" charset="0"/>
                <a:ea typeface="宋体" panose="02010600030101010101" pitchFamily="2" charset="-122"/>
              </a:rPr>
              <a:t>j</a:t>
            </a: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销地的需求量为</a:t>
            </a:r>
            <a:r>
              <a:rPr lang="en-US" altLang="zh-CN" sz="2800" i="1">
                <a:latin typeface="Times New Roman" panose="02020603050405020304" pitchFamily="18" charset="0"/>
                <a:ea typeface="宋体" panose="02010600030101010101" pitchFamily="2" charset="-122"/>
              </a:rPr>
              <a:t>b</a:t>
            </a:r>
            <a:r>
              <a:rPr lang="en-US" altLang="zh-CN" sz="2800" i="1" baseline="-25000">
                <a:latin typeface="Times New Roman" panose="02020603050405020304" pitchFamily="18" charset="0"/>
                <a:ea typeface="宋体" panose="02010600030101010101" pitchFamily="2" charset="-122"/>
              </a:rPr>
              <a:t>j</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j</a:t>
            </a:r>
            <a:r>
              <a:rPr lang="en-US" altLang="zh-CN" sz="2800">
                <a:latin typeface="Times New Roman" panose="02020603050405020304" pitchFamily="18" charset="0"/>
                <a:ea typeface="宋体" panose="02010600030101010101" pitchFamily="2" charset="-122"/>
              </a:rPr>
              <a:t>=1, 2</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，它们满足产销平衡条件</a:t>
            </a:r>
            <a:endParaRPr lang="zh-CN" altLang="en-US" sz="2800" dirty="0">
              <a:latin typeface="Times New Roman" panose="02020603050405020304" pitchFamily="18" charset="0"/>
              <a:ea typeface="宋体" panose="02010600030101010101" pitchFamily="2" charset="-122"/>
            </a:endParaRPr>
          </a:p>
          <a:p>
            <a:pPr>
              <a:spcBef>
                <a:spcPct val="50000"/>
              </a:spcBef>
              <a:buSzPct val="150000"/>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a:p>
            <a:pPr>
              <a:lnSpc>
                <a:spcPct val="120000"/>
              </a:lnSpc>
              <a:spcBef>
                <a:spcPct val="50000"/>
              </a:spcBef>
            </a:pPr>
            <a:r>
              <a:rPr lang="zh-CN" altLang="en-US" sz="2800" dirty="0">
                <a:latin typeface="Times New Roman" panose="02020603050405020304" pitchFamily="18" charset="0"/>
                <a:ea typeface="宋体" panose="02010600030101010101" pitchFamily="2" charset="-122"/>
              </a:rPr>
              <a:t>        如果产地</a:t>
            </a:r>
            <a:r>
              <a:rPr lang="en-US" altLang="zh-CN" sz="2800" i="1">
                <a:latin typeface="Times New Roman" panose="02020603050405020304" pitchFamily="18" charset="0"/>
                <a:ea typeface="宋体" panose="02010600030101010101" pitchFamily="2" charset="-122"/>
              </a:rPr>
              <a:t>i</a:t>
            </a:r>
            <a:r>
              <a:rPr lang="zh-CN" altLang="en-US" sz="2800" dirty="0">
                <a:latin typeface="Times New Roman" panose="02020603050405020304" pitchFamily="18" charset="0"/>
                <a:ea typeface="宋体" panose="02010600030101010101" pitchFamily="2" charset="-122"/>
              </a:rPr>
              <a:t>到销地</a:t>
            </a:r>
            <a:r>
              <a:rPr lang="en-US" altLang="zh-CN" sz="2800" i="1">
                <a:latin typeface="Times New Roman" panose="02020603050405020304" pitchFamily="18" charset="0"/>
                <a:ea typeface="宋体" panose="02010600030101010101" pitchFamily="2" charset="-122"/>
              </a:rPr>
              <a:t>j</a:t>
            </a:r>
            <a:r>
              <a:rPr lang="zh-CN" altLang="en-US" sz="2800" dirty="0">
                <a:latin typeface="Times New Roman" panose="02020603050405020304" pitchFamily="18" charset="0"/>
                <a:ea typeface="宋体" panose="02010600030101010101" pitchFamily="2" charset="-122"/>
              </a:rPr>
              <a:t>的单位物资的运费为</a:t>
            </a:r>
            <a:r>
              <a:rPr lang="en-US" altLang="zh-CN" sz="2800" i="1">
                <a:latin typeface="Times New Roman" panose="02020603050405020304" pitchFamily="18" charset="0"/>
                <a:ea typeface="宋体" panose="02010600030101010101" pitchFamily="2" charset="-122"/>
              </a:rPr>
              <a:t>C</a:t>
            </a:r>
            <a:r>
              <a:rPr lang="en-US" altLang="zh-CN" sz="2800" i="1" baseline="-25000">
                <a:latin typeface="Times New Roman" panose="02020603050405020304" pitchFamily="18" charset="0"/>
                <a:ea typeface="宋体" panose="02010600030101010101" pitchFamily="2" charset="-122"/>
              </a:rPr>
              <a:t>ij</a:t>
            </a:r>
            <a:r>
              <a:rPr lang="zh-CN" altLang="en-US" sz="2800" dirty="0">
                <a:latin typeface="Times New Roman" panose="02020603050405020304" pitchFamily="18" charset="0"/>
                <a:ea typeface="宋体" panose="02010600030101010101" pitchFamily="2" charset="-122"/>
              </a:rPr>
              <a:t>，要使总运费达到最小，可这样安排物资的调运计划：</a:t>
            </a:r>
            <a:endParaRPr lang="zh-CN" altLang="en-US" sz="2800" dirty="0">
              <a:latin typeface="Times New Roman" panose="02020603050405020304" pitchFamily="18" charset="0"/>
              <a:ea typeface="宋体" panose="02010600030101010101" pitchFamily="2" charset="-122"/>
            </a:endParaRPr>
          </a:p>
        </p:txBody>
      </p:sp>
      <p:graphicFrame>
        <p:nvGraphicFramePr>
          <p:cNvPr id="8194" name="对象 10244"/>
          <p:cNvGraphicFramePr/>
          <p:nvPr/>
        </p:nvGraphicFramePr>
        <p:xfrm>
          <a:off x="1676400" y="3352800"/>
          <a:ext cx="1409700" cy="752475"/>
        </p:xfrm>
        <a:graphic>
          <a:graphicData uri="http://schemas.openxmlformats.org/presentationml/2006/ole">
            <mc:AlternateContent xmlns:mc="http://schemas.openxmlformats.org/markup-compatibility/2006">
              <mc:Choice xmlns:v="urn:schemas-microsoft-com:vml" Requires="v">
                <p:oleObj spid="_x0000_s3102" name="" r:id="rId1" imgW="837565" imgH="444500" progId="Equation.3">
                  <p:embed/>
                </p:oleObj>
              </mc:Choice>
              <mc:Fallback>
                <p:oleObj name="" r:id="rId1" imgW="837565" imgH="444500" progId="Equation.3">
                  <p:embed/>
                  <p:pic>
                    <p:nvPicPr>
                      <p:cNvPr id="0" name="图片 3078"/>
                      <p:cNvPicPr/>
                      <p:nvPr/>
                    </p:nvPicPr>
                    <p:blipFill>
                      <a:blip r:embed="rId2"/>
                      <a:stretch>
                        <a:fillRect/>
                      </a:stretch>
                    </p:blipFill>
                    <p:spPr>
                      <a:xfrm>
                        <a:off x="1676400" y="3352800"/>
                        <a:ext cx="1409700" cy="752475"/>
                      </a:xfrm>
                      <a:prstGeom prst="rect">
                        <a:avLst/>
                      </a:prstGeom>
                      <a:noFill/>
                      <a:ln w="38100">
                        <a:noFill/>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7" name="标题 13316"/>
          <p:cNvSpPr>
            <a:spLocks noGrp="1" noRot="1"/>
          </p:cNvSpPr>
          <p:nvPr>
            <p:ph type="title"/>
          </p:nvPr>
        </p:nvSpPr>
        <p:spPr>
          <a:xfrm>
            <a:off x="1476375" y="838200"/>
            <a:ext cx="7667625" cy="1981200"/>
          </a:xfrm>
        </p:spPr>
        <p:txBody>
          <a:bodyPr anchor="ctr" anchorCtr="0"/>
          <a:lstStyle/>
          <a:p>
            <a:pPr>
              <a:lnSpc>
                <a:spcPct val="120000"/>
              </a:lnSpc>
            </a:pPr>
            <a:r>
              <a:rPr lang="en-US" altLang="zh-CN" sz="3600" dirty="0">
                <a:solidFill>
                  <a:schemeClr val="tx1"/>
                </a:solidFill>
                <a:latin typeface="Times New Roman" panose="02020603050405020304" pitchFamily="18" charset="0"/>
              </a:rPr>
              <a:t>        </a:t>
            </a:r>
            <a:r>
              <a:rPr lang="zh-CN" altLang="en-US" sz="3600" dirty="0">
                <a:solidFill>
                  <a:schemeClr val="tx1"/>
                </a:solidFill>
                <a:latin typeface="Times New Roman" panose="02020603050405020304" pitchFamily="18" charset="0"/>
              </a:rPr>
              <a:t>设</a:t>
            </a:r>
            <a:r>
              <a:rPr lang="en-US" altLang="zh-CN" sz="3600" i="1" err="1">
                <a:solidFill>
                  <a:schemeClr val="tx1"/>
                </a:solidFill>
                <a:latin typeface="Times New Roman" panose="02020603050405020304" pitchFamily="18" charset="0"/>
              </a:rPr>
              <a:t>x</a:t>
            </a:r>
            <a:r>
              <a:rPr lang="en-US" altLang="zh-CN" sz="3600" i="1" baseline="-25000" err="1">
                <a:solidFill>
                  <a:schemeClr val="tx1"/>
                </a:solidFill>
                <a:latin typeface="Times New Roman" panose="02020603050405020304" pitchFamily="18" charset="0"/>
              </a:rPr>
              <a:t>ij</a:t>
            </a:r>
            <a:r>
              <a:rPr lang="zh-CN" altLang="en-US" sz="3600" dirty="0">
                <a:solidFill>
                  <a:schemeClr val="tx1"/>
                </a:solidFill>
                <a:latin typeface="Times New Roman" panose="02020603050405020304" pitchFamily="18" charset="0"/>
              </a:rPr>
              <a:t>表示由产地</a:t>
            </a:r>
            <a:r>
              <a:rPr lang="en-US" altLang="zh-CN" sz="3600" i="1">
                <a:solidFill>
                  <a:schemeClr val="tx1"/>
                </a:solidFill>
                <a:latin typeface="Times New Roman" panose="02020603050405020304" pitchFamily="18" charset="0"/>
              </a:rPr>
              <a:t>i</a:t>
            </a:r>
            <a:r>
              <a:rPr lang="zh-CN" altLang="en-US" sz="3600" dirty="0">
                <a:solidFill>
                  <a:schemeClr val="tx1"/>
                </a:solidFill>
                <a:latin typeface="Times New Roman" panose="02020603050405020304" pitchFamily="18" charset="0"/>
              </a:rPr>
              <a:t>供给销地</a:t>
            </a:r>
            <a:r>
              <a:rPr lang="en-US" altLang="zh-CN" sz="3600" i="1">
                <a:solidFill>
                  <a:schemeClr val="tx1"/>
                </a:solidFill>
                <a:latin typeface="Times New Roman" panose="02020603050405020304" pitchFamily="18" charset="0"/>
              </a:rPr>
              <a:t>j </a:t>
            </a:r>
            <a:r>
              <a:rPr lang="zh-CN" altLang="en-US" sz="3600" dirty="0">
                <a:solidFill>
                  <a:schemeClr val="tx1"/>
                </a:solidFill>
                <a:latin typeface="Times New Roman" panose="02020603050405020304" pitchFamily="18" charset="0"/>
              </a:rPr>
              <a:t>的物资数量，则上述问题可以表述为：</a:t>
            </a:r>
            <a:br>
              <a:rPr lang="zh-CN" altLang="en-US" sz="3600" dirty="0">
                <a:solidFill>
                  <a:schemeClr val="tx1"/>
                </a:solidFill>
                <a:latin typeface="Times New Roman" panose="02020603050405020304" pitchFamily="18" charset="0"/>
              </a:rPr>
            </a:br>
            <a:r>
              <a:rPr lang="zh-CN" altLang="en-US" sz="3600" dirty="0">
                <a:solidFill>
                  <a:schemeClr val="tx1"/>
                </a:solidFill>
                <a:latin typeface="Times New Roman" panose="02020603050405020304" pitchFamily="18" charset="0"/>
              </a:rPr>
              <a:t>        </a:t>
            </a:r>
            <a:r>
              <a:rPr lang="zh-CN" altLang="en-US" sz="3600" dirty="0">
                <a:latin typeface="Times New Roman" panose="02020603050405020304" pitchFamily="18" charset="0"/>
              </a:rPr>
              <a:t>求一组实值变量</a:t>
            </a:r>
            <a:r>
              <a:rPr lang="en-US" altLang="zh-CN" sz="3600" i="1">
                <a:latin typeface="Times New Roman" panose="02020603050405020304" pitchFamily="18" charset="0"/>
              </a:rPr>
              <a:t>x</a:t>
            </a:r>
            <a:r>
              <a:rPr lang="en-US" altLang="zh-CN" sz="3600" i="1" baseline="-30000">
                <a:latin typeface="Times New Roman" panose="02020603050405020304" pitchFamily="18" charset="0"/>
              </a:rPr>
              <a:t>ij</a:t>
            </a:r>
            <a:r>
              <a:rPr lang="en-US" altLang="zh-CN" sz="3600">
                <a:latin typeface="Times New Roman" panose="02020603050405020304" pitchFamily="18" charset="0"/>
              </a:rPr>
              <a:t>(</a:t>
            </a:r>
            <a:r>
              <a:rPr lang="en-US" altLang="zh-CN" sz="3600" i="1">
                <a:latin typeface="Times New Roman" panose="02020603050405020304" pitchFamily="18" charset="0"/>
              </a:rPr>
              <a:t>i</a:t>
            </a:r>
            <a:r>
              <a:rPr lang="en-US" altLang="zh-CN" sz="3600">
                <a:latin typeface="Times New Roman" panose="02020603050405020304" pitchFamily="18" charset="0"/>
              </a:rPr>
              <a:t>=1</a:t>
            </a:r>
            <a:r>
              <a:rPr lang="zh-CN" altLang="en-US" sz="3600">
                <a:latin typeface="Times New Roman" panose="02020603050405020304" pitchFamily="18" charset="0"/>
              </a:rPr>
              <a:t>，</a:t>
            </a:r>
            <a:r>
              <a:rPr lang="en-US" altLang="zh-CN" sz="3600">
                <a:latin typeface="Times New Roman" panose="02020603050405020304" pitchFamily="18" charset="0"/>
              </a:rPr>
              <a:t>2</a:t>
            </a:r>
            <a:r>
              <a:rPr lang="zh-CN" altLang="en-US" sz="3600">
                <a:latin typeface="Times New Roman" panose="02020603050405020304" pitchFamily="18" charset="0"/>
              </a:rPr>
              <a:t>，</a:t>
            </a:r>
            <a:r>
              <a:rPr lang="en-US" altLang="zh-CN" sz="3600">
                <a:latin typeface="Times New Roman" panose="02020603050405020304" pitchFamily="18" charset="0"/>
              </a:rPr>
              <a:t>…</a:t>
            </a:r>
            <a:r>
              <a:rPr lang="zh-CN" altLang="en-US" sz="3600">
                <a:latin typeface="Times New Roman" panose="02020603050405020304" pitchFamily="18" charset="0"/>
              </a:rPr>
              <a:t>，</a:t>
            </a:r>
            <a:r>
              <a:rPr lang="en-US" altLang="zh-CN" sz="3600" i="1">
                <a:latin typeface="Times New Roman" panose="02020603050405020304" pitchFamily="18" charset="0"/>
              </a:rPr>
              <a:t>m</a:t>
            </a:r>
            <a:r>
              <a:rPr lang="zh-CN" altLang="en-US" sz="3600">
                <a:latin typeface="Times New Roman" panose="02020603050405020304" pitchFamily="18" charset="0"/>
              </a:rPr>
              <a:t>；</a:t>
            </a:r>
            <a:r>
              <a:rPr lang="en-US" altLang="zh-CN" sz="3600" i="1">
                <a:latin typeface="Times New Roman" panose="02020603050405020304" pitchFamily="18" charset="0"/>
              </a:rPr>
              <a:t>j</a:t>
            </a:r>
            <a:r>
              <a:rPr lang="en-US" altLang="zh-CN" sz="3600">
                <a:latin typeface="Times New Roman" panose="02020603050405020304" pitchFamily="18" charset="0"/>
              </a:rPr>
              <a:t>=1</a:t>
            </a:r>
            <a:r>
              <a:rPr lang="zh-CN" altLang="en-US" sz="3600">
                <a:latin typeface="Times New Roman" panose="02020603050405020304" pitchFamily="18" charset="0"/>
              </a:rPr>
              <a:t>，</a:t>
            </a:r>
            <a:r>
              <a:rPr lang="en-US" altLang="zh-CN" sz="3600">
                <a:latin typeface="Times New Roman" panose="02020603050405020304" pitchFamily="18" charset="0"/>
              </a:rPr>
              <a:t>2</a:t>
            </a:r>
            <a:r>
              <a:rPr lang="zh-CN" altLang="en-US" sz="3600">
                <a:latin typeface="Times New Roman" panose="02020603050405020304" pitchFamily="18" charset="0"/>
              </a:rPr>
              <a:t>，</a:t>
            </a:r>
            <a:r>
              <a:rPr lang="en-US" altLang="zh-CN" sz="3600">
                <a:latin typeface="Times New Roman" panose="02020603050405020304" pitchFamily="18" charset="0"/>
              </a:rPr>
              <a:t>…</a:t>
            </a:r>
            <a:r>
              <a:rPr lang="zh-CN" altLang="en-US" sz="3600">
                <a:latin typeface="Times New Roman" panose="02020603050405020304" pitchFamily="18" charset="0"/>
              </a:rPr>
              <a:t>，</a:t>
            </a:r>
            <a:r>
              <a:rPr lang="en-US" altLang="zh-CN" sz="3600" i="1">
                <a:latin typeface="Times New Roman" panose="02020603050405020304" pitchFamily="18" charset="0"/>
              </a:rPr>
              <a:t>n</a:t>
            </a:r>
            <a:r>
              <a:rPr lang="en-US" altLang="zh-CN" sz="3600" dirty="0">
                <a:latin typeface="Times New Roman" panose="02020603050405020304" pitchFamily="18" charset="0"/>
              </a:rPr>
              <a:t>)</a:t>
            </a:r>
            <a:r>
              <a:rPr lang="zh-CN" altLang="en-US" sz="3600" dirty="0">
                <a:latin typeface="Times New Roman" panose="02020603050405020304" pitchFamily="18" charset="0"/>
              </a:rPr>
              <a:t>，使其满足</a:t>
            </a:r>
            <a:endParaRPr lang="zh-CN" altLang="en-US" sz="3600">
              <a:latin typeface="Times New Roman" panose="02020603050405020304" pitchFamily="18" charset="0"/>
            </a:endParaRPr>
          </a:p>
        </p:txBody>
      </p:sp>
      <p:sp>
        <p:nvSpPr>
          <p:cNvPr id="9218" name="文本占位符 13317"/>
          <p:cNvSpPr>
            <a:spLocks noGrp="1" noRot="1"/>
          </p:cNvSpPr>
          <p:nvPr>
            <p:ph idx="1"/>
          </p:nvPr>
        </p:nvSpPr>
        <p:spPr>
          <a:xfrm>
            <a:off x="1517650" y="3048000"/>
            <a:ext cx="7626350" cy="3352800"/>
          </a:xfrm>
        </p:spPr>
        <p:txBody>
          <a:bodyPr anchor="t" anchorCtr="0"/>
          <a:lstStyle/>
          <a:p>
            <a:endParaRPr lang="en-US" altLang="zh-CN" dirty="0">
              <a:latin typeface="宋体" panose="02010600030101010101" pitchFamily="2" charset="-122"/>
            </a:endParaRPr>
          </a:p>
          <a:p>
            <a:endParaRPr lang="en-US" altLang="zh-CN" dirty="0">
              <a:latin typeface="宋体" panose="02010600030101010101" pitchFamily="2" charset="-122"/>
            </a:endParaRPr>
          </a:p>
          <a:p>
            <a:endParaRPr lang="en-US" altLang="zh-CN" dirty="0">
              <a:latin typeface="宋体" panose="02010600030101010101" pitchFamily="2" charset="-122"/>
            </a:endParaRPr>
          </a:p>
          <a:p>
            <a:endParaRPr lang="en-US" altLang="zh-CN" sz="2400" dirty="0">
              <a:latin typeface="宋体" panose="02010600030101010101" pitchFamily="2" charset="-122"/>
            </a:endParaRPr>
          </a:p>
          <a:p>
            <a:r>
              <a:rPr lang="en-US" altLang="zh-CN" sz="2400" dirty="0">
                <a:latin typeface="宋体" panose="02010600030101010101" pitchFamily="2" charset="-122"/>
              </a:rPr>
              <a:t>     </a:t>
            </a:r>
            <a:r>
              <a:rPr lang="zh-CN" altLang="en-US" sz="2400" dirty="0">
                <a:latin typeface="宋体" panose="02010600030101010101" pitchFamily="2" charset="-122"/>
              </a:rPr>
              <a:t>而且使</a:t>
            </a:r>
            <a:r>
              <a:rPr lang="zh-CN" altLang="en-US" dirty="0"/>
              <a:t> </a:t>
            </a:r>
            <a:endParaRPr lang="zh-CN" altLang="en-US"/>
          </a:p>
        </p:txBody>
      </p:sp>
      <p:sp>
        <p:nvSpPr>
          <p:cNvPr id="9219" name="矩形 13319"/>
          <p:cNvSpPr/>
          <p:nvPr/>
        </p:nvSpPr>
        <p:spPr>
          <a:xfrm>
            <a:off x="3500438" y="275748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9220" name="对象 13318"/>
          <p:cNvGraphicFramePr/>
          <p:nvPr/>
        </p:nvGraphicFramePr>
        <p:xfrm>
          <a:off x="3009742" y="2743200"/>
          <a:ext cx="4221480" cy="2590800"/>
        </p:xfrm>
        <a:graphic>
          <a:graphicData uri="http://schemas.openxmlformats.org/presentationml/2006/ole">
            <mc:AlternateContent xmlns:mc="http://schemas.openxmlformats.org/markup-compatibility/2006">
              <mc:Choice xmlns:v="urn:schemas-microsoft-com:vml" Requires="v">
                <p:oleObj spid="_x0000_s4135" name="" r:id="rId1" imgW="2108200" imgH="1346200" progId="Equation.3">
                  <p:embed/>
                </p:oleObj>
              </mc:Choice>
              <mc:Fallback>
                <p:oleObj name="" r:id="rId1" imgW="2108200" imgH="1346200" progId="Equation.3">
                  <p:embed/>
                  <p:pic>
                    <p:nvPicPr>
                      <p:cNvPr id="0" name="图片 3075"/>
                      <p:cNvPicPr/>
                      <p:nvPr/>
                    </p:nvPicPr>
                    <p:blipFill>
                      <a:blip r:embed="rId2"/>
                      <a:stretch>
                        <a:fillRect/>
                      </a:stretch>
                    </p:blipFill>
                    <p:spPr>
                      <a:xfrm>
                        <a:off x="3009742" y="2743200"/>
                        <a:ext cx="4221480" cy="2590800"/>
                      </a:xfrm>
                      <a:prstGeom prst="rect">
                        <a:avLst/>
                      </a:prstGeom>
                      <a:noFill/>
                      <a:ln w="38100">
                        <a:noFill/>
                        <a:miter/>
                      </a:ln>
                    </p:spPr>
                  </p:pic>
                </p:oleObj>
              </mc:Fallback>
            </mc:AlternateContent>
          </a:graphicData>
        </a:graphic>
      </p:graphicFrame>
      <p:sp>
        <p:nvSpPr>
          <p:cNvPr id="9221" name="矩形 13321"/>
          <p:cNvSpPr/>
          <p:nvPr/>
        </p:nvSpPr>
        <p:spPr>
          <a:xfrm>
            <a:off x="3871913" y="32051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9222" name="对象 13320"/>
          <p:cNvGraphicFramePr/>
          <p:nvPr/>
        </p:nvGraphicFramePr>
        <p:xfrm>
          <a:off x="4581843" y="5657692"/>
          <a:ext cx="247015" cy="468630"/>
        </p:xfrm>
        <a:graphic>
          <a:graphicData uri="http://schemas.openxmlformats.org/presentationml/2006/ole">
            <mc:AlternateContent xmlns:mc="http://schemas.openxmlformats.org/markup-compatibility/2006">
              <mc:Choice xmlns:v="urn:schemas-microsoft-com:vml" Requires="v">
                <p:oleObj spid="_x0000_s4136" name="" r:id="rId3" imgW="114300" imgH="215900" progId="Equation.3">
                  <p:embed/>
                </p:oleObj>
              </mc:Choice>
              <mc:Fallback>
                <p:oleObj name="" r:id="rId3" imgW="114300" imgH="215900" progId="Equation.3">
                  <p:embed/>
                  <p:pic>
                    <p:nvPicPr>
                      <p:cNvPr id="0" name="图片 3076"/>
                      <p:cNvPicPr/>
                      <p:nvPr/>
                    </p:nvPicPr>
                    <p:blipFill>
                      <a:blip r:embed="rId4"/>
                      <a:stretch>
                        <a:fillRect/>
                      </a:stretch>
                    </p:blipFill>
                    <p:spPr>
                      <a:xfrm>
                        <a:off x="4581843" y="5657692"/>
                        <a:ext cx="247015" cy="468630"/>
                      </a:xfrm>
                      <a:prstGeom prst="rect">
                        <a:avLst/>
                      </a:prstGeom>
                      <a:no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1" name="标题 19460"/>
          <p:cNvSpPr>
            <a:spLocks noGrp="1" noRot="1"/>
          </p:cNvSpPr>
          <p:nvPr>
            <p:ph type="title"/>
          </p:nvPr>
        </p:nvSpPr>
        <p:spPr>
          <a:xfrm>
            <a:off x="1371600" y="685800"/>
            <a:ext cx="7772400" cy="914400"/>
          </a:xfrm>
        </p:spPr>
        <p:txBody>
          <a:bodyPr anchor="ctr" anchorCtr="0"/>
          <a:lstStyle/>
          <a:p>
            <a:pPr>
              <a:buClr>
                <a:srgbClr val="FF9900"/>
              </a:buClr>
              <a:buSzPct val="80000"/>
              <a:buFont typeface="Wingdings" panose="05000000000000000000" pitchFamily="2" charset="2"/>
              <a:buChar char="n"/>
            </a:pPr>
            <a:r>
              <a:rPr lang="zh-CN" altLang="en-US" sz="4000" b="1" dirty="0">
                <a:solidFill>
                  <a:schemeClr val="tx1"/>
                </a:solidFill>
                <a:latin typeface="宋体" panose="02010600030101010101" pitchFamily="2" charset="-122"/>
              </a:rPr>
              <a:t>资源利用问题</a:t>
            </a:r>
            <a:r>
              <a:rPr lang="zh-CN" altLang="en-US" dirty="0"/>
              <a:t> </a:t>
            </a:r>
            <a:endParaRPr lang="zh-CN" altLang="en-US"/>
          </a:p>
        </p:txBody>
      </p:sp>
      <p:sp>
        <p:nvSpPr>
          <p:cNvPr id="10242" name="文本占位符 19461"/>
          <p:cNvSpPr>
            <a:spLocks noGrp="1" noRot="1"/>
          </p:cNvSpPr>
          <p:nvPr>
            <p:ph idx="1"/>
          </p:nvPr>
        </p:nvSpPr>
        <p:spPr>
          <a:xfrm>
            <a:off x="1219200" y="1676400"/>
            <a:ext cx="7620000" cy="4419600"/>
          </a:xfrm>
        </p:spPr>
        <p:txBody>
          <a:bodyPr anchor="t" anchorCtr="0"/>
          <a:lstStyle/>
          <a:p>
            <a:pPr marL="0" indent="0" algn="just">
              <a:lnSpc>
                <a:spcPct val="120000"/>
              </a:lnSpc>
            </a:pPr>
            <a:r>
              <a:rPr lang="en-US" altLang="zh-CN" sz="2400" dirty="0">
                <a:latin typeface="Times New Roman" panose="02020603050405020304" pitchFamily="18" charset="0"/>
              </a:rPr>
              <a:t>         </a:t>
            </a:r>
            <a:r>
              <a:rPr lang="zh-CN" altLang="en-US" sz="2800" dirty="0">
                <a:latin typeface="Times New Roman" panose="02020603050405020304" pitchFamily="18" charset="0"/>
              </a:rPr>
              <a:t>假设某地区拥有</a:t>
            </a:r>
            <a:r>
              <a:rPr lang="en-US" altLang="zh-CN" sz="2800" i="1">
                <a:latin typeface="Times New Roman" panose="02020603050405020304" pitchFamily="18" charset="0"/>
              </a:rPr>
              <a:t>m</a:t>
            </a:r>
            <a:r>
              <a:rPr lang="zh-CN" altLang="en-US" sz="2800" dirty="0">
                <a:latin typeface="Times New Roman" panose="02020603050405020304" pitchFamily="18" charset="0"/>
              </a:rPr>
              <a:t>种资源，其中，第</a:t>
            </a:r>
            <a:r>
              <a:rPr lang="en-US" altLang="zh-CN" sz="2800" i="1">
                <a:latin typeface="Times New Roman" panose="02020603050405020304" pitchFamily="18" charset="0"/>
              </a:rPr>
              <a:t>i</a:t>
            </a:r>
            <a:r>
              <a:rPr lang="zh-CN" altLang="en-US" sz="2800" dirty="0">
                <a:latin typeface="Times New Roman" panose="02020603050405020304" pitchFamily="18" charset="0"/>
              </a:rPr>
              <a:t>种资源在规划期内的限额为</a:t>
            </a:r>
            <a:r>
              <a:rPr lang="en-US" altLang="zh-CN" sz="2800" i="1">
                <a:latin typeface="Times New Roman" panose="02020603050405020304" pitchFamily="18" charset="0"/>
              </a:rPr>
              <a:t>b</a:t>
            </a:r>
            <a:r>
              <a:rPr lang="en-US" altLang="zh-CN" sz="2800" i="1" baseline="-30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i</a:t>
            </a:r>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en-US" altLang="zh-CN" sz="2800"/>
              <a:t>…</a:t>
            </a:r>
            <a:r>
              <a:rPr lang="zh-CN" altLang="en-US"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。这</a:t>
            </a:r>
            <a:r>
              <a:rPr lang="en-US" altLang="zh-CN" sz="2800" i="1">
                <a:latin typeface="Times New Roman" panose="02020603050405020304" pitchFamily="18" charset="0"/>
              </a:rPr>
              <a:t>m</a:t>
            </a:r>
            <a:r>
              <a:rPr lang="zh-CN" altLang="en-US" sz="2800" dirty="0">
                <a:latin typeface="Times New Roman" panose="02020603050405020304" pitchFamily="18" charset="0"/>
              </a:rPr>
              <a:t>种资源可用来生产</a:t>
            </a:r>
            <a:r>
              <a:rPr lang="en-US" altLang="zh-CN" sz="2800" i="1">
                <a:latin typeface="Times New Roman" panose="02020603050405020304" pitchFamily="18" charset="0"/>
              </a:rPr>
              <a:t>n</a:t>
            </a:r>
            <a:r>
              <a:rPr lang="zh-CN" altLang="en-US" sz="2800" dirty="0">
                <a:latin typeface="Times New Roman" panose="02020603050405020304" pitchFamily="18" charset="0"/>
              </a:rPr>
              <a:t>种产品，其中，生产单位数量的第</a:t>
            </a:r>
            <a:r>
              <a:rPr lang="en-US" altLang="zh-CN" sz="2800" i="1">
                <a:latin typeface="Times New Roman" panose="02020603050405020304" pitchFamily="18" charset="0"/>
              </a:rPr>
              <a:t>j</a:t>
            </a:r>
            <a:r>
              <a:rPr lang="zh-CN" altLang="en-US" sz="2800" dirty="0">
                <a:latin typeface="Times New Roman" panose="02020603050405020304" pitchFamily="18" charset="0"/>
              </a:rPr>
              <a:t>种产品需要消耗的第</a:t>
            </a:r>
            <a:r>
              <a:rPr lang="en-US" altLang="zh-CN" sz="2800" i="1">
                <a:latin typeface="Times New Roman" panose="02020603050405020304" pitchFamily="18" charset="0"/>
              </a:rPr>
              <a:t>i</a:t>
            </a:r>
            <a:r>
              <a:rPr lang="zh-CN" altLang="en-US" sz="2800" dirty="0">
                <a:latin typeface="Times New Roman" panose="02020603050405020304" pitchFamily="18" charset="0"/>
              </a:rPr>
              <a:t>种资源的数量为</a:t>
            </a:r>
            <a:r>
              <a:rPr lang="en-US" altLang="zh-CN" sz="2800" i="1">
                <a:latin typeface="Times New Roman" panose="02020603050405020304" pitchFamily="18" charset="0"/>
              </a:rPr>
              <a:t>a</a:t>
            </a:r>
            <a:r>
              <a:rPr lang="en-US" altLang="zh-CN" sz="2800" i="1" baseline="-30000">
                <a:latin typeface="Times New Roman" panose="02020603050405020304" pitchFamily="18" charset="0"/>
              </a:rPr>
              <a:t>ij</a:t>
            </a:r>
            <a:r>
              <a:rPr lang="en-US" altLang="zh-CN" sz="2800">
                <a:latin typeface="Times New Roman" panose="02020603050405020304" pitchFamily="18" charset="0"/>
              </a:rPr>
              <a:t>(</a:t>
            </a:r>
            <a:r>
              <a:rPr lang="en-US" altLang="zh-CN" sz="2800" i="1">
                <a:latin typeface="Times New Roman" panose="02020603050405020304" pitchFamily="18" charset="0"/>
              </a:rPr>
              <a:t>i</a:t>
            </a:r>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en-US" altLang="zh-CN" sz="2800"/>
              <a:t>…</a:t>
            </a:r>
            <a:r>
              <a:rPr lang="zh-CN" altLang="en-US"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j</a:t>
            </a:r>
            <a:r>
              <a:rPr lang="en-US" altLang="zh-CN" sz="2800">
                <a:latin typeface="Times New Roman" panose="02020603050405020304" pitchFamily="18" charset="0"/>
              </a:rPr>
              <a:t>=1,2, </a:t>
            </a:r>
            <a:r>
              <a:rPr lang="en-US" altLang="zh-CN" sz="2800"/>
              <a:t>…</a:t>
            </a:r>
            <a:r>
              <a:rPr lang="en-US" altLang="zh-CN" sz="2800">
                <a:latin typeface="Times New Roman" panose="02020603050405020304" pitchFamily="18" charset="0"/>
              </a:rPr>
              <a:t>,</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zh-CN" altLang="en-US" sz="2800">
                <a:latin typeface="Times New Roman" panose="02020603050405020304" pitchFamily="18" charset="0"/>
              </a:rPr>
              <a:t>，第</a:t>
            </a:r>
            <a:r>
              <a:rPr lang="en-US" altLang="zh-CN" sz="2800" i="1">
                <a:latin typeface="Times New Roman" panose="02020603050405020304" pitchFamily="18" charset="0"/>
              </a:rPr>
              <a:t>j</a:t>
            </a:r>
            <a:r>
              <a:rPr lang="zh-CN" altLang="en-US" sz="2800" dirty="0">
                <a:latin typeface="Times New Roman" panose="02020603050405020304" pitchFamily="18" charset="0"/>
              </a:rPr>
              <a:t>种产品的单价为</a:t>
            </a:r>
            <a:r>
              <a:rPr lang="en-US" altLang="zh-CN" sz="2800" i="1" err="1">
                <a:latin typeface="Times New Roman" panose="02020603050405020304" pitchFamily="18" charset="0"/>
              </a:rPr>
              <a:t>c</a:t>
            </a:r>
            <a:r>
              <a:rPr lang="en-US" altLang="zh-CN" sz="2800" i="1" baseline="-30000" err="1">
                <a:latin typeface="Times New Roman" panose="02020603050405020304" pitchFamily="18" charset="0"/>
              </a:rPr>
              <a:t>j</a:t>
            </a:r>
            <a:r>
              <a:rPr lang="en-US" altLang="zh-CN" sz="2800" err="1">
                <a:latin typeface="Times New Roman" panose="02020603050405020304" pitchFamily="18" charset="0"/>
              </a:rPr>
              <a:t>(</a:t>
            </a:r>
            <a:r>
              <a:rPr lang="en-US" altLang="zh-CN" sz="2800" i="1" err="1">
                <a:latin typeface="Times New Roman" panose="02020603050405020304" pitchFamily="18" charset="0"/>
              </a:rPr>
              <a:t>j</a:t>
            </a:r>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 </a:t>
            </a:r>
            <a:r>
              <a:rPr lang="en-US" altLang="zh-CN" sz="2800"/>
              <a:t>…</a:t>
            </a:r>
            <a:r>
              <a:rPr lang="zh-CN" altLang="en-US" sz="2800">
                <a:latin typeface="Times New Roman" panose="02020603050405020304" pitchFamily="18" charset="0"/>
              </a:rPr>
              <a:t>，</a:t>
            </a:r>
            <a:r>
              <a:rPr lang="en-US" altLang="zh-CN" sz="2800" i="1">
                <a:latin typeface="Times New Roman" panose="02020603050405020304" pitchFamily="18" charset="0"/>
              </a:rPr>
              <a:t>n</a:t>
            </a:r>
            <a:r>
              <a:rPr lang="en-US" altLang="zh-CN" sz="2800" dirty="0">
                <a:latin typeface="Times New Roman" panose="02020603050405020304" pitchFamily="18" charset="0"/>
              </a:rPr>
              <a:t>)</a:t>
            </a:r>
            <a:r>
              <a:rPr lang="zh-CN" altLang="en-US" sz="2800" dirty="0">
                <a:latin typeface="Times New Roman" panose="02020603050405020304" pitchFamily="18" charset="0"/>
              </a:rPr>
              <a:t>。试问如何安排这几种产品的生产计划，才能使规划期内资源利用的总产值达到最大</a:t>
            </a:r>
            <a:r>
              <a:rPr lang="en-US" altLang="zh-CN" sz="2800">
                <a:latin typeface="Times New Roman" panose="02020603050405020304" pitchFamily="18" charset="0"/>
              </a:rPr>
              <a:t>?</a:t>
            </a:r>
            <a:endParaRPr lang="en-US" altLang="zh-CN" sz="28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5" name="标题 21505"/>
          <p:cNvSpPr>
            <a:spLocks noGrp="1" noRot="1"/>
          </p:cNvSpPr>
          <p:nvPr>
            <p:ph type="title"/>
          </p:nvPr>
        </p:nvSpPr>
        <p:spPr>
          <a:xfrm>
            <a:off x="1476375" y="914400"/>
            <a:ext cx="7667625" cy="1143000"/>
          </a:xfrm>
        </p:spPr>
        <p:txBody>
          <a:bodyPr anchor="ctr" anchorCtr="0"/>
          <a:lstStyle/>
          <a:p>
            <a:r>
              <a:rPr lang="en-US" altLang="zh-CN" sz="3600" dirty="0">
                <a:latin typeface="Times New Roman" panose="02020603050405020304" pitchFamily="18" charset="0"/>
              </a:rPr>
              <a:t>       </a:t>
            </a:r>
            <a:r>
              <a:rPr lang="zh-CN" altLang="en-US" sz="3600" dirty="0">
                <a:latin typeface="Times New Roman" panose="02020603050405020304" pitchFamily="18" charset="0"/>
              </a:rPr>
              <a:t>设第</a:t>
            </a:r>
            <a:r>
              <a:rPr lang="en-US" altLang="zh-CN" sz="3600" i="1">
                <a:latin typeface="Times New Roman" panose="02020603050405020304" pitchFamily="18" charset="0"/>
              </a:rPr>
              <a:t>j</a:t>
            </a:r>
            <a:r>
              <a:rPr lang="zh-CN" altLang="en-US" sz="3600" dirty="0">
                <a:latin typeface="Times New Roman" panose="02020603050405020304" pitchFamily="18" charset="0"/>
              </a:rPr>
              <a:t>种产品的生产数量为</a:t>
            </a:r>
            <a:r>
              <a:rPr lang="en-US" altLang="zh-CN" sz="3600" i="1" err="1">
                <a:latin typeface="Times New Roman" panose="02020603050405020304" pitchFamily="18" charset="0"/>
              </a:rPr>
              <a:t>x</a:t>
            </a:r>
            <a:r>
              <a:rPr lang="en-US" altLang="zh-CN" sz="3600" i="1" baseline="-30000" err="1">
                <a:latin typeface="Times New Roman" panose="02020603050405020304" pitchFamily="18" charset="0"/>
              </a:rPr>
              <a:t>j</a:t>
            </a:r>
            <a:r>
              <a:rPr lang="en-US" altLang="zh-CN" sz="3600" err="1">
                <a:latin typeface="Times New Roman" panose="02020603050405020304" pitchFamily="18" charset="0"/>
              </a:rPr>
              <a:t>(</a:t>
            </a:r>
            <a:r>
              <a:rPr lang="en-US" altLang="zh-CN" sz="3600" i="1" err="1">
                <a:latin typeface="Times New Roman" panose="02020603050405020304" pitchFamily="18" charset="0"/>
              </a:rPr>
              <a:t>j</a:t>
            </a:r>
            <a:r>
              <a:rPr lang="en-US" altLang="zh-CN" sz="3600">
                <a:latin typeface="Times New Roman" panose="02020603050405020304" pitchFamily="18" charset="0"/>
              </a:rPr>
              <a:t>=1</a:t>
            </a:r>
            <a:r>
              <a:rPr lang="zh-CN" altLang="en-US" sz="3600">
                <a:latin typeface="Times New Roman" panose="02020603050405020304" pitchFamily="18" charset="0"/>
              </a:rPr>
              <a:t>，</a:t>
            </a:r>
            <a:r>
              <a:rPr lang="en-US" altLang="zh-CN" sz="3600">
                <a:latin typeface="Times New Roman" panose="02020603050405020304" pitchFamily="18" charset="0"/>
              </a:rPr>
              <a:t>2</a:t>
            </a:r>
            <a:r>
              <a:rPr lang="zh-CN" altLang="en-US" sz="3600">
                <a:latin typeface="Times New Roman" panose="02020603050405020304" pitchFamily="18" charset="0"/>
              </a:rPr>
              <a:t>，</a:t>
            </a:r>
            <a:r>
              <a:rPr lang="en-US" altLang="zh-CN" sz="3600">
                <a:latin typeface="Times New Roman" panose="02020603050405020304" pitchFamily="18" charset="0"/>
              </a:rPr>
              <a:t>…</a:t>
            </a:r>
            <a:r>
              <a:rPr lang="zh-CN" altLang="en-US" sz="3600">
                <a:latin typeface="Times New Roman" panose="02020603050405020304" pitchFamily="18" charset="0"/>
              </a:rPr>
              <a:t>，</a:t>
            </a:r>
            <a:r>
              <a:rPr lang="en-US" altLang="zh-CN" sz="3600" i="1">
                <a:latin typeface="Times New Roman" panose="02020603050405020304" pitchFamily="18" charset="0"/>
              </a:rPr>
              <a:t>n</a:t>
            </a:r>
            <a:r>
              <a:rPr lang="en-US" altLang="zh-CN" sz="3600" dirty="0">
                <a:latin typeface="Times New Roman" panose="02020603050405020304" pitchFamily="18" charset="0"/>
              </a:rPr>
              <a:t>)</a:t>
            </a:r>
            <a:r>
              <a:rPr lang="zh-CN" altLang="en-US" sz="3600" dirty="0">
                <a:latin typeface="Times New Roman" panose="02020603050405020304" pitchFamily="18" charset="0"/>
              </a:rPr>
              <a:t>，则上述资源问题就是：</a:t>
            </a:r>
            <a:endParaRPr lang="zh-CN" altLang="en-US" sz="3600">
              <a:latin typeface="Times New Roman" panose="02020603050405020304" pitchFamily="18" charset="0"/>
            </a:endParaRPr>
          </a:p>
        </p:txBody>
      </p:sp>
      <p:sp>
        <p:nvSpPr>
          <p:cNvPr id="11266" name="文本占位符 21506"/>
          <p:cNvSpPr>
            <a:spLocks noGrp="1" noRot="1"/>
          </p:cNvSpPr>
          <p:nvPr>
            <p:ph idx="1"/>
          </p:nvPr>
        </p:nvSpPr>
        <p:spPr>
          <a:xfrm>
            <a:off x="755650" y="2209800"/>
            <a:ext cx="7931150" cy="4114800"/>
          </a:xfrm>
        </p:spPr>
        <p:txBody>
          <a:bodyPr anchor="t" anchorCtr="0"/>
          <a:lstStyle/>
          <a:p>
            <a:r>
              <a:rPr lang="en-US" altLang="zh-CN" sz="2800" dirty="0">
                <a:latin typeface="宋体" panose="02010600030101010101" pitchFamily="2" charset="-122"/>
              </a:rPr>
              <a:t>       </a:t>
            </a:r>
            <a:r>
              <a:rPr lang="zh-CN" altLang="en-US" sz="2800" dirty="0">
                <a:latin typeface="宋体" panose="02010600030101010101" pitchFamily="2" charset="-122"/>
              </a:rPr>
              <a:t>求一组实数变量</a:t>
            </a:r>
            <a:r>
              <a:rPr lang="en-US" altLang="zh-CN" sz="2800" i="1" err="1">
                <a:latin typeface="Times New Roman" panose="02020603050405020304" pitchFamily="18" charset="0"/>
              </a:rPr>
              <a:t>x</a:t>
            </a:r>
            <a:r>
              <a:rPr lang="en-US" altLang="zh-CN" sz="2800" i="1" baseline="-30000" err="1">
                <a:latin typeface="Times New Roman" panose="02020603050405020304" pitchFamily="18" charset="0"/>
              </a:rPr>
              <a:t>j</a:t>
            </a:r>
            <a:r>
              <a:rPr lang="en-US" altLang="zh-CN" sz="2800" err="1">
                <a:latin typeface="Times New Roman" panose="02020603050405020304" pitchFamily="18" charset="0"/>
              </a:rPr>
              <a:t>(j</a:t>
            </a:r>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en-US" altLang="zh-CN" sz="2800"/>
              <a:t>…</a:t>
            </a:r>
            <a:r>
              <a:rPr lang="zh-CN" altLang="en-US" sz="2800">
                <a:latin typeface="Times New Roman" panose="02020603050405020304" pitchFamily="18" charset="0"/>
              </a:rPr>
              <a:t>，</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zh-CN" altLang="en-US" sz="2800" dirty="0">
                <a:latin typeface="宋体" panose="02010600030101010101" pitchFamily="2" charset="-122"/>
              </a:rPr>
              <a:t>，使</a:t>
            </a:r>
            <a:r>
              <a:rPr lang="zh-CN" altLang="en-US" sz="2800" dirty="0"/>
              <a:t>其满足</a:t>
            </a:r>
            <a:br>
              <a:rPr lang="zh-CN" altLang="en-US" sz="2800" dirty="0"/>
            </a:br>
            <a:endParaRPr lang="zh-CN" altLang="en-US" sz="2800" dirty="0"/>
          </a:p>
          <a:p>
            <a:endParaRPr lang="zh-CN" altLang="en-US" sz="2400" dirty="0"/>
          </a:p>
          <a:p>
            <a:endParaRPr lang="zh-CN" altLang="en-US" sz="2400" dirty="0"/>
          </a:p>
          <a:p>
            <a:endParaRPr lang="zh-CN" altLang="en-US" sz="2400" dirty="0"/>
          </a:p>
          <a:p>
            <a:endParaRPr lang="zh-CN" altLang="en-US" sz="2400" dirty="0">
              <a:latin typeface="宋体" panose="02010600030101010101" pitchFamily="2" charset="-122"/>
            </a:endParaRPr>
          </a:p>
          <a:p>
            <a:endParaRPr lang="zh-CN" altLang="en-US">
              <a:latin typeface="宋体" panose="02010600030101010101" pitchFamily="2" charset="-122"/>
            </a:endParaRPr>
          </a:p>
        </p:txBody>
      </p:sp>
      <p:sp>
        <p:nvSpPr>
          <p:cNvPr id="11267" name="矩形 21508"/>
          <p:cNvSpPr/>
          <p:nvPr/>
        </p:nvSpPr>
        <p:spPr>
          <a:xfrm>
            <a:off x="3681413" y="306228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11268" name="对象 21507"/>
          <p:cNvGraphicFramePr/>
          <p:nvPr/>
        </p:nvGraphicFramePr>
        <p:xfrm>
          <a:off x="2895600" y="3276600"/>
          <a:ext cx="3584575" cy="1474788"/>
        </p:xfrm>
        <a:graphic>
          <a:graphicData uri="http://schemas.openxmlformats.org/presentationml/2006/ole">
            <mc:AlternateContent xmlns:mc="http://schemas.openxmlformats.org/markup-compatibility/2006">
              <mc:Choice xmlns:v="urn:schemas-microsoft-com:vml" Requires="v">
                <p:oleObj spid="_x0000_s5159" name="" r:id="rId1" imgW="1778000" imgH="736600" progId="Equation.3">
                  <p:embed/>
                </p:oleObj>
              </mc:Choice>
              <mc:Fallback>
                <p:oleObj name="" r:id="rId1" imgW="1778000" imgH="736600" progId="Equation.3">
                  <p:embed/>
                  <p:pic>
                    <p:nvPicPr>
                      <p:cNvPr id="0" name="图片 3077"/>
                      <p:cNvPicPr/>
                      <p:nvPr/>
                    </p:nvPicPr>
                    <p:blipFill>
                      <a:blip r:embed="rId2"/>
                      <a:stretch>
                        <a:fillRect/>
                      </a:stretch>
                    </p:blipFill>
                    <p:spPr>
                      <a:xfrm>
                        <a:off x="2895600" y="3276600"/>
                        <a:ext cx="3584575" cy="1474788"/>
                      </a:xfrm>
                      <a:prstGeom prst="rect">
                        <a:avLst/>
                      </a:prstGeom>
                      <a:noFill/>
                      <a:ln w="38100">
                        <a:noFill/>
                        <a:miter/>
                      </a:ln>
                    </p:spPr>
                  </p:pic>
                </p:oleObj>
              </mc:Fallback>
            </mc:AlternateContent>
          </a:graphicData>
        </a:graphic>
      </p:graphicFrame>
      <p:sp>
        <p:nvSpPr>
          <p:cNvPr id="11269" name="矩形 21510"/>
          <p:cNvSpPr/>
          <p:nvPr/>
        </p:nvSpPr>
        <p:spPr>
          <a:xfrm>
            <a:off x="3943350" y="32051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11270" name="对象 21509"/>
          <p:cNvGraphicFramePr/>
          <p:nvPr/>
        </p:nvGraphicFramePr>
        <p:xfrm>
          <a:off x="3352800" y="5029200"/>
          <a:ext cx="2667000" cy="950913"/>
        </p:xfrm>
        <a:graphic>
          <a:graphicData uri="http://schemas.openxmlformats.org/presentationml/2006/ole">
            <mc:AlternateContent xmlns:mc="http://schemas.openxmlformats.org/markup-compatibility/2006">
              <mc:Choice xmlns:v="urn:schemas-microsoft-com:vml" Requires="v">
                <p:oleObj spid="_x0000_s5160" name="" r:id="rId3" imgW="1256665" imgH="444500" progId="Equation.3">
                  <p:embed/>
                </p:oleObj>
              </mc:Choice>
              <mc:Fallback>
                <p:oleObj name="" r:id="rId3" imgW="1256665" imgH="444500" progId="Equation.3">
                  <p:embed/>
                  <p:pic>
                    <p:nvPicPr>
                      <p:cNvPr id="0" name="图片 3079"/>
                      <p:cNvPicPr/>
                      <p:nvPr/>
                    </p:nvPicPr>
                    <p:blipFill>
                      <a:blip r:embed="rId4"/>
                      <a:stretch>
                        <a:fillRect/>
                      </a:stretch>
                    </p:blipFill>
                    <p:spPr>
                      <a:xfrm>
                        <a:off x="3352800" y="5029200"/>
                        <a:ext cx="2667000" cy="950913"/>
                      </a:xfrm>
                      <a:prstGeom prst="rect">
                        <a:avLst/>
                      </a:prstGeom>
                      <a:noFill/>
                      <a:ln w="38100">
                        <a:no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9" name="标题 22529"/>
          <p:cNvSpPr>
            <a:spLocks noGrp="1" noRot="1"/>
          </p:cNvSpPr>
          <p:nvPr>
            <p:ph type="title"/>
          </p:nvPr>
        </p:nvSpPr>
        <p:spPr/>
        <p:txBody>
          <a:bodyPr anchor="ctr" anchorCtr="0"/>
          <a:lstStyle/>
          <a:p>
            <a:pPr marL="571500" indent="-571500">
              <a:buClr>
                <a:srgbClr val="F4702E"/>
              </a:buClr>
              <a:buSzPct val="80000"/>
              <a:buFont typeface="Wingdings" panose="05000000000000000000" charset="0"/>
              <a:buChar char="n"/>
            </a:pPr>
            <a:r>
              <a:rPr lang="zh-CN" altLang="en-US" sz="4000" b="1" dirty="0">
                <a:solidFill>
                  <a:schemeClr val="tx1"/>
                </a:solidFill>
                <a:latin typeface="宋体" panose="02010600030101010101" pitchFamily="2" charset="-122"/>
              </a:rPr>
              <a:t>合理下料问题</a:t>
            </a:r>
            <a:r>
              <a:rPr lang="zh-CN" altLang="en-US" dirty="0"/>
              <a:t> </a:t>
            </a:r>
            <a:endParaRPr lang="zh-CN" altLang="en-US"/>
          </a:p>
        </p:txBody>
      </p:sp>
      <p:sp>
        <p:nvSpPr>
          <p:cNvPr id="12290" name="文本占位符 22530"/>
          <p:cNvSpPr>
            <a:spLocks noGrp="1" noRot="1"/>
          </p:cNvSpPr>
          <p:nvPr>
            <p:ph idx="1"/>
          </p:nvPr>
        </p:nvSpPr>
        <p:spPr>
          <a:xfrm>
            <a:off x="1371600" y="1752600"/>
            <a:ext cx="7543800" cy="4343400"/>
          </a:xfrm>
        </p:spPr>
        <p:txBody>
          <a:bodyPr anchor="t" anchorCtr="0"/>
          <a:lstStyle/>
          <a:p>
            <a:pPr marL="100330" indent="-100330">
              <a:lnSpc>
                <a:spcPct val="120000"/>
              </a:lnSpc>
            </a:pPr>
            <a:r>
              <a:rPr lang="zh-CN" altLang="en-US" sz="2800" dirty="0"/>
              <a:t>　    </a:t>
            </a:r>
            <a:r>
              <a:rPr lang="zh-CN" altLang="en-US" sz="2800" dirty="0">
                <a:latin typeface="Times New Roman" panose="02020603050405020304" pitchFamily="18" charset="0"/>
              </a:rPr>
              <a:t>用某种原材料切割零件</a:t>
            </a:r>
            <a:r>
              <a:rPr lang="en-US" altLang="zh-CN" sz="2800" i="1">
                <a:latin typeface="Times New Roman" panose="02020603050405020304" pitchFamily="18" charset="0"/>
              </a:rPr>
              <a:t>A</a:t>
            </a:r>
            <a:r>
              <a:rPr lang="en-US" altLang="zh-CN" sz="2800" baseline="-25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A</a:t>
            </a:r>
            <a:r>
              <a:rPr lang="en-US" altLang="zh-CN" sz="2800" baseline="-25000">
                <a:latin typeface="Times New Roman" panose="02020603050405020304" pitchFamily="18" charset="0"/>
              </a:rPr>
              <a:t>2</a:t>
            </a:r>
            <a:r>
              <a:rPr lang="en-US" altLang="zh-CN" sz="2800">
                <a:latin typeface="Times New Roman" panose="02020603050405020304" pitchFamily="18" charset="0"/>
              </a:rPr>
              <a:t>, </a:t>
            </a:r>
            <a:r>
              <a:rPr lang="en-US" altLang="zh-CN" sz="2800"/>
              <a:t>…</a:t>
            </a:r>
            <a:r>
              <a:rPr lang="en-US" altLang="zh-CN" sz="2800">
                <a:latin typeface="Times New Roman" panose="02020603050405020304" pitchFamily="18" charset="0"/>
              </a:rPr>
              <a:t>,</a:t>
            </a:r>
            <a:r>
              <a:rPr lang="en-US" altLang="zh-CN" sz="2800" i="1">
                <a:latin typeface="Times New Roman" panose="02020603050405020304" pitchFamily="18" charset="0"/>
              </a:rPr>
              <a:t>A</a:t>
            </a:r>
            <a:r>
              <a:rPr lang="en-US" altLang="zh-CN" sz="2800" baseline="-25000">
                <a:latin typeface="Times New Roman" panose="02020603050405020304" pitchFamily="18" charset="0"/>
              </a:rPr>
              <a:t>m</a:t>
            </a:r>
            <a:r>
              <a:rPr lang="zh-CN" altLang="en-US" sz="2800" dirty="0">
                <a:latin typeface="Times New Roman" panose="02020603050405020304" pitchFamily="18" charset="0"/>
              </a:rPr>
              <a:t>的毛坯，现已设计出在一块原材料上</a:t>
            </a:r>
            <a:r>
              <a:rPr lang="zh-CN" altLang="en-US" sz="2800">
                <a:latin typeface="Times New Roman" panose="02020603050405020304" pitchFamily="18" charset="0"/>
              </a:rPr>
              <a:t>有</a:t>
            </a:r>
            <a:r>
              <a:rPr lang="en-US" altLang="zh-CN" sz="2800" i="1">
                <a:latin typeface="Times New Roman" panose="02020603050405020304" pitchFamily="18" charset="0"/>
              </a:rPr>
              <a:t>B</a:t>
            </a:r>
            <a:r>
              <a:rPr lang="en-US" altLang="zh-CN" sz="2800" baseline="-25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B</a:t>
            </a:r>
            <a:r>
              <a:rPr lang="en-US" altLang="zh-CN" sz="2800" baseline="-25000">
                <a:latin typeface="Times New Roman" panose="02020603050405020304" pitchFamily="18" charset="0"/>
              </a:rPr>
              <a:t>2</a:t>
            </a:r>
            <a:r>
              <a:rPr lang="zh-CN" altLang="en-US" sz="2800">
                <a:latin typeface="Times New Roman" panose="02020603050405020304" pitchFamily="18" charset="0"/>
              </a:rPr>
              <a:t>，</a:t>
            </a:r>
            <a:r>
              <a:rPr lang="en-US" altLang="zh-CN" sz="2800"/>
              <a:t>…</a:t>
            </a:r>
            <a:r>
              <a:rPr lang="zh-CN" altLang="en-US" sz="2800">
                <a:latin typeface="Times New Roman" panose="02020603050405020304" pitchFamily="18" charset="0"/>
              </a:rPr>
              <a:t>，</a:t>
            </a:r>
            <a:r>
              <a:rPr lang="en-US" altLang="zh-CN" sz="2800" i="1" err="1">
                <a:latin typeface="Times New Roman" panose="02020603050405020304" pitchFamily="18" charset="0"/>
              </a:rPr>
              <a:t>B</a:t>
            </a:r>
            <a:r>
              <a:rPr lang="en-US" altLang="zh-CN" sz="2800" i="1" baseline="-25000" err="1">
                <a:latin typeface="Times New Roman" panose="02020603050405020304" pitchFamily="18" charset="0"/>
              </a:rPr>
              <a:t>n</a:t>
            </a:r>
            <a:r>
              <a:rPr lang="zh-CN" altLang="en-US" sz="2800" dirty="0">
                <a:latin typeface="Times New Roman" panose="02020603050405020304" pitchFamily="18" charset="0"/>
              </a:rPr>
              <a:t>种不同的下料方式，如用</a:t>
            </a:r>
            <a:r>
              <a:rPr lang="en-US" altLang="zh-CN" sz="2800" i="1" err="1">
                <a:latin typeface="Times New Roman" panose="02020603050405020304" pitchFamily="18" charset="0"/>
              </a:rPr>
              <a:t>B</a:t>
            </a:r>
            <a:r>
              <a:rPr lang="en-US" altLang="zh-CN" sz="2800" i="1" baseline="-25000" err="1">
                <a:latin typeface="Times New Roman" panose="02020603050405020304" pitchFamily="18" charset="0"/>
              </a:rPr>
              <a:t>j</a:t>
            </a:r>
            <a:r>
              <a:rPr lang="zh-CN" altLang="en-US" sz="2800" dirty="0">
                <a:latin typeface="Times New Roman" panose="02020603050405020304" pitchFamily="18" charset="0"/>
              </a:rPr>
              <a:t>下料方式可得</a:t>
            </a:r>
            <a:r>
              <a:rPr lang="en-US" altLang="zh-CN" sz="2800" i="1">
                <a:latin typeface="Times New Roman" panose="02020603050405020304" pitchFamily="18" charset="0"/>
              </a:rPr>
              <a:t>A</a:t>
            </a:r>
            <a:r>
              <a:rPr lang="en-US" altLang="zh-CN" sz="2800" i="1" baseline="-25000">
                <a:latin typeface="Times New Roman" panose="02020603050405020304" pitchFamily="18" charset="0"/>
              </a:rPr>
              <a:t>i</a:t>
            </a:r>
            <a:r>
              <a:rPr lang="zh-CN" altLang="en-US" sz="2800" dirty="0">
                <a:latin typeface="Times New Roman" panose="02020603050405020304" pitchFamily="18" charset="0"/>
              </a:rPr>
              <a:t>种零件</a:t>
            </a:r>
            <a:r>
              <a:rPr lang="en-US" altLang="zh-CN" sz="2800" i="1" err="1">
                <a:latin typeface="Times New Roman" panose="02020603050405020304" pitchFamily="18" charset="0"/>
              </a:rPr>
              <a:t>a</a:t>
            </a:r>
            <a:r>
              <a:rPr lang="en-US" altLang="zh-CN" sz="2800" i="1" baseline="-25000" err="1">
                <a:latin typeface="Times New Roman" panose="02020603050405020304" pitchFamily="18" charset="0"/>
              </a:rPr>
              <a:t>ij</a:t>
            </a:r>
            <a:r>
              <a:rPr lang="zh-CN" altLang="en-US" sz="2800" dirty="0">
                <a:latin typeface="Times New Roman" panose="02020603050405020304" pitchFamily="18" charset="0"/>
              </a:rPr>
              <a:t>个，设</a:t>
            </a:r>
            <a:r>
              <a:rPr lang="en-US" altLang="zh-CN" sz="2800" i="1">
                <a:latin typeface="Times New Roman" panose="02020603050405020304" pitchFamily="18" charset="0"/>
              </a:rPr>
              <a:t>A</a:t>
            </a:r>
            <a:r>
              <a:rPr lang="en-US" altLang="zh-CN" sz="2800" i="1" baseline="-25000">
                <a:latin typeface="Times New Roman" panose="02020603050405020304" pitchFamily="18" charset="0"/>
              </a:rPr>
              <a:t>i</a:t>
            </a:r>
            <a:r>
              <a:rPr lang="zh-CN" altLang="en-US" sz="2800" dirty="0">
                <a:latin typeface="Times New Roman" panose="02020603050405020304" pitchFamily="18" charset="0"/>
              </a:rPr>
              <a:t>种零件的需要量为</a:t>
            </a:r>
            <a:r>
              <a:rPr lang="en-US" altLang="zh-CN" sz="2800" i="1">
                <a:latin typeface="Times New Roman" panose="02020603050405020304" pitchFamily="18" charset="0"/>
              </a:rPr>
              <a:t>b</a:t>
            </a:r>
            <a:r>
              <a:rPr lang="en-US" altLang="zh-CN" sz="2800" i="1" baseline="-25000">
                <a:latin typeface="Times New Roman" panose="02020603050405020304" pitchFamily="18" charset="0"/>
              </a:rPr>
              <a:t>i</a:t>
            </a:r>
            <a:r>
              <a:rPr lang="zh-CN" altLang="en-US" sz="2800" dirty="0">
                <a:latin typeface="Times New Roman" panose="02020603050405020304" pitchFamily="18" charset="0"/>
              </a:rPr>
              <a:t>个。试问应该怎样组织下料活动，才能使得既满足需要，又节约原材料？</a:t>
            </a:r>
            <a:endParaRPr lang="zh-CN" altLang="en-US" sz="2800"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3" name="标题 24577"/>
          <p:cNvSpPr>
            <a:spLocks noGrp="1" noRot="1"/>
          </p:cNvSpPr>
          <p:nvPr>
            <p:ph type="title"/>
          </p:nvPr>
        </p:nvSpPr>
        <p:spPr>
          <a:xfrm>
            <a:off x="1371600" y="838200"/>
            <a:ext cx="7772400" cy="1143000"/>
          </a:xfrm>
        </p:spPr>
        <p:txBody>
          <a:bodyPr anchor="ctr" anchorCtr="0"/>
          <a:lstStyle/>
          <a:p>
            <a:r>
              <a:rPr lang="en-US" altLang="zh-CN" sz="3600" dirty="0"/>
              <a:t>       </a:t>
            </a:r>
            <a:r>
              <a:rPr lang="zh-CN" altLang="en-US" sz="3600" dirty="0"/>
              <a:t>设采用</a:t>
            </a:r>
            <a:r>
              <a:rPr lang="en-US" altLang="zh-CN" sz="3600" i="1" err="1">
                <a:latin typeface="Times New Roman" panose="02020603050405020304" pitchFamily="18" charset="0"/>
              </a:rPr>
              <a:t>B</a:t>
            </a:r>
            <a:r>
              <a:rPr lang="en-US" altLang="zh-CN" sz="3600" i="1" baseline="-25000" err="1">
                <a:latin typeface="Times New Roman" panose="02020603050405020304" pitchFamily="18" charset="0"/>
              </a:rPr>
              <a:t>j</a:t>
            </a:r>
            <a:r>
              <a:rPr lang="zh-CN" altLang="en-US" sz="3600" dirty="0"/>
              <a:t>方式下料的原材料数为</a:t>
            </a:r>
            <a:r>
              <a:rPr lang="en-US" altLang="zh-CN" sz="3600" i="1" err="1">
                <a:latin typeface="Times New Roman" panose="02020603050405020304" pitchFamily="18" charset="0"/>
              </a:rPr>
              <a:t>x</a:t>
            </a:r>
            <a:r>
              <a:rPr lang="en-US" altLang="zh-CN" sz="3600" i="1" baseline="-25000" err="1">
                <a:latin typeface="Times New Roman" panose="02020603050405020304" pitchFamily="18" charset="0"/>
              </a:rPr>
              <a:t>j</a:t>
            </a:r>
            <a:r>
              <a:rPr lang="zh-CN" altLang="en-US" sz="3600" dirty="0"/>
              <a:t>，则上述问题可表示为：</a:t>
            </a:r>
            <a:endParaRPr lang="zh-CN" altLang="en-US" sz="3600"/>
          </a:p>
        </p:txBody>
      </p:sp>
      <p:sp>
        <p:nvSpPr>
          <p:cNvPr id="13314" name="文本占位符 24578"/>
          <p:cNvSpPr>
            <a:spLocks noGrp="1" noRot="1"/>
          </p:cNvSpPr>
          <p:nvPr>
            <p:ph idx="1"/>
          </p:nvPr>
        </p:nvSpPr>
        <p:spPr>
          <a:xfrm>
            <a:off x="1371600" y="1981200"/>
            <a:ext cx="7772400" cy="762000"/>
          </a:xfrm>
        </p:spPr>
        <p:txBody>
          <a:bodyPr anchor="t" anchorCtr="0"/>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求一组整数变量</a:t>
            </a:r>
            <a:r>
              <a:rPr lang="en-US" altLang="zh-CN" sz="2800" i="1" err="1">
                <a:latin typeface="Times New Roman" panose="02020603050405020304" pitchFamily="18" charset="0"/>
              </a:rPr>
              <a:t>x</a:t>
            </a:r>
            <a:r>
              <a:rPr lang="en-US" altLang="zh-CN" sz="2800" i="1" baseline="-30000" err="1">
                <a:latin typeface="Times New Roman" panose="02020603050405020304" pitchFamily="18" charset="0"/>
              </a:rPr>
              <a:t>j</a:t>
            </a:r>
            <a:r>
              <a:rPr lang="en-US" altLang="zh-CN" sz="2800" err="1">
                <a:latin typeface="Times New Roman" panose="02020603050405020304" pitchFamily="18" charset="0"/>
              </a:rPr>
              <a:t>(j</a:t>
            </a:r>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en-US" altLang="zh-CN" sz="2800"/>
              <a:t>…</a:t>
            </a:r>
            <a:r>
              <a:rPr lang="zh-CN" altLang="en-US" sz="2800" dirty="0">
                <a:latin typeface="Times New Roman" panose="02020603050405020304" pitchFamily="18" charset="0"/>
              </a:rPr>
              <a:t>，</a:t>
            </a:r>
            <a:r>
              <a:rPr lang="en-US" altLang="zh-CN" sz="2800" dirty="0">
                <a:latin typeface="Times New Roman" panose="02020603050405020304" pitchFamily="18" charset="0"/>
              </a:rPr>
              <a:t>n)</a:t>
            </a:r>
            <a:r>
              <a:rPr lang="zh-CN" altLang="en-US" sz="2800" dirty="0">
                <a:latin typeface="Times New Roman" panose="02020603050405020304" pitchFamily="18" charset="0"/>
              </a:rPr>
              <a:t>，使得</a:t>
            </a:r>
            <a:endParaRPr lang="zh-CN" altLang="en-US" sz="2800" dirty="0"/>
          </a:p>
          <a:p>
            <a:endParaRPr lang="zh-CN" altLang="en-US"/>
          </a:p>
        </p:txBody>
      </p:sp>
      <p:graphicFrame>
        <p:nvGraphicFramePr>
          <p:cNvPr id="13315" name="对象 24579"/>
          <p:cNvGraphicFramePr/>
          <p:nvPr/>
        </p:nvGraphicFramePr>
        <p:xfrm>
          <a:off x="3009742" y="2666842"/>
          <a:ext cx="3522980" cy="1475105"/>
        </p:xfrm>
        <a:graphic>
          <a:graphicData uri="http://schemas.openxmlformats.org/presentationml/2006/ole">
            <mc:AlternateContent xmlns:mc="http://schemas.openxmlformats.org/markup-compatibility/2006">
              <mc:Choice xmlns:v="urn:schemas-microsoft-com:vml" Requires="v">
                <p:oleObj spid="_x0000_s6183" name="" r:id="rId1" imgW="1752600" imgH="736600" progId="Equation.3">
                  <p:embed/>
                </p:oleObj>
              </mc:Choice>
              <mc:Fallback>
                <p:oleObj name="" r:id="rId1" imgW="1752600" imgH="736600" progId="Equation.3">
                  <p:embed/>
                  <p:pic>
                    <p:nvPicPr>
                      <p:cNvPr id="0" name="图片 3082"/>
                      <p:cNvPicPr/>
                      <p:nvPr/>
                    </p:nvPicPr>
                    <p:blipFill>
                      <a:blip r:embed="rId2"/>
                      <a:stretch>
                        <a:fillRect/>
                      </a:stretch>
                    </p:blipFill>
                    <p:spPr>
                      <a:xfrm>
                        <a:off x="3009742" y="2666842"/>
                        <a:ext cx="3522980" cy="1475105"/>
                      </a:xfrm>
                      <a:prstGeom prst="rect">
                        <a:avLst/>
                      </a:prstGeom>
                      <a:noFill/>
                      <a:ln w="38100">
                        <a:noFill/>
                        <a:miter/>
                      </a:ln>
                    </p:spPr>
                  </p:pic>
                </p:oleObj>
              </mc:Fallback>
            </mc:AlternateContent>
          </a:graphicData>
        </a:graphic>
      </p:graphicFrame>
      <p:graphicFrame>
        <p:nvGraphicFramePr>
          <p:cNvPr id="13316" name="对象 24584"/>
          <p:cNvGraphicFramePr/>
          <p:nvPr/>
        </p:nvGraphicFramePr>
        <p:xfrm>
          <a:off x="3452813" y="4267200"/>
          <a:ext cx="2143125" cy="889000"/>
        </p:xfrm>
        <a:graphic>
          <a:graphicData uri="http://schemas.openxmlformats.org/presentationml/2006/ole">
            <mc:AlternateContent xmlns:mc="http://schemas.openxmlformats.org/markup-compatibility/2006">
              <mc:Choice xmlns:v="urn:schemas-microsoft-com:vml" Requires="v">
                <p:oleObj spid="_x0000_s6184" name="" r:id="rId3" imgW="1078865" imgH="444500" progId="Equation.3">
                  <p:embed/>
                </p:oleObj>
              </mc:Choice>
              <mc:Fallback>
                <p:oleObj name="" r:id="rId3" imgW="1078865" imgH="444500" progId="Equation.3">
                  <p:embed/>
                  <p:pic>
                    <p:nvPicPr>
                      <p:cNvPr id="0" name="图片 3083"/>
                      <p:cNvPicPr/>
                      <p:nvPr/>
                    </p:nvPicPr>
                    <p:blipFill>
                      <a:blip r:embed="rId4"/>
                      <a:stretch>
                        <a:fillRect/>
                      </a:stretch>
                    </p:blipFill>
                    <p:spPr>
                      <a:xfrm>
                        <a:off x="3452813" y="4267200"/>
                        <a:ext cx="2143125" cy="889000"/>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pPr marL="571500" indent="-571500">
              <a:buFont typeface="Wingdings" panose="05000000000000000000" charset="0"/>
              <a:buChar char="n"/>
            </a:pPr>
            <a:r>
              <a:rPr lang="zh-CN" altLang="en-US" b="1" dirty="0">
                <a:solidFill>
                  <a:schemeClr val="tx1"/>
                </a:solidFill>
                <a:effectLst>
                  <a:outerShdw blurRad="38100" dist="19050" dir="2700000" algn="tl" rotWithShape="0">
                    <a:schemeClr val="dk1">
                      <a:alpha val="40000"/>
                    </a:schemeClr>
                  </a:outerShdw>
                </a:effectLst>
                <a:sym typeface="+mn-ea"/>
              </a:rPr>
              <a:t>农场经营方案问题 </a:t>
            </a:r>
            <a:br>
              <a:rPr lang="zh-CN" altLang="en-US">
                <a:solidFill>
                  <a:schemeClr val="tx1"/>
                </a:solidFill>
                <a:effectLst>
                  <a:outerShdw blurRad="38100" dist="19050" dir="2700000" algn="tl" rotWithShape="0">
                    <a:schemeClr val="dk1">
                      <a:alpha val="40000"/>
                    </a:schemeClr>
                  </a:outerShdw>
                </a:effectLst>
              </a:rPr>
            </a:br>
            <a:endParaRPr lang="zh-CN" altLang="en-US">
              <a:solidFill>
                <a:schemeClr val="tx1"/>
              </a:solidFill>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304800" y="1340768"/>
            <a:ext cx="8540750" cy="5400600"/>
          </a:xfrm>
        </p:spPr>
        <p:txBody>
          <a:bodyPr/>
          <a:lstStyle/>
          <a:p>
            <a:pPr>
              <a:lnSpc>
                <a:spcPct val="150000"/>
              </a:lnSpc>
            </a:pPr>
            <a:r>
              <a:rPr lang="zh-CN" altLang="en-US" sz="2800" dirty="0"/>
              <a:t>某农场有</a:t>
            </a:r>
            <a:r>
              <a:rPr lang="zh-CN" altLang="en-US" sz="2800" b="1" dirty="0">
                <a:latin typeface="黑体" panose="02010609060101010101" pitchFamily="2" charset="-122"/>
                <a:ea typeface="黑体" panose="02010609060101010101" pitchFamily="2" charset="-122"/>
              </a:rPr>
              <a:t>100公顷土地</a:t>
            </a:r>
            <a:r>
              <a:rPr lang="zh-CN" altLang="en-US" sz="2800" dirty="0"/>
              <a:t>及</a:t>
            </a:r>
            <a:r>
              <a:rPr lang="zh-CN" altLang="en-US" sz="2800" b="1" dirty="0">
                <a:latin typeface="黑体" panose="02010609060101010101" pitchFamily="2" charset="-122"/>
                <a:ea typeface="黑体" panose="02010609060101010101" pitchFamily="2" charset="-122"/>
              </a:rPr>
              <a:t>15000元资金</a:t>
            </a:r>
            <a:r>
              <a:rPr lang="zh-CN" altLang="en-US" sz="2800" dirty="0"/>
              <a:t>可用于发展生产。农场劳动力情况为</a:t>
            </a:r>
            <a:r>
              <a:rPr lang="zh-CN" altLang="en-US" sz="2800" dirty="0">
                <a:latin typeface="黑体" panose="02010609060101010101" pitchFamily="2" charset="-122"/>
                <a:ea typeface="黑体" panose="02010609060101010101" pitchFamily="2" charset="-122"/>
              </a:rPr>
              <a:t>秋冬3500人/天</a:t>
            </a:r>
            <a:r>
              <a:rPr lang="zh-CN" altLang="en-US" sz="2800" dirty="0"/>
              <a:t>，春夏季</a:t>
            </a:r>
            <a:r>
              <a:rPr lang="zh-CN" altLang="en-US" sz="2800" dirty="0">
                <a:latin typeface="黑体" panose="02010609060101010101" pitchFamily="2" charset="-122"/>
                <a:ea typeface="黑体" panose="02010609060101010101" pitchFamily="2" charset="-122"/>
              </a:rPr>
              <a:t>4000人/天</a:t>
            </a:r>
            <a:r>
              <a:rPr lang="zh-CN" altLang="en-US" sz="2800" dirty="0"/>
              <a:t>。如劳动力用不了时可外出干活。其净收入为：</a:t>
            </a:r>
            <a:r>
              <a:rPr lang="zh-CN" altLang="en-US" sz="2800" dirty="0">
                <a:sym typeface="+mn-ea"/>
              </a:rPr>
              <a:t>秋冬季</a:t>
            </a:r>
            <a:r>
              <a:rPr lang="zh-CN" altLang="en-US" sz="2800" dirty="0"/>
              <a:t>为</a:t>
            </a:r>
            <a:r>
              <a:rPr lang="en-US" altLang="zh-CN" sz="2800" dirty="0"/>
              <a:t>60</a:t>
            </a:r>
            <a:r>
              <a:rPr lang="zh-CN" altLang="en-US" sz="2800" dirty="0"/>
              <a:t>元/人.天，</a:t>
            </a:r>
            <a:r>
              <a:rPr lang="zh-CN" altLang="en-US" sz="2800" dirty="0">
                <a:sym typeface="+mn-ea"/>
              </a:rPr>
              <a:t>春夏季</a:t>
            </a:r>
            <a:r>
              <a:rPr lang="zh-CN" altLang="en-US" sz="2800" dirty="0"/>
              <a:t>为</a:t>
            </a:r>
            <a:r>
              <a:rPr lang="en-US" altLang="zh-CN" sz="2800" dirty="0"/>
              <a:t>50</a:t>
            </a:r>
            <a:r>
              <a:rPr lang="zh-CN" altLang="en-US" sz="2800" dirty="0"/>
              <a:t>元/人.天。该农场种植三种作物：大豆，玉米，小麦，并饲养奶牛和鸡。种植作物不需要专门投资，而每头牛投资400元，每只鸡投资3元。养奶牛时每头需拨出1.5公顷种饲草，并占用工人；</a:t>
            </a:r>
            <a:endParaRPr lang="zh-CN"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charset="0"/>
              <a:buChar char="n"/>
            </a:pPr>
            <a:r>
              <a:rPr lang="zh-CN" altLang="en-US" b="1" dirty="0">
                <a:solidFill>
                  <a:schemeClr val="tx1"/>
                </a:solidFill>
                <a:effectLst>
                  <a:outerShdw blurRad="38100" dist="19050" dir="2700000" algn="tl" rotWithShape="0">
                    <a:schemeClr val="dk1">
                      <a:alpha val="40000"/>
                    </a:schemeClr>
                  </a:outerShdw>
                </a:effectLst>
                <a:sym typeface="+mn-ea"/>
              </a:rPr>
              <a:t>农场经营方案问题 </a:t>
            </a:r>
            <a:endParaRPr lang="zh-CN" altLang="en-US" b="1"/>
          </a:p>
        </p:txBody>
      </p:sp>
      <p:sp>
        <p:nvSpPr>
          <p:cNvPr id="3" name="内容占位符 2"/>
          <p:cNvSpPr>
            <a:spLocks noGrp="1"/>
          </p:cNvSpPr>
          <p:nvPr>
            <p:ph idx="1"/>
          </p:nvPr>
        </p:nvSpPr>
        <p:spPr/>
        <p:txBody>
          <a:bodyPr/>
          <a:lstStyle/>
          <a:p>
            <a:r>
              <a:rPr lang="zh-CN" altLang="en-US" sz="2800" dirty="0">
                <a:sym typeface="+mn-ea"/>
              </a:rPr>
              <a:t>秋冬季10人/头，春夏季5人/头，年净收入400元/头。养鸡时不占用土地，需人工喂每只鸡秋冬需0.6人/只，春夏季0.3人/只，年净收入为</a:t>
            </a:r>
            <a:r>
              <a:rPr lang="en-US" altLang="zh-CN" sz="2800" dirty="0">
                <a:sym typeface="+mn-ea"/>
              </a:rPr>
              <a:t>6</a:t>
            </a:r>
            <a:r>
              <a:rPr lang="zh-CN" altLang="en-US" sz="2800" dirty="0">
                <a:sym typeface="+mn-ea"/>
              </a:rPr>
              <a:t>0元/鸡。农场现有鸡允许最多养3000只，牛栏允许最多养32头奶牛。三种作物每天需要的人工及收入情况如下表1，试决定该农村的经营方案，使年净收入最大。</a:t>
            </a:r>
            <a:endParaRPr lang="zh-CN" altLang="en-US" sz="2800" dirty="0">
              <a:sym typeface="+mn-ea"/>
            </a:endParaRPr>
          </a:p>
          <a:p>
            <a:pPr marL="0" indent="0">
              <a:buNone/>
            </a:pPr>
            <a:r>
              <a:rPr lang="zh-CN" altLang="en-US" sz="2800" dirty="0"/>
              <a:t>  </a:t>
            </a:r>
            <a:endParaRPr lang="zh-CN"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280" y="601980"/>
            <a:ext cx="8380730" cy="1066800"/>
          </a:xfrm>
        </p:spPr>
        <p:txBody>
          <a:bodyPr/>
          <a:lstStyle/>
          <a:p>
            <a:pPr marL="571500" indent="-571500">
              <a:buFont typeface="Wingdings" panose="05000000000000000000" charset="0"/>
              <a:buChar char="n"/>
            </a:pPr>
            <a:r>
              <a:rPr lang="zh-CN" altLang="en-US" b="1" dirty="0">
                <a:solidFill>
                  <a:schemeClr val="tx1"/>
                </a:solidFill>
                <a:effectLst>
                  <a:outerShdw blurRad="38100" dist="19050" dir="2700000" algn="tl" rotWithShape="0">
                    <a:schemeClr val="dk1">
                      <a:alpha val="40000"/>
                    </a:schemeClr>
                  </a:outerShdw>
                </a:effectLst>
                <a:sym typeface="+mn-ea"/>
              </a:rPr>
              <a:t>农场经营方案问题</a:t>
            </a:r>
            <a:endParaRPr lang="zh-CN" altLang="en-US"/>
          </a:p>
        </p:txBody>
      </p:sp>
      <p:graphicFrame>
        <p:nvGraphicFramePr>
          <p:cNvPr id="5" name="内容占位符 4"/>
          <p:cNvGraphicFramePr>
            <a:graphicFrameLocks noGrp="1"/>
          </p:cNvGraphicFramePr>
          <p:nvPr>
            <p:ph idx="1"/>
            <p:custDataLst>
              <p:tags r:id="rId1"/>
            </p:custDataLst>
          </p:nvPr>
        </p:nvGraphicFramePr>
        <p:xfrm>
          <a:off x="575880" y="2179955"/>
          <a:ext cx="7856220" cy="3431540"/>
        </p:xfrm>
        <a:graphic>
          <a:graphicData uri="http://schemas.openxmlformats.org/drawingml/2006/table">
            <a:tbl>
              <a:tblPr firstRow="1" bandRow="1">
                <a:tableStyleId>{5C22544A-7EE6-4342-B048-85BDC9FD1C3A}</a:tableStyleId>
              </a:tblPr>
              <a:tblGrid>
                <a:gridCol w="1964055"/>
                <a:gridCol w="1964055"/>
                <a:gridCol w="1964055"/>
                <a:gridCol w="1964055"/>
              </a:tblGrid>
              <a:tr h="857885">
                <a:tc>
                  <a:txBody>
                    <a:bodyPr/>
                    <a:lstStyle/>
                    <a:p>
                      <a:pPr>
                        <a:buNone/>
                      </a:pPr>
                      <a:endParaRPr lang="zh-CN" altLang="en-US" dirty="0">
                        <a:solidFill>
                          <a:schemeClr val="tx2">
                            <a:lumMod val="60000"/>
                            <a:lumOff val="40000"/>
                          </a:schemeClr>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a:solidFill>
                            <a:srgbClr val="FF0000"/>
                          </a:solidFill>
                        </a:rPr>
                        <a:t>大豆</a:t>
                      </a:r>
                      <a:endParaRPr lang="zh-CN" altLang="en-US">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a:solidFill>
                            <a:srgbClr val="FF0000"/>
                          </a:solidFill>
                        </a:rPr>
                        <a:t>    </a:t>
                      </a:r>
                      <a:r>
                        <a:rPr lang="zh-CN" altLang="en-US">
                          <a:solidFill>
                            <a:srgbClr val="FF0000"/>
                          </a:solidFill>
                        </a:rPr>
                        <a:t>玉米</a:t>
                      </a:r>
                      <a:endParaRPr lang="zh-CN" altLang="en-US">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zh-CN" altLang="en-US">
                          <a:solidFill>
                            <a:srgbClr val="FF0000"/>
                          </a:solidFill>
                        </a:rPr>
                        <a:t>麦子</a:t>
                      </a:r>
                      <a:endParaRPr lang="zh-CN" altLang="en-US">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a:solidFill>
                            <a:srgbClr val="FF0000"/>
                          </a:solidFill>
                        </a:rPr>
                        <a:t>秋冬季需人/公顷</a:t>
                      </a:r>
                      <a:endParaRPr lang="zh-CN" altLang="en-US">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a:solidFill>
                            <a:schemeClr val="tx2">
                              <a:lumMod val="60000"/>
                              <a:lumOff val="40000"/>
                            </a:schemeClr>
                          </a:solidFill>
                        </a:rPr>
                        <a:t>      </a:t>
                      </a:r>
                      <a:r>
                        <a:rPr lang="en-US" altLang="zh-CN">
                          <a:solidFill>
                            <a:srgbClr val="FF0000"/>
                          </a:solidFill>
                        </a:rPr>
                        <a:t> 20</a:t>
                      </a:r>
                      <a:endParaRPr lang="en-US" altLang="zh-CN">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a:solidFill>
                            <a:schemeClr val="tx2">
                              <a:lumMod val="60000"/>
                              <a:lumOff val="40000"/>
                            </a:schemeClr>
                          </a:solidFill>
                        </a:rPr>
                        <a:t>    </a:t>
                      </a:r>
                      <a:r>
                        <a:rPr lang="en-US" altLang="zh-CN">
                          <a:solidFill>
                            <a:srgbClr val="FF0000"/>
                          </a:solidFill>
                        </a:rPr>
                        <a:t>  35</a:t>
                      </a:r>
                      <a:endParaRPr lang="en-US" altLang="zh-CN">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a:solidFill>
                            <a:schemeClr val="tx2">
                              <a:lumMod val="60000"/>
                              <a:lumOff val="40000"/>
                            </a:schemeClr>
                          </a:solidFill>
                        </a:rPr>
                        <a:t>  </a:t>
                      </a:r>
                      <a:r>
                        <a:rPr lang="en-US" altLang="zh-CN">
                          <a:solidFill>
                            <a:srgbClr val="FF0000"/>
                          </a:solidFill>
                        </a:rPr>
                        <a:t>  10</a:t>
                      </a:r>
                      <a:endParaRPr lang="en-US" altLang="zh-CN">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dirty="0">
                          <a:solidFill>
                            <a:srgbClr val="FF0000"/>
                          </a:solidFill>
                        </a:rPr>
                        <a:t>春夏季需人/公顷</a:t>
                      </a:r>
                      <a:endParaRPr lang="zh-CN" altLang="en-US"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dirty="0">
                          <a:solidFill>
                            <a:schemeClr val="tx2">
                              <a:lumMod val="60000"/>
                              <a:lumOff val="40000"/>
                            </a:schemeClr>
                          </a:solidFill>
                        </a:rPr>
                        <a:t>      </a:t>
                      </a:r>
                      <a:r>
                        <a:rPr lang="en-US" altLang="zh-CN" dirty="0">
                          <a:solidFill>
                            <a:srgbClr val="FF0000"/>
                          </a:solidFill>
                        </a:rPr>
                        <a:t>50</a:t>
                      </a:r>
                      <a:endParaRPr lang="en-US" altLang="zh-CN"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a:solidFill>
                            <a:schemeClr val="tx2">
                              <a:lumMod val="60000"/>
                              <a:lumOff val="40000"/>
                            </a:schemeClr>
                          </a:solidFill>
                        </a:rPr>
                        <a:t>     </a:t>
                      </a:r>
                      <a:r>
                        <a:rPr lang="en-US" altLang="zh-CN">
                          <a:solidFill>
                            <a:srgbClr val="FF0000"/>
                          </a:solidFill>
                        </a:rPr>
                        <a:t> 75</a:t>
                      </a:r>
                      <a:endParaRPr lang="en-US" altLang="zh-CN">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a:solidFill>
                            <a:schemeClr val="tx2">
                              <a:lumMod val="60000"/>
                              <a:lumOff val="40000"/>
                            </a:schemeClr>
                          </a:solidFill>
                        </a:rPr>
                        <a:t>   </a:t>
                      </a:r>
                      <a:r>
                        <a:rPr lang="en-US" altLang="zh-CN">
                          <a:solidFill>
                            <a:srgbClr val="FF0000"/>
                          </a:solidFill>
                        </a:rPr>
                        <a:t> 40</a:t>
                      </a:r>
                      <a:endParaRPr lang="en-US" altLang="zh-CN">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a:solidFill>
                            <a:srgbClr val="FF0000"/>
                          </a:solidFill>
                        </a:rPr>
                        <a:t>年净收入（元/公顷）</a:t>
                      </a:r>
                      <a:endParaRPr lang="zh-CN" altLang="en-US">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a:solidFill>
                            <a:schemeClr val="tx2">
                              <a:lumMod val="60000"/>
                              <a:lumOff val="40000"/>
                            </a:schemeClr>
                          </a:solidFill>
                        </a:rPr>
                        <a:t>      </a:t>
                      </a:r>
                      <a:r>
                        <a:rPr lang="en-US" altLang="zh-CN">
                          <a:solidFill>
                            <a:srgbClr val="FF0000"/>
                          </a:solidFill>
                        </a:rPr>
                        <a:t>175</a:t>
                      </a:r>
                      <a:endParaRPr lang="en-US" altLang="zh-CN">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dirty="0">
                          <a:solidFill>
                            <a:schemeClr val="tx2">
                              <a:lumMod val="60000"/>
                              <a:lumOff val="40000"/>
                            </a:schemeClr>
                          </a:solidFill>
                        </a:rPr>
                        <a:t>     </a:t>
                      </a:r>
                      <a:r>
                        <a:rPr lang="en-US" altLang="zh-CN" dirty="0">
                          <a:solidFill>
                            <a:srgbClr val="FF0000"/>
                          </a:solidFill>
                        </a:rPr>
                        <a:t> 300</a:t>
                      </a:r>
                      <a:endParaRPr lang="en-US" altLang="zh-CN"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dirty="0">
                          <a:solidFill>
                            <a:schemeClr val="tx2">
                              <a:lumMod val="60000"/>
                              <a:lumOff val="40000"/>
                            </a:schemeClr>
                          </a:solidFill>
                        </a:rPr>
                        <a:t>    </a:t>
                      </a:r>
                      <a:r>
                        <a:rPr lang="en-US" altLang="zh-CN" dirty="0">
                          <a:solidFill>
                            <a:srgbClr val="FF0000"/>
                          </a:solidFill>
                        </a:rPr>
                        <a:t>120</a:t>
                      </a:r>
                      <a:endParaRPr lang="en-US" altLang="zh-CN"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文本框 5"/>
          <p:cNvSpPr txBox="1"/>
          <p:nvPr/>
        </p:nvSpPr>
        <p:spPr>
          <a:xfrm>
            <a:off x="604520" y="1781175"/>
            <a:ext cx="2540000" cy="398780"/>
          </a:xfrm>
          <a:prstGeom prst="rect">
            <a:avLst/>
          </a:prstGeom>
          <a:noFill/>
        </p:spPr>
        <p:txBody>
          <a:bodyPr wrap="square" rtlCol="0" anchor="t">
            <a:spAutoFit/>
          </a:bodyPr>
          <a:lstStyle/>
          <a:p>
            <a:r>
              <a:rPr lang="zh-CN" altLang="en-US" sz="2000">
                <a:solidFill>
                  <a:srgbClr val="FF0000"/>
                </a:solidFill>
              </a:rPr>
              <a:t>表</a:t>
            </a:r>
            <a:r>
              <a:rPr lang="en-US" altLang="zh-CN" sz="2000">
                <a:solidFill>
                  <a:srgbClr val="FF0000"/>
                </a:solidFill>
              </a:rPr>
              <a:t>1</a:t>
            </a:r>
            <a:endParaRPr lang="en-US" altLang="zh-CN" sz="200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charset="0"/>
              <a:buChar char="n"/>
            </a:pPr>
            <a:r>
              <a:rPr lang="zh-CN" altLang="en-US" b="1" dirty="0">
                <a:solidFill>
                  <a:schemeClr val="tx1"/>
                </a:solidFill>
                <a:effectLst>
                  <a:outerShdw blurRad="38100" dist="19050" dir="2700000" algn="tl" rotWithShape="0">
                    <a:schemeClr val="dk1">
                      <a:alpha val="40000"/>
                    </a:schemeClr>
                  </a:outerShdw>
                </a:effectLst>
                <a:sym typeface="+mn-ea"/>
              </a:rPr>
              <a:t>农场经营方案问题</a:t>
            </a:r>
            <a:br>
              <a:rPr lang="zh-CN" altLang="en-US">
                <a:sym typeface="+mn-ea"/>
              </a:rPr>
            </a:br>
            <a:endParaRPr lang="zh-CN" altLang="en-US"/>
          </a:p>
        </p:txBody>
      </p:sp>
      <p:sp>
        <p:nvSpPr>
          <p:cNvPr id="3" name="内容占位符 2"/>
          <p:cNvSpPr>
            <a:spLocks noGrp="1"/>
          </p:cNvSpPr>
          <p:nvPr>
            <p:ph idx="1"/>
          </p:nvPr>
        </p:nvSpPr>
        <p:spPr/>
        <p:txBody>
          <a:bodyPr/>
          <a:lstStyle/>
          <a:p>
            <a:r>
              <a:rPr lang="zh-CN" altLang="en-US" sz="2400"/>
              <a:t>解题思路：</a:t>
            </a:r>
            <a:r>
              <a:rPr lang="zh-CN" altLang="en-US" sz="2000"/>
              <a:t>用表来描述问题</a:t>
            </a:r>
            <a:endParaRPr lang="zh-CN" altLang="en-US" sz="2000"/>
          </a:p>
          <a:p>
            <a:r>
              <a:rPr lang="zh-CN" altLang="en-US" sz="1800">
                <a:solidFill>
                  <a:srgbClr val="FF0000"/>
                </a:solidFill>
              </a:rPr>
              <a:t>表</a:t>
            </a:r>
            <a:r>
              <a:rPr lang="en-US" altLang="zh-CN" sz="1800">
                <a:solidFill>
                  <a:srgbClr val="FF0000"/>
                </a:solidFill>
              </a:rPr>
              <a:t>2 </a:t>
            </a:r>
            <a:r>
              <a:rPr lang="zh-CN" altLang="en-US" sz="1800">
                <a:solidFill>
                  <a:srgbClr val="FF0000"/>
                </a:solidFill>
              </a:rPr>
              <a:t>养牛和养鸡</a:t>
            </a:r>
            <a:r>
              <a:rPr lang="zh-CN" altLang="en-US" sz="1800" dirty="0">
                <a:solidFill>
                  <a:srgbClr val="FF0000"/>
                </a:solidFill>
                <a:sym typeface="+mn-ea"/>
              </a:rPr>
              <a:t>每天需要的人工及收入情况</a:t>
            </a:r>
            <a:endParaRPr lang="en-US" altLang="zh-CN" sz="1800">
              <a:solidFill>
                <a:srgbClr val="FF0000"/>
              </a:solidFill>
            </a:endParaRPr>
          </a:p>
          <a:p>
            <a:endParaRPr lang="en-US" altLang="zh-CN" sz="1800">
              <a:solidFill>
                <a:srgbClr val="FF0000"/>
              </a:solidFill>
            </a:endParaRPr>
          </a:p>
        </p:txBody>
      </p:sp>
      <p:graphicFrame>
        <p:nvGraphicFramePr>
          <p:cNvPr id="5" name="表格 4"/>
          <p:cNvGraphicFramePr>
            <a:graphicFrameLocks noGrp="1"/>
          </p:cNvGraphicFramePr>
          <p:nvPr>
            <p:custDataLst>
              <p:tags r:id="rId1"/>
            </p:custDataLst>
          </p:nvPr>
        </p:nvGraphicFramePr>
        <p:xfrm>
          <a:off x="683830" y="2780665"/>
          <a:ext cx="7856220" cy="3431540"/>
        </p:xfrm>
        <a:graphic>
          <a:graphicData uri="http://schemas.openxmlformats.org/drawingml/2006/table">
            <a:tbl>
              <a:tblPr firstRow="1" bandRow="1">
                <a:tableStyleId>{5C22544A-7EE6-4342-B048-85BDC9FD1C3A}</a:tableStyleId>
              </a:tblPr>
              <a:tblGrid>
                <a:gridCol w="2059305"/>
                <a:gridCol w="1868805"/>
                <a:gridCol w="1964055"/>
              </a:tblGrid>
              <a:tr h="857885">
                <a:tc>
                  <a:txBody>
                    <a:bodyPr/>
                    <a:lstStyle/>
                    <a:p>
                      <a:pPr>
                        <a:buNone/>
                      </a:pPr>
                      <a:endParaRPr lang="zh-CN" altLang="en-US" sz="2000" dirty="0">
                        <a:solidFill>
                          <a:schemeClr val="tx2">
                            <a:lumMod val="60000"/>
                            <a:lumOff val="40000"/>
                          </a:schemeClr>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2000" b="0">
                          <a:solidFill>
                            <a:srgbClr val="FF0000"/>
                          </a:solidFill>
                          <a:sym typeface="+mn-ea"/>
                        </a:rPr>
                        <a:t>养牛</a:t>
                      </a:r>
                      <a:endParaRPr lang="zh-CN" altLang="en-US" sz="2000" b="0">
                        <a:solidFill>
                          <a:srgbClr val="FF0000"/>
                        </a:solidFill>
                        <a:sym typeface="+mn-ea"/>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rgbClr val="FF0000"/>
                          </a:solidFill>
                        </a:rPr>
                        <a:t>  </a:t>
                      </a:r>
                      <a:r>
                        <a:rPr lang="zh-CN" altLang="en-US" sz="2000" b="0">
                          <a:solidFill>
                            <a:srgbClr val="FF0000"/>
                          </a:solidFill>
                          <a:sym typeface="+mn-ea"/>
                        </a:rPr>
                        <a:t>养鸡</a:t>
                      </a:r>
                      <a:r>
                        <a:rPr lang="en-US" altLang="zh-CN" sz="2000">
                          <a:solidFill>
                            <a:srgbClr val="FF0000"/>
                          </a:solidFill>
                        </a:rPr>
                        <a:t>  </a:t>
                      </a:r>
                      <a:endParaRPr lang="zh-CN" altLang="en-US"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sz="2000">
                          <a:solidFill>
                            <a:srgbClr val="FF0000"/>
                          </a:solidFill>
                        </a:rPr>
                        <a:t>秋冬季需人/只</a:t>
                      </a:r>
                      <a:endParaRPr lang="zh-CN" altLang="en-US"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rgbClr val="FF0000"/>
                          </a:solidFill>
                        </a:rPr>
                        <a:t>    10   </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chemeClr val="tx2">
                              <a:lumMod val="60000"/>
                              <a:lumOff val="40000"/>
                            </a:schemeClr>
                          </a:solidFill>
                        </a:rPr>
                        <a:t>   </a:t>
                      </a:r>
                      <a:r>
                        <a:rPr lang="en-US" altLang="zh-CN" sz="2000">
                          <a:solidFill>
                            <a:srgbClr val="FF0000"/>
                          </a:solidFill>
                        </a:rPr>
                        <a:t> 0.6  </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sz="2000" dirty="0">
                          <a:solidFill>
                            <a:srgbClr val="FF0000"/>
                          </a:solidFill>
                        </a:rPr>
                        <a:t>春夏季需人/只</a:t>
                      </a:r>
                      <a:endParaRPr lang="zh-CN" altLang="en-US" sz="2000"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dirty="0">
                          <a:solidFill>
                            <a:schemeClr val="tx2">
                              <a:lumMod val="60000"/>
                              <a:lumOff val="40000"/>
                            </a:schemeClr>
                          </a:solidFill>
                        </a:rPr>
                        <a:t>     </a:t>
                      </a:r>
                      <a:r>
                        <a:rPr lang="en-US" altLang="zh-CN" sz="2000" dirty="0">
                          <a:solidFill>
                            <a:srgbClr val="FF0000"/>
                          </a:solidFill>
                        </a:rPr>
                        <a:t> 5</a:t>
                      </a:r>
                      <a:endParaRPr lang="en-US" altLang="zh-CN" sz="2000"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chemeClr val="tx2">
                              <a:lumMod val="60000"/>
                              <a:lumOff val="40000"/>
                            </a:schemeClr>
                          </a:solidFill>
                        </a:rPr>
                        <a:t>    </a:t>
                      </a:r>
                      <a:r>
                        <a:rPr lang="en-US" altLang="zh-CN" sz="2000">
                          <a:solidFill>
                            <a:srgbClr val="FF0000"/>
                          </a:solidFill>
                        </a:rPr>
                        <a:t> 0.3</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sz="2000">
                          <a:solidFill>
                            <a:srgbClr val="FF0000"/>
                          </a:solidFill>
                        </a:rPr>
                        <a:t>年净收入（元</a:t>
                      </a:r>
                      <a:r>
                        <a:rPr lang="zh-CN" altLang="en-US" sz="2000" dirty="0">
                          <a:solidFill>
                            <a:srgbClr val="FF0000"/>
                          </a:solidFill>
                          <a:sym typeface="+mn-ea"/>
                        </a:rPr>
                        <a:t>/只）</a:t>
                      </a:r>
                      <a:endParaRPr lang="zh-CN" altLang="en-US"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chemeClr val="tx2">
                              <a:lumMod val="60000"/>
                              <a:lumOff val="40000"/>
                            </a:schemeClr>
                          </a:solidFill>
                        </a:rPr>
                        <a:t>      </a:t>
                      </a:r>
                      <a:r>
                        <a:rPr lang="en-US" altLang="zh-CN" sz="2000">
                          <a:solidFill>
                            <a:srgbClr val="FF0000"/>
                          </a:solidFill>
                        </a:rPr>
                        <a:t>400</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dirty="0">
                          <a:solidFill>
                            <a:schemeClr val="tx2">
                              <a:lumMod val="60000"/>
                              <a:lumOff val="40000"/>
                            </a:schemeClr>
                          </a:solidFill>
                        </a:rPr>
                        <a:t>     </a:t>
                      </a:r>
                      <a:r>
                        <a:rPr lang="en-US" altLang="zh-CN" sz="2000" dirty="0">
                          <a:solidFill>
                            <a:srgbClr val="FF0000"/>
                          </a:solidFill>
                        </a:rPr>
                        <a:t> 60</a:t>
                      </a:r>
                      <a:endParaRPr lang="en-US" altLang="zh-CN" sz="2000"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charset="0"/>
              <a:buChar char="n"/>
            </a:pPr>
            <a:r>
              <a:rPr lang="zh-CN" altLang="en-US" b="1" dirty="0">
                <a:solidFill>
                  <a:schemeClr val="tx1"/>
                </a:solidFill>
                <a:effectLst>
                  <a:outerShdw blurRad="38100" dist="19050" dir="2700000" algn="tl" rotWithShape="0">
                    <a:schemeClr val="dk1">
                      <a:alpha val="40000"/>
                    </a:schemeClr>
                  </a:outerShdw>
                </a:effectLst>
                <a:sym typeface="+mn-ea"/>
              </a:rPr>
              <a:t>农场经营方案问题</a:t>
            </a:r>
            <a:br>
              <a:rPr lang="zh-CN" altLang="en-US">
                <a:sym typeface="+mn-ea"/>
              </a:rPr>
            </a:br>
            <a:endParaRPr lang="zh-CN" altLang="en-US"/>
          </a:p>
        </p:txBody>
      </p:sp>
      <p:sp>
        <p:nvSpPr>
          <p:cNvPr id="3" name="内容占位符 2"/>
          <p:cNvSpPr>
            <a:spLocks noGrp="1"/>
          </p:cNvSpPr>
          <p:nvPr>
            <p:ph idx="1"/>
          </p:nvPr>
        </p:nvSpPr>
        <p:spPr/>
        <p:txBody>
          <a:bodyPr/>
          <a:lstStyle/>
          <a:p>
            <a:r>
              <a:rPr lang="zh-CN" altLang="en-US" sz="2000">
                <a:solidFill>
                  <a:srgbClr val="FF0000"/>
                </a:solidFill>
                <a:sym typeface="+mn-ea"/>
              </a:rPr>
              <a:t>表</a:t>
            </a:r>
            <a:r>
              <a:rPr lang="en-US" altLang="zh-CN" sz="2000">
                <a:solidFill>
                  <a:srgbClr val="FF0000"/>
                </a:solidFill>
                <a:sym typeface="+mn-ea"/>
              </a:rPr>
              <a:t>3 </a:t>
            </a:r>
            <a:r>
              <a:rPr lang="zh-CN" altLang="en-US" sz="2000">
                <a:solidFill>
                  <a:srgbClr val="FF0000"/>
                </a:solidFill>
                <a:sym typeface="+mn-ea"/>
              </a:rPr>
              <a:t>外出打工</a:t>
            </a:r>
            <a:r>
              <a:rPr lang="zh-CN" altLang="en-US" sz="2000" dirty="0">
                <a:solidFill>
                  <a:srgbClr val="FF0000"/>
                </a:solidFill>
                <a:sym typeface="+mn-ea"/>
              </a:rPr>
              <a:t>收入情况</a:t>
            </a:r>
            <a:endParaRPr lang="zh-CN" altLang="en-US" sz="2000" dirty="0">
              <a:solidFill>
                <a:srgbClr val="FF0000"/>
              </a:solidFill>
              <a:sym typeface="+mn-ea"/>
            </a:endParaRPr>
          </a:p>
          <a:p>
            <a:endParaRPr lang="zh-CN" altLang="en-US" sz="2000"/>
          </a:p>
        </p:txBody>
      </p:sp>
      <p:graphicFrame>
        <p:nvGraphicFramePr>
          <p:cNvPr id="5" name="表格 4"/>
          <p:cNvGraphicFramePr>
            <a:graphicFrameLocks noGrp="1"/>
          </p:cNvGraphicFramePr>
          <p:nvPr>
            <p:custDataLst>
              <p:tags r:id="rId1"/>
            </p:custDataLst>
          </p:nvPr>
        </p:nvGraphicFramePr>
        <p:xfrm>
          <a:off x="683830" y="2780665"/>
          <a:ext cx="7856220" cy="3431540"/>
        </p:xfrm>
        <a:graphic>
          <a:graphicData uri="http://schemas.openxmlformats.org/drawingml/2006/table">
            <a:tbl>
              <a:tblPr firstRow="1" bandRow="1">
                <a:tableStyleId>{5C22544A-7EE6-4342-B048-85BDC9FD1C3A}</a:tableStyleId>
              </a:tblPr>
              <a:tblGrid>
                <a:gridCol w="1395428"/>
                <a:gridCol w="1266341"/>
                <a:gridCol w="1266341"/>
              </a:tblGrid>
              <a:tr h="857885">
                <a:tc>
                  <a:txBody>
                    <a:bodyPr/>
                    <a:lstStyle/>
                    <a:p>
                      <a:pPr>
                        <a:buNone/>
                      </a:pPr>
                      <a:endParaRPr lang="zh-CN" altLang="en-US" sz="2000" dirty="0">
                        <a:solidFill>
                          <a:schemeClr val="tx2">
                            <a:lumMod val="60000"/>
                            <a:lumOff val="40000"/>
                          </a:schemeClr>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2000">
                          <a:solidFill>
                            <a:srgbClr val="FF0000"/>
                          </a:solidFill>
                          <a:sym typeface="+mn-ea"/>
                        </a:rPr>
                        <a:t>秋冬</a:t>
                      </a:r>
                      <a:endParaRPr lang="zh-CN" altLang="en-US" sz="2000">
                        <a:solidFill>
                          <a:srgbClr val="FF0000"/>
                        </a:solidFill>
                        <a:sym typeface="+mn-ea"/>
                      </a:endParaRPr>
                    </a:p>
                    <a:p>
                      <a:pPr algn="ctr">
                        <a:buNone/>
                      </a:pPr>
                      <a:r>
                        <a:rPr lang="zh-CN" altLang="en-US" sz="2000" b="0">
                          <a:solidFill>
                            <a:srgbClr val="FF0000"/>
                          </a:solidFill>
                          <a:sym typeface="+mn-ea"/>
                        </a:rPr>
                        <a:t>外出打工</a:t>
                      </a:r>
                      <a:endParaRPr lang="zh-CN" altLang="en-US" sz="2000" b="0">
                        <a:solidFill>
                          <a:srgbClr val="FF0000"/>
                        </a:solidFill>
                        <a:sym typeface="+mn-ea"/>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2000" dirty="0">
                          <a:solidFill>
                            <a:srgbClr val="FF0000"/>
                          </a:solidFill>
                          <a:sym typeface="+mn-ea"/>
                        </a:rPr>
                        <a:t>春夏</a:t>
                      </a:r>
                      <a:endParaRPr lang="zh-CN" altLang="en-US" sz="2000" dirty="0">
                        <a:solidFill>
                          <a:srgbClr val="FF0000"/>
                        </a:solidFill>
                        <a:sym typeface="+mn-ea"/>
                      </a:endParaRPr>
                    </a:p>
                    <a:p>
                      <a:pPr algn="ctr">
                        <a:buNone/>
                      </a:pPr>
                      <a:r>
                        <a:rPr lang="zh-CN" altLang="en-US" sz="2000" b="0">
                          <a:solidFill>
                            <a:srgbClr val="FF0000"/>
                          </a:solidFill>
                          <a:sym typeface="+mn-ea"/>
                        </a:rPr>
                        <a:t>外出打工</a:t>
                      </a:r>
                      <a:endParaRPr lang="zh-CN" altLang="en-US" sz="2000" b="0">
                        <a:solidFill>
                          <a:srgbClr val="FF0000"/>
                        </a:solidFill>
                        <a:sym typeface="+mn-ea"/>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sz="2000">
                          <a:solidFill>
                            <a:srgbClr val="FF0000"/>
                          </a:solidFill>
                        </a:rPr>
                        <a:t>秋冬季</a:t>
                      </a:r>
                      <a:r>
                        <a:rPr lang="en-US" altLang="zh-CN" sz="2000">
                          <a:solidFill>
                            <a:srgbClr val="FF0000"/>
                          </a:solidFill>
                        </a:rPr>
                        <a:t>/</a:t>
                      </a:r>
                      <a:r>
                        <a:rPr lang="zh-CN" altLang="en-US" sz="2000">
                          <a:solidFill>
                            <a:srgbClr val="FF0000"/>
                          </a:solidFill>
                        </a:rPr>
                        <a:t>天</a:t>
                      </a:r>
                      <a:r>
                        <a:rPr lang="en-US" altLang="zh-CN" sz="2000">
                          <a:solidFill>
                            <a:srgbClr val="FF0000"/>
                          </a:solidFill>
                        </a:rPr>
                        <a:t> </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rgbClr val="FF0000"/>
                          </a:solidFill>
                        </a:rPr>
                        <a:t>    365/2 </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sz="2000" dirty="0">
                          <a:solidFill>
                            <a:srgbClr val="FF0000"/>
                          </a:solidFill>
                        </a:rPr>
                        <a:t>春夏季</a:t>
                      </a:r>
                      <a:r>
                        <a:rPr lang="en-US" altLang="zh-CN" sz="2000" dirty="0">
                          <a:solidFill>
                            <a:srgbClr val="FF0000"/>
                          </a:solidFill>
                        </a:rPr>
                        <a:t>/</a:t>
                      </a:r>
                      <a:r>
                        <a:rPr lang="zh-CN" altLang="en-US" sz="2000" dirty="0">
                          <a:solidFill>
                            <a:srgbClr val="FF0000"/>
                          </a:solidFill>
                        </a:rPr>
                        <a:t>天</a:t>
                      </a:r>
                      <a:endParaRPr lang="zh-CN" altLang="en-US" sz="2000"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dirty="0">
                          <a:solidFill>
                            <a:schemeClr val="tx2">
                              <a:lumMod val="60000"/>
                              <a:lumOff val="40000"/>
                            </a:schemeClr>
                          </a:solidFill>
                        </a:rPr>
                        <a:t>     </a:t>
                      </a:r>
                      <a:endParaRPr lang="zh-CN" altLang="en-US" sz="2000"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dirty="0">
                          <a:solidFill>
                            <a:srgbClr val="FF0000"/>
                          </a:solidFill>
                          <a:sym typeface="+mn-ea"/>
                        </a:rPr>
                        <a:t> 365/2</a:t>
                      </a:r>
                      <a:endParaRPr lang="zh-CN" altLang="en-US" sz="2000" dirty="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7885">
                <a:tc>
                  <a:txBody>
                    <a:bodyPr/>
                    <a:lstStyle/>
                    <a:p>
                      <a:pPr>
                        <a:buNone/>
                      </a:pPr>
                      <a:r>
                        <a:rPr lang="zh-CN" altLang="en-US" sz="2000">
                          <a:solidFill>
                            <a:srgbClr val="FF0000"/>
                          </a:solidFill>
                        </a:rPr>
                        <a:t>净收入（元</a:t>
                      </a:r>
                      <a:r>
                        <a:rPr lang="en-US" altLang="zh-CN" sz="2000">
                          <a:solidFill>
                            <a:srgbClr val="FF0000"/>
                          </a:solidFill>
                        </a:rPr>
                        <a:t>/</a:t>
                      </a:r>
                      <a:r>
                        <a:rPr lang="zh-CN" altLang="en-US" sz="2000">
                          <a:solidFill>
                            <a:srgbClr val="FF0000"/>
                          </a:solidFill>
                        </a:rPr>
                        <a:t>天</a:t>
                      </a:r>
                      <a:r>
                        <a:rPr lang="en-US" altLang="zh-CN" sz="2000">
                          <a:solidFill>
                            <a:srgbClr val="FF0000"/>
                          </a:solidFill>
                        </a:rPr>
                        <a:t>.</a:t>
                      </a:r>
                      <a:r>
                        <a:rPr lang="zh-CN" altLang="en-US" sz="2000">
                          <a:solidFill>
                            <a:srgbClr val="FF0000"/>
                          </a:solidFill>
                        </a:rPr>
                        <a:t>人</a:t>
                      </a:r>
                      <a:r>
                        <a:rPr lang="zh-CN" altLang="en-US" sz="2000" dirty="0">
                          <a:solidFill>
                            <a:srgbClr val="FF0000"/>
                          </a:solidFill>
                          <a:sym typeface="+mn-ea"/>
                        </a:rPr>
                        <a:t>）</a:t>
                      </a:r>
                      <a:endParaRPr lang="zh-CN" altLang="en-US"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chemeClr val="tx2">
                              <a:lumMod val="60000"/>
                              <a:lumOff val="40000"/>
                            </a:schemeClr>
                          </a:solidFill>
                        </a:rPr>
                        <a:t>  </a:t>
                      </a:r>
                      <a:r>
                        <a:rPr lang="en-US" altLang="zh-CN" sz="2000">
                          <a:solidFill>
                            <a:srgbClr val="FF0000"/>
                          </a:solidFill>
                        </a:rPr>
                        <a:t>60  </a:t>
                      </a:r>
                      <a:r>
                        <a:rPr lang="en-US" altLang="zh-CN" sz="2000">
                          <a:solidFill>
                            <a:schemeClr val="tx2">
                              <a:lumMod val="60000"/>
                              <a:lumOff val="40000"/>
                            </a:schemeClr>
                          </a:solidFill>
                        </a:rPr>
                        <a:t>  </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sz="2000">
                          <a:solidFill>
                            <a:srgbClr val="FF0000"/>
                          </a:solidFill>
                        </a:rPr>
                        <a:t>  50</a:t>
                      </a:r>
                      <a:endParaRPr lang="en-US" altLang="zh-CN" sz="2000">
                        <a:solidFill>
                          <a:srgbClr val="FF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8280" y="490855"/>
            <a:ext cx="8540750" cy="974090"/>
          </a:xfrm>
        </p:spPr>
        <p:txBody>
          <a:bodyPr/>
          <a:lstStyle/>
          <a:p>
            <a:pPr marL="571500" indent="-571500">
              <a:buFont typeface="Wingdings" panose="05000000000000000000" charset="0"/>
              <a:buChar char="n"/>
            </a:pPr>
            <a:r>
              <a:rPr lang="zh-CN" altLang="en-US" b="1" dirty="0">
                <a:solidFill>
                  <a:schemeClr val="tx1"/>
                </a:solidFill>
                <a:effectLst>
                  <a:outerShdw blurRad="38100" dist="19050" dir="2700000" algn="tl" rotWithShape="0">
                    <a:schemeClr val="dk1">
                      <a:alpha val="40000"/>
                    </a:schemeClr>
                  </a:outerShdw>
                </a:effectLst>
                <a:sym typeface="+mn-ea"/>
              </a:rPr>
              <a:t>农场经营方案问题</a:t>
            </a:r>
            <a:br>
              <a:rPr lang="zh-CN" altLang="en-US"/>
            </a:br>
            <a:endParaRPr lang="zh-CN" altLang="en-US"/>
          </a:p>
        </p:txBody>
      </p:sp>
      <p:graphicFrame>
        <p:nvGraphicFramePr>
          <p:cNvPr id="4" name="内容占位符 3"/>
          <p:cNvGraphicFramePr>
            <a:graphicFrameLocks noGrp="1"/>
          </p:cNvGraphicFramePr>
          <p:nvPr>
            <p:ph idx="1"/>
            <p:custDataLst>
              <p:tags r:id="rId1"/>
            </p:custDataLst>
          </p:nvPr>
        </p:nvGraphicFramePr>
        <p:xfrm>
          <a:off x="252095" y="1628775"/>
          <a:ext cx="8542655" cy="5075555"/>
        </p:xfrm>
        <a:graphic>
          <a:graphicData uri="http://schemas.openxmlformats.org/drawingml/2006/table">
            <a:tbl>
              <a:tblPr firstRow="1" bandRow="1">
                <a:tableStyleId>{5C22544A-7EE6-4342-B048-85BDC9FD1C3A}</a:tableStyleId>
              </a:tblPr>
              <a:tblGrid>
                <a:gridCol w="746125"/>
                <a:gridCol w="930275"/>
                <a:gridCol w="741045"/>
                <a:gridCol w="820420"/>
                <a:gridCol w="758825"/>
                <a:gridCol w="742315"/>
                <a:gridCol w="784225"/>
                <a:gridCol w="828040"/>
                <a:gridCol w="698500"/>
                <a:gridCol w="607695"/>
                <a:gridCol w="885190"/>
              </a:tblGrid>
              <a:tr h="726440">
                <a:tc>
                  <a:txBody>
                    <a:bodyPr/>
                    <a:lstStyle/>
                    <a:p>
                      <a:pPr>
                        <a:buNone/>
                      </a:pPr>
                      <a:endParaRPr lang="zh-CN" altLang="en-US" sz="1800"/>
                    </a:p>
                  </a:txBody>
                  <a:tcPr/>
                </a:tc>
                <a:tc>
                  <a:txBody>
                    <a:bodyPr/>
                    <a:lstStyle/>
                    <a:p>
                      <a:pPr>
                        <a:buNone/>
                      </a:pPr>
                      <a:r>
                        <a:rPr lang="zh-CN" altLang="en-US" sz="1800" b="0">
                          <a:solidFill>
                            <a:srgbClr val="FF0000"/>
                          </a:solidFill>
                        </a:rPr>
                        <a:t>大豆</a:t>
                      </a:r>
                      <a:endParaRPr lang="zh-CN" altLang="en-US" sz="1800" b="0">
                        <a:solidFill>
                          <a:srgbClr val="FF0000"/>
                        </a:solidFill>
                      </a:endParaRPr>
                    </a:p>
                    <a:p>
                      <a:pPr>
                        <a:buNone/>
                      </a:pPr>
                      <a:r>
                        <a:rPr lang="zh-CN" altLang="en-US" sz="1800" b="0">
                          <a:solidFill>
                            <a:srgbClr val="FF0000"/>
                          </a:solidFill>
                        </a:rPr>
                        <a:t>X</a:t>
                      </a:r>
                      <a:r>
                        <a:rPr lang="zh-CN" altLang="en-US" sz="1800" b="0" baseline="-25000">
                          <a:solidFill>
                            <a:srgbClr val="FF0000"/>
                          </a:solidFill>
                        </a:rPr>
                        <a:t>1</a:t>
                      </a:r>
                      <a:r>
                        <a:rPr lang="zh-CN" altLang="en-US" sz="1800" b="0">
                          <a:solidFill>
                            <a:srgbClr val="FF0000"/>
                          </a:solidFill>
                        </a:rPr>
                        <a:t>（公顷）</a:t>
                      </a:r>
                      <a:endParaRPr lang="zh-CN" altLang="en-US" sz="1800" b="0">
                        <a:solidFill>
                          <a:srgbClr val="FF0000"/>
                        </a:solidFill>
                      </a:endParaRPr>
                    </a:p>
                  </a:txBody>
                  <a:tcPr/>
                </a:tc>
                <a:tc>
                  <a:txBody>
                    <a:bodyPr/>
                    <a:lstStyle/>
                    <a:p>
                      <a:pPr>
                        <a:buNone/>
                      </a:pPr>
                      <a:r>
                        <a:rPr lang="zh-CN" altLang="en-US" sz="1800" b="0">
                          <a:solidFill>
                            <a:srgbClr val="FF0000"/>
                          </a:solidFill>
                        </a:rPr>
                        <a:t>玉米</a:t>
                      </a:r>
                      <a:endParaRPr lang="zh-CN" altLang="en-US" sz="1800" b="0">
                        <a:solidFill>
                          <a:srgbClr val="FF0000"/>
                        </a:solidFill>
                      </a:endParaRPr>
                    </a:p>
                    <a:p>
                      <a:pPr>
                        <a:buNone/>
                      </a:pPr>
                      <a:r>
                        <a:rPr lang="zh-CN" altLang="en-US" sz="1800" b="0">
                          <a:solidFill>
                            <a:srgbClr val="FF0000"/>
                          </a:solidFill>
                        </a:rPr>
                        <a:t>X</a:t>
                      </a:r>
                      <a:r>
                        <a:rPr lang="zh-CN" altLang="en-US" sz="1800" b="0" baseline="-25000">
                          <a:solidFill>
                            <a:srgbClr val="FF0000"/>
                          </a:solidFill>
                        </a:rPr>
                        <a:t>2</a:t>
                      </a:r>
                      <a:r>
                        <a:rPr lang="zh-CN" altLang="en-US" sz="1800" b="0">
                          <a:solidFill>
                            <a:srgbClr val="FF0000"/>
                          </a:solidFill>
                          <a:sym typeface="+mn-ea"/>
                        </a:rPr>
                        <a:t>（公顷）</a:t>
                      </a:r>
                      <a:endParaRPr lang="zh-CN" altLang="en-US" sz="1800" b="0">
                        <a:solidFill>
                          <a:srgbClr val="FF0000"/>
                        </a:solidFill>
                      </a:endParaRPr>
                    </a:p>
                  </a:txBody>
                  <a:tcPr/>
                </a:tc>
                <a:tc>
                  <a:txBody>
                    <a:bodyPr/>
                    <a:lstStyle/>
                    <a:p>
                      <a:pPr>
                        <a:buNone/>
                      </a:pPr>
                      <a:r>
                        <a:rPr lang="zh-CN" altLang="en-US" sz="1800" b="0">
                          <a:solidFill>
                            <a:srgbClr val="FF0000"/>
                          </a:solidFill>
                        </a:rPr>
                        <a:t>麦子</a:t>
                      </a:r>
                      <a:endParaRPr lang="zh-CN" altLang="en-US" sz="1800" b="0">
                        <a:solidFill>
                          <a:srgbClr val="FF0000"/>
                        </a:solidFill>
                      </a:endParaRPr>
                    </a:p>
                    <a:p>
                      <a:pPr>
                        <a:buNone/>
                      </a:pPr>
                      <a:r>
                        <a:rPr lang="zh-CN" altLang="en-US" sz="1800" b="0">
                          <a:solidFill>
                            <a:srgbClr val="FF0000"/>
                          </a:solidFill>
                          <a:sym typeface="+mn-ea"/>
                        </a:rPr>
                        <a:t>X</a:t>
                      </a:r>
                      <a:r>
                        <a:rPr lang="zh-CN" altLang="en-US" sz="1800" b="0" baseline="-25000">
                          <a:solidFill>
                            <a:srgbClr val="FF0000"/>
                          </a:solidFill>
                          <a:sym typeface="+mn-ea"/>
                        </a:rPr>
                        <a:t>3</a:t>
                      </a:r>
                      <a:r>
                        <a:rPr lang="zh-CN" altLang="en-US" sz="1800" b="0">
                          <a:solidFill>
                            <a:srgbClr val="FF0000"/>
                          </a:solidFill>
                          <a:sym typeface="+mn-ea"/>
                        </a:rPr>
                        <a:t>（公顷）</a:t>
                      </a:r>
                      <a:endParaRPr lang="zh-CN" altLang="en-US" sz="1800" b="0">
                        <a:solidFill>
                          <a:srgbClr val="FF0000"/>
                        </a:solidFill>
                      </a:endParaRPr>
                    </a:p>
                  </a:txBody>
                  <a:tcPr/>
                </a:tc>
                <a:tc>
                  <a:txBody>
                    <a:bodyPr/>
                    <a:lstStyle/>
                    <a:p>
                      <a:pPr>
                        <a:buNone/>
                      </a:pPr>
                      <a:r>
                        <a:rPr lang="zh-CN" altLang="en-US" sz="1800" b="0">
                          <a:solidFill>
                            <a:srgbClr val="FF0000"/>
                          </a:solidFill>
                        </a:rPr>
                        <a:t>养牛</a:t>
                      </a:r>
                      <a:endParaRPr lang="zh-CN" altLang="en-US" sz="1800" b="0">
                        <a:solidFill>
                          <a:srgbClr val="FF0000"/>
                        </a:solidFill>
                      </a:endParaRPr>
                    </a:p>
                    <a:p>
                      <a:pPr>
                        <a:buNone/>
                      </a:pPr>
                      <a:r>
                        <a:rPr lang="en-US" altLang="zh-CN" sz="1800" b="0">
                          <a:solidFill>
                            <a:srgbClr val="FF0000"/>
                          </a:solidFill>
                        </a:rPr>
                        <a:t>X</a:t>
                      </a:r>
                      <a:r>
                        <a:rPr lang="en-US" altLang="zh-CN" sz="1800" b="0" baseline="-25000">
                          <a:solidFill>
                            <a:srgbClr val="FF0000"/>
                          </a:solidFill>
                        </a:rPr>
                        <a:t>4</a:t>
                      </a:r>
                      <a:endParaRPr lang="zh-CN" altLang="en-US" sz="1800" b="0" baseline="-25000">
                        <a:solidFill>
                          <a:srgbClr val="FF0000"/>
                        </a:solidFill>
                      </a:endParaRPr>
                    </a:p>
                    <a:p>
                      <a:pPr>
                        <a:buNone/>
                      </a:pPr>
                      <a:r>
                        <a:rPr lang="zh-CN" altLang="en-US" sz="1800" b="0">
                          <a:solidFill>
                            <a:srgbClr val="FF0000"/>
                          </a:solidFill>
                        </a:rPr>
                        <a:t>（头）</a:t>
                      </a:r>
                      <a:endParaRPr lang="zh-CN" altLang="en-US" sz="1800" b="0">
                        <a:solidFill>
                          <a:srgbClr val="FF0000"/>
                        </a:solidFill>
                      </a:endParaRPr>
                    </a:p>
                  </a:txBody>
                  <a:tcPr/>
                </a:tc>
                <a:tc>
                  <a:txBody>
                    <a:bodyPr/>
                    <a:lstStyle/>
                    <a:p>
                      <a:pPr>
                        <a:buNone/>
                      </a:pPr>
                      <a:r>
                        <a:rPr lang="zh-CN" altLang="en-US" sz="1800" b="0">
                          <a:solidFill>
                            <a:srgbClr val="FF0000"/>
                          </a:solidFill>
                        </a:rPr>
                        <a:t>养鸡</a:t>
                      </a:r>
                      <a:endParaRPr lang="zh-CN" altLang="en-US" sz="1800" b="0">
                        <a:solidFill>
                          <a:srgbClr val="FF0000"/>
                        </a:solidFill>
                      </a:endParaRPr>
                    </a:p>
                    <a:p>
                      <a:pPr>
                        <a:buNone/>
                      </a:pPr>
                      <a:r>
                        <a:rPr lang="zh-CN" altLang="en-US" sz="1800" b="0">
                          <a:solidFill>
                            <a:srgbClr val="FF0000"/>
                          </a:solidFill>
                        </a:rPr>
                        <a:t>X</a:t>
                      </a:r>
                      <a:r>
                        <a:rPr lang="zh-CN" altLang="en-US" sz="1800" b="0" baseline="-25000">
                          <a:solidFill>
                            <a:srgbClr val="FF0000"/>
                          </a:solidFill>
                        </a:rPr>
                        <a:t>5</a:t>
                      </a:r>
                      <a:endParaRPr lang="zh-CN" altLang="en-US" sz="1800" b="0">
                        <a:solidFill>
                          <a:srgbClr val="FF0000"/>
                        </a:solidFill>
                      </a:endParaRPr>
                    </a:p>
                    <a:p>
                      <a:pPr>
                        <a:buNone/>
                      </a:pPr>
                      <a:r>
                        <a:rPr lang="en-US" altLang="zh-CN" sz="1800" b="0">
                          <a:solidFill>
                            <a:srgbClr val="FF0000"/>
                          </a:solidFill>
                        </a:rPr>
                        <a:t>(</a:t>
                      </a:r>
                      <a:r>
                        <a:rPr lang="zh-CN" altLang="en-US" sz="1800" b="0">
                          <a:solidFill>
                            <a:srgbClr val="FF0000"/>
                          </a:solidFill>
                        </a:rPr>
                        <a:t>只）</a:t>
                      </a:r>
                      <a:endParaRPr lang="zh-CN" altLang="en-US" sz="1800" b="0">
                        <a:solidFill>
                          <a:srgbClr val="FF0000"/>
                        </a:solidFill>
                      </a:endParaRPr>
                    </a:p>
                  </a:txBody>
                  <a:tcPr/>
                </a:tc>
                <a:tc>
                  <a:txBody>
                    <a:bodyPr/>
                    <a:lstStyle/>
                    <a:p>
                      <a:pPr>
                        <a:buNone/>
                      </a:pPr>
                      <a:r>
                        <a:rPr lang="zh-CN" altLang="en-US" sz="1800" b="0">
                          <a:solidFill>
                            <a:srgbClr val="FF0000"/>
                          </a:solidFill>
                        </a:rPr>
                        <a:t>秋冬</a:t>
                      </a:r>
                      <a:endParaRPr lang="zh-CN" altLang="en-US" sz="1800" b="0">
                        <a:solidFill>
                          <a:srgbClr val="FF0000"/>
                        </a:solidFill>
                      </a:endParaRPr>
                    </a:p>
                    <a:p>
                      <a:pPr>
                        <a:buNone/>
                      </a:pPr>
                      <a:r>
                        <a:rPr lang="zh-CN" altLang="en-US" sz="1800" b="0">
                          <a:solidFill>
                            <a:srgbClr val="FF0000"/>
                          </a:solidFill>
                        </a:rPr>
                        <a:t>打工</a:t>
                      </a:r>
                      <a:endParaRPr lang="zh-CN" altLang="en-US" sz="1800" b="0">
                        <a:solidFill>
                          <a:srgbClr val="FF0000"/>
                        </a:solidFill>
                      </a:endParaRPr>
                    </a:p>
                    <a:p>
                      <a:pPr>
                        <a:buNone/>
                      </a:pPr>
                      <a:r>
                        <a:rPr lang="zh-CN" altLang="en-US" sz="1800" b="0">
                          <a:solidFill>
                            <a:srgbClr val="FF0000"/>
                          </a:solidFill>
                        </a:rPr>
                        <a:t>X</a:t>
                      </a:r>
                      <a:r>
                        <a:rPr lang="en-US" altLang="zh-CN" sz="1800" b="0" baseline="-25000">
                          <a:solidFill>
                            <a:srgbClr val="FF0000"/>
                          </a:solidFill>
                        </a:rPr>
                        <a:t>6</a:t>
                      </a:r>
                      <a:endParaRPr lang="en-US" altLang="zh-CN" sz="1800" b="0">
                        <a:solidFill>
                          <a:srgbClr val="FF0000"/>
                        </a:solidFill>
                      </a:endParaRPr>
                    </a:p>
                    <a:p>
                      <a:pPr>
                        <a:buNone/>
                      </a:pPr>
                      <a:r>
                        <a:rPr lang="zh-CN" altLang="en-US" sz="1800" b="0">
                          <a:solidFill>
                            <a:srgbClr val="FF0000"/>
                          </a:solidFill>
                        </a:rPr>
                        <a:t>（人）</a:t>
                      </a:r>
                      <a:endParaRPr lang="zh-CN" altLang="en-US" sz="1800" b="0">
                        <a:solidFill>
                          <a:srgbClr val="FF0000"/>
                        </a:solidFill>
                      </a:endParaRPr>
                    </a:p>
                  </a:txBody>
                  <a:tcPr/>
                </a:tc>
                <a:tc>
                  <a:txBody>
                    <a:bodyPr/>
                    <a:lstStyle/>
                    <a:p>
                      <a:pPr>
                        <a:buNone/>
                      </a:pPr>
                      <a:r>
                        <a:rPr lang="zh-CN" altLang="en-US" sz="1800" b="0">
                          <a:solidFill>
                            <a:srgbClr val="FF0000"/>
                          </a:solidFill>
                        </a:rPr>
                        <a:t>春夏打工</a:t>
                      </a:r>
                      <a:endParaRPr lang="zh-CN" altLang="en-US" sz="1800" b="0">
                        <a:solidFill>
                          <a:srgbClr val="FF0000"/>
                        </a:solidFill>
                      </a:endParaRPr>
                    </a:p>
                    <a:p>
                      <a:pPr>
                        <a:buNone/>
                      </a:pPr>
                      <a:r>
                        <a:rPr lang="zh-CN" altLang="en-US" sz="1800" b="0">
                          <a:solidFill>
                            <a:srgbClr val="FF0000"/>
                          </a:solidFill>
                        </a:rPr>
                        <a:t>X</a:t>
                      </a:r>
                      <a:r>
                        <a:rPr lang="zh-CN" altLang="en-US" sz="1800" b="0" baseline="-25000">
                          <a:solidFill>
                            <a:srgbClr val="FF0000"/>
                          </a:solidFill>
                        </a:rPr>
                        <a:t>7</a:t>
                      </a:r>
                      <a:endParaRPr lang="zh-CN" altLang="en-US" sz="1800" b="0">
                        <a:solidFill>
                          <a:srgbClr val="FF0000"/>
                        </a:solidFill>
                      </a:endParaRPr>
                    </a:p>
                    <a:p>
                      <a:pPr>
                        <a:buNone/>
                      </a:pPr>
                      <a:r>
                        <a:rPr lang="zh-CN" altLang="en-US" sz="1800" b="0">
                          <a:solidFill>
                            <a:srgbClr val="FF0000"/>
                          </a:solidFill>
                        </a:rPr>
                        <a:t>（人）</a:t>
                      </a:r>
                      <a:endParaRPr lang="zh-CN" altLang="en-US" sz="1800" b="0">
                        <a:solidFill>
                          <a:srgbClr val="FF0000"/>
                        </a:solidFill>
                      </a:endParaRPr>
                    </a:p>
                  </a:txBody>
                  <a:tcPr/>
                </a:tc>
                <a:tc>
                  <a:txBody>
                    <a:bodyPr/>
                    <a:lstStyle/>
                    <a:p>
                      <a:pPr>
                        <a:buNone/>
                      </a:pPr>
                      <a:r>
                        <a:rPr lang="zh-CN" altLang="en-US" sz="1800">
                          <a:solidFill>
                            <a:srgbClr val="FF0000"/>
                          </a:solidFill>
                        </a:rPr>
                        <a:t>劳动力</a:t>
                      </a:r>
                      <a:endParaRPr lang="zh-CN" altLang="en-US" sz="1800">
                        <a:solidFill>
                          <a:srgbClr val="FF0000"/>
                        </a:solidFill>
                      </a:endParaRPr>
                    </a:p>
                  </a:txBody>
                  <a:tcPr/>
                </a:tc>
                <a:tc>
                  <a:txBody>
                    <a:bodyPr/>
                    <a:lstStyle/>
                    <a:p>
                      <a:pPr>
                        <a:buNone/>
                      </a:pPr>
                      <a:r>
                        <a:rPr lang="zh-CN" altLang="en-US" sz="1800">
                          <a:solidFill>
                            <a:srgbClr val="FF0000"/>
                          </a:solidFill>
                        </a:rPr>
                        <a:t>土地</a:t>
                      </a:r>
                      <a:endParaRPr lang="zh-CN" altLang="en-US" sz="1800">
                        <a:solidFill>
                          <a:srgbClr val="FF0000"/>
                        </a:solidFill>
                      </a:endParaRPr>
                    </a:p>
                  </a:txBody>
                  <a:tcPr/>
                </a:tc>
                <a:tc>
                  <a:txBody>
                    <a:bodyPr/>
                    <a:lstStyle/>
                    <a:p>
                      <a:pPr>
                        <a:buNone/>
                      </a:pPr>
                      <a:r>
                        <a:rPr lang="zh-CN" altLang="en-US" sz="1800">
                          <a:solidFill>
                            <a:srgbClr val="FF0000"/>
                          </a:solidFill>
                        </a:rPr>
                        <a:t>资金</a:t>
                      </a:r>
                      <a:endParaRPr lang="zh-CN" altLang="en-US" sz="1800">
                        <a:solidFill>
                          <a:srgbClr val="FF0000"/>
                        </a:solidFill>
                      </a:endParaRPr>
                    </a:p>
                  </a:txBody>
                  <a:tcPr/>
                </a:tc>
              </a:tr>
              <a:tr h="793115">
                <a:tc>
                  <a:txBody>
                    <a:bodyPr/>
                    <a:lstStyle/>
                    <a:p>
                      <a:pPr>
                        <a:buNone/>
                      </a:pPr>
                      <a:r>
                        <a:rPr lang="zh-CN" altLang="en-US" sz="1800">
                          <a:solidFill>
                            <a:srgbClr val="FF0000"/>
                          </a:solidFill>
                        </a:rPr>
                        <a:t>秋冬</a:t>
                      </a:r>
                      <a:endParaRPr lang="zh-CN" altLang="en-US" sz="1800">
                        <a:solidFill>
                          <a:srgbClr val="FF0000"/>
                        </a:solidFill>
                      </a:endParaRPr>
                    </a:p>
                    <a:p>
                      <a:pPr>
                        <a:buNone/>
                      </a:pPr>
                      <a:r>
                        <a:rPr lang="en-US" altLang="zh-CN" sz="1800">
                          <a:solidFill>
                            <a:srgbClr val="FF0000"/>
                          </a:solidFill>
                        </a:rPr>
                        <a:t>(</a:t>
                      </a:r>
                      <a:r>
                        <a:rPr lang="zh-CN" altLang="en-US" sz="1800">
                          <a:solidFill>
                            <a:srgbClr val="FF0000"/>
                          </a:solidFill>
                          <a:sym typeface="+mn-ea"/>
                        </a:rPr>
                        <a:t>人</a:t>
                      </a:r>
                      <a:r>
                        <a:rPr lang="en-US" altLang="zh-CN" sz="1800">
                          <a:solidFill>
                            <a:srgbClr val="FF0000"/>
                          </a:solidFill>
                          <a:sym typeface="+mn-ea"/>
                        </a:rPr>
                        <a:t>)</a:t>
                      </a:r>
                      <a:endParaRPr lang="en-US" altLang="zh-CN" sz="1800">
                        <a:solidFill>
                          <a:srgbClr val="FF0000"/>
                        </a:solidFill>
                        <a:sym typeface="+mn-ea"/>
                      </a:endParaRPr>
                    </a:p>
                  </a:txBody>
                  <a:tcPr/>
                </a:tc>
                <a:tc>
                  <a:txBody>
                    <a:bodyPr/>
                    <a:lstStyle/>
                    <a:p>
                      <a:pPr>
                        <a:buNone/>
                      </a:pPr>
                      <a:r>
                        <a:rPr lang="en-US" altLang="zh-CN" sz="1800">
                          <a:solidFill>
                            <a:srgbClr val="FF0000"/>
                          </a:solidFill>
                        </a:rPr>
                        <a:t>20</a:t>
                      </a:r>
                      <a:r>
                        <a:rPr lang="zh-CN" altLang="en-US" sz="1800">
                          <a:solidFill>
                            <a:srgbClr val="FF0000"/>
                          </a:solidFill>
                        </a:rPr>
                        <a:t>人</a:t>
                      </a:r>
                      <a:r>
                        <a:rPr lang="en-US" altLang="zh-CN" sz="1800">
                          <a:solidFill>
                            <a:srgbClr val="FF0000"/>
                          </a:solidFill>
                        </a:rPr>
                        <a:t>/</a:t>
                      </a:r>
                      <a:r>
                        <a:rPr lang="zh-CN" altLang="en-US" sz="1800">
                          <a:solidFill>
                            <a:srgbClr val="FF0000"/>
                          </a:solidFill>
                        </a:rPr>
                        <a:t>公顷</a:t>
                      </a:r>
                      <a:endParaRPr lang="zh-CN" altLang="en-US" sz="1800">
                        <a:solidFill>
                          <a:srgbClr val="FF0000"/>
                        </a:solidFill>
                      </a:endParaRPr>
                    </a:p>
                  </a:txBody>
                  <a:tcPr/>
                </a:tc>
                <a:tc>
                  <a:txBody>
                    <a:bodyPr/>
                    <a:lstStyle/>
                    <a:p>
                      <a:pPr>
                        <a:buNone/>
                      </a:pPr>
                      <a:r>
                        <a:rPr lang="en-US" altLang="zh-CN" sz="1800">
                          <a:solidFill>
                            <a:srgbClr val="FF0000"/>
                          </a:solidFill>
                        </a:rPr>
                        <a:t>35</a:t>
                      </a:r>
                      <a:r>
                        <a:rPr lang="zh-CN" altLang="en-US" sz="1800">
                          <a:solidFill>
                            <a:srgbClr val="FF0000"/>
                          </a:solidFill>
                          <a:sym typeface="+mn-ea"/>
                        </a:rPr>
                        <a:t>人</a:t>
                      </a:r>
                      <a:r>
                        <a:rPr lang="en-US" altLang="zh-CN" sz="1800">
                          <a:solidFill>
                            <a:srgbClr val="FF0000"/>
                          </a:solidFill>
                          <a:sym typeface="+mn-ea"/>
                        </a:rPr>
                        <a:t>/</a:t>
                      </a:r>
                      <a:r>
                        <a:rPr lang="zh-CN" altLang="en-US" sz="1800">
                          <a:solidFill>
                            <a:srgbClr val="FF0000"/>
                          </a:solidFill>
                          <a:sym typeface="+mn-ea"/>
                        </a:rPr>
                        <a:t>公顷</a:t>
                      </a:r>
                      <a:endParaRPr lang="en-US" altLang="zh-CN" sz="1800">
                        <a:solidFill>
                          <a:srgbClr val="FF0000"/>
                        </a:solidFill>
                      </a:endParaRPr>
                    </a:p>
                  </a:txBody>
                  <a:tcPr/>
                </a:tc>
                <a:tc>
                  <a:txBody>
                    <a:bodyPr/>
                    <a:lstStyle/>
                    <a:p>
                      <a:pPr>
                        <a:buNone/>
                      </a:pPr>
                      <a:r>
                        <a:rPr lang="en-US" altLang="zh-CN" sz="1800">
                          <a:solidFill>
                            <a:srgbClr val="FF0000"/>
                          </a:solidFill>
                        </a:rPr>
                        <a:t>10</a:t>
                      </a:r>
                      <a:r>
                        <a:rPr lang="zh-CN" altLang="en-US" sz="1800">
                          <a:solidFill>
                            <a:srgbClr val="FF0000"/>
                          </a:solidFill>
                          <a:sym typeface="+mn-ea"/>
                        </a:rPr>
                        <a:t>人</a:t>
                      </a:r>
                      <a:r>
                        <a:rPr lang="en-US" altLang="zh-CN" sz="1800">
                          <a:solidFill>
                            <a:srgbClr val="FF0000"/>
                          </a:solidFill>
                          <a:sym typeface="+mn-ea"/>
                        </a:rPr>
                        <a:t>/</a:t>
                      </a:r>
                      <a:r>
                        <a:rPr lang="zh-CN" altLang="en-US" sz="1800">
                          <a:solidFill>
                            <a:srgbClr val="FF0000"/>
                          </a:solidFill>
                          <a:sym typeface="+mn-ea"/>
                        </a:rPr>
                        <a:t>公顷</a:t>
                      </a:r>
                      <a:endParaRPr lang="en-US" altLang="zh-CN" sz="1800">
                        <a:solidFill>
                          <a:srgbClr val="FF0000"/>
                        </a:solidFill>
                      </a:endParaRPr>
                    </a:p>
                  </a:txBody>
                  <a:tcPr/>
                </a:tc>
                <a:tc>
                  <a:txBody>
                    <a:bodyPr/>
                    <a:lstStyle/>
                    <a:p>
                      <a:pPr>
                        <a:buNone/>
                      </a:pPr>
                      <a:r>
                        <a:rPr lang="en-US" altLang="zh-CN" sz="1800">
                          <a:solidFill>
                            <a:srgbClr val="FF0000"/>
                          </a:solidFill>
                        </a:rPr>
                        <a:t>10</a:t>
                      </a:r>
                      <a:r>
                        <a:rPr lang="zh-CN" altLang="en-US" sz="1800">
                          <a:solidFill>
                            <a:srgbClr val="FF0000"/>
                          </a:solidFill>
                        </a:rPr>
                        <a:t>人</a:t>
                      </a:r>
                      <a:r>
                        <a:rPr lang="en-US" altLang="zh-CN" sz="1800">
                          <a:solidFill>
                            <a:srgbClr val="FF0000"/>
                          </a:solidFill>
                        </a:rPr>
                        <a:t>/</a:t>
                      </a:r>
                      <a:r>
                        <a:rPr lang="zh-CN" altLang="en-US" sz="1800">
                          <a:solidFill>
                            <a:srgbClr val="FF0000"/>
                          </a:solidFill>
                        </a:rPr>
                        <a:t>头</a:t>
                      </a:r>
                      <a:endParaRPr lang="zh-CN" altLang="en-US" sz="1800">
                        <a:solidFill>
                          <a:srgbClr val="FF0000"/>
                        </a:solidFill>
                      </a:endParaRPr>
                    </a:p>
                  </a:txBody>
                  <a:tcPr/>
                </a:tc>
                <a:tc>
                  <a:txBody>
                    <a:bodyPr/>
                    <a:lstStyle/>
                    <a:p>
                      <a:pPr>
                        <a:buNone/>
                      </a:pPr>
                      <a:r>
                        <a:rPr lang="en-US" altLang="zh-CN" sz="1800">
                          <a:solidFill>
                            <a:srgbClr val="FF0000"/>
                          </a:solidFill>
                        </a:rPr>
                        <a:t>0.6</a:t>
                      </a:r>
                      <a:r>
                        <a:rPr lang="zh-CN" altLang="en-US" sz="1800">
                          <a:solidFill>
                            <a:srgbClr val="FF0000"/>
                          </a:solidFill>
                        </a:rPr>
                        <a:t>人</a:t>
                      </a:r>
                      <a:r>
                        <a:rPr lang="en-US" altLang="zh-CN" sz="1800">
                          <a:solidFill>
                            <a:srgbClr val="FF0000"/>
                          </a:solidFill>
                        </a:rPr>
                        <a:t>/</a:t>
                      </a:r>
                      <a:r>
                        <a:rPr lang="zh-CN" altLang="en-US" sz="1800">
                          <a:solidFill>
                            <a:srgbClr val="FF0000"/>
                          </a:solidFill>
                          <a:sym typeface="+mn-ea"/>
                        </a:rPr>
                        <a:t>只</a:t>
                      </a:r>
                      <a:endParaRPr lang="zh-CN" altLang="en-US" sz="1800">
                        <a:solidFill>
                          <a:srgbClr val="FF0000"/>
                        </a:solidFill>
                      </a:endParaRPr>
                    </a:p>
                  </a:txBody>
                  <a:tcPr/>
                </a:tc>
                <a:tc>
                  <a:txBody>
                    <a:bodyPr/>
                    <a:lstStyle/>
                    <a:p>
                      <a:pPr>
                        <a:buNone/>
                      </a:pPr>
                      <a:r>
                        <a:rPr lang="en-US" altLang="zh-CN" sz="1800">
                          <a:solidFill>
                            <a:srgbClr val="FF0000"/>
                          </a:solidFill>
                        </a:rPr>
                        <a:t>1</a:t>
                      </a:r>
                      <a:endParaRPr lang="en-US" altLang="zh-CN" sz="1800">
                        <a:solidFill>
                          <a:srgbClr val="FF0000"/>
                        </a:solidFill>
                      </a:endParaRPr>
                    </a:p>
                  </a:txBody>
                  <a:tcPr/>
                </a:tc>
                <a:tc>
                  <a:txBody>
                    <a:bodyPr/>
                    <a:lstStyle/>
                    <a:p>
                      <a:pPr>
                        <a:buNone/>
                      </a:pPr>
                      <a:endParaRPr lang="zh-CN" altLang="en-US" sz="1800"/>
                    </a:p>
                  </a:txBody>
                  <a:tcPr/>
                </a:tc>
                <a:tc>
                  <a:txBody>
                    <a:bodyPr/>
                    <a:lstStyle/>
                    <a:p>
                      <a:pPr>
                        <a:buNone/>
                      </a:pPr>
                      <a:r>
                        <a:rPr lang="en-US" altLang="zh-CN" sz="1800" b="0">
                          <a:solidFill>
                            <a:srgbClr val="FF0000"/>
                          </a:solidFill>
                        </a:rPr>
                        <a:t>3500</a:t>
                      </a:r>
                      <a:endParaRPr lang="en-US" altLang="zh-CN" sz="1800" b="0">
                        <a:solidFill>
                          <a:srgbClr val="FF0000"/>
                        </a:solidFill>
                      </a:endParaRPr>
                    </a:p>
                  </a:txBody>
                  <a:tcPr/>
                </a:tc>
                <a:tc>
                  <a:txBody>
                    <a:bodyPr/>
                    <a:lstStyle/>
                    <a:p>
                      <a:pPr>
                        <a:buNone/>
                      </a:pPr>
                      <a:endParaRPr lang="zh-CN" altLang="en-US" sz="1800" b="0"/>
                    </a:p>
                  </a:txBody>
                  <a:tcPr/>
                </a:tc>
                <a:tc>
                  <a:txBody>
                    <a:bodyPr/>
                    <a:lstStyle/>
                    <a:p>
                      <a:pPr>
                        <a:buNone/>
                      </a:pPr>
                      <a:endParaRPr lang="zh-CN" altLang="en-US" sz="1800"/>
                    </a:p>
                  </a:txBody>
                  <a:tcPr/>
                </a:tc>
              </a:tr>
              <a:tr h="726440">
                <a:tc>
                  <a:txBody>
                    <a:bodyPr/>
                    <a:lstStyle/>
                    <a:p>
                      <a:pPr>
                        <a:buNone/>
                      </a:pPr>
                      <a:r>
                        <a:rPr lang="zh-CN" altLang="en-US" sz="1800">
                          <a:solidFill>
                            <a:srgbClr val="FF0000"/>
                          </a:solidFill>
                        </a:rPr>
                        <a:t>春夏</a:t>
                      </a:r>
                      <a:endParaRPr lang="zh-CN" altLang="en-US" sz="1800">
                        <a:solidFill>
                          <a:srgbClr val="FF0000"/>
                        </a:solidFill>
                      </a:endParaRPr>
                    </a:p>
                    <a:p>
                      <a:pPr>
                        <a:buNone/>
                      </a:pPr>
                      <a:r>
                        <a:rPr lang="en-US" altLang="zh-CN" sz="1800">
                          <a:solidFill>
                            <a:srgbClr val="FF0000"/>
                          </a:solidFill>
                        </a:rPr>
                        <a:t>(</a:t>
                      </a:r>
                      <a:r>
                        <a:rPr lang="zh-CN" altLang="en-US" sz="1800">
                          <a:solidFill>
                            <a:srgbClr val="FF0000"/>
                          </a:solidFill>
                          <a:sym typeface="+mn-ea"/>
                        </a:rPr>
                        <a:t>人</a:t>
                      </a:r>
                      <a:r>
                        <a:rPr lang="en-US" altLang="zh-CN" sz="1800">
                          <a:solidFill>
                            <a:srgbClr val="FF0000"/>
                          </a:solidFill>
                          <a:sym typeface="+mn-ea"/>
                        </a:rPr>
                        <a:t>)</a:t>
                      </a:r>
                      <a:endParaRPr lang="en-US" altLang="zh-CN" sz="1800">
                        <a:solidFill>
                          <a:srgbClr val="FF0000"/>
                        </a:solidFill>
                      </a:endParaRPr>
                    </a:p>
                  </a:txBody>
                  <a:tcPr/>
                </a:tc>
                <a:tc>
                  <a:txBody>
                    <a:bodyPr/>
                    <a:lstStyle/>
                    <a:p>
                      <a:pPr>
                        <a:buNone/>
                      </a:pPr>
                      <a:r>
                        <a:rPr lang="en-US" altLang="zh-CN" sz="1800">
                          <a:solidFill>
                            <a:srgbClr val="FF0000"/>
                          </a:solidFill>
                        </a:rPr>
                        <a:t>50</a:t>
                      </a:r>
                      <a:r>
                        <a:rPr lang="zh-CN" altLang="en-US" sz="1800">
                          <a:solidFill>
                            <a:srgbClr val="FF0000"/>
                          </a:solidFill>
                          <a:sym typeface="+mn-ea"/>
                        </a:rPr>
                        <a:t>人</a:t>
                      </a:r>
                      <a:r>
                        <a:rPr lang="en-US" altLang="zh-CN" sz="1800">
                          <a:solidFill>
                            <a:srgbClr val="FF0000"/>
                          </a:solidFill>
                          <a:sym typeface="+mn-ea"/>
                        </a:rPr>
                        <a:t>/</a:t>
                      </a:r>
                      <a:r>
                        <a:rPr lang="zh-CN" altLang="en-US" sz="1800">
                          <a:solidFill>
                            <a:srgbClr val="FF0000"/>
                          </a:solidFill>
                          <a:sym typeface="+mn-ea"/>
                        </a:rPr>
                        <a:t>公顷</a:t>
                      </a:r>
                      <a:endParaRPr lang="en-US" altLang="zh-CN" sz="1800">
                        <a:solidFill>
                          <a:srgbClr val="FF0000"/>
                        </a:solidFill>
                      </a:endParaRPr>
                    </a:p>
                  </a:txBody>
                  <a:tcPr/>
                </a:tc>
                <a:tc>
                  <a:txBody>
                    <a:bodyPr/>
                    <a:lstStyle/>
                    <a:p>
                      <a:pPr>
                        <a:buNone/>
                      </a:pPr>
                      <a:r>
                        <a:rPr lang="en-US" altLang="zh-CN" sz="1800">
                          <a:solidFill>
                            <a:srgbClr val="FF0000"/>
                          </a:solidFill>
                        </a:rPr>
                        <a:t>75</a:t>
                      </a:r>
                      <a:r>
                        <a:rPr lang="zh-CN" altLang="en-US" sz="1800">
                          <a:solidFill>
                            <a:srgbClr val="FF0000"/>
                          </a:solidFill>
                          <a:sym typeface="+mn-ea"/>
                        </a:rPr>
                        <a:t>人</a:t>
                      </a:r>
                      <a:r>
                        <a:rPr lang="en-US" altLang="zh-CN" sz="1800">
                          <a:solidFill>
                            <a:srgbClr val="FF0000"/>
                          </a:solidFill>
                          <a:sym typeface="+mn-ea"/>
                        </a:rPr>
                        <a:t>/</a:t>
                      </a:r>
                      <a:r>
                        <a:rPr lang="zh-CN" altLang="en-US" sz="1800">
                          <a:solidFill>
                            <a:srgbClr val="FF0000"/>
                          </a:solidFill>
                          <a:sym typeface="+mn-ea"/>
                        </a:rPr>
                        <a:t>公顷</a:t>
                      </a:r>
                      <a:endParaRPr lang="en-US" altLang="zh-CN" sz="1800">
                        <a:solidFill>
                          <a:srgbClr val="FF0000"/>
                        </a:solidFill>
                      </a:endParaRPr>
                    </a:p>
                  </a:txBody>
                  <a:tcPr/>
                </a:tc>
                <a:tc>
                  <a:txBody>
                    <a:bodyPr/>
                    <a:lstStyle/>
                    <a:p>
                      <a:pPr>
                        <a:buNone/>
                      </a:pPr>
                      <a:r>
                        <a:rPr lang="en-US" altLang="zh-CN" sz="1800">
                          <a:solidFill>
                            <a:srgbClr val="FF0000"/>
                          </a:solidFill>
                        </a:rPr>
                        <a:t>40</a:t>
                      </a:r>
                      <a:r>
                        <a:rPr lang="zh-CN" altLang="en-US" sz="1800">
                          <a:solidFill>
                            <a:srgbClr val="FF0000"/>
                          </a:solidFill>
                          <a:sym typeface="+mn-ea"/>
                        </a:rPr>
                        <a:t>人</a:t>
                      </a:r>
                      <a:r>
                        <a:rPr lang="en-US" altLang="zh-CN" sz="1800">
                          <a:solidFill>
                            <a:srgbClr val="FF0000"/>
                          </a:solidFill>
                          <a:sym typeface="+mn-ea"/>
                        </a:rPr>
                        <a:t>/</a:t>
                      </a:r>
                      <a:r>
                        <a:rPr lang="zh-CN" altLang="en-US" sz="1800">
                          <a:solidFill>
                            <a:srgbClr val="FF0000"/>
                          </a:solidFill>
                          <a:sym typeface="+mn-ea"/>
                        </a:rPr>
                        <a:t>公顷</a:t>
                      </a:r>
                      <a:endParaRPr lang="en-US" altLang="zh-CN" sz="1800">
                        <a:solidFill>
                          <a:srgbClr val="FF0000"/>
                        </a:solidFill>
                      </a:endParaRPr>
                    </a:p>
                  </a:txBody>
                  <a:tcPr/>
                </a:tc>
                <a:tc>
                  <a:txBody>
                    <a:bodyPr/>
                    <a:lstStyle/>
                    <a:p>
                      <a:pPr>
                        <a:buNone/>
                      </a:pPr>
                      <a:r>
                        <a:rPr lang="en-US" altLang="zh-CN" sz="1800">
                          <a:solidFill>
                            <a:srgbClr val="FF0000"/>
                          </a:solidFill>
                        </a:rPr>
                        <a:t>5</a:t>
                      </a:r>
                      <a:r>
                        <a:rPr lang="zh-CN" altLang="en-US" sz="1800">
                          <a:solidFill>
                            <a:srgbClr val="FF0000"/>
                          </a:solidFill>
                        </a:rPr>
                        <a:t>人</a:t>
                      </a:r>
                      <a:r>
                        <a:rPr lang="en-US" altLang="zh-CN" sz="1800">
                          <a:solidFill>
                            <a:srgbClr val="FF0000"/>
                          </a:solidFill>
                          <a:sym typeface="+mn-ea"/>
                        </a:rPr>
                        <a:t>/</a:t>
                      </a:r>
                      <a:r>
                        <a:rPr lang="zh-CN" altLang="en-US" sz="1800">
                          <a:solidFill>
                            <a:srgbClr val="FF0000"/>
                          </a:solidFill>
                          <a:sym typeface="+mn-ea"/>
                        </a:rPr>
                        <a:t>头</a:t>
                      </a:r>
                      <a:endParaRPr lang="zh-CN" altLang="en-US" sz="1800">
                        <a:solidFill>
                          <a:srgbClr val="FF0000"/>
                        </a:solidFill>
                        <a:sym typeface="+mn-ea"/>
                      </a:endParaRPr>
                    </a:p>
                  </a:txBody>
                  <a:tcPr/>
                </a:tc>
                <a:tc>
                  <a:txBody>
                    <a:bodyPr/>
                    <a:lstStyle/>
                    <a:p>
                      <a:pPr>
                        <a:buNone/>
                      </a:pPr>
                      <a:r>
                        <a:rPr lang="en-US" altLang="zh-CN" sz="1800">
                          <a:solidFill>
                            <a:srgbClr val="FF0000"/>
                          </a:solidFill>
                        </a:rPr>
                        <a:t>0.3</a:t>
                      </a:r>
                      <a:r>
                        <a:rPr lang="zh-CN" altLang="en-US" sz="1800">
                          <a:solidFill>
                            <a:srgbClr val="FF0000"/>
                          </a:solidFill>
                        </a:rPr>
                        <a:t>人</a:t>
                      </a:r>
                      <a:r>
                        <a:rPr lang="en-US" altLang="zh-CN" sz="1800">
                          <a:solidFill>
                            <a:srgbClr val="FF0000"/>
                          </a:solidFill>
                          <a:sym typeface="+mn-ea"/>
                        </a:rPr>
                        <a:t>/</a:t>
                      </a:r>
                      <a:r>
                        <a:rPr lang="zh-CN" altLang="en-US" sz="1800">
                          <a:solidFill>
                            <a:srgbClr val="FF0000"/>
                          </a:solidFill>
                          <a:sym typeface="+mn-ea"/>
                        </a:rPr>
                        <a:t>只</a:t>
                      </a:r>
                      <a:endParaRPr lang="en-US" altLang="zh-CN" sz="1800">
                        <a:solidFill>
                          <a:srgbClr val="FF0000"/>
                        </a:solidFill>
                      </a:endParaRPr>
                    </a:p>
                  </a:txBody>
                  <a:tcPr/>
                </a:tc>
                <a:tc>
                  <a:txBody>
                    <a:bodyPr/>
                    <a:lstStyle/>
                    <a:p>
                      <a:pPr>
                        <a:buNone/>
                      </a:pPr>
                      <a:endParaRPr lang="zh-CN" altLang="en-US" sz="1800"/>
                    </a:p>
                  </a:txBody>
                  <a:tcPr/>
                </a:tc>
                <a:tc>
                  <a:txBody>
                    <a:bodyPr/>
                    <a:lstStyle/>
                    <a:p>
                      <a:pPr>
                        <a:buNone/>
                      </a:pPr>
                      <a:r>
                        <a:rPr lang="en-US" altLang="zh-CN" sz="1800">
                          <a:solidFill>
                            <a:srgbClr val="FF0000"/>
                          </a:solidFill>
                        </a:rPr>
                        <a:t>1</a:t>
                      </a:r>
                      <a:endParaRPr lang="en-US" altLang="zh-CN" sz="1800">
                        <a:solidFill>
                          <a:srgbClr val="FF0000"/>
                        </a:solidFill>
                      </a:endParaRPr>
                    </a:p>
                  </a:txBody>
                  <a:tcPr/>
                </a:tc>
                <a:tc>
                  <a:txBody>
                    <a:bodyPr/>
                    <a:lstStyle/>
                    <a:p>
                      <a:pPr>
                        <a:buNone/>
                      </a:pPr>
                      <a:r>
                        <a:rPr lang="en-US" altLang="zh-CN" sz="1800" b="0">
                          <a:solidFill>
                            <a:srgbClr val="FF0000"/>
                          </a:solidFill>
                        </a:rPr>
                        <a:t>4000</a:t>
                      </a:r>
                      <a:endParaRPr lang="en-US" altLang="zh-CN" sz="1800" b="0">
                        <a:solidFill>
                          <a:srgbClr val="FF0000"/>
                        </a:solidFill>
                      </a:endParaRPr>
                    </a:p>
                  </a:txBody>
                  <a:tcPr/>
                </a:tc>
                <a:tc>
                  <a:txBody>
                    <a:bodyPr/>
                    <a:lstStyle/>
                    <a:p>
                      <a:pPr>
                        <a:buNone/>
                      </a:pPr>
                      <a:endParaRPr lang="zh-CN" altLang="en-US" sz="1800" b="0"/>
                    </a:p>
                  </a:txBody>
                  <a:tcPr/>
                </a:tc>
                <a:tc>
                  <a:txBody>
                    <a:bodyPr/>
                    <a:lstStyle/>
                    <a:p>
                      <a:pPr>
                        <a:buNone/>
                      </a:pPr>
                      <a:endParaRPr lang="zh-CN" altLang="en-US" sz="1800"/>
                    </a:p>
                  </a:txBody>
                  <a:tcPr/>
                </a:tc>
              </a:tr>
              <a:tr h="726440">
                <a:tc>
                  <a:txBody>
                    <a:bodyPr/>
                    <a:lstStyle/>
                    <a:p>
                      <a:pPr>
                        <a:buNone/>
                      </a:pPr>
                      <a:r>
                        <a:rPr lang="zh-CN" altLang="en-US" sz="1800">
                          <a:solidFill>
                            <a:srgbClr val="FF0000"/>
                          </a:solidFill>
                        </a:rPr>
                        <a:t>土地</a:t>
                      </a:r>
                      <a:endParaRPr lang="zh-CN" altLang="en-US" sz="1800">
                        <a:solidFill>
                          <a:srgbClr val="FF0000"/>
                        </a:solidFill>
                      </a:endParaRPr>
                    </a:p>
                    <a:p>
                      <a:pPr>
                        <a:buNone/>
                      </a:pPr>
                      <a:r>
                        <a:rPr lang="en-US" altLang="zh-CN" sz="1800">
                          <a:solidFill>
                            <a:srgbClr val="FF0000"/>
                          </a:solidFill>
                        </a:rPr>
                        <a:t>(</a:t>
                      </a:r>
                      <a:r>
                        <a:rPr lang="zh-CN" altLang="en-US" sz="1800">
                          <a:solidFill>
                            <a:srgbClr val="FF0000"/>
                          </a:solidFill>
                        </a:rPr>
                        <a:t>公顷）</a:t>
                      </a:r>
                      <a:endParaRPr lang="en-US" altLang="zh-CN" sz="1800">
                        <a:solidFill>
                          <a:srgbClr val="FF0000"/>
                        </a:solidFill>
                      </a:endParaRPr>
                    </a:p>
                    <a:p>
                      <a:pPr>
                        <a:buNone/>
                      </a:pPr>
                      <a:endParaRPr lang="en-US" altLang="zh-CN" sz="1800">
                        <a:solidFill>
                          <a:srgbClr val="FF0000"/>
                        </a:solidFill>
                      </a:endParaRPr>
                    </a:p>
                  </a:txBody>
                  <a:tcPr/>
                </a:tc>
                <a:tc>
                  <a:txBody>
                    <a:bodyPr/>
                    <a:lstStyle/>
                    <a:p>
                      <a:pPr>
                        <a:buNone/>
                      </a:pPr>
                      <a:r>
                        <a:rPr lang="en-US" altLang="zh-CN" sz="1800">
                          <a:solidFill>
                            <a:srgbClr val="FF0000"/>
                          </a:solidFill>
                        </a:rPr>
                        <a:t>1</a:t>
                      </a:r>
                      <a:endParaRPr lang="en-US" altLang="zh-CN" sz="1800">
                        <a:solidFill>
                          <a:srgbClr val="FF0000"/>
                        </a:solidFill>
                      </a:endParaRPr>
                    </a:p>
                  </a:txBody>
                  <a:tcPr/>
                </a:tc>
                <a:tc>
                  <a:txBody>
                    <a:bodyPr/>
                    <a:lstStyle/>
                    <a:p>
                      <a:pPr>
                        <a:buNone/>
                      </a:pPr>
                      <a:r>
                        <a:rPr lang="en-US" altLang="zh-CN" sz="1800">
                          <a:solidFill>
                            <a:srgbClr val="FF0000"/>
                          </a:solidFill>
                        </a:rPr>
                        <a:t>1</a:t>
                      </a:r>
                      <a:endParaRPr lang="en-US" altLang="zh-CN" sz="1800">
                        <a:solidFill>
                          <a:srgbClr val="FF0000"/>
                        </a:solidFill>
                      </a:endParaRPr>
                    </a:p>
                  </a:txBody>
                  <a:tcPr/>
                </a:tc>
                <a:tc>
                  <a:txBody>
                    <a:bodyPr/>
                    <a:lstStyle/>
                    <a:p>
                      <a:pPr>
                        <a:buNone/>
                      </a:pPr>
                      <a:r>
                        <a:rPr lang="en-US" altLang="zh-CN" sz="1800">
                          <a:solidFill>
                            <a:srgbClr val="FF0000"/>
                          </a:solidFill>
                        </a:rPr>
                        <a:t>1</a:t>
                      </a:r>
                      <a:endParaRPr lang="en-US" altLang="zh-CN" sz="1800">
                        <a:solidFill>
                          <a:srgbClr val="FF0000"/>
                        </a:solidFill>
                      </a:endParaRPr>
                    </a:p>
                  </a:txBody>
                  <a:tcPr/>
                </a:tc>
                <a:tc>
                  <a:txBody>
                    <a:bodyPr/>
                    <a:lstStyle/>
                    <a:p>
                      <a:pPr>
                        <a:buNone/>
                      </a:pPr>
                      <a:r>
                        <a:rPr lang="en-US" altLang="zh-CN" sz="1800">
                          <a:solidFill>
                            <a:srgbClr val="FF0000"/>
                          </a:solidFill>
                        </a:rPr>
                        <a:t>1.5/</a:t>
                      </a:r>
                      <a:r>
                        <a:rPr lang="zh-CN" altLang="zh-CN" sz="1800">
                          <a:solidFill>
                            <a:srgbClr val="FF0000"/>
                          </a:solidFill>
                        </a:rPr>
                        <a:t>头</a:t>
                      </a:r>
                      <a:endParaRPr lang="zh-CN" altLang="zh-CN" sz="1800">
                        <a:solidFill>
                          <a:srgbClr val="FF0000"/>
                        </a:solidFill>
                      </a:endParaRPr>
                    </a:p>
                  </a:txBody>
                  <a:tcPr/>
                </a:tc>
                <a:tc>
                  <a:txBody>
                    <a:bodyPr/>
                    <a:lstStyle/>
                    <a:p>
                      <a:pPr>
                        <a:buNone/>
                      </a:pPr>
                      <a:endParaRPr lang="zh-CN" altLang="en-US" sz="1800">
                        <a:solidFill>
                          <a:srgbClr val="FF0000"/>
                        </a:solidFill>
                      </a:endParaRPr>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zh-CN" altLang="en-US" sz="1800" b="0"/>
                    </a:p>
                  </a:txBody>
                  <a:tcPr/>
                </a:tc>
                <a:tc>
                  <a:txBody>
                    <a:bodyPr/>
                    <a:lstStyle/>
                    <a:p>
                      <a:pPr>
                        <a:buNone/>
                      </a:pPr>
                      <a:r>
                        <a:rPr lang="en-US" altLang="zh-CN" sz="1800" b="0">
                          <a:solidFill>
                            <a:srgbClr val="FF0000"/>
                          </a:solidFill>
                        </a:rPr>
                        <a:t>100</a:t>
                      </a:r>
                      <a:endParaRPr lang="en-US" altLang="zh-CN" sz="1800" b="0">
                        <a:solidFill>
                          <a:srgbClr val="FF0000"/>
                        </a:solidFill>
                      </a:endParaRPr>
                    </a:p>
                  </a:txBody>
                  <a:tcPr/>
                </a:tc>
                <a:tc>
                  <a:txBody>
                    <a:bodyPr/>
                    <a:lstStyle/>
                    <a:p>
                      <a:pPr>
                        <a:buNone/>
                      </a:pPr>
                      <a:endParaRPr lang="zh-CN" altLang="en-US" sz="1800"/>
                    </a:p>
                  </a:txBody>
                  <a:tcPr/>
                </a:tc>
              </a:tr>
              <a:tr h="726440">
                <a:tc>
                  <a:txBody>
                    <a:bodyPr/>
                    <a:lstStyle/>
                    <a:p>
                      <a:pPr>
                        <a:buNone/>
                      </a:pPr>
                      <a:r>
                        <a:rPr lang="zh-CN" altLang="en-US" sz="1800">
                          <a:solidFill>
                            <a:srgbClr val="FF0000"/>
                          </a:solidFill>
                        </a:rPr>
                        <a:t>资金</a:t>
                      </a:r>
                      <a:endParaRPr lang="zh-CN" altLang="en-US" sz="1800">
                        <a:solidFill>
                          <a:srgbClr val="FF0000"/>
                        </a:solidFill>
                      </a:endParaRPr>
                    </a:p>
                    <a:p>
                      <a:pPr>
                        <a:buNone/>
                      </a:pPr>
                      <a:r>
                        <a:rPr lang="zh-CN" altLang="en-US" sz="1800">
                          <a:solidFill>
                            <a:srgbClr val="FF0000"/>
                          </a:solidFill>
                        </a:rPr>
                        <a:t>（元）</a:t>
                      </a:r>
                      <a:endParaRPr lang="zh-CN" altLang="en-US" sz="1800">
                        <a:solidFill>
                          <a:srgbClr val="FF0000"/>
                        </a:solidFill>
                      </a:endParaRPr>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r>
                        <a:rPr lang="en-US" altLang="zh-CN" sz="1800">
                          <a:solidFill>
                            <a:srgbClr val="FF0000"/>
                          </a:solidFill>
                        </a:rPr>
                        <a:t>400/</a:t>
                      </a:r>
                      <a:r>
                        <a:rPr lang="zh-CN" altLang="en-US" sz="1800">
                          <a:solidFill>
                            <a:srgbClr val="FF0000"/>
                          </a:solidFill>
                          <a:sym typeface="+mn-ea"/>
                        </a:rPr>
                        <a:t>头</a:t>
                      </a:r>
                      <a:endParaRPr lang="zh-CN" altLang="en-US" sz="1800">
                        <a:solidFill>
                          <a:srgbClr val="FF0000"/>
                        </a:solidFill>
                      </a:endParaRPr>
                    </a:p>
                  </a:txBody>
                  <a:tcPr/>
                </a:tc>
                <a:tc>
                  <a:txBody>
                    <a:bodyPr/>
                    <a:lstStyle/>
                    <a:p>
                      <a:pPr>
                        <a:buNone/>
                      </a:pPr>
                      <a:r>
                        <a:rPr lang="en-US" altLang="zh-CN" sz="1800">
                          <a:solidFill>
                            <a:srgbClr val="FF0000"/>
                          </a:solidFill>
                        </a:rPr>
                        <a:t>3/</a:t>
                      </a:r>
                      <a:r>
                        <a:rPr lang="zh-CN" altLang="en-US" sz="1800">
                          <a:solidFill>
                            <a:srgbClr val="FF0000"/>
                          </a:solidFill>
                          <a:sym typeface="+mn-ea"/>
                        </a:rPr>
                        <a:t>只</a:t>
                      </a:r>
                      <a:endParaRPr lang="en-US" altLang="zh-CN" sz="1800">
                        <a:solidFill>
                          <a:srgbClr val="FF0000"/>
                        </a:solidFill>
                      </a:endParaRPr>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r>
                        <a:rPr lang="en-US" altLang="zh-CN" sz="1800">
                          <a:solidFill>
                            <a:srgbClr val="FF0000"/>
                          </a:solidFill>
                          <a:sym typeface="+mn-ea"/>
                        </a:rPr>
                        <a:t>15000</a:t>
                      </a:r>
                      <a:endParaRPr lang="en-US" altLang="zh-CN" sz="1800">
                        <a:solidFill>
                          <a:srgbClr val="FF0000"/>
                        </a:solidFill>
                      </a:endParaRPr>
                    </a:p>
                    <a:p>
                      <a:pPr>
                        <a:buNone/>
                      </a:pPr>
                      <a:endParaRPr lang="en-US" altLang="zh-CN" sz="1800">
                        <a:solidFill>
                          <a:srgbClr val="FF0000"/>
                        </a:solidFill>
                      </a:endParaRPr>
                    </a:p>
                  </a:txBody>
                  <a:tcPr/>
                </a:tc>
              </a:tr>
              <a:tr h="726440">
                <a:tc>
                  <a:txBody>
                    <a:bodyPr/>
                    <a:lstStyle/>
                    <a:p>
                      <a:pPr>
                        <a:buNone/>
                      </a:pPr>
                      <a:r>
                        <a:rPr lang="zh-CN" altLang="en-US" sz="1800">
                          <a:solidFill>
                            <a:srgbClr val="FF0000"/>
                          </a:solidFill>
                        </a:rPr>
                        <a:t>限制</a:t>
                      </a:r>
                      <a:endParaRPr lang="zh-CN" altLang="en-US" sz="1800">
                        <a:solidFill>
                          <a:srgbClr val="FF0000"/>
                        </a:solidFill>
                      </a:endParaRPr>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r>
                        <a:rPr lang="en-US" altLang="zh-CN" sz="1800">
                          <a:solidFill>
                            <a:srgbClr val="FF0000"/>
                          </a:solidFill>
                        </a:rPr>
                        <a:t>32</a:t>
                      </a:r>
                      <a:endParaRPr lang="en-US" altLang="zh-CN" sz="1800">
                        <a:solidFill>
                          <a:srgbClr val="FF0000"/>
                        </a:solidFill>
                      </a:endParaRPr>
                    </a:p>
                  </a:txBody>
                  <a:tcPr/>
                </a:tc>
                <a:tc>
                  <a:txBody>
                    <a:bodyPr/>
                    <a:lstStyle/>
                    <a:p>
                      <a:pPr>
                        <a:buNone/>
                      </a:pPr>
                      <a:r>
                        <a:rPr lang="en-US" altLang="zh-CN" sz="1800">
                          <a:solidFill>
                            <a:srgbClr val="FF0000"/>
                          </a:solidFill>
                        </a:rPr>
                        <a:t>3000</a:t>
                      </a:r>
                      <a:endParaRPr lang="en-US" altLang="zh-CN" sz="1800">
                        <a:solidFill>
                          <a:srgbClr val="FF0000"/>
                        </a:solidFill>
                      </a:endParaRPr>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zh-CN" altLang="en-US" sz="1800"/>
                    </a:p>
                  </a:txBody>
                  <a:tcPr/>
                </a:tc>
                <a:tc>
                  <a:txBody>
                    <a:bodyPr/>
                    <a:lstStyle/>
                    <a:p>
                      <a:pPr>
                        <a:buNone/>
                      </a:pPr>
                      <a:endParaRPr lang="en-US" altLang="zh-CN" sz="1800">
                        <a:solidFill>
                          <a:srgbClr val="FF0000"/>
                        </a:solidFill>
                      </a:endParaRPr>
                    </a:p>
                  </a:txBody>
                  <a:tcPr/>
                </a:tc>
              </a:tr>
            </a:tbl>
          </a:graphicData>
        </a:graphic>
      </p:graphicFrame>
      <p:sp>
        <p:nvSpPr>
          <p:cNvPr id="5" name="文本框 4"/>
          <p:cNvSpPr txBox="1"/>
          <p:nvPr/>
        </p:nvSpPr>
        <p:spPr>
          <a:xfrm>
            <a:off x="452755" y="1231900"/>
            <a:ext cx="2599055" cy="645160"/>
          </a:xfrm>
          <a:prstGeom prst="rect">
            <a:avLst/>
          </a:prstGeom>
          <a:noFill/>
        </p:spPr>
        <p:txBody>
          <a:bodyPr wrap="square" rtlCol="0" anchor="t">
            <a:spAutoFit/>
          </a:bodyPr>
          <a:lstStyle/>
          <a:p>
            <a:r>
              <a:rPr lang="zh-CN" altLang="en-US">
                <a:solidFill>
                  <a:srgbClr val="FF0000"/>
                </a:solidFill>
              </a:rPr>
              <a:t>表</a:t>
            </a:r>
            <a:r>
              <a:rPr lang="en-US" altLang="zh-CN">
                <a:solidFill>
                  <a:srgbClr val="FF0000"/>
                </a:solidFill>
              </a:rPr>
              <a:t>4 </a:t>
            </a:r>
            <a:r>
              <a:rPr lang="zh-CN" altLang="en-US">
                <a:solidFill>
                  <a:srgbClr val="FF0000"/>
                </a:solidFill>
              </a:rPr>
              <a:t>限制表</a:t>
            </a:r>
            <a:endParaRPr lang="zh-CN" altLang="en-US">
              <a:solidFill>
                <a:srgbClr val="FF0000"/>
              </a:solidFill>
            </a:endParaRPr>
          </a:p>
          <a:p>
            <a:endParaRPr lang="zh-CN" altLang="en-US">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charset="0"/>
              <a:buChar char="n"/>
            </a:pPr>
            <a:r>
              <a:rPr lang="zh-CN" altLang="en-US" b="1" dirty="0">
                <a:solidFill>
                  <a:schemeClr val="tx1"/>
                </a:solidFill>
                <a:effectLst>
                  <a:outerShdw blurRad="38100" dist="19050" dir="2700000" algn="tl" rotWithShape="0">
                    <a:schemeClr val="dk1">
                      <a:alpha val="40000"/>
                    </a:schemeClr>
                  </a:outerShdw>
                </a:effectLst>
                <a:sym typeface="+mn-ea"/>
              </a:rPr>
              <a:t>农场经营方案问题</a:t>
            </a:r>
            <a:br>
              <a:rPr lang="zh-CN" altLang="en-US"/>
            </a:br>
            <a:endParaRPr lang="zh-CN" altLang="en-US"/>
          </a:p>
        </p:txBody>
      </p:sp>
      <p:sp>
        <p:nvSpPr>
          <p:cNvPr id="3" name="内容占位符 2"/>
          <p:cNvSpPr>
            <a:spLocks noGrp="1"/>
          </p:cNvSpPr>
          <p:nvPr>
            <p:ph idx="1"/>
          </p:nvPr>
        </p:nvSpPr>
        <p:spPr/>
        <p:txBody>
          <a:bodyPr/>
          <a:lstStyle/>
          <a:p>
            <a:r>
              <a:rPr lang="zh-CN" altLang="en-US"/>
              <a:t>解：设大豆、玉米、麦子分别为x</a:t>
            </a:r>
            <a:r>
              <a:rPr lang="zh-CN" altLang="en-US" baseline="-25000"/>
              <a:t>1</a:t>
            </a:r>
            <a:r>
              <a:rPr lang="zh-CN" altLang="en-US"/>
              <a:t>,x</a:t>
            </a:r>
            <a:r>
              <a:rPr lang="zh-CN" altLang="en-US" baseline="-25000"/>
              <a:t>2</a:t>
            </a:r>
            <a:r>
              <a:rPr lang="zh-CN" altLang="en-US"/>
              <a:t>,x</a:t>
            </a:r>
            <a:r>
              <a:rPr lang="zh-CN" altLang="en-US" baseline="-25000"/>
              <a:t>3</a:t>
            </a:r>
            <a:r>
              <a:rPr lang="zh-CN" altLang="en-US"/>
              <a:t>公顷，养牛x</a:t>
            </a:r>
            <a:r>
              <a:rPr lang="zh-CN" altLang="en-US" baseline="-25000"/>
              <a:t>4</a:t>
            </a:r>
            <a:r>
              <a:rPr lang="zh-CN" altLang="en-US"/>
              <a:t>只,养鸡x</a:t>
            </a:r>
            <a:r>
              <a:rPr lang="zh-CN" altLang="en-US" baseline="-25000"/>
              <a:t>5</a:t>
            </a:r>
            <a:r>
              <a:rPr lang="zh-CN" altLang="en-US"/>
              <a:t>只，秋冬打工人数x</a:t>
            </a:r>
            <a:r>
              <a:rPr lang="zh-CN" altLang="en-US" baseline="-25000"/>
              <a:t>6</a:t>
            </a:r>
            <a:r>
              <a:rPr lang="zh-CN" altLang="en-US"/>
              <a:t>，春夏打工人数x</a:t>
            </a:r>
            <a:r>
              <a:rPr lang="zh-CN" altLang="en-US" baseline="-25000"/>
              <a:t>7</a:t>
            </a:r>
            <a:endParaRPr lang="zh-CN" altLang="en-US" baseline="-25000"/>
          </a:p>
          <a:p>
            <a:endParaRPr lang="zh-CN" altLang="en-US" baseline="-25000">
              <a:solidFill>
                <a:schemeClr val="bg1">
                  <a:lumMod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tx1"/>
                </a:solidFill>
                <a:effectLst>
                  <a:outerShdw blurRad="38100" dist="19050" dir="2700000" algn="tl" rotWithShape="0">
                    <a:schemeClr val="dk1">
                      <a:alpha val="40000"/>
                    </a:schemeClr>
                  </a:outerShdw>
                </a:effectLst>
                <a:sym typeface="+mn-ea"/>
              </a:rPr>
              <a:t>农场经营方案问题</a:t>
            </a:r>
            <a:br>
              <a:rPr lang="zh-CN" altLang="en-US">
                <a:sym typeface="+mn-ea"/>
              </a:rPr>
            </a:br>
            <a:br>
              <a:rPr lang="zh-CN" altLang="en-US"/>
            </a:br>
            <a:endParaRPr lang="zh-CN" altLang="en-US"/>
          </a:p>
        </p:txBody>
      </p:sp>
      <p:sp>
        <p:nvSpPr>
          <p:cNvPr id="3" name="内容占位符 2"/>
          <p:cNvSpPr>
            <a:spLocks noGrp="1"/>
          </p:cNvSpPr>
          <p:nvPr>
            <p:ph idx="1"/>
          </p:nvPr>
        </p:nvSpPr>
        <p:spPr/>
        <p:txBody>
          <a:bodyPr/>
          <a:lstStyle/>
          <a:p>
            <a:r>
              <a:rPr lang="zh-CN" altLang="en-US"/>
              <a:t>约束条件：</a:t>
            </a:r>
            <a:endParaRPr lang="zh-CN" altLang="en-US"/>
          </a:p>
        </p:txBody>
      </p:sp>
      <p:graphicFrame>
        <p:nvGraphicFramePr>
          <p:cNvPr id="9220" name="对象 13318"/>
          <p:cNvGraphicFramePr/>
          <p:nvPr/>
        </p:nvGraphicFramePr>
        <p:xfrm>
          <a:off x="5005865" y="3830638"/>
          <a:ext cx="229235" cy="415925"/>
        </p:xfrm>
        <a:graphic>
          <a:graphicData uri="http://schemas.openxmlformats.org/presentationml/2006/ole">
            <mc:AlternateContent xmlns:mc="http://schemas.openxmlformats.org/markup-compatibility/2006">
              <mc:Choice xmlns:v="urn:schemas-microsoft-com:vml" Requires="v">
                <p:oleObj spid="_x0000_s7193" name="" r:id="rId1" imgW="114300" imgH="215900" progId="Equation.3">
                  <p:embed/>
                </p:oleObj>
              </mc:Choice>
              <mc:Fallback>
                <p:oleObj name="" r:id="rId1" imgW="114300" imgH="215900" progId="Equation.3">
                  <p:embed/>
                  <p:pic>
                    <p:nvPicPr>
                      <p:cNvPr id="0" name="图片 3075"/>
                      <p:cNvPicPr/>
                      <p:nvPr/>
                    </p:nvPicPr>
                    <p:blipFill>
                      <a:blip r:embed="rId2"/>
                      <a:stretch>
                        <a:fillRect/>
                      </a:stretch>
                    </p:blipFill>
                    <p:spPr>
                      <a:xfrm>
                        <a:off x="5005865" y="3830638"/>
                        <a:ext cx="229235" cy="415925"/>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4" name="对象 13318"/>
              <p:cNvSpPr txBox="1"/>
              <p:nvPr/>
            </p:nvSpPr>
            <p:spPr>
              <a:xfrm>
                <a:off x="1065213" y="2435225"/>
                <a:ext cx="7170737" cy="367665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d>
                        <m:dPr>
                          <m:begChr m:val="{"/>
                          <m:endChr m:val=""/>
                          <m:ctrlPr>
                            <a:rPr lang="zh-CN" altLang="en-US" i="1" smtClean="0">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5</m:t>
                              </m:r>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4</m:t>
                                  </m:r>
                                </m:sub>
                              </m:sSub>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100</m:t>
                              </m:r>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400</m:t>
                              </m:r>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5</m:t>
                                  </m:r>
                                </m:sub>
                              </m:sSub>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15000</m:t>
                              </m:r>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20</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35</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10</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10</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3500</m:t>
                              </m:r>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50</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75</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40</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7</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4000</m:t>
                              </m:r>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32</m:t>
                              </m:r>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3000</m:t>
                              </m:r>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&gt;=</m:t>
                              </m:r>
                              <m:r>
                                <a:rPr lang="zh-CN" altLang="en-US" i="1">
                                  <a:solidFill>
                                    <a:srgbClr val="000000"/>
                                  </a:solidFill>
                                  <a:latin typeface="Cambria Math" panose="02040503050406030204" pitchFamily="18" charset="0"/>
                                </a:rPr>
                                <m:t>0</m:t>
                              </m:r>
                            </m:e>
                          </m:eqArr>
                        </m:e>
                      </m:d>
                    </m:oMath>
                  </m:oMathPara>
                </a14:m>
                <a:br>
                  <a:rPr lang="zh-CN" altLang="en-US" dirty="0">
                    <a:solidFill>
                      <a:srgbClr val="000000"/>
                    </a:solidFill>
                  </a:rPr>
                </a:br>
                <a:endParaRPr lang="zh-CN" altLang="en-US" dirty="0"/>
              </a:p>
            </p:txBody>
          </p:sp>
        </mc:Choice>
        <mc:Fallback>
          <p:sp>
            <p:nvSpPr>
              <p:cNvPr id="4" name="对象 13318"/>
              <p:cNvSpPr txBox="1">
                <a:spLocks noRot="1" noChangeAspect="1" noMove="1" noResize="1" noEditPoints="1" noAdjustHandles="1" noChangeArrowheads="1" noChangeShapeType="1" noTextEdit="1"/>
              </p:cNvSpPr>
              <p:nvPr/>
            </p:nvSpPr>
            <p:spPr>
              <a:xfrm>
                <a:off x="1065213" y="2435225"/>
                <a:ext cx="7170737" cy="3676650"/>
              </a:xfrm>
              <a:prstGeom prst="rect">
                <a:avLst/>
              </a:prstGeom>
              <a:blipFill rotWithShape="1">
                <a:blip r:embed="rId3"/>
                <a:stretch>
                  <a:fillRect l="-4"/>
                </a:stretch>
              </a:blipFill>
              <a:ln w="38100">
                <a:noFill/>
                <a:miter/>
              </a:ln>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tx1"/>
                </a:solidFill>
                <a:effectLst>
                  <a:outerShdw blurRad="38100" dist="19050" dir="2700000" algn="tl" rotWithShape="0">
                    <a:schemeClr val="dk1">
                      <a:alpha val="40000"/>
                    </a:schemeClr>
                  </a:outerShdw>
                </a:effectLst>
                <a:sym typeface="+mn-ea"/>
              </a:rPr>
              <a:t>农场经营方案问题</a:t>
            </a:r>
            <a:br>
              <a:rPr lang="zh-CN" altLang="en-US">
                <a:sym typeface="+mn-ea"/>
              </a:rPr>
            </a:br>
            <a:endParaRPr lang="zh-CN" altLang="en-US"/>
          </a:p>
        </p:txBody>
      </p:sp>
      <p:sp>
        <p:nvSpPr>
          <p:cNvPr id="3" name="内容占位符 2"/>
          <p:cNvSpPr>
            <a:spLocks noGrp="1"/>
          </p:cNvSpPr>
          <p:nvPr>
            <p:ph idx="1"/>
          </p:nvPr>
        </p:nvSpPr>
        <p:spPr/>
        <p:txBody>
          <a:bodyPr/>
          <a:lstStyle/>
          <a:p>
            <a:r>
              <a:rPr lang="zh-CN" altLang="en-US" dirty="0"/>
              <a:t>目标函数</a:t>
            </a:r>
            <a:endParaRPr lang="zh-CN" altLang="en-US" dirty="0"/>
          </a:p>
        </p:txBody>
      </p:sp>
      <mc:AlternateContent xmlns:mc="http://schemas.openxmlformats.org/markup-compatibility/2006">
        <mc:Choice xmlns:a14="http://schemas.microsoft.com/office/drawing/2010/main" Requires="a14">
          <p:sp>
            <p:nvSpPr>
              <p:cNvPr id="6" name="对象 13318"/>
              <p:cNvSpPr txBox="1"/>
              <p:nvPr/>
            </p:nvSpPr>
            <p:spPr>
              <a:xfrm>
                <a:off x="1115616" y="2564904"/>
                <a:ext cx="7272338" cy="2670175"/>
              </a:xfrm>
              <a:prstGeom prst="rect">
                <a:avLst/>
              </a:prstGeom>
              <a:noFill/>
              <a:ln w="38100">
                <a:noFill/>
                <a:miter/>
              </a:ln>
            </p:spPr>
            <p:txBody>
              <a:bodyPr>
                <a:normAutofit/>
              </a:bodyPr>
              <a:lstStyle/>
              <a:p>
                <a:pPr>
                  <a:lnSpc>
                    <a:spcPct val="150000"/>
                  </a:lnSpc>
                </a:pPr>
                <a14:m>
                  <m:oMathPara xmlns:m="http://schemas.openxmlformats.org/officeDocument/2006/math">
                    <m:oMathParaPr>
                      <m:jc m:val="left"/>
                    </m:oMathParaPr>
                    <m:oMath xmlns:m="http://schemas.openxmlformats.org/officeDocument/2006/math">
                      <m:func>
                        <m:funcPr>
                          <m:ctrlPr>
                            <a:rPr lang="zh-CN" altLang="en-US" sz="2400" i="1" smtClean="0">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max</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175</m:t>
                      </m:r>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300</m:t>
                      </m:r>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120</m:t>
                      </m:r>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400</m:t>
                      </m:r>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4</m:t>
                          </m:r>
                        </m:sub>
                      </m:sSub>
                    </m:oMath>
                    <m:oMath xmlns:m="http://schemas.openxmlformats.org/officeDocument/2006/math">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60</m:t>
                      </m:r>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5</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60</m:t>
                      </m:r>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6</m:t>
                          </m:r>
                        </m:sub>
                      </m:sSub>
                      <m:r>
                        <a:rPr lang="en-US" altLang="zh-CN" sz="2400" i="1" smtClean="0">
                          <a:solidFill>
                            <a:srgbClr val="000000"/>
                          </a:solidFill>
                          <a:latin typeface="Cambria Math" panose="02040503050406030204" pitchFamily="18" charset="0"/>
                          <a:ea typeface="Cambria Math" panose="02040503050406030204" pitchFamily="18" charset="0"/>
                        </a:rPr>
                        <m:t>×</m:t>
                      </m:r>
                      <m:r>
                        <a:rPr lang="zh-CN" altLang="en-US" sz="2400" i="1">
                          <a:solidFill>
                            <a:srgbClr val="000000"/>
                          </a:solidFill>
                          <a:latin typeface="Cambria Math" panose="02040503050406030204" pitchFamily="18" charset="0"/>
                        </a:rPr>
                        <m:t>365</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50</m:t>
                      </m:r>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7</m:t>
                          </m:r>
                        </m:sub>
                      </m:sSub>
                      <m:r>
                        <a:rPr lang="en-US" altLang="zh-CN" sz="2400" i="1" smtClean="0">
                          <a:solidFill>
                            <a:srgbClr val="000000"/>
                          </a:solidFill>
                          <a:latin typeface="Cambria Math" panose="02040503050406030204" pitchFamily="18" charset="0"/>
                          <a:ea typeface="Cambria Math" panose="02040503050406030204" pitchFamily="18" charset="0"/>
                        </a:rPr>
                        <m:t>×</m:t>
                      </m:r>
                      <m:r>
                        <a:rPr lang="zh-CN" altLang="en-US" sz="2400" i="1">
                          <a:solidFill>
                            <a:srgbClr val="000000"/>
                          </a:solidFill>
                          <a:latin typeface="Cambria Math" panose="02040503050406030204" pitchFamily="18" charset="0"/>
                        </a:rPr>
                        <m:t>365</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2</m:t>
                      </m:r>
                    </m:oMath>
                  </m:oMathPara>
                </a14:m>
                <a:endParaRPr lang="zh-CN" altLang="en-US" dirty="0"/>
              </a:p>
            </p:txBody>
          </p:sp>
        </mc:Choice>
        <mc:Fallback>
          <p:sp>
            <p:nvSpPr>
              <p:cNvPr id="6" name="对象 13318"/>
              <p:cNvSpPr txBox="1">
                <a:spLocks noRot="1" noChangeAspect="1" noMove="1" noResize="1" noEditPoints="1" noAdjustHandles="1" noChangeArrowheads="1" noChangeShapeType="1" noTextEdit="1"/>
              </p:cNvSpPr>
              <p:nvPr/>
            </p:nvSpPr>
            <p:spPr>
              <a:xfrm>
                <a:off x="1115616" y="2564904"/>
                <a:ext cx="7272338" cy="2670175"/>
              </a:xfrm>
              <a:prstGeom prst="rect">
                <a:avLst/>
              </a:prstGeom>
              <a:blipFill rotWithShape="1">
                <a:blip r:embed="rId1"/>
                <a:stretch>
                  <a:fillRect l="-8" t="-5" r="3" b="5"/>
                </a:stretch>
              </a:blipFill>
              <a:ln w="38100">
                <a:noFill/>
                <a:miter/>
              </a:ln>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45057"/>
          <p:cNvSpPr>
            <a:spLocks noGrp="1" noRot="1"/>
          </p:cNvSpPr>
          <p:nvPr>
            <p:ph type="title"/>
          </p:nvPr>
        </p:nvSpPr>
        <p:spPr>
          <a:xfrm>
            <a:off x="1116013" y="765175"/>
            <a:ext cx="7772400" cy="533400"/>
          </a:xfrm>
        </p:spPr>
        <p:txBody>
          <a:bodyPr anchor="ctr" anchorCtr="0"/>
          <a:lstStyle/>
          <a:p>
            <a:pPr>
              <a:buClr>
                <a:schemeClr val="accent2"/>
              </a:buClr>
              <a:buSzPct val="150000"/>
              <a:buFont typeface="Wingdings" panose="05000000000000000000" charset="0"/>
            </a:pPr>
            <a:r>
              <a:rPr lang="en-US" altLang="zh-CN" sz="4000" b="1" dirty="0">
                <a:solidFill>
                  <a:schemeClr val="tx1"/>
                </a:solidFill>
                <a:ea typeface="黑体" panose="02010609060101010101" pitchFamily="2" charset="-122"/>
              </a:rPr>
              <a:t> </a:t>
            </a:r>
            <a:r>
              <a:rPr lang="en-US" altLang="zh-CN" sz="3600">
                <a:solidFill>
                  <a:schemeClr val="tx1"/>
                </a:solidFill>
                <a:ea typeface="黑体" panose="02010609060101010101" pitchFamily="2" charset="-122"/>
              </a:rPr>
              <a:t> </a:t>
            </a:r>
            <a:r>
              <a:rPr lang="zh-CN" altLang="en-US" sz="3600" dirty="0">
                <a:solidFill>
                  <a:schemeClr val="tx1"/>
                </a:solidFill>
                <a:ea typeface="黑体" panose="02010609060101010101" pitchFamily="2" charset="-122"/>
              </a:rPr>
              <a:t>农场种植计划模型</a:t>
            </a:r>
            <a:r>
              <a:rPr lang="zh-CN" altLang="en-US" sz="3600" b="1" dirty="0">
                <a:solidFill>
                  <a:schemeClr val="tx1"/>
                </a:solidFill>
              </a:rPr>
              <a:t> </a:t>
            </a:r>
            <a:endParaRPr lang="zh-CN" altLang="en-US" sz="3600" b="1">
              <a:solidFill>
                <a:schemeClr val="tx1"/>
              </a:solidFill>
            </a:endParaRPr>
          </a:p>
        </p:txBody>
      </p:sp>
      <p:sp>
        <p:nvSpPr>
          <p:cNvPr id="38914" name="文本占位符 45058"/>
          <p:cNvSpPr>
            <a:spLocks noGrp="1" noRot="1"/>
          </p:cNvSpPr>
          <p:nvPr>
            <p:ph idx="1"/>
          </p:nvPr>
        </p:nvSpPr>
        <p:spPr>
          <a:xfrm>
            <a:off x="983615" y="1363345"/>
            <a:ext cx="7981315" cy="4885055"/>
          </a:xfrm>
        </p:spPr>
        <p:txBody>
          <a:bodyPr anchor="t" anchorCtr="0"/>
          <a:lstStyle/>
          <a:p>
            <a:pPr marL="0" indent="0">
              <a:lnSpc>
                <a:spcPct val="120000"/>
              </a:lnSpc>
            </a:pPr>
            <a:r>
              <a:rPr lang="en-US" altLang="zh-CN" sz="2800" dirty="0">
                <a:latin typeface="Times New Roman" panose="02020603050405020304" pitchFamily="18" charset="0"/>
              </a:rPr>
              <a:t>    </a:t>
            </a:r>
            <a:r>
              <a:rPr lang="zh-CN" altLang="en-US" sz="2400" dirty="0">
                <a:latin typeface="Times New Roman" panose="02020603050405020304" pitchFamily="18" charset="0"/>
              </a:rPr>
              <a:t>某农场</a:t>
            </a:r>
            <a:r>
              <a:rPr lang="en-US" altLang="zh-CN" sz="2400" dirty="0">
                <a:latin typeface="Times New Roman" panose="02020603050405020304" pitchFamily="18" charset="0"/>
              </a:rPr>
              <a:t>I</a:t>
            </a:r>
            <a:r>
              <a:rPr lang="zh-CN" altLang="en-US" sz="2400" dirty="0">
                <a:latin typeface="Times New Roman" panose="02020603050405020304" pitchFamily="18" charset="0"/>
              </a:rPr>
              <a:t>、</a:t>
            </a:r>
            <a:r>
              <a:rPr lang="en-US" altLang="zh-CN" sz="2400" dirty="0">
                <a:latin typeface="Times New Roman" panose="02020603050405020304" pitchFamily="18" charset="0"/>
              </a:rPr>
              <a:t>II</a:t>
            </a:r>
            <a:r>
              <a:rPr lang="zh-CN" altLang="en-US" sz="2400" dirty="0">
                <a:latin typeface="Times New Roman" panose="02020603050405020304" pitchFamily="18" charset="0"/>
              </a:rPr>
              <a:t>、</a:t>
            </a:r>
            <a:r>
              <a:rPr lang="en-US" altLang="zh-CN" sz="2400" dirty="0">
                <a:latin typeface="Times New Roman" panose="02020603050405020304" pitchFamily="18" charset="0"/>
              </a:rPr>
              <a:t>III</a:t>
            </a:r>
            <a:r>
              <a:rPr lang="zh-CN" altLang="en-US" sz="2400" dirty="0">
                <a:latin typeface="Times New Roman" panose="02020603050405020304" pitchFamily="18" charset="0"/>
              </a:rPr>
              <a:t>耕地的面积分别为</a:t>
            </a:r>
            <a:r>
              <a:rPr lang="en-US" altLang="zh-CN" sz="2400">
                <a:latin typeface="Times New Roman" panose="02020603050405020304" pitchFamily="18" charset="0"/>
              </a:rPr>
              <a:t>100 hm</a:t>
            </a:r>
            <a:r>
              <a:rPr lang="en-US" altLang="zh-CN" sz="2400" baseline="30000">
                <a:latin typeface="Times New Roman" panose="02020603050405020304" pitchFamily="18" charset="0"/>
              </a:rPr>
              <a:t>2</a:t>
            </a:r>
            <a:r>
              <a:rPr lang="zh-CN" altLang="en-US" sz="2400">
                <a:latin typeface="Times New Roman" panose="02020603050405020304" pitchFamily="18" charset="0"/>
              </a:rPr>
              <a:t>、</a:t>
            </a:r>
            <a:r>
              <a:rPr lang="en-US" altLang="zh-CN" sz="2400">
                <a:latin typeface="Times New Roman" panose="02020603050405020304" pitchFamily="18" charset="0"/>
              </a:rPr>
              <a:t>300 hm</a:t>
            </a:r>
            <a:r>
              <a:rPr lang="en-US" altLang="zh-CN" sz="2400" baseline="30000">
                <a:latin typeface="Times New Roman" panose="02020603050405020304" pitchFamily="18" charset="0"/>
              </a:rPr>
              <a:t>2</a:t>
            </a:r>
            <a:r>
              <a:rPr lang="zh-CN" altLang="en-US" sz="2400">
                <a:latin typeface="Times New Roman" panose="02020603050405020304" pitchFamily="18" charset="0"/>
              </a:rPr>
              <a:t>和</a:t>
            </a:r>
            <a:r>
              <a:rPr lang="en-US" altLang="zh-CN" sz="2400">
                <a:latin typeface="Times New Roman" panose="02020603050405020304" pitchFamily="18" charset="0"/>
              </a:rPr>
              <a:t>200 hm</a:t>
            </a:r>
            <a:r>
              <a:rPr lang="en-US" altLang="zh-CN" sz="2400" baseline="30000">
                <a:latin typeface="Times New Roman" panose="02020603050405020304" pitchFamily="18" charset="0"/>
              </a:rPr>
              <a:t>2</a:t>
            </a:r>
            <a:r>
              <a:rPr lang="zh-CN" altLang="en-US" sz="2400" dirty="0">
                <a:latin typeface="Times New Roman" panose="02020603050405020304" pitchFamily="18" charset="0"/>
              </a:rPr>
              <a:t>，计划种植水稻、大豆和玉米，要求</a:t>
            </a:r>
            <a:r>
              <a:rPr lang="en-US" altLang="zh-CN" sz="2400" dirty="0">
                <a:latin typeface="Times New Roman" panose="02020603050405020304" pitchFamily="18" charset="0"/>
              </a:rPr>
              <a:t>3</a:t>
            </a:r>
            <a:r>
              <a:rPr lang="zh-CN" altLang="en-US" sz="2400" dirty="0">
                <a:latin typeface="Times New Roman" panose="02020603050405020304" pitchFamily="18" charset="0"/>
              </a:rPr>
              <a:t>种作物的最低收获量分别为</a:t>
            </a:r>
            <a:r>
              <a:rPr lang="en-US" altLang="zh-CN" sz="2400" dirty="0">
                <a:latin typeface="Times New Roman" panose="02020603050405020304" pitchFamily="18" charset="0"/>
              </a:rPr>
              <a:t>190 000 kg</a:t>
            </a:r>
            <a:r>
              <a:rPr lang="zh-CN" altLang="en-US" sz="2400" dirty="0">
                <a:latin typeface="Times New Roman" panose="02020603050405020304" pitchFamily="18" charset="0"/>
              </a:rPr>
              <a:t>、</a:t>
            </a:r>
            <a:r>
              <a:rPr lang="en-US" altLang="zh-CN" sz="2400" dirty="0">
                <a:latin typeface="Times New Roman" panose="02020603050405020304" pitchFamily="18" charset="0"/>
              </a:rPr>
              <a:t>130 000 kg</a:t>
            </a:r>
            <a:r>
              <a:rPr lang="zh-CN" altLang="en-US" sz="2400" dirty="0">
                <a:latin typeface="Times New Roman" panose="02020603050405020304" pitchFamily="18" charset="0"/>
              </a:rPr>
              <a:t>和</a:t>
            </a:r>
            <a:r>
              <a:rPr lang="en-US" altLang="zh-CN" sz="2400" dirty="0">
                <a:latin typeface="Times New Roman" panose="02020603050405020304" pitchFamily="18" charset="0"/>
              </a:rPr>
              <a:t>350 000 kg</a:t>
            </a:r>
            <a:r>
              <a:rPr lang="zh-CN" altLang="en-US" sz="2400" dirty="0">
                <a:latin typeface="Times New Roman" panose="02020603050405020304" pitchFamily="18" charset="0"/>
              </a:rPr>
              <a:t>。</a:t>
            </a:r>
            <a:r>
              <a:rPr lang="en-US" altLang="zh-CN" sz="2400" dirty="0">
                <a:latin typeface="Times New Roman" panose="02020603050405020304" pitchFamily="18" charset="0"/>
              </a:rPr>
              <a:t>I</a:t>
            </a:r>
            <a:r>
              <a:rPr lang="zh-CN" altLang="en-US" sz="2400" dirty="0">
                <a:latin typeface="Times New Roman" panose="02020603050405020304" pitchFamily="18" charset="0"/>
              </a:rPr>
              <a:t>、</a:t>
            </a:r>
            <a:r>
              <a:rPr lang="en-US" altLang="zh-CN" sz="2400" dirty="0">
                <a:latin typeface="Times New Roman" panose="02020603050405020304" pitchFamily="18" charset="0"/>
              </a:rPr>
              <a:t>II</a:t>
            </a:r>
            <a:r>
              <a:rPr lang="zh-CN" altLang="en-US" sz="2400" dirty="0">
                <a:latin typeface="Times New Roman" panose="02020603050405020304" pitchFamily="18" charset="0"/>
              </a:rPr>
              <a:t>、</a:t>
            </a:r>
            <a:r>
              <a:rPr lang="en-US" altLang="zh-CN" sz="2400" dirty="0">
                <a:latin typeface="Times New Roman" panose="02020603050405020304" pitchFamily="18" charset="0"/>
              </a:rPr>
              <a:t>III</a:t>
            </a:r>
            <a:r>
              <a:rPr lang="zh-CN" altLang="en-US" sz="2400" dirty="0">
                <a:latin typeface="Times New Roman" panose="02020603050405020304" pitchFamily="18" charset="0"/>
              </a:rPr>
              <a:t>等耕地种植</a:t>
            </a:r>
            <a:r>
              <a:rPr lang="en-US" altLang="zh-CN" sz="2400" dirty="0">
                <a:latin typeface="Times New Roman" panose="02020603050405020304" pitchFamily="18" charset="0"/>
              </a:rPr>
              <a:t>3</a:t>
            </a:r>
            <a:r>
              <a:rPr lang="zh-CN" altLang="en-US" sz="2400" dirty="0">
                <a:latin typeface="Times New Roman" panose="02020603050405020304" pitchFamily="18" charset="0"/>
              </a:rPr>
              <a:t>种作物的单产如表</a:t>
            </a:r>
            <a:r>
              <a:rPr lang="en-US" altLang="zh-CN" sz="2400" dirty="0">
                <a:latin typeface="Times New Roman" panose="02020603050405020304" pitchFamily="18" charset="0"/>
              </a:rPr>
              <a:t>1</a:t>
            </a:r>
            <a:r>
              <a:rPr lang="zh-CN" altLang="en-US" sz="2400" dirty="0">
                <a:latin typeface="Times New Roman" panose="02020603050405020304" pitchFamily="18" charset="0"/>
              </a:rPr>
              <a:t>所示。若</a:t>
            </a:r>
            <a:r>
              <a:rPr lang="en-US" altLang="zh-CN" sz="2400" dirty="0">
                <a:latin typeface="Times New Roman" panose="02020603050405020304" pitchFamily="18" charset="0"/>
              </a:rPr>
              <a:t>3</a:t>
            </a:r>
            <a:r>
              <a:rPr lang="zh-CN" altLang="en-US" sz="2400" dirty="0">
                <a:latin typeface="Times New Roman" panose="02020603050405020304" pitchFamily="18" charset="0"/>
              </a:rPr>
              <a:t>种作物的售价分别为水稻</a:t>
            </a:r>
            <a:r>
              <a:rPr lang="en-US" altLang="zh-CN" sz="2400">
                <a:latin typeface="Times New Roman" panose="02020603050405020304" pitchFamily="18" charset="0"/>
              </a:rPr>
              <a:t>1.20</a:t>
            </a:r>
            <a:r>
              <a:rPr lang="zh-CN" altLang="en-US" sz="2400">
                <a:latin typeface="Times New Roman" panose="02020603050405020304" pitchFamily="18" charset="0"/>
              </a:rPr>
              <a:t>元</a:t>
            </a:r>
            <a:r>
              <a:rPr lang="en-US" altLang="zh-CN" sz="2400">
                <a:latin typeface="Times New Roman" panose="02020603050405020304" pitchFamily="18" charset="0"/>
              </a:rPr>
              <a:t>/kg</a:t>
            </a:r>
            <a:r>
              <a:rPr lang="zh-CN" altLang="en-US" sz="2400" dirty="0">
                <a:latin typeface="Times New Roman" panose="02020603050405020304" pitchFamily="18" charset="0"/>
              </a:rPr>
              <a:t>，大豆</a:t>
            </a:r>
            <a:r>
              <a:rPr lang="en-US" altLang="zh-CN" sz="2400">
                <a:latin typeface="Times New Roman" panose="02020603050405020304" pitchFamily="18" charset="0"/>
              </a:rPr>
              <a:t>1.50</a:t>
            </a:r>
            <a:r>
              <a:rPr lang="zh-CN" altLang="en-US" sz="2400">
                <a:latin typeface="Times New Roman" panose="02020603050405020304" pitchFamily="18" charset="0"/>
              </a:rPr>
              <a:t>元</a:t>
            </a:r>
            <a:r>
              <a:rPr lang="en-US" altLang="zh-CN" sz="2400">
                <a:latin typeface="Times New Roman" panose="02020603050405020304" pitchFamily="18" charset="0"/>
              </a:rPr>
              <a:t>/ kg</a:t>
            </a:r>
            <a:r>
              <a:rPr lang="zh-CN" altLang="en-US" sz="2400" dirty="0">
                <a:latin typeface="Times New Roman" panose="02020603050405020304" pitchFamily="18" charset="0"/>
              </a:rPr>
              <a:t>，玉米</a:t>
            </a:r>
            <a:r>
              <a:rPr lang="en-US" altLang="zh-CN" sz="2400">
                <a:latin typeface="Times New Roman" panose="02020603050405020304" pitchFamily="18" charset="0"/>
              </a:rPr>
              <a:t>0.80</a:t>
            </a:r>
            <a:r>
              <a:rPr lang="zh-CN" altLang="en-US" sz="2400">
                <a:latin typeface="Times New Roman" panose="02020603050405020304" pitchFamily="18" charset="0"/>
              </a:rPr>
              <a:t>元</a:t>
            </a:r>
            <a:r>
              <a:rPr lang="en-US" altLang="zh-CN" sz="2400">
                <a:latin typeface="Times New Roman" panose="02020603050405020304" pitchFamily="18" charset="0"/>
              </a:rPr>
              <a:t>/kg</a:t>
            </a:r>
            <a:r>
              <a:rPr lang="zh-CN" altLang="en-US" sz="2400" dirty="0">
                <a:latin typeface="Times New Roman" panose="02020603050405020304" pitchFamily="18" charset="0"/>
              </a:rPr>
              <a:t>。那么，（</a:t>
            </a:r>
            <a:r>
              <a:rPr lang="en-US" altLang="zh-CN" sz="2400" dirty="0">
                <a:latin typeface="Times New Roman" panose="02020603050405020304" pitchFamily="18" charset="0"/>
              </a:rPr>
              <a:t>1</a:t>
            </a:r>
            <a:r>
              <a:rPr lang="zh-CN" altLang="en-US" sz="2400" dirty="0">
                <a:latin typeface="Times New Roman" panose="02020603050405020304" pitchFamily="18" charset="0"/>
              </a:rPr>
              <a:t>）如何制订种植计划，才能使总产量最大？（</a:t>
            </a:r>
            <a:r>
              <a:rPr lang="en-US" altLang="zh-CN" sz="2400" dirty="0">
                <a:latin typeface="Times New Roman" panose="02020603050405020304" pitchFamily="18" charset="0"/>
              </a:rPr>
              <a:t>2</a:t>
            </a:r>
            <a:r>
              <a:rPr lang="zh-CN" altLang="en-US" sz="2400" dirty="0">
                <a:latin typeface="Times New Roman" panose="02020603050405020304" pitchFamily="18" charset="0"/>
              </a:rPr>
              <a:t>）如何制订种植计划，才能使总产值最大？</a:t>
            </a:r>
            <a:endParaRPr lang="zh-CN" altLang="en-US" sz="2400"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框 109569"/>
          <p:cNvSpPr txBox="1"/>
          <p:nvPr/>
        </p:nvSpPr>
        <p:spPr>
          <a:xfrm>
            <a:off x="1295400" y="1219200"/>
            <a:ext cx="7848600" cy="534035"/>
          </a:xfrm>
          <a:prstGeom prst="rect">
            <a:avLst/>
          </a:prstGeom>
          <a:noFill/>
          <a:ln w="9525">
            <a:noFill/>
          </a:ln>
        </p:spPr>
        <p:txBody>
          <a:bodyPr anchor="t" anchorCtr="0">
            <a:spAutoFit/>
          </a:bodyPr>
          <a:lstStyle/>
          <a:p>
            <a:pPr algn="ctr">
              <a:lnSpc>
                <a:spcPct val="120000"/>
              </a:lnSpc>
              <a:spcBef>
                <a:spcPct val="20000"/>
              </a:spcBef>
              <a:buClr>
                <a:schemeClr val="accent2"/>
              </a:buClr>
              <a:buSzPct val="85000"/>
              <a:buFont typeface="Wingdings" panose="05000000000000000000" pitchFamily="2" charset="2"/>
            </a:pPr>
            <a:r>
              <a:rPr lang="zh-CN" altLang="en-US" sz="2400" dirty="0">
                <a:latin typeface="Times New Roman" panose="02020603050405020304" pitchFamily="18" charset="0"/>
                <a:ea typeface="黑体" panose="02010609060101010101" pitchFamily="2" charset="-122"/>
              </a:rPr>
              <a:t>表</a:t>
            </a:r>
            <a:r>
              <a:rPr lang="en-US" altLang="zh-CN" sz="2400" dirty="0">
                <a:latin typeface="Times New Roman" panose="02020603050405020304" pitchFamily="18" charset="0"/>
                <a:ea typeface="黑体" panose="02010609060101010101" pitchFamily="2" charset="-122"/>
              </a:rPr>
              <a:t>1  </a:t>
            </a:r>
            <a:r>
              <a:rPr lang="zh-CN" altLang="en-US" sz="2400" dirty="0">
                <a:latin typeface="Times New Roman" panose="02020603050405020304" pitchFamily="18" charset="0"/>
                <a:ea typeface="黑体" panose="02010609060101010101" pitchFamily="2" charset="-122"/>
              </a:rPr>
              <a:t>不同等级耕地种植不同作物的单产</a:t>
            </a:r>
            <a:r>
              <a:rPr lang="en-US" altLang="zh-CN" sz="2400" dirty="0">
                <a:latin typeface="Times New Roman" panose="02020603050405020304" pitchFamily="18" charset="0"/>
                <a:ea typeface="黑体" panose="02010609060101010101" pitchFamily="2" charset="-122"/>
              </a:rPr>
              <a:t>(</a:t>
            </a:r>
            <a:r>
              <a:rPr lang="zh-CN" altLang="en-US" sz="2400" dirty="0">
                <a:latin typeface="Times New Roman" panose="02020603050405020304" pitchFamily="18" charset="0"/>
                <a:ea typeface="黑体" panose="02010609060101010101" pitchFamily="2" charset="-122"/>
              </a:rPr>
              <a:t>单位</a:t>
            </a:r>
            <a:r>
              <a:rPr lang="en-US" altLang="zh-CN" sz="2400">
                <a:latin typeface="Times New Roman" panose="02020603050405020304" pitchFamily="18" charset="0"/>
                <a:ea typeface="黑体" panose="02010609060101010101" pitchFamily="2" charset="-122"/>
              </a:rPr>
              <a:t>:</a:t>
            </a:r>
            <a:r>
              <a:rPr lang="en-US" altLang="zh-CN" sz="2400" b="1">
                <a:latin typeface="Times New Roman" panose="02020603050405020304" pitchFamily="18" charset="0"/>
                <a:ea typeface="黑体" panose="02010609060101010101" pitchFamily="2" charset="-122"/>
              </a:rPr>
              <a:t>kg / hm</a:t>
            </a:r>
            <a:r>
              <a:rPr lang="en-US" altLang="zh-CN" sz="2400" b="1" baseline="30000">
                <a:latin typeface="Times New Roman" panose="02020603050405020304" pitchFamily="18" charset="0"/>
                <a:ea typeface="黑体" panose="02010609060101010101" pitchFamily="2" charset="-122"/>
              </a:rPr>
              <a:t>2</a:t>
            </a:r>
            <a:r>
              <a:rPr lang="en-US" altLang="zh-CN" sz="2400">
                <a:latin typeface="Times New Roman" panose="02020603050405020304" pitchFamily="18" charset="0"/>
                <a:ea typeface="黑体" panose="02010609060101010101" pitchFamily="2" charset="-122"/>
              </a:rPr>
              <a:t>)</a:t>
            </a:r>
            <a:endParaRPr lang="en-US" altLang="zh-CN" sz="2400">
              <a:latin typeface="Arial" panose="020B0604020202020204" pitchFamily="34" charset="0"/>
              <a:ea typeface="宋体" panose="02010600030101010101" pitchFamily="2" charset="-122"/>
            </a:endParaRPr>
          </a:p>
        </p:txBody>
      </p:sp>
      <p:grpSp>
        <p:nvGrpSpPr>
          <p:cNvPr id="39938" name="组合 109620"/>
          <p:cNvGrpSpPr/>
          <p:nvPr/>
        </p:nvGrpSpPr>
        <p:grpSpPr>
          <a:xfrm>
            <a:off x="1973580" y="2786380"/>
            <a:ext cx="5584825" cy="2447925"/>
            <a:chOff x="-3" y="-3"/>
            <a:chExt cx="3518" cy="1542"/>
          </a:xfrm>
        </p:grpSpPr>
        <p:grpSp>
          <p:nvGrpSpPr>
            <p:cNvPr id="39939" name="组合 109618"/>
            <p:cNvGrpSpPr/>
            <p:nvPr/>
          </p:nvGrpSpPr>
          <p:grpSpPr>
            <a:xfrm>
              <a:off x="0" y="0"/>
              <a:ext cx="3512" cy="1536"/>
              <a:chOff x="0" y="0"/>
              <a:chExt cx="3512" cy="1536"/>
            </a:xfrm>
          </p:grpSpPr>
          <p:grpSp>
            <p:nvGrpSpPr>
              <p:cNvPr id="39940" name="组合 109587"/>
              <p:cNvGrpSpPr/>
              <p:nvPr/>
            </p:nvGrpSpPr>
            <p:grpSpPr>
              <a:xfrm>
                <a:off x="0" y="0"/>
                <a:ext cx="878" cy="384"/>
                <a:chOff x="0" y="0"/>
                <a:chExt cx="878" cy="384"/>
              </a:xfrm>
            </p:grpSpPr>
            <p:sp>
              <p:nvSpPr>
                <p:cNvPr id="39941" name="矩形 109570"/>
                <p:cNvSpPr/>
                <p:nvPr/>
              </p:nvSpPr>
              <p:spPr>
                <a:xfrm>
                  <a:off x="43" y="0"/>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algn="ctr" eaLnBrk="0" hangingPunct="0"/>
                  <a:endParaRPr lang="en-US" altLang="zh-CN" sz="2400" dirty="0">
                    <a:latin typeface="Times New Roman" panose="02020603050405020304" pitchFamily="18" charset="0"/>
                    <a:ea typeface="宋体" panose="02010600030101010101" pitchFamily="2" charset="-122"/>
                  </a:endParaRPr>
                </a:p>
              </p:txBody>
            </p:sp>
            <p:sp>
              <p:nvSpPr>
                <p:cNvPr id="39942" name="矩形 109586"/>
                <p:cNvSpPr/>
                <p:nvPr/>
              </p:nvSpPr>
              <p:spPr>
                <a:xfrm>
                  <a:off x="0" y="0"/>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43" name="组合 109589"/>
              <p:cNvGrpSpPr/>
              <p:nvPr/>
            </p:nvGrpSpPr>
            <p:grpSpPr>
              <a:xfrm>
                <a:off x="878" y="0"/>
                <a:ext cx="878" cy="384"/>
                <a:chOff x="878" y="0"/>
                <a:chExt cx="878" cy="384"/>
              </a:xfrm>
            </p:grpSpPr>
            <p:sp>
              <p:nvSpPr>
                <p:cNvPr id="39944" name="矩形 109571"/>
                <p:cNvSpPr/>
                <p:nvPr/>
              </p:nvSpPr>
              <p:spPr>
                <a:xfrm>
                  <a:off x="921" y="0"/>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dirty="0">
                      <a:latin typeface="宋体" panose="02010600030101010101" pitchFamily="2" charset="-122"/>
                      <a:ea typeface="宋体" panose="02010600030101010101" pitchFamily="2" charset="-122"/>
                    </a:rPr>
                    <a:t>I</a:t>
                  </a:r>
                  <a:r>
                    <a:rPr lang="zh-CN" altLang="en-US" sz="1600" dirty="0">
                      <a:latin typeface="宋体" panose="02010600030101010101" pitchFamily="2" charset="-122"/>
                      <a:ea typeface="宋体" panose="02010600030101010101" pitchFamily="2" charset="-122"/>
                    </a:rPr>
                    <a:t>等</a:t>
                  </a:r>
                  <a:r>
                    <a:rPr lang="zh-CN" altLang="en-US" sz="1600" dirty="0">
                      <a:latin typeface="Arial" panose="020B0604020202020204" pitchFamily="34" charset="0"/>
                      <a:ea typeface="黑体" panose="02010609060101010101" pitchFamily="2" charset="-122"/>
                    </a:rPr>
                    <a:t>耕</a:t>
                  </a:r>
                  <a:r>
                    <a:rPr lang="zh-CN" altLang="en-US" sz="1600" dirty="0">
                      <a:latin typeface="宋体" panose="02010600030101010101" pitchFamily="2" charset="-122"/>
                      <a:ea typeface="宋体" panose="02010600030101010101" pitchFamily="2" charset="-122"/>
                    </a:rPr>
                    <a:t>地</a:t>
                  </a:r>
                  <a:endParaRPr lang="zh-CN" altLang="en-US" sz="2400" dirty="0">
                    <a:latin typeface="Times New Roman" panose="02020603050405020304" pitchFamily="18" charset="0"/>
                    <a:ea typeface="宋体" panose="02010600030101010101" pitchFamily="2" charset="-122"/>
                  </a:endParaRPr>
                </a:p>
              </p:txBody>
            </p:sp>
            <p:sp>
              <p:nvSpPr>
                <p:cNvPr id="39945" name="矩形 109588"/>
                <p:cNvSpPr/>
                <p:nvPr/>
              </p:nvSpPr>
              <p:spPr>
                <a:xfrm>
                  <a:off x="878" y="0"/>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46" name="组合 109591"/>
              <p:cNvGrpSpPr/>
              <p:nvPr/>
            </p:nvGrpSpPr>
            <p:grpSpPr>
              <a:xfrm>
                <a:off x="1756" y="0"/>
                <a:ext cx="878" cy="384"/>
                <a:chOff x="1756" y="0"/>
                <a:chExt cx="878" cy="384"/>
              </a:xfrm>
            </p:grpSpPr>
            <p:sp>
              <p:nvSpPr>
                <p:cNvPr id="39947" name="矩形 109572"/>
                <p:cNvSpPr/>
                <p:nvPr/>
              </p:nvSpPr>
              <p:spPr>
                <a:xfrm>
                  <a:off x="1799" y="0"/>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dirty="0">
                      <a:latin typeface="宋体" panose="02010600030101010101" pitchFamily="2" charset="-122"/>
                      <a:ea typeface="宋体" panose="02010600030101010101" pitchFamily="2" charset="-122"/>
                    </a:rPr>
                    <a:t>II</a:t>
                  </a:r>
                  <a:r>
                    <a:rPr lang="zh-CN" altLang="en-US" sz="1600" dirty="0">
                      <a:latin typeface="宋体" panose="02010600030101010101" pitchFamily="2" charset="-122"/>
                      <a:ea typeface="宋体" panose="02010600030101010101" pitchFamily="2" charset="-122"/>
                    </a:rPr>
                    <a:t>等</a:t>
                  </a:r>
                  <a:r>
                    <a:rPr lang="zh-CN" altLang="en-US" sz="1600" dirty="0">
                      <a:latin typeface="Arial" panose="020B0604020202020204" pitchFamily="34" charset="0"/>
                      <a:ea typeface="黑体" panose="02010609060101010101" pitchFamily="2" charset="-122"/>
                    </a:rPr>
                    <a:t>耕</a:t>
                  </a:r>
                  <a:r>
                    <a:rPr lang="zh-CN" altLang="en-US" sz="1600" dirty="0">
                      <a:latin typeface="宋体" panose="02010600030101010101" pitchFamily="2" charset="-122"/>
                      <a:ea typeface="宋体" panose="02010600030101010101" pitchFamily="2" charset="-122"/>
                    </a:rPr>
                    <a:t>地</a:t>
                  </a:r>
                  <a:endParaRPr lang="zh-CN" altLang="en-US" sz="1600" dirty="0">
                    <a:latin typeface="Times New Roman" panose="02020603050405020304" pitchFamily="18" charset="0"/>
                    <a:ea typeface="宋体" panose="02010600030101010101" pitchFamily="2" charset="-122"/>
                  </a:endParaRPr>
                </a:p>
              </p:txBody>
            </p:sp>
            <p:sp>
              <p:nvSpPr>
                <p:cNvPr id="39948" name="矩形 109590"/>
                <p:cNvSpPr/>
                <p:nvPr/>
              </p:nvSpPr>
              <p:spPr>
                <a:xfrm>
                  <a:off x="1756" y="0"/>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49" name="组合 109593"/>
              <p:cNvGrpSpPr/>
              <p:nvPr/>
            </p:nvGrpSpPr>
            <p:grpSpPr>
              <a:xfrm>
                <a:off x="2634" y="0"/>
                <a:ext cx="878" cy="384"/>
                <a:chOff x="2634" y="0"/>
                <a:chExt cx="878" cy="384"/>
              </a:xfrm>
            </p:grpSpPr>
            <p:sp>
              <p:nvSpPr>
                <p:cNvPr id="39950" name="矩形 109573"/>
                <p:cNvSpPr/>
                <p:nvPr/>
              </p:nvSpPr>
              <p:spPr>
                <a:xfrm>
                  <a:off x="2677" y="0"/>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dirty="0">
                      <a:latin typeface="宋体" panose="02010600030101010101" pitchFamily="2" charset="-122"/>
                      <a:ea typeface="宋体" panose="02010600030101010101" pitchFamily="2" charset="-122"/>
                    </a:rPr>
                    <a:t>III</a:t>
                  </a:r>
                  <a:r>
                    <a:rPr lang="zh-CN" altLang="en-US" sz="1600" dirty="0">
                      <a:latin typeface="宋体" panose="02010600030101010101" pitchFamily="2" charset="-122"/>
                      <a:ea typeface="宋体" panose="02010600030101010101" pitchFamily="2" charset="-122"/>
                    </a:rPr>
                    <a:t>等</a:t>
                  </a:r>
                  <a:r>
                    <a:rPr lang="zh-CN" altLang="en-US" sz="1600" dirty="0">
                      <a:latin typeface="Arial" panose="020B0604020202020204" pitchFamily="34" charset="0"/>
                      <a:ea typeface="黑体" panose="02010609060101010101" pitchFamily="2" charset="-122"/>
                    </a:rPr>
                    <a:t>耕</a:t>
                  </a:r>
                  <a:r>
                    <a:rPr lang="zh-CN" altLang="en-US" sz="1600" dirty="0">
                      <a:latin typeface="宋体" panose="02010600030101010101" pitchFamily="2" charset="-122"/>
                      <a:ea typeface="宋体" panose="02010600030101010101" pitchFamily="2" charset="-122"/>
                    </a:rPr>
                    <a:t>地</a:t>
                  </a:r>
                  <a:endParaRPr lang="zh-CN" altLang="en-US" sz="1600" dirty="0">
                    <a:latin typeface="Times New Roman" panose="02020603050405020304" pitchFamily="18" charset="0"/>
                    <a:ea typeface="宋体" panose="02010600030101010101" pitchFamily="2" charset="-122"/>
                  </a:endParaRPr>
                </a:p>
              </p:txBody>
            </p:sp>
            <p:sp>
              <p:nvSpPr>
                <p:cNvPr id="39951" name="矩形 109592"/>
                <p:cNvSpPr/>
                <p:nvPr/>
              </p:nvSpPr>
              <p:spPr>
                <a:xfrm>
                  <a:off x="2634" y="0"/>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52" name="组合 109595"/>
              <p:cNvGrpSpPr/>
              <p:nvPr/>
            </p:nvGrpSpPr>
            <p:grpSpPr>
              <a:xfrm>
                <a:off x="0" y="384"/>
                <a:ext cx="878" cy="384"/>
                <a:chOff x="0" y="384"/>
                <a:chExt cx="878" cy="384"/>
              </a:xfrm>
            </p:grpSpPr>
            <p:sp>
              <p:nvSpPr>
                <p:cNvPr id="39953" name="矩形 109574"/>
                <p:cNvSpPr/>
                <p:nvPr/>
              </p:nvSpPr>
              <p:spPr>
                <a:xfrm>
                  <a:off x="43" y="384"/>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zh-CN" altLang="en-US" sz="1600" dirty="0">
                      <a:latin typeface="宋体" panose="02010600030101010101" pitchFamily="2" charset="-122"/>
                      <a:ea typeface="宋体" panose="02010600030101010101" pitchFamily="2" charset="-122"/>
                    </a:rPr>
                    <a:t>水稻</a:t>
                  </a:r>
                  <a:endParaRPr lang="zh-CN" altLang="en-US" sz="1600" dirty="0">
                    <a:latin typeface="Times New Roman" panose="02020603050405020304" pitchFamily="18" charset="0"/>
                    <a:ea typeface="宋体" panose="02010600030101010101" pitchFamily="2" charset="-122"/>
                  </a:endParaRPr>
                </a:p>
              </p:txBody>
            </p:sp>
            <p:sp>
              <p:nvSpPr>
                <p:cNvPr id="39954" name="矩形 109594"/>
                <p:cNvSpPr/>
                <p:nvPr/>
              </p:nvSpPr>
              <p:spPr>
                <a:xfrm>
                  <a:off x="0" y="384"/>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55" name="组合 109597"/>
              <p:cNvGrpSpPr/>
              <p:nvPr/>
            </p:nvGrpSpPr>
            <p:grpSpPr>
              <a:xfrm>
                <a:off x="878" y="384"/>
                <a:ext cx="878" cy="384"/>
                <a:chOff x="878" y="384"/>
                <a:chExt cx="878" cy="384"/>
              </a:xfrm>
            </p:grpSpPr>
            <p:sp>
              <p:nvSpPr>
                <p:cNvPr id="39956" name="矩形 109575"/>
                <p:cNvSpPr/>
                <p:nvPr/>
              </p:nvSpPr>
              <p:spPr>
                <a:xfrm>
                  <a:off x="921" y="384"/>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11 000</a:t>
                  </a:r>
                  <a:endParaRPr lang="en-US" altLang="zh-CN" sz="1600">
                    <a:latin typeface="Times New Roman" panose="02020603050405020304" pitchFamily="18" charset="0"/>
                    <a:ea typeface="宋体" panose="02010600030101010101" pitchFamily="2" charset="-122"/>
                  </a:endParaRPr>
                </a:p>
              </p:txBody>
            </p:sp>
            <p:sp>
              <p:nvSpPr>
                <p:cNvPr id="39957" name="矩形 109596"/>
                <p:cNvSpPr/>
                <p:nvPr/>
              </p:nvSpPr>
              <p:spPr>
                <a:xfrm>
                  <a:off x="878" y="384"/>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58" name="组合 109599"/>
              <p:cNvGrpSpPr/>
              <p:nvPr/>
            </p:nvGrpSpPr>
            <p:grpSpPr>
              <a:xfrm>
                <a:off x="1756" y="384"/>
                <a:ext cx="878" cy="384"/>
                <a:chOff x="1756" y="384"/>
                <a:chExt cx="878" cy="384"/>
              </a:xfrm>
            </p:grpSpPr>
            <p:sp>
              <p:nvSpPr>
                <p:cNvPr id="39959" name="矩形 109576"/>
                <p:cNvSpPr/>
                <p:nvPr/>
              </p:nvSpPr>
              <p:spPr>
                <a:xfrm>
                  <a:off x="1799" y="384"/>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9 500</a:t>
                  </a:r>
                  <a:endParaRPr lang="en-US" altLang="zh-CN" sz="1600">
                    <a:latin typeface="Times New Roman" panose="02020603050405020304" pitchFamily="18" charset="0"/>
                    <a:ea typeface="宋体" panose="02010600030101010101" pitchFamily="2" charset="-122"/>
                  </a:endParaRPr>
                </a:p>
              </p:txBody>
            </p:sp>
            <p:sp>
              <p:nvSpPr>
                <p:cNvPr id="39960" name="矩形 109598"/>
                <p:cNvSpPr/>
                <p:nvPr/>
              </p:nvSpPr>
              <p:spPr>
                <a:xfrm>
                  <a:off x="1756" y="384"/>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61" name="组合 109601"/>
              <p:cNvGrpSpPr/>
              <p:nvPr/>
            </p:nvGrpSpPr>
            <p:grpSpPr>
              <a:xfrm>
                <a:off x="2634" y="384"/>
                <a:ext cx="878" cy="384"/>
                <a:chOff x="2634" y="384"/>
                <a:chExt cx="878" cy="384"/>
              </a:xfrm>
            </p:grpSpPr>
            <p:sp>
              <p:nvSpPr>
                <p:cNvPr id="39962" name="矩形 109577"/>
                <p:cNvSpPr/>
                <p:nvPr/>
              </p:nvSpPr>
              <p:spPr>
                <a:xfrm>
                  <a:off x="2677" y="384"/>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9 000</a:t>
                  </a:r>
                  <a:endParaRPr lang="en-US" altLang="zh-CN" sz="1600">
                    <a:latin typeface="Times New Roman" panose="02020603050405020304" pitchFamily="18" charset="0"/>
                    <a:ea typeface="宋体" panose="02010600030101010101" pitchFamily="2" charset="-122"/>
                  </a:endParaRPr>
                </a:p>
              </p:txBody>
            </p:sp>
            <p:sp>
              <p:nvSpPr>
                <p:cNvPr id="39963" name="矩形 109600"/>
                <p:cNvSpPr/>
                <p:nvPr/>
              </p:nvSpPr>
              <p:spPr>
                <a:xfrm>
                  <a:off x="2634" y="384"/>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64" name="组合 109603"/>
              <p:cNvGrpSpPr/>
              <p:nvPr/>
            </p:nvGrpSpPr>
            <p:grpSpPr>
              <a:xfrm>
                <a:off x="0" y="768"/>
                <a:ext cx="878" cy="384"/>
                <a:chOff x="0" y="768"/>
                <a:chExt cx="878" cy="384"/>
              </a:xfrm>
            </p:grpSpPr>
            <p:sp>
              <p:nvSpPr>
                <p:cNvPr id="39965" name="矩形 109578"/>
                <p:cNvSpPr/>
                <p:nvPr/>
              </p:nvSpPr>
              <p:spPr>
                <a:xfrm>
                  <a:off x="43" y="768"/>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zh-CN" altLang="en-US" sz="1600" dirty="0">
                      <a:latin typeface="Times New Roman" panose="02020603050405020304" pitchFamily="18" charset="0"/>
                      <a:ea typeface="宋体" panose="02010600030101010101" pitchFamily="2" charset="-122"/>
                    </a:rPr>
                    <a:t>大豆</a:t>
                  </a:r>
                  <a:endParaRPr lang="zh-CN" altLang="en-US" sz="1600" dirty="0">
                    <a:latin typeface="Times New Roman" panose="02020603050405020304" pitchFamily="18" charset="0"/>
                    <a:ea typeface="宋体" panose="02010600030101010101" pitchFamily="2" charset="-122"/>
                  </a:endParaRPr>
                </a:p>
              </p:txBody>
            </p:sp>
            <p:sp>
              <p:nvSpPr>
                <p:cNvPr id="39966" name="矩形 109602"/>
                <p:cNvSpPr/>
                <p:nvPr/>
              </p:nvSpPr>
              <p:spPr>
                <a:xfrm>
                  <a:off x="0" y="768"/>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67" name="组合 109605"/>
              <p:cNvGrpSpPr/>
              <p:nvPr/>
            </p:nvGrpSpPr>
            <p:grpSpPr>
              <a:xfrm>
                <a:off x="878" y="768"/>
                <a:ext cx="878" cy="384"/>
                <a:chOff x="878" y="768"/>
                <a:chExt cx="878" cy="384"/>
              </a:xfrm>
            </p:grpSpPr>
            <p:sp>
              <p:nvSpPr>
                <p:cNvPr id="39968" name="矩形 109579"/>
                <p:cNvSpPr/>
                <p:nvPr/>
              </p:nvSpPr>
              <p:spPr>
                <a:xfrm>
                  <a:off x="921" y="768"/>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8 000</a:t>
                  </a:r>
                  <a:endParaRPr lang="en-US" altLang="zh-CN" sz="1600">
                    <a:latin typeface="Times New Roman" panose="02020603050405020304" pitchFamily="18" charset="0"/>
                    <a:ea typeface="宋体" panose="02010600030101010101" pitchFamily="2" charset="-122"/>
                  </a:endParaRPr>
                </a:p>
              </p:txBody>
            </p:sp>
            <p:sp>
              <p:nvSpPr>
                <p:cNvPr id="39969" name="矩形 109604"/>
                <p:cNvSpPr/>
                <p:nvPr/>
              </p:nvSpPr>
              <p:spPr>
                <a:xfrm>
                  <a:off x="878" y="768"/>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70" name="组合 109607"/>
              <p:cNvGrpSpPr/>
              <p:nvPr/>
            </p:nvGrpSpPr>
            <p:grpSpPr>
              <a:xfrm>
                <a:off x="1756" y="768"/>
                <a:ext cx="878" cy="384"/>
                <a:chOff x="1756" y="768"/>
                <a:chExt cx="878" cy="384"/>
              </a:xfrm>
            </p:grpSpPr>
            <p:sp>
              <p:nvSpPr>
                <p:cNvPr id="39971" name="矩形 109580"/>
                <p:cNvSpPr/>
                <p:nvPr/>
              </p:nvSpPr>
              <p:spPr>
                <a:xfrm>
                  <a:off x="1799" y="768"/>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6 800</a:t>
                  </a:r>
                  <a:endParaRPr lang="en-US" altLang="zh-CN" sz="1600">
                    <a:latin typeface="Times New Roman" panose="02020603050405020304" pitchFamily="18" charset="0"/>
                    <a:ea typeface="宋体" panose="02010600030101010101" pitchFamily="2" charset="-122"/>
                  </a:endParaRPr>
                </a:p>
              </p:txBody>
            </p:sp>
            <p:sp>
              <p:nvSpPr>
                <p:cNvPr id="39972" name="矩形 109606"/>
                <p:cNvSpPr/>
                <p:nvPr/>
              </p:nvSpPr>
              <p:spPr>
                <a:xfrm>
                  <a:off x="1756" y="768"/>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73" name="组合 109609"/>
              <p:cNvGrpSpPr/>
              <p:nvPr/>
            </p:nvGrpSpPr>
            <p:grpSpPr>
              <a:xfrm>
                <a:off x="2634" y="768"/>
                <a:ext cx="878" cy="384"/>
                <a:chOff x="2634" y="768"/>
                <a:chExt cx="878" cy="384"/>
              </a:xfrm>
            </p:grpSpPr>
            <p:sp>
              <p:nvSpPr>
                <p:cNvPr id="39974" name="矩形 109581"/>
                <p:cNvSpPr/>
                <p:nvPr/>
              </p:nvSpPr>
              <p:spPr>
                <a:xfrm>
                  <a:off x="2677" y="768"/>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6 000</a:t>
                  </a:r>
                  <a:endParaRPr lang="en-US" altLang="zh-CN" sz="1600">
                    <a:latin typeface="Times New Roman" panose="02020603050405020304" pitchFamily="18" charset="0"/>
                    <a:ea typeface="宋体" panose="02010600030101010101" pitchFamily="2" charset="-122"/>
                  </a:endParaRPr>
                </a:p>
              </p:txBody>
            </p:sp>
            <p:sp>
              <p:nvSpPr>
                <p:cNvPr id="39975" name="矩形 109608"/>
                <p:cNvSpPr/>
                <p:nvPr/>
              </p:nvSpPr>
              <p:spPr>
                <a:xfrm>
                  <a:off x="2634" y="768"/>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76" name="组合 109611"/>
              <p:cNvGrpSpPr/>
              <p:nvPr/>
            </p:nvGrpSpPr>
            <p:grpSpPr>
              <a:xfrm>
                <a:off x="0" y="1152"/>
                <a:ext cx="878" cy="384"/>
                <a:chOff x="0" y="1152"/>
                <a:chExt cx="878" cy="384"/>
              </a:xfrm>
            </p:grpSpPr>
            <p:sp>
              <p:nvSpPr>
                <p:cNvPr id="39977" name="矩形 109582"/>
                <p:cNvSpPr/>
                <p:nvPr/>
              </p:nvSpPr>
              <p:spPr>
                <a:xfrm>
                  <a:off x="43" y="1152"/>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zh-CN" altLang="en-US" sz="1600" dirty="0">
                      <a:latin typeface="宋体" panose="02010600030101010101" pitchFamily="2" charset="-122"/>
                      <a:ea typeface="宋体" panose="02010600030101010101" pitchFamily="2" charset="-122"/>
                    </a:rPr>
                    <a:t>玉米</a:t>
                  </a:r>
                  <a:endParaRPr lang="zh-CN" altLang="en-US" sz="1600" dirty="0">
                    <a:latin typeface="Times New Roman" panose="02020603050405020304" pitchFamily="18" charset="0"/>
                    <a:ea typeface="宋体" panose="02010600030101010101" pitchFamily="2" charset="-122"/>
                  </a:endParaRPr>
                </a:p>
              </p:txBody>
            </p:sp>
            <p:sp>
              <p:nvSpPr>
                <p:cNvPr id="39978" name="矩形 109610"/>
                <p:cNvSpPr/>
                <p:nvPr/>
              </p:nvSpPr>
              <p:spPr>
                <a:xfrm>
                  <a:off x="0" y="1152"/>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79" name="组合 109613"/>
              <p:cNvGrpSpPr/>
              <p:nvPr/>
            </p:nvGrpSpPr>
            <p:grpSpPr>
              <a:xfrm>
                <a:off x="878" y="1152"/>
                <a:ext cx="878" cy="384"/>
                <a:chOff x="878" y="1152"/>
                <a:chExt cx="878" cy="384"/>
              </a:xfrm>
            </p:grpSpPr>
            <p:sp>
              <p:nvSpPr>
                <p:cNvPr id="39980" name="矩形 109583"/>
                <p:cNvSpPr/>
                <p:nvPr/>
              </p:nvSpPr>
              <p:spPr>
                <a:xfrm>
                  <a:off x="921" y="1152"/>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14 000</a:t>
                  </a:r>
                  <a:endParaRPr lang="en-US" altLang="zh-CN" sz="1600">
                    <a:latin typeface="Times New Roman" panose="02020603050405020304" pitchFamily="18" charset="0"/>
                    <a:ea typeface="宋体" panose="02010600030101010101" pitchFamily="2" charset="-122"/>
                  </a:endParaRPr>
                </a:p>
              </p:txBody>
            </p:sp>
            <p:sp>
              <p:nvSpPr>
                <p:cNvPr id="39981" name="矩形 109612"/>
                <p:cNvSpPr/>
                <p:nvPr/>
              </p:nvSpPr>
              <p:spPr>
                <a:xfrm>
                  <a:off x="878" y="1152"/>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82" name="组合 109615"/>
              <p:cNvGrpSpPr/>
              <p:nvPr/>
            </p:nvGrpSpPr>
            <p:grpSpPr>
              <a:xfrm>
                <a:off x="1756" y="1152"/>
                <a:ext cx="878" cy="384"/>
                <a:chOff x="1756" y="1152"/>
                <a:chExt cx="878" cy="384"/>
              </a:xfrm>
            </p:grpSpPr>
            <p:sp>
              <p:nvSpPr>
                <p:cNvPr id="39983" name="矩形 109584"/>
                <p:cNvSpPr/>
                <p:nvPr/>
              </p:nvSpPr>
              <p:spPr>
                <a:xfrm>
                  <a:off x="1799" y="1152"/>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12 000</a:t>
                  </a:r>
                  <a:endParaRPr lang="en-US" altLang="zh-CN" sz="1600">
                    <a:latin typeface="Times New Roman" panose="02020603050405020304" pitchFamily="18" charset="0"/>
                    <a:ea typeface="宋体" panose="02010600030101010101" pitchFamily="2" charset="-122"/>
                  </a:endParaRPr>
                </a:p>
              </p:txBody>
            </p:sp>
            <p:sp>
              <p:nvSpPr>
                <p:cNvPr id="39984" name="矩形 109614"/>
                <p:cNvSpPr/>
                <p:nvPr/>
              </p:nvSpPr>
              <p:spPr>
                <a:xfrm>
                  <a:off x="1756" y="1152"/>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85" name="组合 109617"/>
              <p:cNvGrpSpPr/>
              <p:nvPr/>
            </p:nvGrpSpPr>
            <p:grpSpPr>
              <a:xfrm>
                <a:off x="2634" y="1152"/>
                <a:ext cx="878" cy="384"/>
                <a:chOff x="2634" y="1152"/>
                <a:chExt cx="878" cy="384"/>
              </a:xfrm>
            </p:grpSpPr>
            <p:sp>
              <p:nvSpPr>
                <p:cNvPr id="39986" name="矩形 109585"/>
                <p:cNvSpPr/>
                <p:nvPr/>
              </p:nvSpPr>
              <p:spPr>
                <a:xfrm>
                  <a:off x="2677" y="1152"/>
                  <a:ext cx="792" cy="384"/>
                </a:xfrm>
                <a:prstGeom prst="rect">
                  <a:avLst/>
                </a:prstGeom>
                <a:solidFill>
                  <a:schemeClr val="accent1"/>
                </a:solidFill>
                <a:ln w="38100" cap="flat" cmpd="sng">
                  <a:solidFill>
                    <a:schemeClr val="accent2"/>
                  </a:solidFill>
                  <a:prstDash val="solid"/>
                  <a:miter/>
                  <a:headEnd type="none" w="med" len="med"/>
                  <a:tailEnd type="none" w="med" len="med"/>
                </a:ln>
              </p:spPr>
              <p:txBody>
                <a:bodyPr anchor="ctr" anchorCtr="0"/>
                <a:lstStyle/>
                <a:p>
                  <a:pPr algn="ctr"/>
                  <a:r>
                    <a:rPr lang="en-US" altLang="zh-CN" sz="1600">
                      <a:latin typeface="宋体" panose="02010600030101010101" pitchFamily="2" charset="-122"/>
                      <a:ea typeface="宋体" panose="02010600030101010101" pitchFamily="2" charset="-122"/>
                    </a:rPr>
                    <a:t>10 000</a:t>
                  </a:r>
                  <a:endParaRPr lang="en-US" altLang="zh-CN" sz="1600">
                    <a:latin typeface="Times New Roman" panose="02020603050405020304" pitchFamily="18" charset="0"/>
                    <a:ea typeface="宋体" panose="02010600030101010101" pitchFamily="2" charset="-122"/>
                  </a:endParaRPr>
                </a:p>
              </p:txBody>
            </p:sp>
            <p:sp>
              <p:nvSpPr>
                <p:cNvPr id="39987" name="矩形 109616"/>
                <p:cNvSpPr/>
                <p:nvPr/>
              </p:nvSpPr>
              <p:spPr>
                <a:xfrm>
                  <a:off x="2634" y="1152"/>
                  <a:ext cx="878" cy="384"/>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sp>
          <p:nvSpPr>
            <p:cNvPr id="39988" name="矩形 109619"/>
            <p:cNvSpPr/>
            <p:nvPr/>
          </p:nvSpPr>
          <p:spPr>
            <a:xfrm>
              <a:off x="-3" y="-3"/>
              <a:ext cx="3518" cy="1542"/>
            </a:xfrm>
            <a:prstGeom prst="rect">
              <a:avLst/>
            </a:prstGeom>
            <a:noFill/>
            <a:ln w="28575"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框 108545"/>
          <p:cNvSpPr txBox="1"/>
          <p:nvPr/>
        </p:nvSpPr>
        <p:spPr>
          <a:xfrm>
            <a:off x="1476375" y="914400"/>
            <a:ext cx="7210425" cy="5222240"/>
          </a:xfrm>
          <a:prstGeom prst="rect">
            <a:avLst/>
          </a:prstGeom>
          <a:noFill/>
          <a:ln w="9525">
            <a:noFill/>
          </a:ln>
        </p:spPr>
        <p:txBody>
          <a:bodyPr anchor="t" anchorCtr="0">
            <a:spAutoFit/>
          </a:bodyPr>
          <a:lstStyle/>
          <a:p>
            <a:pPr algn="just">
              <a:lnSpc>
                <a:spcPct val="120000"/>
              </a:lnSpc>
              <a:spcBef>
                <a:spcPct val="20000"/>
              </a:spcBef>
              <a:buClr>
                <a:schemeClr val="accent2"/>
              </a:buClr>
              <a:buSzPct val="85000"/>
              <a:buFont typeface="Wingdings" panose="05000000000000000000" pitchFamily="2" charset="2"/>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思路：对于上面的农场</a:t>
            </a:r>
            <a:r>
              <a:rPr lang="zh-CN" altLang="en-US" sz="2800" dirty="0">
                <a:latin typeface="宋体" panose="02010600030101010101" pitchFamily="2" charset="-122"/>
                <a:ea typeface="宋体" panose="02010600030101010101" pitchFamily="2" charset="-122"/>
              </a:rPr>
              <a:t>种植计划</a:t>
            </a:r>
            <a:r>
              <a:rPr lang="zh-CN" altLang="en-US" sz="2800" dirty="0">
                <a:latin typeface="Times New Roman" panose="02020603050405020304" pitchFamily="18" charset="0"/>
                <a:ea typeface="宋体" panose="02010600030101010101" pitchFamily="2" charset="-122"/>
              </a:rPr>
              <a:t>问题，我们可以用线性规划方法建立</a:t>
            </a:r>
            <a:r>
              <a:rPr lang="zh-CN" altLang="en-US" sz="2800" dirty="0">
                <a:latin typeface="宋体" panose="02010600030101010101" pitchFamily="2" charset="-122"/>
                <a:ea typeface="宋体" panose="02010600030101010101" pitchFamily="2" charset="-122"/>
              </a:rPr>
              <a:t>模型。用表来描述问题：</a:t>
            </a:r>
            <a:endParaRPr lang="zh-CN" altLang="en-US" sz="28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85000"/>
              <a:buFont typeface="Wingdings" panose="05000000000000000000" pitchFamily="2" charset="2"/>
            </a:pPr>
            <a:r>
              <a:rPr lang="zh-CN" altLang="en-US" sz="2800" dirty="0">
                <a:latin typeface="宋体" panose="02010600030101010101" pitchFamily="2" charset="-122"/>
                <a:ea typeface="宋体" panose="02010600030101010101" pitchFamily="2" charset="-122"/>
              </a:rPr>
              <a:t>    根据题意，决策变量设置</a:t>
            </a:r>
            <a:r>
              <a:rPr lang="zh-CN" altLang="en-US" sz="2800" dirty="0">
                <a:latin typeface="Times New Roman" panose="02020603050405020304" pitchFamily="18" charset="0"/>
                <a:ea typeface="宋体" panose="02010600030101010101" pitchFamily="2" charset="-122"/>
              </a:rPr>
              <a:t>如表</a:t>
            </a:r>
            <a:r>
              <a:rPr lang="en-US" altLang="zh-CN" sz="2800" dirty="0">
                <a:latin typeface="Times New Roman" panose="02020603050405020304" pitchFamily="18" charset="0"/>
                <a:ea typeface="宋体" panose="02010600030101010101" pitchFamily="2" charset="-122"/>
              </a:rPr>
              <a:t>2</a:t>
            </a:r>
            <a:r>
              <a:rPr lang="zh-CN" altLang="en-US" sz="2800" dirty="0">
                <a:latin typeface="Times New Roman" panose="02020603050405020304" pitchFamily="18" charset="0"/>
                <a:ea typeface="宋体" panose="02010600030101010101" pitchFamily="2" charset="-122"/>
              </a:rPr>
              <a:t>所示</a:t>
            </a:r>
            <a:r>
              <a:rPr lang="en-US" altLang="zh-CN" sz="2800">
                <a:latin typeface="宋体" panose="02010600030101010101" pitchFamily="2" charset="-122"/>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表中</a:t>
            </a:r>
            <a:r>
              <a:rPr lang="en-US" altLang="zh-CN" sz="2800" i="1">
                <a:latin typeface="Times New Roman" panose="02020603050405020304" pitchFamily="18" charset="0"/>
                <a:ea typeface="宋体" panose="02010600030101010101" pitchFamily="2" charset="-122"/>
              </a:rPr>
              <a:t>X</a:t>
            </a:r>
            <a:r>
              <a:rPr lang="en-US" altLang="zh-CN" sz="2800" i="1" baseline="-25000">
                <a:latin typeface="Times New Roman" panose="02020603050405020304" pitchFamily="18" charset="0"/>
                <a:ea typeface="宋体" panose="02010600030101010101" pitchFamily="2" charset="-122"/>
              </a:rPr>
              <a:t>ij</a:t>
            </a:r>
            <a:r>
              <a:rPr lang="zh-CN" altLang="en-US" sz="2800" dirty="0">
                <a:latin typeface="Times New Roman" panose="02020603050405020304" pitchFamily="18" charset="0"/>
                <a:ea typeface="宋体" panose="02010600030101010101" pitchFamily="2" charset="-122"/>
              </a:rPr>
              <a:t>表示在第</a:t>
            </a:r>
            <a:r>
              <a:rPr lang="en-US" altLang="zh-CN" sz="2800" i="1">
                <a:latin typeface="Times New Roman" panose="02020603050405020304" pitchFamily="18" charset="0"/>
                <a:ea typeface="宋体" panose="02010600030101010101" pitchFamily="2" charset="-122"/>
              </a:rPr>
              <a:t>j</a:t>
            </a:r>
            <a:r>
              <a:rPr lang="zh-CN" altLang="en-US" sz="2800" dirty="0">
                <a:latin typeface="Times New Roman" panose="02020603050405020304" pitchFamily="18" charset="0"/>
                <a:ea typeface="宋体" panose="02010600030101010101" pitchFamily="2" charset="-122"/>
              </a:rPr>
              <a:t>等级的耕地上种植第</a:t>
            </a:r>
            <a:r>
              <a:rPr lang="en-US" altLang="zh-CN" sz="2800" i="1">
                <a:latin typeface="Times New Roman" panose="02020603050405020304" pitchFamily="18" charset="0"/>
                <a:ea typeface="宋体" panose="02010600030101010101" pitchFamily="2" charset="-122"/>
              </a:rPr>
              <a:t>i</a:t>
            </a:r>
            <a:r>
              <a:rPr lang="zh-CN" altLang="en-US" sz="2800" dirty="0">
                <a:latin typeface="Times New Roman" panose="02020603050405020304" pitchFamily="18" charset="0"/>
                <a:ea typeface="宋体" panose="02010600030101010101" pitchFamily="2" charset="-122"/>
              </a:rPr>
              <a:t>种作物的面积。</a:t>
            </a:r>
            <a:endParaRPr lang="zh-CN" altLang="en-US" sz="2800" dirty="0">
              <a:latin typeface="Times New Roman" panose="02020603050405020304" pitchFamily="18" charset="0"/>
              <a:ea typeface="宋体" panose="02010600030101010101" pitchFamily="2" charset="-122"/>
            </a:endParaRPr>
          </a:p>
          <a:p>
            <a:pPr algn="just">
              <a:lnSpc>
                <a:spcPct val="120000"/>
              </a:lnSpc>
              <a:spcBef>
                <a:spcPct val="20000"/>
              </a:spcBef>
              <a:buClr>
                <a:schemeClr val="accent2"/>
              </a:buClr>
              <a:buSzPct val="85000"/>
              <a:buFont typeface="Wingdings" panose="05000000000000000000" pitchFamily="2" charset="2"/>
            </a:pPr>
            <a:r>
              <a:rPr lang="zh-CN" altLang="en-US" sz="2800" dirty="0">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种作物的产量可以用表</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表示。</a:t>
            </a:r>
            <a:r>
              <a:rPr lang="zh-CN" altLang="en-US" sz="2800" dirty="0">
                <a:latin typeface="Times New Roman" panose="02020603050405020304" pitchFamily="18" charset="0"/>
                <a:ea typeface="宋体" panose="02010600030101010101" pitchFamily="2" charset="-122"/>
              </a:rPr>
              <a:t> </a:t>
            </a:r>
            <a:endParaRPr lang="zh-CN" altLang="en-US" sz="28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85000"/>
              <a:buFont typeface="Wingdings" panose="05000000000000000000" pitchFamily="2" charset="2"/>
            </a:pPr>
            <a:endParaRPr lang="zh-CN" altLang="en-US" sz="2800" dirty="0">
              <a:latin typeface="Arial" panose="020B0604020202020204" pitchFamily="34" charset="0"/>
              <a:ea typeface="宋体" panose="02010600030101010101" pitchFamily="2" charset="-122"/>
            </a:endParaRPr>
          </a:p>
          <a:p>
            <a:pPr algn="ctr">
              <a:spcBef>
                <a:spcPct val="50000"/>
              </a:spcBef>
            </a:pPr>
            <a:endParaRPr lang="zh-CN" altLang="en-US" sz="3200">
              <a:latin typeface="Arial" panose="020B0604020202020204" pitchFamily="34"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5" name="组合 137358"/>
          <p:cNvGrpSpPr/>
          <p:nvPr/>
        </p:nvGrpSpPr>
        <p:grpSpPr>
          <a:xfrm>
            <a:off x="2195513" y="3933825"/>
            <a:ext cx="5943600" cy="2209800"/>
            <a:chOff x="-3" y="-3"/>
            <a:chExt cx="2986" cy="1542"/>
          </a:xfrm>
        </p:grpSpPr>
        <p:grpSp>
          <p:nvGrpSpPr>
            <p:cNvPr id="41986" name="组合 137356"/>
            <p:cNvGrpSpPr/>
            <p:nvPr/>
          </p:nvGrpSpPr>
          <p:grpSpPr>
            <a:xfrm>
              <a:off x="0" y="0"/>
              <a:ext cx="2980" cy="1536"/>
              <a:chOff x="0" y="0"/>
              <a:chExt cx="2980" cy="1536"/>
            </a:xfrm>
          </p:grpSpPr>
          <p:grpSp>
            <p:nvGrpSpPr>
              <p:cNvPr id="41987" name="组合 137341"/>
              <p:cNvGrpSpPr/>
              <p:nvPr/>
            </p:nvGrpSpPr>
            <p:grpSpPr>
              <a:xfrm>
                <a:off x="0" y="0"/>
                <a:ext cx="734" cy="384"/>
                <a:chOff x="0" y="0"/>
                <a:chExt cx="734" cy="384"/>
              </a:xfrm>
            </p:grpSpPr>
            <p:sp>
              <p:nvSpPr>
                <p:cNvPr id="41988" name="矩形 137332"/>
                <p:cNvSpPr/>
                <p:nvPr/>
              </p:nvSpPr>
              <p:spPr>
                <a:xfrm>
                  <a:off x="43" y="0"/>
                  <a:ext cx="648"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t" anchorCtr="0"/>
                <a:lstStyle/>
                <a:p>
                  <a:pPr algn="ctr"/>
                  <a:r>
                    <a:rPr lang="zh-CN" altLang="en-US" sz="1600" dirty="0">
                      <a:latin typeface="宋体" panose="02010600030101010101" pitchFamily="2" charset="-122"/>
                      <a:ea typeface="宋体" panose="02010600030101010101" pitchFamily="2" charset="-122"/>
                    </a:rPr>
                    <a:t>作物种类</a:t>
                  </a:r>
                  <a:endParaRPr lang="zh-CN" altLang="en-US" sz="1600" dirty="0">
                    <a:latin typeface="Times New Roman" panose="02020603050405020304" pitchFamily="18" charset="0"/>
                    <a:ea typeface="宋体" panose="02010600030101010101" pitchFamily="2" charset="-122"/>
                  </a:endParaRPr>
                </a:p>
              </p:txBody>
            </p:sp>
            <p:sp>
              <p:nvSpPr>
                <p:cNvPr id="41989" name="矩形 137340"/>
                <p:cNvSpPr/>
                <p:nvPr/>
              </p:nvSpPr>
              <p:spPr>
                <a:xfrm>
                  <a:off x="0" y="0"/>
                  <a:ext cx="734"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1990" name="组合 137343"/>
              <p:cNvGrpSpPr/>
              <p:nvPr/>
            </p:nvGrpSpPr>
            <p:grpSpPr>
              <a:xfrm>
                <a:off x="734" y="0"/>
                <a:ext cx="2246" cy="384"/>
                <a:chOff x="734" y="0"/>
                <a:chExt cx="2246" cy="384"/>
              </a:xfrm>
            </p:grpSpPr>
            <p:sp>
              <p:nvSpPr>
                <p:cNvPr id="41991" name="矩形 137333"/>
                <p:cNvSpPr/>
                <p:nvPr/>
              </p:nvSpPr>
              <p:spPr>
                <a:xfrm>
                  <a:off x="777" y="0"/>
                  <a:ext cx="2160"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t" anchorCtr="0"/>
                <a:lstStyle/>
                <a:p>
                  <a:pPr algn="ctr"/>
                  <a:endParaRPr lang="en-US" altLang="zh-CN" sz="1000" dirty="0">
                    <a:latin typeface="宋体" panose="02010600030101010101" pitchFamily="2" charset="-122"/>
                    <a:ea typeface="宋体" panose="02010600030101010101" pitchFamily="2" charset="-122"/>
                  </a:endParaRPr>
                </a:p>
                <a:p>
                  <a:pPr algn="ctr"/>
                  <a:r>
                    <a:rPr lang="zh-CN" altLang="en-US" sz="1600" dirty="0">
                      <a:latin typeface="宋体" panose="02010600030101010101" pitchFamily="2" charset="-122"/>
                      <a:ea typeface="宋体" panose="02010600030101010101" pitchFamily="2" charset="-122"/>
                    </a:rPr>
                    <a:t>总产量</a:t>
                  </a:r>
                  <a:endParaRPr lang="zh-CN" altLang="en-US" sz="1600" dirty="0">
                    <a:latin typeface="宋体" panose="02010600030101010101" pitchFamily="2" charset="-122"/>
                    <a:ea typeface="宋体" panose="02010600030101010101" pitchFamily="2" charset="-122"/>
                  </a:endParaRPr>
                </a:p>
              </p:txBody>
            </p:sp>
            <p:sp>
              <p:nvSpPr>
                <p:cNvPr id="41992" name="矩形 137342"/>
                <p:cNvSpPr/>
                <p:nvPr/>
              </p:nvSpPr>
              <p:spPr>
                <a:xfrm>
                  <a:off x="734" y="0"/>
                  <a:ext cx="224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1993" name="组合 137345"/>
              <p:cNvGrpSpPr/>
              <p:nvPr/>
            </p:nvGrpSpPr>
            <p:grpSpPr>
              <a:xfrm>
                <a:off x="0" y="384"/>
                <a:ext cx="734" cy="384"/>
                <a:chOff x="0" y="384"/>
                <a:chExt cx="734" cy="384"/>
              </a:xfrm>
            </p:grpSpPr>
            <p:sp>
              <p:nvSpPr>
                <p:cNvPr id="41994" name="矩形 137334"/>
                <p:cNvSpPr/>
                <p:nvPr/>
              </p:nvSpPr>
              <p:spPr>
                <a:xfrm>
                  <a:off x="43" y="384"/>
                  <a:ext cx="648"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zh-CN" altLang="en-US" sz="1600" dirty="0">
                      <a:latin typeface="宋体" panose="02010600030101010101" pitchFamily="2" charset="-122"/>
                      <a:ea typeface="宋体" panose="02010600030101010101" pitchFamily="2" charset="-122"/>
                    </a:rPr>
                    <a:t>水稻</a:t>
                  </a:r>
                  <a:endParaRPr lang="zh-CN" altLang="en-US" sz="1600" dirty="0">
                    <a:latin typeface="宋体" panose="02010600030101010101" pitchFamily="2" charset="-122"/>
                    <a:ea typeface="宋体" panose="02010600030101010101" pitchFamily="2" charset="-122"/>
                  </a:endParaRPr>
                </a:p>
              </p:txBody>
            </p:sp>
            <p:sp>
              <p:nvSpPr>
                <p:cNvPr id="41995" name="矩形 137344"/>
                <p:cNvSpPr/>
                <p:nvPr/>
              </p:nvSpPr>
              <p:spPr>
                <a:xfrm>
                  <a:off x="0" y="384"/>
                  <a:ext cx="734"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1996" name="组合 137347"/>
              <p:cNvGrpSpPr/>
              <p:nvPr/>
            </p:nvGrpSpPr>
            <p:grpSpPr>
              <a:xfrm>
                <a:off x="734" y="384"/>
                <a:ext cx="2246" cy="384"/>
                <a:chOff x="734" y="384"/>
                <a:chExt cx="2246" cy="384"/>
              </a:xfrm>
            </p:grpSpPr>
            <p:sp>
              <p:nvSpPr>
                <p:cNvPr id="41997" name="矩形 137335"/>
                <p:cNvSpPr>
                  <a:spLocks noTextEdit="1"/>
                </p:cNvSpPr>
                <p:nvPr/>
              </p:nvSpPr>
              <p:spPr>
                <a:xfrm>
                  <a:off x="777" y="384"/>
                  <a:ext cx="216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98" name="矩形 137346"/>
                <p:cNvSpPr/>
                <p:nvPr/>
              </p:nvSpPr>
              <p:spPr>
                <a:xfrm>
                  <a:off x="734" y="384"/>
                  <a:ext cx="224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1999" name="组合 137349"/>
              <p:cNvGrpSpPr/>
              <p:nvPr/>
            </p:nvGrpSpPr>
            <p:grpSpPr>
              <a:xfrm>
                <a:off x="0" y="768"/>
                <a:ext cx="734" cy="384"/>
                <a:chOff x="0" y="768"/>
                <a:chExt cx="734" cy="384"/>
              </a:xfrm>
            </p:grpSpPr>
            <p:sp>
              <p:nvSpPr>
                <p:cNvPr id="42000" name="矩形 137336"/>
                <p:cNvSpPr/>
                <p:nvPr/>
              </p:nvSpPr>
              <p:spPr>
                <a:xfrm>
                  <a:off x="43" y="768"/>
                  <a:ext cx="648"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zh-CN" altLang="en-US" sz="1600" dirty="0">
                      <a:latin typeface="宋体" panose="02010600030101010101" pitchFamily="2" charset="-122"/>
                      <a:ea typeface="宋体" panose="02010600030101010101" pitchFamily="2" charset="-122"/>
                    </a:rPr>
                    <a:t>大豆</a:t>
                  </a:r>
                  <a:endParaRPr lang="zh-CN" altLang="en-US" sz="1600" dirty="0">
                    <a:latin typeface="宋体" panose="02010600030101010101" pitchFamily="2" charset="-122"/>
                    <a:ea typeface="宋体" panose="02010600030101010101" pitchFamily="2" charset="-122"/>
                  </a:endParaRPr>
                </a:p>
              </p:txBody>
            </p:sp>
            <p:sp>
              <p:nvSpPr>
                <p:cNvPr id="42001" name="矩形 137348"/>
                <p:cNvSpPr/>
                <p:nvPr/>
              </p:nvSpPr>
              <p:spPr>
                <a:xfrm>
                  <a:off x="0" y="768"/>
                  <a:ext cx="734"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02" name="组合 137351"/>
              <p:cNvGrpSpPr/>
              <p:nvPr/>
            </p:nvGrpSpPr>
            <p:grpSpPr>
              <a:xfrm>
                <a:off x="734" y="768"/>
                <a:ext cx="2246" cy="384"/>
                <a:chOff x="734" y="768"/>
                <a:chExt cx="2246" cy="384"/>
              </a:xfrm>
            </p:grpSpPr>
            <p:sp>
              <p:nvSpPr>
                <p:cNvPr id="42003" name="矩形 137337"/>
                <p:cNvSpPr>
                  <a:spLocks noTextEdit="1"/>
                </p:cNvSpPr>
                <p:nvPr/>
              </p:nvSpPr>
              <p:spPr>
                <a:xfrm>
                  <a:off x="777" y="768"/>
                  <a:ext cx="216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04" name="矩形 137350"/>
                <p:cNvSpPr/>
                <p:nvPr/>
              </p:nvSpPr>
              <p:spPr>
                <a:xfrm>
                  <a:off x="734" y="768"/>
                  <a:ext cx="224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05" name="组合 137353"/>
              <p:cNvGrpSpPr/>
              <p:nvPr/>
            </p:nvGrpSpPr>
            <p:grpSpPr>
              <a:xfrm>
                <a:off x="0" y="1152"/>
                <a:ext cx="734" cy="384"/>
                <a:chOff x="0" y="1152"/>
                <a:chExt cx="734" cy="384"/>
              </a:xfrm>
            </p:grpSpPr>
            <p:sp>
              <p:nvSpPr>
                <p:cNvPr id="42006" name="矩形 137338"/>
                <p:cNvSpPr/>
                <p:nvPr/>
              </p:nvSpPr>
              <p:spPr>
                <a:xfrm>
                  <a:off x="43" y="1152"/>
                  <a:ext cx="648"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zh-CN" altLang="en-US" sz="1600" dirty="0">
                      <a:latin typeface="宋体" panose="02010600030101010101" pitchFamily="2" charset="-122"/>
                      <a:ea typeface="宋体" panose="02010600030101010101" pitchFamily="2" charset="-122"/>
                    </a:rPr>
                    <a:t>玉米</a:t>
                  </a:r>
                  <a:endParaRPr lang="zh-CN" altLang="en-US" sz="1600" dirty="0">
                    <a:latin typeface="宋体" panose="02010600030101010101" pitchFamily="2" charset="-122"/>
                    <a:ea typeface="宋体" panose="02010600030101010101" pitchFamily="2" charset="-122"/>
                  </a:endParaRPr>
                </a:p>
              </p:txBody>
            </p:sp>
            <p:sp>
              <p:nvSpPr>
                <p:cNvPr id="42007" name="矩形 137352"/>
                <p:cNvSpPr/>
                <p:nvPr/>
              </p:nvSpPr>
              <p:spPr>
                <a:xfrm>
                  <a:off x="0" y="1152"/>
                  <a:ext cx="734"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08" name="组合 137355"/>
              <p:cNvGrpSpPr/>
              <p:nvPr/>
            </p:nvGrpSpPr>
            <p:grpSpPr>
              <a:xfrm>
                <a:off x="734" y="1152"/>
                <a:ext cx="2246" cy="384"/>
                <a:chOff x="734" y="1152"/>
                <a:chExt cx="2246" cy="384"/>
              </a:xfrm>
            </p:grpSpPr>
            <p:sp>
              <p:nvSpPr>
                <p:cNvPr id="42009" name="矩形 137339"/>
                <p:cNvSpPr>
                  <a:spLocks noTextEdit="1"/>
                </p:cNvSpPr>
                <p:nvPr/>
              </p:nvSpPr>
              <p:spPr>
                <a:xfrm>
                  <a:off x="777" y="1152"/>
                  <a:ext cx="216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10" name="矩形 137354"/>
                <p:cNvSpPr/>
                <p:nvPr/>
              </p:nvSpPr>
              <p:spPr>
                <a:xfrm>
                  <a:off x="734" y="1152"/>
                  <a:ext cx="224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sp>
          <p:nvSpPr>
            <p:cNvPr id="42011" name="矩形 137357"/>
            <p:cNvSpPr/>
            <p:nvPr/>
          </p:nvSpPr>
          <p:spPr>
            <a:xfrm>
              <a:off x="-3" y="-3"/>
              <a:ext cx="2986" cy="1542"/>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sp>
        <p:nvSpPr>
          <p:cNvPr id="42012" name="文本框 137217"/>
          <p:cNvSpPr txBox="1"/>
          <p:nvPr/>
        </p:nvSpPr>
        <p:spPr>
          <a:xfrm>
            <a:off x="1295400" y="908050"/>
            <a:ext cx="7848600" cy="3118485"/>
          </a:xfrm>
          <a:prstGeom prst="rect">
            <a:avLst/>
          </a:prstGeom>
          <a:noFill/>
          <a:ln w="9525">
            <a:noFill/>
          </a:ln>
        </p:spPr>
        <p:txBody>
          <a:bodyPr anchor="t" anchorCtr="0">
            <a:spAutoFit/>
          </a:bodyPr>
          <a:lstStyle/>
          <a:p>
            <a:pPr algn="ctr">
              <a:lnSpc>
                <a:spcPct val="120000"/>
              </a:lnSpc>
              <a:spcBef>
                <a:spcPct val="20000"/>
              </a:spcBef>
              <a:buClr>
                <a:schemeClr val="accent2"/>
              </a:buClr>
              <a:buSzPct val="85000"/>
              <a:buFont typeface="Wingdings" panose="05000000000000000000" pitchFamily="2" charset="2"/>
            </a:pPr>
            <a:r>
              <a:rPr lang="zh-CN" altLang="en-US" sz="2400" dirty="0">
                <a:latin typeface="黑体" panose="02010609060101010101" pitchFamily="2" charset="-122"/>
                <a:ea typeface="黑体" panose="02010609060101010101" pitchFamily="2" charset="-122"/>
              </a:rPr>
              <a:t>表</a:t>
            </a:r>
            <a:r>
              <a:rPr lang="en-US" altLang="zh-CN" sz="2400" dirty="0">
                <a:latin typeface="黑体" panose="02010609060101010101" pitchFamily="2" charset="-122"/>
                <a:ea typeface="黑体" panose="02010609060101010101" pitchFamily="2" charset="-122"/>
              </a:rPr>
              <a:t>2   </a:t>
            </a:r>
            <a:r>
              <a:rPr lang="zh-CN" altLang="en-US" sz="2400" dirty="0">
                <a:latin typeface="黑体" panose="02010609060101010101" pitchFamily="2" charset="-122"/>
                <a:ea typeface="黑体" panose="02010609060101010101" pitchFamily="2" charset="-122"/>
              </a:rPr>
              <a:t>作物计划种植面积（单位</a:t>
            </a:r>
            <a:r>
              <a:rPr lang="en-US" altLang="zh-CN" sz="2400">
                <a:latin typeface="黑体" panose="02010609060101010101" pitchFamily="2" charset="-122"/>
                <a:ea typeface="黑体" panose="02010609060101010101" pitchFamily="2" charset="-122"/>
              </a:rPr>
              <a:t>:hm</a:t>
            </a:r>
            <a:r>
              <a:rPr lang="en-US" altLang="zh-CN" sz="2400" baseline="30000">
                <a:latin typeface="黑体" panose="02010609060101010101" pitchFamily="2" charset="-122"/>
                <a:ea typeface="黑体" panose="02010609060101010101" pitchFamily="2" charset="-122"/>
              </a:rPr>
              <a:t>2</a:t>
            </a:r>
            <a:r>
              <a:rPr lang="en-US" altLang="zh-CN" sz="2400">
                <a:latin typeface="黑体" panose="02010609060101010101" pitchFamily="2" charset="-122"/>
                <a:ea typeface="黑体" panose="02010609060101010101" pitchFamily="2" charset="-122"/>
              </a:rPr>
              <a:t>)</a:t>
            </a:r>
            <a:r>
              <a:rPr lang="en-US" altLang="zh-CN" sz="2400">
                <a:latin typeface="Times New Roman" panose="02020603050405020304" pitchFamily="18" charset="0"/>
                <a:ea typeface="黑体" panose="02010609060101010101" pitchFamily="2" charset="-122"/>
              </a:rPr>
              <a:t> </a:t>
            </a:r>
            <a:endParaRPr lang="en-US" altLang="zh-CN" sz="2400">
              <a:latin typeface="Times New Roman" panose="02020603050405020304" pitchFamily="18" charset="0"/>
              <a:ea typeface="黑体" panose="02010609060101010101" pitchFamily="2" charset="-122"/>
            </a:endParaRPr>
          </a:p>
          <a:p>
            <a:pPr algn="ctr">
              <a:lnSpc>
                <a:spcPct val="120000"/>
              </a:lnSpc>
              <a:spcBef>
                <a:spcPct val="20000"/>
              </a:spcBef>
              <a:buClr>
                <a:schemeClr val="accent2"/>
              </a:buClr>
              <a:buSzPct val="85000"/>
              <a:buFont typeface="Wingdings" panose="05000000000000000000" pitchFamily="2" charset="2"/>
            </a:pPr>
            <a:endParaRPr lang="en-US" altLang="zh-CN" sz="2400">
              <a:latin typeface="Times New Roman" panose="02020603050405020304" pitchFamily="18" charset="0"/>
              <a:ea typeface="黑体" panose="02010609060101010101" pitchFamily="2" charset="-122"/>
            </a:endParaRPr>
          </a:p>
          <a:p>
            <a:pPr algn="ctr">
              <a:lnSpc>
                <a:spcPct val="120000"/>
              </a:lnSpc>
              <a:spcBef>
                <a:spcPct val="20000"/>
              </a:spcBef>
              <a:buClr>
                <a:schemeClr val="accent2"/>
              </a:buClr>
              <a:buSzPct val="85000"/>
              <a:buFont typeface="Wingdings" panose="05000000000000000000" pitchFamily="2" charset="2"/>
            </a:pPr>
            <a:endParaRPr lang="en-US" altLang="zh-CN" sz="2400">
              <a:latin typeface="Times New Roman" panose="02020603050405020304" pitchFamily="18" charset="0"/>
              <a:ea typeface="黑体" panose="02010609060101010101" pitchFamily="2" charset="-122"/>
            </a:endParaRPr>
          </a:p>
          <a:p>
            <a:pPr algn="ctr">
              <a:lnSpc>
                <a:spcPct val="120000"/>
              </a:lnSpc>
              <a:spcBef>
                <a:spcPct val="20000"/>
              </a:spcBef>
              <a:buClr>
                <a:schemeClr val="accent2"/>
              </a:buClr>
              <a:buSzPct val="85000"/>
              <a:buFont typeface="Wingdings" panose="05000000000000000000" pitchFamily="2" charset="2"/>
            </a:pPr>
            <a:endParaRPr lang="en-US" altLang="zh-CN" sz="2400">
              <a:latin typeface="Times New Roman" panose="02020603050405020304" pitchFamily="18" charset="0"/>
              <a:ea typeface="黑体" panose="02010609060101010101" pitchFamily="2" charset="-122"/>
            </a:endParaRPr>
          </a:p>
          <a:p>
            <a:pPr algn="ctr">
              <a:lnSpc>
                <a:spcPct val="120000"/>
              </a:lnSpc>
              <a:spcBef>
                <a:spcPct val="20000"/>
              </a:spcBef>
              <a:buClr>
                <a:schemeClr val="accent2"/>
              </a:buClr>
              <a:buSzPct val="85000"/>
              <a:buFont typeface="Wingdings" panose="05000000000000000000" pitchFamily="2" charset="2"/>
            </a:pPr>
            <a:endParaRPr lang="en-US" altLang="zh-CN" sz="2400">
              <a:latin typeface="Times New Roman" panose="02020603050405020304" pitchFamily="18" charset="0"/>
              <a:ea typeface="黑体" panose="02010609060101010101" pitchFamily="2" charset="-122"/>
            </a:endParaRPr>
          </a:p>
          <a:p>
            <a:pPr algn="ctr">
              <a:lnSpc>
                <a:spcPct val="120000"/>
              </a:lnSpc>
              <a:spcBef>
                <a:spcPct val="20000"/>
              </a:spcBef>
              <a:buClr>
                <a:schemeClr val="accent2"/>
              </a:buClr>
              <a:buSzPct val="85000"/>
              <a:buFont typeface="Wingdings" panose="05000000000000000000" pitchFamily="2" charset="2"/>
            </a:pPr>
            <a:r>
              <a:rPr lang="zh-CN" altLang="en-US" sz="2400" dirty="0">
                <a:latin typeface="黑体" panose="02010609060101010101" pitchFamily="2" charset="-122"/>
                <a:ea typeface="黑体" panose="02010609060101010101" pitchFamily="2" charset="-122"/>
              </a:rPr>
              <a:t>表</a:t>
            </a:r>
            <a:r>
              <a:rPr lang="en-US" altLang="zh-CN" sz="2400" dirty="0">
                <a:latin typeface="黑体" panose="02010609060101010101" pitchFamily="2" charset="-122"/>
                <a:ea typeface="黑体" panose="02010609060101010101" pitchFamily="2" charset="-122"/>
              </a:rPr>
              <a:t>3   3</a:t>
            </a:r>
            <a:r>
              <a:rPr lang="zh-CN" altLang="en-US" sz="2400" dirty="0">
                <a:latin typeface="黑体" panose="02010609060101010101" pitchFamily="2" charset="-122"/>
                <a:ea typeface="黑体" panose="02010609060101010101" pitchFamily="2" charset="-122"/>
              </a:rPr>
              <a:t>种作物的总产量（单位</a:t>
            </a:r>
            <a:r>
              <a:rPr lang="en-US" altLang="zh-CN" sz="2400">
                <a:latin typeface="黑体" panose="02010609060101010101" pitchFamily="2" charset="-122"/>
                <a:ea typeface="黑体" panose="02010609060101010101" pitchFamily="2" charset="-122"/>
              </a:rPr>
              <a:t>:kg</a:t>
            </a:r>
            <a:r>
              <a:rPr lang="zh-CN" altLang="en-US" sz="2400">
                <a:latin typeface="黑体" panose="02010609060101010101" pitchFamily="2" charset="-122"/>
                <a:ea typeface="黑体" panose="02010609060101010101" pitchFamily="2" charset="-122"/>
              </a:rPr>
              <a:t>）</a:t>
            </a:r>
            <a:r>
              <a:rPr lang="zh-CN" altLang="en-US" sz="2400">
                <a:latin typeface="Times New Roman" panose="02020603050405020304" pitchFamily="18" charset="0"/>
                <a:ea typeface="黑体" panose="02010609060101010101" pitchFamily="2" charset="-122"/>
              </a:rPr>
              <a:t> </a:t>
            </a:r>
            <a:endParaRPr lang="zh-CN" altLang="en-US" sz="2400">
              <a:latin typeface="Times New Roman" panose="02020603050405020304" pitchFamily="18" charset="0"/>
              <a:ea typeface="黑体" panose="02010609060101010101" pitchFamily="2" charset="-122"/>
            </a:endParaRPr>
          </a:p>
        </p:txBody>
      </p:sp>
      <p:graphicFrame>
        <p:nvGraphicFramePr>
          <p:cNvPr id="42013" name="对象 137277"/>
          <p:cNvGraphicFramePr/>
          <p:nvPr/>
        </p:nvGraphicFramePr>
        <p:xfrm>
          <a:off x="4191000" y="1981200"/>
          <a:ext cx="449263" cy="492125"/>
        </p:xfrm>
        <a:graphic>
          <a:graphicData uri="http://schemas.openxmlformats.org/presentationml/2006/ole">
            <mc:AlternateContent xmlns:mc="http://schemas.openxmlformats.org/markup-compatibility/2006">
              <mc:Choice xmlns:v="urn:schemas-microsoft-com:vml" Requires="v">
                <p:oleObj spid="_x0000_s26833" name="" r:id="rId1" imgW="203200" imgH="215900" progId="Equation.3">
                  <p:embed/>
                </p:oleObj>
              </mc:Choice>
              <mc:Fallback>
                <p:oleObj name="" r:id="rId1" imgW="203200" imgH="215900" progId="Equation.3">
                  <p:embed/>
                  <p:pic>
                    <p:nvPicPr>
                      <p:cNvPr id="0" name="图片 3140"/>
                      <p:cNvPicPr/>
                      <p:nvPr/>
                    </p:nvPicPr>
                    <p:blipFill>
                      <a:blip r:embed="rId2"/>
                      <a:stretch>
                        <a:fillRect/>
                      </a:stretch>
                    </p:blipFill>
                    <p:spPr>
                      <a:xfrm>
                        <a:off x="4191000" y="1981200"/>
                        <a:ext cx="449263" cy="492125"/>
                      </a:xfrm>
                      <a:prstGeom prst="rect">
                        <a:avLst/>
                      </a:prstGeom>
                      <a:noFill/>
                      <a:ln w="38100">
                        <a:noFill/>
                        <a:miter/>
                      </a:ln>
                    </p:spPr>
                  </p:pic>
                </p:oleObj>
              </mc:Fallback>
            </mc:AlternateContent>
          </a:graphicData>
        </a:graphic>
      </p:graphicFrame>
      <p:graphicFrame>
        <p:nvGraphicFramePr>
          <p:cNvPr id="42014" name="对象 137276"/>
          <p:cNvGraphicFramePr/>
          <p:nvPr/>
        </p:nvGraphicFramePr>
        <p:xfrm>
          <a:off x="5638800" y="1981200"/>
          <a:ext cx="457200" cy="457200"/>
        </p:xfrm>
        <a:graphic>
          <a:graphicData uri="http://schemas.openxmlformats.org/presentationml/2006/ole">
            <mc:AlternateContent xmlns:mc="http://schemas.openxmlformats.org/markup-compatibility/2006">
              <mc:Choice xmlns:v="urn:schemas-microsoft-com:vml" Requires="v">
                <p:oleObj spid="_x0000_s26834" name="" r:id="rId3" imgW="215900" imgH="215900" progId="Equation.3">
                  <p:embed/>
                </p:oleObj>
              </mc:Choice>
              <mc:Fallback>
                <p:oleObj name="" r:id="rId3" imgW="215900" imgH="215900" progId="Equation.3">
                  <p:embed/>
                  <p:pic>
                    <p:nvPicPr>
                      <p:cNvPr id="0" name="图片 3137"/>
                      <p:cNvPicPr/>
                      <p:nvPr/>
                    </p:nvPicPr>
                    <p:blipFill>
                      <a:blip r:embed="rId4"/>
                      <a:stretch>
                        <a:fillRect/>
                      </a:stretch>
                    </p:blipFill>
                    <p:spPr>
                      <a:xfrm>
                        <a:off x="5638800" y="1981200"/>
                        <a:ext cx="457200" cy="457200"/>
                      </a:xfrm>
                      <a:prstGeom prst="rect">
                        <a:avLst/>
                      </a:prstGeom>
                      <a:noFill/>
                      <a:ln w="38100">
                        <a:noFill/>
                        <a:miter/>
                      </a:ln>
                    </p:spPr>
                  </p:pic>
                </p:oleObj>
              </mc:Fallback>
            </mc:AlternateContent>
          </a:graphicData>
        </a:graphic>
      </p:graphicFrame>
      <p:graphicFrame>
        <p:nvGraphicFramePr>
          <p:cNvPr id="42015" name="对象 137275"/>
          <p:cNvGraphicFramePr/>
          <p:nvPr/>
        </p:nvGraphicFramePr>
        <p:xfrm>
          <a:off x="7092950" y="1989138"/>
          <a:ext cx="400050" cy="457200"/>
        </p:xfrm>
        <a:graphic>
          <a:graphicData uri="http://schemas.openxmlformats.org/presentationml/2006/ole">
            <mc:AlternateContent xmlns:mc="http://schemas.openxmlformats.org/markup-compatibility/2006">
              <mc:Choice xmlns:v="urn:schemas-microsoft-com:vml" Requires="v">
                <p:oleObj spid="_x0000_s26835" name="" r:id="rId5" imgW="203200" imgH="228600" progId="Equation.3">
                  <p:embed/>
                </p:oleObj>
              </mc:Choice>
              <mc:Fallback>
                <p:oleObj name="" r:id="rId5" imgW="203200" imgH="228600" progId="Equation.3">
                  <p:embed/>
                  <p:pic>
                    <p:nvPicPr>
                      <p:cNvPr id="0" name="图片 3139"/>
                      <p:cNvPicPr/>
                      <p:nvPr/>
                    </p:nvPicPr>
                    <p:blipFill>
                      <a:blip r:embed="rId6"/>
                      <a:stretch>
                        <a:fillRect/>
                      </a:stretch>
                    </p:blipFill>
                    <p:spPr>
                      <a:xfrm>
                        <a:off x="7092950" y="1989138"/>
                        <a:ext cx="400050" cy="457200"/>
                      </a:xfrm>
                      <a:prstGeom prst="rect">
                        <a:avLst/>
                      </a:prstGeom>
                      <a:noFill/>
                      <a:ln w="38100">
                        <a:noFill/>
                        <a:miter/>
                      </a:ln>
                    </p:spPr>
                  </p:pic>
                </p:oleObj>
              </mc:Fallback>
            </mc:AlternateContent>
          </a:graphicData>
        </a:graphic>
      </p:graphicFrame>
      <p:graphicFrame>
        <p:nvGraphicFramePr>
          <p:cNvPr id="42016" name="对象 137274"/>
          <p:cNvGraphicFramePr/>
          <p:nvPr/>
        </p:nvGraphicFramePr>
        <p:xfrm>
          <a:off x="4191000" y="2438400"/>
          <a:ext cx="457200" cy="457200"/>
        </p:xfrm>
        <a:graphic>
          <a:graphicData uri="http://schemas.openxmlformats.org/presentationml/2006/ole">
            <mc:AlternateContent xmlns:mc="http://schemas.openxmlformats.org/markup-compatibility/2006">
              <mc:Choice xmlns:v="urn:schemas-microsoft-com:vml" Requires="v">
                <p:oleObj spid="_x0000_s26836" name="" r:id="rId7" imgW="215900" imgH="215900" progId="Equation.3">
                  <p:embed/>
                </p:oleObj>
              </mc:Choice>
              <mc:Fallback>
                <p:oleObj name="" r:id="rId7" imgW="215900" imgH="215900" progId="Equation.3">
                  <p:embed/>
                  <p:pic>
                    <p:nvPicPr>
                      <p:cNvPr id="0" name="图片 3144"/>
                      <p:cNvPicPr/>
                      <p:nvPr/>
                    </p:nvPicPr>
                    <p:blipFill>
                      <a:blip r:embed="rId8"/>
                      <a:stretch>
                        <a:fillRect/>
                      </a:stretch>
                    </p:blipFill>
                    <p:spPr>
                      <a:xfrm>
                        <a:off x="4191000" y="2438400"/>
                        <a:ext cx="457200" cy="457200"/>
                      </a:xfrm>
                      <a:prstGeom prst="rect">
                        <a:avLst/>
                      </a:prstGeom>
                      <a:noFill/>
                      <a:ln w="38100">
                        <a:noFill/>
                        <a:miter/>
                      </a:ln>
                    </p:spPr>
                  </p:pic>
                </p:oleObj>
              </mc:Fallback>
            </mc:AlternateContent>
          </a:graphicData>
        </a:graphic>
      </p:graphicFrame>
      <p:graphicFrame>
        <p:nvGraphicFramePr>
          <p:cNvPr id="42017" name="对象 137273"/>
          <p:cNvGraphicFramePr/>
          <p:nvPr/>
        </p:nvGraphicFramePr>
        <p:xfrm>
          <a:off x="5638800" y="2438400"/>
          <a:ext cx="533400" cy="533400"/>
        </p:xfrm>
        <a:graphic>
          <a:graphicData uri="http://schemas.openxmlformats.org/presentationml/2006/ole">
            <mc:AlternateContent xmlns:mc="http://schemas.openxmlformats.org/markup-compatibility/2006">
              <mc:Choice xmlns:v="urn:schemas-microsoft-com:vml" Requires="v">
                <p:oleObj spid="_x0000_s26837" name="" r:id="rId9" imgW="215900" imgH="215900" progId="Equation.3">
                  <p:embed/>
                </p:oleObj>
              </mc:Choice>
              <mc:Fallback>
                <p:oleObj name="" r:id="rId9" imgW="215900" imgH="215900" progId="Equation.3">
                  <p:embed/>
                  <p:pic>
                    <p:nvPicPr>
                      <p:cNvPr id="0" name="图片 3142"/>
                      <p:cNvPicPr/>
                      <p:nvPr/>
                    </p:nvPicPr>
                    <p:blipFill>
                      <a:blip r:embed="rId10"/>
                      <a:stretch>
                        <a:fillRect/>
                      </a:stretch>
                    </p:blipFill>
                    <p:spPr>
                      <a:xfrm>
                        <a:off x="5638800" y="2438400"/>
                        <a:ext cx="533400" cy="533400"/>
                      </a:xfrm>
                      <a:prstGeom prst="rect">
                        <a:avLst/>
                      </a:prstGeom>
                      <a:noFill/>
                      <a:ln w="38100">
                        <a:noFill/>
                        <a:miter/>
                      </a:ln>
                    </p:spPr>
                  </p:pic>
                </p:oleObj>
              </mc:Fallback>
            </mc:AlternateContent>
          </a:graphicData>
        </a:graphic>
      </p:graphicFrame>
      <p:graphicFrame>
        <p:nvGraphicFramePr>
          <p:cNvPr id="42018" name="对象 137272"/>
          <p:cNvGraphicFramePr/>
          <p:nvPr/>
        </p:nvGraphicFramePr>
        <p:xfrm>
          <a:off x="7086600" y="2514600"/>
          <a:ext cx="438150" cy="457200"/>
        </p:xfrm>
        <a:graphic>
          <a:graphicData uri="http://schemas.openxmlformats.org/presentationml/2006/ole">
            <mc:AlternateContent xmlns:mc="http://schemas.openxmlformats.org/markup-compatibility/2006">
              <mc:Choice xmlns:v="urn:schemas-microsoft-com:vml" Requires="v">
                <p:oleObj spid="_x0000_s26838" name="" r:id="rId11" imgW="215900" imgH="228600" progId="Equation.3">
                  <p:embed/>
                </p:oleObj>
              </mc:Choice>
              <mc:Fallback>
                <p:oleObj name="" r:id="rId11" imgW="215900" imgH="228600" progId="Equation.3">
                  <p:embed/>
                  <p:pic>
                    <p:nvPicPr>
                      <p:cNvPr id="0" name="图片 3136"/>
                      <p:cNvPicPr/>
                      <p:nvPr/>
                    </p:nvPicPr>
                    <p:blipFill>
                      <a:blip r:embed="rId12"/>
                      <a:stretch>
                        <a:fillRect/>
                      </a:stretch>
                    </p:blipFill>
                    <p:spPr>
                      <a:xfrm>
                        <a:off x="7086600" y="2514600"/>
                        <a:ext cx="438150" cy="457200"/>
                      </a:xfrm>
                      <a:prstGeom prst="rect">
                        <a:avLst/>
                      </a:prstGeom>
                      <a:noFill/>
                      <a:ln w="38100">
                        <a:noFill/>
                        <a:miter/>
                      </a:ln>
                    </p:spPr>
                  </p:pic>
                </p:oleObj>
              </mc:Fallback>
            </mc:AlternateContent>
          </a:graphicData>
        </a:graphic>
      </p:graphicFrame>
      <p:graphicFrame>
        <p:nvGraphicFramePr>
          <p:cNvPr id="42019" name="对象 137271"/>
          <p:cNvGraphicFramePr/>
          <p:nvPr/>
        </p:nvGraphicFramePr>
        <p:xfrm>
          <a:off x="4191000" y="2895600"/>
          <a:ext cx="511175" cy="533400"/>
        </p:xfrm>
        <a:graphic>
          <a:graphicData uri="http://schemas.openxmlformats.org/presentationml/2006/ole">
            <mc:AlternateContent xmlns:mc="http://schemas.openxmlformats.org/markup-compatibility/2006">
              <mc:Choice xmlns:v="urn:schemas-microsoft-com:vml" Requires="v">
                <p:oleObj spid="_x0000_s26839" name="" r:id="rId13" imgW="215900" imgH="228600" progId="Equation.3">
                  <p:embed/>
                </p:oleObj>
              </mc:Choice>
              <mc:Fallback>
                <p:oleObj name="" r:id="rId13" imgW="215900" imgH="228600" progId="Equation.3">
                  <p:embed/>
                  <p:pic>
                    <p:nvPicPr>
                      <p:cNvPr id="0" name="图片 3143"/>
                      <p:cNvPicPr/>
                      <p:nvPr/>
                    </p:nvPicPr>
                    <p:blipFill>
                      <a:blip r:embed="rId14"/>
                      <a:stretch>
                        <a:fillRect/>
                      </a:stretch>
                    </p:blipFill>
                    <p:spPr>
                      <a:xfrm>
                        <a:off x="4191000" y="2895600"/>
                        <a:ext cx="511175" cy="533400"/>
                      </a:xfrm>
                      <a:prstGeom prst="rect">
                        <a:avLst/>
                      </a:prstGeom>
                      <a:noFill/>
                      <a:ln w="38100">
                        <a:noFill/>
                        <a:miter/>
                      </a:ln>
                    </p:spPr>
                  </p:pic>
                </p:oleObj>
              </mc:Fallback>
            </mc:AlternateContent>
          </a:graphicData>
        </a:graphic>
      </p:graphicFrame>
      <p:graphicFrame>
        <p:nvGraphicFramePr>
          <p:cNvPr id="42020" name="对象 137270"/>
          <p:cNvGraphicFramePr/>
          <p:nvPr/>
        </p:nvGraphicFramePr>
        <p:xfrm>
          <a:off x="5638800" y="2971800"/>
          <a:ext cx="471488" cy="492125"/>
        </p:xfrm>
        <a:graphic>
          <a:graphicData uri="http://schemas.openxmlformats.org/presentationml/2006/ole">
            <mc:AlternateContent xmlns:mc="http://schemas.openxmlformats.org/markup-compatibility/2006">
              <mc:Choice xmlns:v="urn:schemas-microsoft-com:vml" Requires="v">
                <p:oleObj spid="_x0000_s26840" name="" r:id="rId15" imgW="215900" imgH="228600" progId="Equation.3">
                  <p:embed/>
                </p:oleObj>
              </mc:Choice>
              <mc:Fallback>
                <p:oleObj name="" r:id="rId15" imgW="215900" imgH="228600" progId="Equation.3">
                  <p:embed/>
                  <p:pic>
                    <p:nvPicPr>
                      <p:cNvPr id="0" name="图片 3141"/>
                      <p:cNvPicPr/>
                      <p:nvPr/>
                    </p:nvPicPr>
                    <p:blipFill>
                      <a:blip r:embed="rId16"/>
                      <a:stretch>
                        <a:fillRect/>
                      </a:stretch>
                    </p:blipFill>
                    <p:spPr>
                      <a:xfrm>
                        <a:off x="5638800" y="2971800"/>
                        <a:ext cx="471488" cy="492125"/>
                      </a:xfrm>
                      <a:prstGeom prst="rect">
                        <a:avLst/>
                      </a:prstGeom>
                      <a:noFill/>
                      <a:ln w="38100">
                        <a:noFill/>
                        <a:miter/>
                      </a:ln>
                    </p:spPr>
                  </p:pic>
                </p:oleObj>
              </mc:Fallback>
            </mc:AlternateContent>
          </a:graphicData>
        </a:graphic>
      </p:graphicFrame>
      <p:graphicFrame>
        <p:nvGraphicFramePr>
          <p:cNvPr id="42021" name="对象 137269"/>
          <p:cNvGraphicFramePr/>
          <p:nvPr/>
        </p:nvGraphicFramePr>
        <p:xfrm>
          <a:off x="7086600" y="2971800"/>
          <a:ext cx="471488" cy="492125"/>
        </p:xfrm>
        <a:graphic>
          <a:graphicData uri="http://schemas.openxmlformats.org/presentationml/2006/ole">
            <mc:AlternateContent xmlns:mc="http://schemas.openxmlformats.org/markup-compatibility/2006">
              <mc:Choice xmlns:v="urn:schemas-microsoft-com:vml" Requires="v">
                <p:oleObj spid="_x0000_s26841" name="" r:id="rId17" imgW="215900" imgH="228600" progId="Equation.3">
                  <p:embed/>
                </p:oleObj>
              </mc:Choice>
              <mc:Fallback>
                <p:oleObj name="" r:id="rId17" imgW="215900" imgH="228600" progId="Equation.3">
                  <p:embed/>
                  <p:pic>
                    <p:nvPicPr>
                      <p:cNvPr id="0" name="图片 3138"/>
                      <p:cNvPicPr/>
                      <p:nvPr/>
                    </p:nvPicPr>
                    <p:blipFill>
                      <a:blip r:embed="rId18"/>
                      <a:stretch>
                        <a:fillRect/>
                      </a:stretch>
                    </p:blipFill>
                    <p:spPr>
                      <a:xfrm>
                        <a:off x="7086600" y="2971800"/>
                        <a:ext cx="471488" cy="492125"/>
                      </a:xfrm>
                      <a:prstGeom prst="rect">
                        <a:avLst/>
                      </a:prstGeom>
                      <a:noFill/>
                      <a:ln w="38100">
                        <a:noFill/>
                        <a:miter/>
                      </a:ln>
                    </p:spPr>
                  </p:pic>
                </p:oleObj>
              </mc:Fallback>
            </mc:AlternateContent>
          </a:graphicData>
        </a:graphic>
      </p:graphicFrame>
      <p:grpSp>
        <p:nvGrpSpPr>
          <p:cNvPr id="42022" name="组合 137328"/>
          <p:cNvGrpSpPr/>
          <p:nvPr/>
        </p:nvGrpSpPr>
        <p:grpSpPr>
          <a:xfrm>
            <a:off x="2209800" y="1447800"/>
            <a:ext cx="5867400" cy="1990725"/>
            <a:chOff x="-3" y="-3"/>
            <a:chExt cx="3190" cy="1542"/>
          </a:xfrm>
        </p:grpSpPr>
        <p:grpSp>
          <p:nvGrpSpPr>
            <p:cNvPr id="42023" name="组合 137326"/>
            <p:cNvGrpSpPr/>
            <p:nvPr/>
          </p:nvGrpSpPr>
          <p:grpSpPr>
            <a:xfrm>
              <a:off x="0" y="0"/>
              <a:ext cx="3184" cy="1536"/>
              <a:chOff x="0" y="0"/>
              <a:chExt cx="3184" cy="1536"/>
            </a:xfrm>
          </p:grpSpPr>
          <p:grpSp>
            <p:nvGrpSpPr>
              <p:cNvPr id="42024" name="组合 137295"/>
              <p:cNvGrpSpPr/>
              <p:nvPr/>
            </p:nvGrpSpPr>
            <p:grpSpPr>
              <a:xfrm>
                <a:off x="0" y="0"/>
                <a:ext cx="796" cy="384"/>
                <a:chOff x="0" y="0"/>
                <a:chExt cx="796" cy="384"/>
              </a:xfrm>
            </p:grpSpPr>
            <p:sp>
              <p:nvSpPr>
                <p:cNvPr id="42025" name="矩形 137278"/>
                <p:cNvSpPr/>
                <p:nvPr/>
              </p:nvSpPr>
              <p:spPr>
                <a:xfrm>
                  <a:off x="43" y="0"/>
                  <a:ext cx="710" cy="384"/>
                </a:xfrm>
                <a:prstGeom prst="rect">
                  <a:avLst/>
                </a:prstGeom>
                <a:noFill/>
                <a:ln w="25400" cap="flat" cmpd="sng">
                  <a:solidFill>
                    <a:schemeClr val="accent1"/>
                  </a:solidFill>
                  <a:prstDash val="solid"/>
                  <a:miter/>
                  <a:headEnd type="none" w="med" len="med"/>
                  <a:tailEnd type="none" w="med" len="med"/>
                </a:ln>
              </p:spPr>
              <p:txBody>
                <a:bodyPr anchor="ctr" anchorCtr="0"/>
                <a:lstStyle/>
                <a:p>
                  <a:pPr algn="just"/>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algn="just" eaLnBrk="0" hangingPunct="0"/>
                  <a:endParaRPr lang="en-US" altLang="zh-CN" sz="2400" dirty="0">
                    <a:latin typeface="Times New Roman" panose="02020603050405020304" pitchFamily="18" charset="0"/>
                    <a:ea typeface="宋体" panose="02010600030101010101" pitchFamily="2" charset="-122"/>
                  </a:endParaRPr>
                </a:p>
              </p:txBody>
            </p:sp>
            <p:sp>
              <p:nvSpPr>
                <p:cNvPr id="42026" name="矩形 137294"/>
                <p:cNvSpPr/>
                <p:nvPr/>
              </p:nvSpPr>
              <p:spPr>
                <a:xfrm>
                  <a:off x="0" y="0"/>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27" name="组合 137297"/>
              <p:cNvGrpSpPr/>
              <p:nvPr/>
            </p:nvGrpSpPr>
            <p:grpSpPr>
              <a:xfrm>
                <a:off x="796" y="0"/>
                <a:ext cx="796" cy="384"/>
                <a:chOff x="796" y="0"/>
                <a:chExt cx="796" cy="384"/>
              </a:xfrm>
            </p:grpSpPr>
            <p:sp>
              <p:nvSpPr>
                <p:cNvPr id="42028" name="矩形 137279"/>
                <p:cNvSpPr/>
                <p:nvPr/>
              </p:nvSpPr>
              <p:spPr>
                <a:xfrm>
                  <a:off x="839" y="0"/>
                  <a:ext cx="710"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en-US" altLang="zh-CN" sz="1600" dirty="0">
                      <a:latin typeface="宋体" panose="02010600030101010101" pitchFamily="2" charset="-122"/>
                      <a:ea typeface="宋体" panose="02010600030101010101" pitchFamily="2" charset="-122"/>
                    </a:rPr>
                    <a:t>I</a:t>
                  </a:r>
                  <a:r>
                    <a:rPr lang="zh-CN" altLang="en-US" sz="1600" dirty="0">
                      <a:latin typeface="宋体" panose="02010600030101010101" pitchFamily="2" charset="-122"/>
                      <a:ea typeface="宋体" panose="02010600030101010101" pitchFamily="2" charset="-122"/>
                    </a:rPr>
                    <a:t>等耕地</a:t>
                  </a:r>
                  <a:endParaRPr lang="zh-CN" altLang="en-US" sz="1600" dirty="0">
                    <a:latin typeface="宋体" panose="02010600030101010101" pitchFamily="2" charset="-122"/>
                    <a:ea typeface="宋体" panose="02010600030101010101" pitchFamily="2" charset="-122"/>
                  </a:endParaRPr>
                </a:p>
              </p:txBody>
            </p:sp>
            <p:sp>
              <p:nvSpPr>
                <p:cNvPr id="42029" name="矩形 137296"/>
                <p:cNvSpPr/>
                <p:nvPr/>
              </p:nvSpPr>
              <p:spPr>
                <a:xfrm>
                  <a:off x="796" y="0"/>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30" name="组合 137299"/>
              <p:cNvGrpSpPr/>
              <p:nvPr/>
            </p:nvGrpSpPr>
            <p:grpSpPr>
              <a:xfrm>
                <a:off x="1592" y="0"/>
                <a:ext cx="796" cy="384"/>
                <a:chOff x="1592" y="0"/>
                <a:chExt cx="796" cy="384"/>
              </a:xfrm>
            </p:grpSpPr>
            <p:sp>
              <p:nvSpPr>
                <p:cNvPr id="42031" name="矩形 137280"/>
                <p:cNvSpPr/>
                <p:nvPr/>
              </p:nvSpPr>
              <p:spPr>
                <a:xfrm>
                  <a:off x="1635" y="0"/>
                  <a:ext cx="710"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en-US" altLang="zh-CN" sz="1600" dirty="0">
                      <a:latin typeface="宋体" panose="02010600030101010101" pitchFamily="2" charset="-122"/>
                      <a:ea typeface="宋体" panose="02010600030101010101" pitchFamily="2" charset="-122"/>
                    </a:rPr>
                    <a:t>II</a:t>
                  </a:r>
                  <a:r>
                    <a:rPr lang="zh-CN" altLang="en-US" sz="1600" dirty="0">
                      <a:latin typeface="宋体" panose="02010600030101010101" pitchFamily="2" charset="-122"/>
                      <a:ea typeface="宋体" panose="02010600030101010101" pitchFamily="2" charset="-122"/>
                    </a:rPr>
                    <a:t>等耕地</a:t>
                  </a:r>
                  <a:endParaRPr lang="zh-CN" altLang="en-US" sz="1600" dirty="0">
                    <a:latin typeface="宋体" panose="02010600030101010101" pitchFamily="2" charset="-122"/>
                    <a:ea typeface="宋体" panose="02010600030101010101" pitchFamily="2" charset="-122"/>
                  </a:endParaRPr>
                </a:p>
              </p:txBody>
            </p:sp>
            <p:sp>
              <p:nvSpPr>
                <p:cNvPr id="42032" name="矩形 137298"/>
                <p:cNvSpPr/>
                <p:nvPr/>
              </p:nvSpPr>
              <p:spPr>
                <a:xfrm>
                  <a:off x="1592" y="0"/>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33" name="组合 137301"/>
              <p:cNvGrpSpPr/>
              <p:nvPr/>
            </p:nvGrpSpPr>
            <p:grpSpPr>
              <a:xfrm>
                <a:off x="2388" y="0"/>
                <a:ext cx="796" cy="384"/>
                <a:chOff x="2388" y="0"/>
                <a:chExt cx="796" cy="384"/>
              </a:xfrm>
            </p:grpSpPr>
            <p:sp>
              <p:nvSpPr>
                <p:cNvPr id="42034" name="矩形 137281"/>
                <p:cNvSpPr/>
                <p:nvPr/>
              </p:nvSpPr>
              <p:spPr>
                <a:xfrm>
                  <a:off x="2431" y="0"/>
                  <a:ext cx="710"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en-US" altLang="zh-CN" sz="1600" dirty="0">
                      <a:latin typeface="宋体" panose="02010600030101010101" pitchFamily="2" charset="-122"/>
                      <a:ea typeface="宋体" panose="02010600030101010101" pitchFamily="2" charset="-122"/>
                    </a:rPr>
                    <a:t>III</a:t>
                  </a:r>
                  <a:r>
                    <a:rPr lang="zh-CN" altLang="en-US" sz="1600" dirty="0">
                      <a:latin typeface="宋体" panose="02010600030101010101" pitchFamily="2" charset="-122"/>
                      <a:ea typeface="宋体" panose="02010600030101010101" pitchFamily="2" charset="-122"/>
                    </a:rPr>
                    <a:t>等耕地</a:t>
                  </a:r>
                  <a:endParaRPr lang="zh-CN" altLang="en-US" sz="1600" dirty="0">
                    <a:latin typeface="宋体" panose="02010600030101010101" pitchFamily="2" charset="-122"/>
                    <a:ea typeface="宋体" panose="02010600030101010101" pitchFamily="2" charset="-122"/>
                  </a:endParaRPr>
                </a:p>
              </p:txBody>
            </p:sp>
            <p:sp>
              <p:nvSpPr>
                <p:cNvPr id="42035" name="矩形 137300"/>
                <p:cNvSpPr/>
                <p:nvPr/>
              </p:nvSpPr>
              <p:spPr>
                <a:xfrm>
                  <a:off x="2388" y="0"/>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36" name="组合 137303"/>
              <p:cNvGrpSpPr/>
              <p:nvPr/>
            </p:nvGrpSpPr>
            <p:grpSpPr>
              <a:xfrm>
                <a:off x="0" y="384"/>
                <a:ext cx="796" cy="384"/>
                <a:chOff x="0" y="384"/>
                <a:chExt cx="796" cy="384"/>
              </a:xfrm>
            </p:grpSpPr>
            <p:sp>
              <p:nvSpPr>
                <p:cNvPr id="42037" name="矩形 137282"/>
                <p:cNvSpPr/>
                <p:nvPr/>
              </p:nvSpPr>
              <p:spPr>
                <a:xfrm>
                  <a:off x="43" y="384"/>
                  <a:ext cx="710"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zh-CN" altLang="en-US" sz="1600" dirty="0">
                      <a:latin typeface="宋体" panose="02010600030101010101" pitchFamily="2" charset="-122"/>
                      <a:ea typeface="宋体" panose="02010600030101010101" pitchFamily="2" charset="-122"/>
                    </a:rPr>
                    <a:t>水稻</a:t>
                  </a:r>
                  <a:endParaRPr lang="zh-CN" altLang="en-US" sz="1600" dirty="0">
                    <a:latin typeface="Times New Roman" panose="02020603050405020304" pitchFamily="18" charset="0"/>
                    <a:ea typeface="宋体" panose="02010600030101010101" pitchFamily="2" charset="-122"/>
                  </a:endParaRPr>
                </a:p>
              </p:txBody>
            </p:sp>
            <p:sp>
              <p:nvSpPr>
                <p:cNvPr id="42038" name="矩形 137302"/>
                <p:cNvSpPr/>
                <p:nvPr/>
              </p:nvSpPr>
              <p:spPr>
                <a:xfrm>
                  <a:off x="0" y="384"/>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39" name="组合 137305"/>
              <p:cNvGrpSpPr/>
              <p:nvPr/>
            </p:nvGrpSpPr>
            <p:grpSpPr>
              <a:xfrm>
                <a:off x="796" y="384"/>
                <a:ext cx="796" cy="384"/>
                <a:chOff x="796" y="384"/>
                <a:chExt cx="796" cy="384"/>
              </a:xfrm>
            </p:grpSpPr>
            <p:sp>
              <p:nvSpPr>
                <p:cNvPr id="42040" name="矩形 137283"/>
                <p:cNvSpPr>
                  <a:spLocks noTextEdit="1"/>
                </p:cNvSpPr>
                <p:nvPr/>
              </p:nvSpPr>
              <p:spPr>
                <a:xfrm>
                  <a:off x="839" y="384"/>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41" name="矩形 137304"/>
                <p:cNvSpPr/>
                <p:nvPr/>
              </p:nvSpPr>
              <p:spPr>
                <a:xfrm>
                  <a:off x="796" y="384"/>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42" name="组合 137307"/>
              <p:cNvGrpSpPr/>
              <p:nvPr/>
            </p:nvGrpSpPr>
            <p:grpSpPr>
              <a:xfrm>
                <a:off x="1592" y="384"/>
                <a:ext cx="796" cy="384"/>
                <a:chOff x="1592" y="384"/>
                <a:chExt cx="796" cy="384"/>
              </a:xfrm>
            </p:grpSpPr>
            <p:sp>
              <p:nvSpPr>
                <p:cNvPr id="42043" name="矩形 137284"/>
                <p:cNvSpPr>
                  <a:spLocks noTextEdit="1"/>
                </p:cNvSpPr>
                <p:nvPr/>
              </p:nvSpPr>
              <p:spPr>
                <a:xfrm>
                  <a:off x="1635" y="384"/>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44" name="矩形 137306"/>
                <p:cNvSpPr/>
                <p:nvPr/>
              </p:nvSpPr>
              <p:spPr>
                <a:xfrm>
                  <a:off x="1592" y="384"/>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45" name="组合 137309"/>
              <p:cNvGrpSpPr/>
              <p:nvPr/>
            </p:nvGrpSpPr>
            <p:grpSpPr>
              <a:xfrm>
                <a:off x="2388" y="384"/>
                <a:ext cx="796" cy="384"/>
                <a:chOff x="2388" y="384"/>
                <a:chExt cx="796" cy="384"/>
              </a:xfrm>
            </p:grpSpPr>
            <p:sp>
              <p:nvSpPr>
                <p:cNvPr id="42046" name="矩形 137285"/>
                <p:cNvSpPr>
                  <a:spLocks noTextEdit="1"/>
                </p:cNvSpPr>
                <p:nvPr/>
              </p:nvSpPr>
              <p:spPr>
                <a:xfrm>
                  <a:off x="2431" y="384"/>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47" name="矩形 137308"/>
                <p:cNvSpPr/>
                <p:nvPr/>
              </p:nvSpPr>
              <p:spPr>
                <a:xfrm>
                  <a:off x="2388" y="384"/>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48" name="组合 137311"/>
              <p:cNvGrpSpPr/>
              <p:nvPr/>
            </p:nvGrpSpPr>
            <p:grpSpPr>
              <a:xfrm>
                <a:off x="0" y="768"/>
                <a:ext cx="796" cy="384"/>
                <a:chOff x="0" y="768"/>
                <a:chExt cx="796" cy="384"/>
              </a:xfrm>
            </p:grpSpPr>
            <p:sp>
              <p:nvSpPr>
                <p:cNvPr id="42049" name="矩形 137286"/>
                <p:cNvSpPr/>
                <p:nvPr/>
              </p:nvSpPr>
              <p:spPr>
                <a:xfrm>
                  <a:off x="43" y="768"/>
                  <a:ext cx="710"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zh-CN" altLang="en-US" sz="1600" dirty="0">
                      <a:latin typeface="Times New Roman" panose="02020603050405020304" pitchFamily="18" charset="0"/>
                      <a:ea typeface="宋体" panose="02010600030101010101" pitchFamily="2" charset="-122"/>
                    </a:rPr>
                    <a:t>大豆</a:t>
                  </a:r>
                  <a:endParaRPr lang="zh-CN" altLang="en-US" sz="1600" dirty="0">
                    <a:latin typeface="Times New Roman" panose="02020603050405020304" pitchFamily="18" charset="0"/>
                    <a:ea typeface="宋体" panose="02010600030101010101" pitchFamily="2" charset="-122"/>
                  </a:endParaRPr>
                </a:p>
              </p:txBody>
            </p:sp>
            <p:sp>
              <p:nvSpPr>
                <p:cNvPr id="42050" name="矩形 137310"/>
                <p:cNvSpPr/>
                <p:nvPr/>
              </p:nvSpPr>
              <p:spPr>
                <a:xfrm>
                  <a:off x="0" y="768"/>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51" name="组合 137313"/>
              <p:cNvGrpSpPr/>
              <p:nvPr/>
            </p:nvGrpSpPr>
            <p:grpSpPr>
              <a:xfrm>
                <a:off x="796" y="768"/>
                <a:ext cx="796" cy="384"/>
                <a:chOff x="796" y="768"/>
                <a:chExt cx="796" cy="384"/>
              </a:xfrm>
            </p:grpSpPr>
            <p:sp>
              <p:nvSpPr>
                <p:cNvPr id="42052" name="矩形 137287"/>
                <p:cNvSpPr>
                  <a:spLocks noTextEdit="1"/>
                </p:cNvSpPr>
                <p:nvPr/>
              </p:nvSpPr>
              <p:spPr>
                <a:xfrm>
                  <a:off x="839" y="768"/>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3" name="矩形 137312"/>
                <p:cNvSpPr/>
                <p:nvPr/>
              </p:nvSpPr>
              <p:spPr>
                <a:xfrm>
                  <a:off x="796" y="768"/>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54" name="组合 137315"/>
              <p:cNvGrpSpPr/>
              <p:nvPr/>
            </p:nvGrpSpPr>
            <p:grpSpPr>
              <a:xfrm>
                <a:off x="1592" y="768"/>
                <a:ext cx="796" cy="384"/>
                <a:chOff x="1592" y="768"/>
                <a:chExt cx="796" cy="384"/>
              </a:xfrm>
            </p:grpSpPr>
            <p:sp>
              <p:nvSpPr>
                <p:cNvPr id="42055" name="矩形 137288"/>
                <p:cNvSpPr>
                  <a:spLocks noTextEdit="1"/>
                </p:cNvSpPr>
                <p:nvPr/>
              </p:nvSpPr>
              <p:spPr>
                <a:xfrm>
                  <a:off x="1635" y="768"/>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6" name="矩形 137314"/>
                <p:cNvSpPr/>
                <p:nvPr/>
              </p:nvSpPr>
              <p:spPr>
                <a:xfrm>
                  <a:off x="1592" y="768"/>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57" name="组合 137317"/>
              <p:cNvGrpSpPr/>
              <p:nvPr/>
            </p:nvGrpSpPr>
            <p:grpSpPr>
              <a:xfrm>
                <a:off x="2388" y="768"/>
                <a:ext cx="796" cy="384"/>
                <a:chOff x="2388" y="768"/>
                <a:chExt cx="796" cy="384"/>
              </a:xfrm>
            </p:grpSpPr>
            <p:sp>
              <p:nvSpPr>
                <p:cNvPr id="42058" name="矩形 137289"/>
                <p:cNvSpPr>
                  <a:spLocks noTextEdit="1"/>
                </p:cNvSpPr>
                <p:nvPr/>
              </p:nvSpPr>
              <p:spPr>
                <a:xfrm>
                  <a:off x="2431" y="768"/>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9" name="矩形 137316"/>
                <p:cNvSpPr/>
                <p:nvPr/>
              </p:nvSpPr>
              <p:spPr>
                <a:xfrm>
                  <a:off x="2388" y="768"/>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60" name="组合 137319"/>
              <p:cNvGrpSpPr/>
              <p:nvPr/>
            </p:nvGrpSpPr>
            <p:grpSpPr>
              <a:xfrm>
                <a:off x="0" y="1152"/>
                <a:ext cx="796" cy="384"/>
                <a:chOff x="0" y="1152"/>
                <a:chExt cx="796" cy="384"/>
              </a:xfrm>
            </p:grpSpPr>
            <p:sp>
              <p:nvSpPr>
                <p:cNvPr id="42061" name="矩形 137290"/>
                <p:cNvSpPr/>
                <p:nvPr/>
              </p:nvSpPr>
              <p:spPr>
                <a:xfrm>
                  <a:off x="43" y="1152"/>
                  <a:ext cx="710" cy="384"/>
                </a:xfrm>
                <a:prstGeom prst="rect">
                  <a:avLst/>
                </a:prstGeom>
                <a:solidFill>
                  <a:schemeClr val="accent1"/>
                </a:solidFill>
                <a:ln w="25400" cap="flat" cmpd="sng">
                  <a:solidFill>
                    <a:schemeClr val="accent1"/>
                  </a:solidFill>
                  <a:prstDash val="solid"/>
                  <a:miter/>
                  <a:headEnd type="none" w="med" len="med"/>
                  <a:tailEnd type="none" w="med" len="med"/>
                </a:ln>
              </p:spPr>
              <p:txBody>
                <a:bodyPr anchor="ctr" anchorCtr="0"/>
                <a:lstStyle/>
                <a:p>
                  <a:pPr algn="ctr"/>
                  <a:r>
                    <a:rPr lang="zh-CN" altLang="en-US" sz="1600" dirty="0">
                      <a:latin typeface="宋体" panose="02010600030101010101" pitchFamily="2" charset="-122"/>
                      <a:ea typeface="宋体" panose="02010600030101010101" pitchFamily="2" charset="-122"/>
                    </a:rPr>
                    <a:t>玉米</a:t>
                  </a:r>
                  <a:endParaRPr lang="zh-CN" altLang="en-US" sz="1600" dirty="0">
                    <a:latin typeface="Times New Roman" panose="02020603050405020304" pitchFamily="18" charset="0"/>
                    <a:ea typeface="宋体" panose="02010600030101010101" pitchFamily="2" charset="-122"/>
                  </a:endParaRPr>
                </a:p>
              </p:txBody>
            </p:sp>
            <p:sp>
              <p:nvSpPr>
                <p:cNvPr id="42062" name="矩形 137318"/>
                <p:cNvSpPr/>
                <p:nvPr/>
              </p:nvSpPr>
              <p:spPr>
                <a:xfrm>
                  <a:off x="0" y="1152"/>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63" name="组合 137321"/>
              <p:cNvGrpSpPr/>
              <p:nvPr/>
            </p:nvGrpSpPr>
            <p:grpSpPr>
              <a:xfrm>
                <a:off x="796" y="1152"/>
                <a:ext cx="796" cy="384"/>
                <a:chOff x="796" y="1152"/>
                <a:chExt cx="796" cy="384"/>
              </a:xfrm>
            </p:grpSpPr>
            <p:sp>
              <p:nvSpPr>
                <p:cNvPr id="42064" name="矩形 137291"/>
                <p:cNvSpPr>
                  <a:spLocks noTextEdit="1"/>
                </p:cNvSpPr>
                <p:nvPr/>
              </p:nvSpPr>
              <p:spPr>
                <a:xfrm>
                  <a:off x="839" y="1152"/>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65" name="矩形 137320"/>
                <p:cNvSpPr/>
                <p:nvPr/>
              </p:nvSpPr>
              <p:spPr>
                <a:xfrm>
                  <a:off x="796" y="1152"/>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66" name="组合 137323"/>
              <p:cNvGrpSpPr/>
              <p:nvPr/>
            </p:nvGrpSpPr>
            <p:grpSpPr>
              <a:xfrm>
                <a:off x="1592" y="1152"/>
                <a:ext cx="796" cy="384"/>
                <a:chOff x="1592" y="1152"/>
                <a:chExt cx="796" cy="384"/>
              </a:xfrm>
            </p:grpSpPr>
            <p:sp>
              <p:nvSpPr>
                <p:cNvPr id="42067" name="矩形 137292"/>
                <p:cNvSpPr>
                  <a:spLocks noTextEdit="1"/>
                </p:cNvSpPr>
                <p:nvPr/>
              </p:nvSpPr>
              <p:spPr>
                <a:xfrm>
                  <a:off x="1635" y="1152"/>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68" name="矩形 137322"/>
                <p:cNvSpPr/>
                <p:nvPr/>
              </p:nvSpPr>
              <p:spPr>
                <a:xfrm>
                  <a:off x="1592" y="1152"/>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42069" name="组合 137325"/>
              <p:cNvGrpSpPr/>
              <p:nvPr/>
            </p:nvGrpSpPr>
            <p:grpSpPr>
              <a:xfrm>
                <a:off x="2388" y="1152"/>
                <a:ext cx="796" cy="384"/>
                <a:chOff x="2388" y="1152"/>
                <a:chExt cx="796" cy="384"/>
              </a:xfrm>
            </p:grpSpPr>
            <p:sp>
              <p:nvSpPr>
                <p:cNvPr id="42070" name="矩形 137293"/>
                <p:cNvSpPr>
                  <a:spLocks noTextEdit="1"/>
                </p:cNvSpPr>
                <p:nvPr/>
              </p:nvSpPr>
              <p:spPr>
                <a:xfrm>
                  <a:off x="2431" y="1152"/>
                  <a:ext cx="710"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71" name="矩形 137324"/>
                <p:cNvSpPr/>
                <p:nvPr/>
              </p:nvSpPr>
              <p:spPr>
                <a:xfrm>
                  <a:off x="2388" y="1152"/>
                  <a:ext cx="796" cy="384"/>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sp>
          <p:nvSpPr>
            <p:cNvPr id="42072" name="矩形 137327"/>
            <p:cNvSpPr/>
            <p:nvPr/>
          </p:nvSpPr>
          <p:spPr>
            <a:xfrm>
              <a:off x="-3" y="-3"/>
              <a:ext cx="3190" cy="1542"/>
            </a:xfrm>
            <a:prstGeom prst="rect">
              <a:avLst/>
            </a:prstGeom>
            <a:noFill/>
            <a:ln w="25400" cap="flat" cmpd="sng">
              <a:solidFill>
                <a:schemeClr val="accent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aphicFrame>
        <p:nvGraphicFramePr>
          <p:cNvPr id="42073" name="对象 137331"/>
          <p:cNvGraphicFramePr/>
          <p:nvPr/>
        </p:nvGraphicFramePr>
        <p:xfrm>
          <a:off x="4724400" y="4648200"/>
          <a:ext cx="2974975" cy="347663"/>
        </p:xfrm>
        <a:graphic>
          <a:graphicData uri="http://schemas.openxmlformats.org/presentationml/2006/ole">
            <mc:AlternateContent xmlns:mc="http://schemas.openxmlformats.org/markup-compatibility/2006">
              <mc:Choice xmlns:v="urn:schemas-microsoft-com:vml" Requires="v">
                <p:oleObj spid="_x0000_s26842" name="" r:id="rId19" imgW="1955800" imgH="228600" progId="Equation.3">
                  <p:embed/>
                </p:oleObj>
              </mc:Choice>
              <mc:Fallback>
                <p:oleObj name="" r:id="rId19" imgW="1955800" imgH="228600" progId="Equation.3">
                  <p:embed/>
                  <p:pic>
                    <p:nvPicPr>
                      <p:cNvPr id="0" name="图片 3150"/>
                      <p:cNvPicPr/>
                      <p:nvPr/>
                    </p:nvPicPr>
                    <p:blipFill>
                      <a:blip r:embed="rId20"/>
                      <a:stretch>
                        <a:fillRect/>
                      </a:stretch>
                    </p:blipFill>
                    <p:spPr>
                      <a:xfrm>
                        <a:off x="4724400" y="4648200"/>
                        <a:ext cx="2974975" cy="347663"/>
                      </a:xfrm>
                      <a:prstGeom prst="rect">
                        <a:avLst/>
                      </a:prstGeom>
                      <a:noFill/>
                      <a:ln w="38100">
                        <a:noFill/>
                        <a:miter/>
                      </a:ln>
                    </p:spPr>
                  </p:pic>
                </p:oleObj>
              </mc:Fallback>
            </mc:AlternateContent>
          </a:graphicData>
        </a:graphic>
      </p:graphicFrame>
      <p:graphicFrame>
        <p:nvGraphicFramePr>
          <p:cNvPr id="42074" name="对象 137330"/>
          <p:cNvGraphicFramePr/>
          <p:nvPr/>
        </p:nvGraphicFramePr>
        <p:xfrm>
          <a:off x="4721225" y="5229225"/>
          <a:ext cx="2876550" cy="342900"/>
        </p:xfrm>
        <a:graphic>
          <a:graphicData uri="http://schemas.openxmlformats.org/presentationml/2006/ole">
            <mc:AlternateContent xmlns:mc="http://schemas.openxmlformats.org/markup-compatibility/2006">
              <mc:Choice xmlns:v="urn:schemas-microsoft-com:vml" Requires="v">
                <p:oleObj spid="_x0000_s26843" name="" r:id="rId21" imgW="1917700" imgH="228600" progId="Equation.3">
                  <p:embed/>
                </p:oleObj>
              </mc:Choice>
              <mc:Fallback>
                <p:oleObj name="" r:id="rId21" imgW="1917700" imgH="228600" progId="Equation.3">
                  <p:embed/>
                  <p:pic>
                    <p:nvPicPr>
                      <p:cNvPr id="0" name="图片 3151"/>
                      <p:cNvPicPr/>
                      <p:nvPr/>
                    </p:nvPicPr>
                    <p:blipFill>
                      <a:blip r:embed="rId22"/>
                      <a:stretch>
                        <a:fillRect/>
                      </a:stretch>
                    </p:blipFill>
                    <p:spPr>
                      <a:xfrm>
                        <a:off x="4721225" y="5229225"/>
                        <a:ext cx="2876550" cy="342900"/>
                      </a:xfrm>
                      <a:prstGeom prst="rect">
                        <a:avLst/>
                      </a:prstGeom>
                      <a:noFill/>
                      <a:ln w="38100">
                        <a:noFill/>
                        <a:miter/>
                      </a:ln>
                    </p:spPr>
                  </p:pic>
                </p:oleObj>
              </mc:Fallback>
            </mc:AlternateContent>
          </a:graphicData>
        </a:graphic>
      </p:graphicFrame>
      <p:graphicFrame>
        <p:nvGraphicFramePr>
          <p:cNvPr id="42075" name="对象 137329"/>
          <p:cNvGraphicFramePr/>
          <p:nvPr/>
        </p:nvGraphicFramePr>
        <p:xfrm>
          <a:off x="4730750" y="5715000"/>
          <a:ext cx="3341688" cy="365125"/>
        </p:xfrm>
        <a:graphic>
          <a:graphicData uri="http://schemas.openxmlformats.org/presentationml/2006/ole">
            <mc:AlternateContent xmlns:mc="http://schemas.openxmlformats.org/markup-compatibility/2006">
              <mc:Choice xmlns:v="urn:schemas-microsoft-com:vml" Requires="v">
                <p:oleObj spid="_x0000_s26844" name="" r:id="rId23" imgW="2095500" imgH="228600" progId="Equation.3">
                  <p:embed/>
                </p:oleObj>
              </mc:Choice>
              <mc:Fallback>
                <p:oleObj name="" r:id="rId23" imgW="2095500" imgH="228600" progId="Equation.3">
                  <p:embed/>
                  <p:pic>
                    <p:nvPicPr>
                      <p:cNvPr id="0" name="图片 3147"/>
                      <p:cNvPicPr/>
                      <p:nvPr/>
                    </p:nvPicPr>
                    <p:blipFill>
                      <a:blip r:embed="rId24"/>
                      <a:stretch>
                        <a:fillRect/>
                      </a:stretch>
                    </p:blipFill>
                    <p:spPr>
                      <a:xfrm>
                        <a:off x="4730750" y="5715000"/>
                        <a:ext cx="3341688" cy="365125"/>
                      </a:xfrm>
                      <a:prstGeom prst="rect">
                        <a:avLst/>
                      </a:prstGeom>
                      <a:noFill/>
                      <a:ln w="38100">
                        <a:noFill/>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文本占位符 46082"/>
          <p:cNvSpPr>
            <a:spLocks noGrp="1" noRot="1"/>
          </p:cNvSpPr>
          <p:nvPr>
            <p:ph idx="1"/>
          </p:nvPr>
        </p:nvSpPr>
        <p:spPr>
          <a:xfrm>
            <a:off x="990600" y="838200"/>
            <a:ext cx="8153400" cy="4953000"/>
          </a:xfrm>
        </p:spPr>
        <p:txBody>
          <a:bodyPr anchor="t" anchorCtr="0"/>
          <a:lstStyle/>
          <a:p>
            <a:pPr marL="0" indent="0">
              <a:lnSpc>
                <a:spcPct val="120000"/>
              </a:lnSpc>
              <a:buSzPct val="150000"/>
              <a:buFont typeface="Wingdings" panose="05000000000000000000" pitchFamily="2" charset="2"/>
              <a:buChar char="§"/>
            </a:pPr>
            <a:r>
              <a:rPr lang="zh-CN" altLang="en-US" sz="2800" dirty="0">
                <a:latin typeface="宋体" panose="02010600030101010101" pitchFamily="2" charset="-122"/>
              </a:rPr>
              <a:t>根据题意，约束方程如下</a:t>
            </a:r>
            <a:r>
              <a:rPr lang="en-US" altLang="zh-CN" sz="2800" dirty="0">
                <a:latin typeface="宋体" panose="02010600030101010101" pitchFamily="2" charset="-122"/>
              </a:rPr>
              <a:t>,</a:t>
            </a:r>
            <a:r>
              <a:rPr lang="zh-CN" altLang="en-US" sz="2800" dirty="0">
                <a:latin typeface="宋体" panose="02010600030101010101" pitchFamily="2" charset="-122"/>
              </a:rPr>
              <a:t>耕地面积约束</a:t>
            </a:r>
            <a:endParaRPr lang="zh-CN" altLang="en-US" sz="2800" dirty="0">
              <a:latin typeface="宋体" panose="02010600030101010101" pitchFamily="2" charset="-122"/>
            </a:endParaRPr>
          </a:p>
          <a:p>
            <a:pPr marL="0" indent="0">
              <a:lnSpc>
                <a:spcPct val="120000"/>
              </a:lnSpc>
              <a:buSzPct val="150000"/>
              <a:buFont typeface="Wingdings" panose="05000000000000000000" pitchFamily="2" charset="2"/>
              <a:buChar char="§"/>
            </a:pPr>
            <a:endParaRPr lang="zh-CN" altLang="en-US" sz="2800" dirty="0">
              <a:latin typeface="宋体" panose="02010600030101010101" pitchFamily="2" charset="-122"/>
            </a:endParaRPr>
          </a:p>
          <a:p>
            <a:pPr marL="0" indent="0">
              <a:lnSpc>
                <a:spcPct val="120000"/>
              </a:lnSpc>
              <a:buSzPct val="150000"/>
              <a:buFont typeface="Wingdings" panose="05000000000000000000" pitchFamily="2" charset="2"/>
              <a:buChar char="§"/>
            </a:pPr>
            <a:endParaRPr lang="zh-CN" altLang="en-US" sz="2800" dirty="0">
              <a:latin typeface="宋体" panose="02010600030101010101" pitchFamily="2" charset="-122"/>
            </a:endParaRPr>
          </a:p>
          <a:p>
            <a:pPr marL="0" indent="0">
              <a:lnSpc>
                <a:spcPct val="120000"/>
              </a:lnSpc>
              <a:buSzPct val="150000"/>
              <a:buFont typeface="Wingdings" panose="05000000000000000000" pitchFamily="2" charset="2"/>
              <a:buChar char="§"/>
            </a:pPr>
            <a:r>
              <a:rPr lang="zh-CN" altLang="en-US" sz="2800" dirty="0">
                <a:latin typeface="宋体" panose="02010600030101010101" pitchFamily="2" charset="-122"/>
              </a:rPr>
              <a:t>最低收获量约束</a:t>
            </a:r>
            <a:r>
              <a:rPr lang="zh-CN" altLang="en-US" dirty="0">
                <a:latin typeface="宋体" panose="02010600030101010101" pitchFamily="2" charset="-122"/>
              </a:rPr>
              <a:t>  </a:t>
            </a:r>
            <a:r>
              <a:rPr lang="zh-CN" altLang="en-US" dirty="0"/>
              <a:t> </a:t>
            </a:r>
            <a:endParaRPr lang="zh-CN" altLang="en-US" dirty="0"/>
          </a:p>
          <a:p>
            <a:pPr marL="0" indent="0">
              <a:lnSpc>
                <a:spcPct val="120000"/>
              </a:lnSpc>
              <a:buSzPct val="150000"/>
              <a:buFont typeface="Wingdings" panose="05000000000000000000" pitchFamily="2" charset="2"/>
              <a:buChar char="§"/>
            </a:pPr>
            <a:endParaRPr lang="zh-CN" altLang="en-US" sz="2800" dirty="0"/>
          </a:p>
          <a:p>
            <a:pPr marL="0" indent="0">
              <a:lnSpc>
                <a:spcPct val="120000"/>
              </a:lnSpc>
              <a:buSzPct val="150000"/>
              <a:buFont typeface="Wingdings" panose="05000000000000000000" pitchFamily="2" charset="2"/>
              <a:buChar char="§"/>
            </a:pPr>
            <a:endParaRPr lang="zh-CN" altLang="en-US" sz="2800" dirty="0"/>
          </a:p>
          <a:p>
            <a:pPr marL="0" indent="0">
              <a:lnSpc>
                <a:spcPct val="120000"/>
              </a:lnSpc>
              <a:buSzPct val="150000"/>
              <a:buFont typeface="Wingdings" panose="05000000000000000000" pitchFamily="2" charset="2"/>
              <a:buChar char="§"/>
            </a:pPr>
            <a:r>
              <a:rPr lang="zh-CN" altLang="en-US" sz="2800" dirty="0">
                <a:latin typeface="宋体" panose="02010600030101010101" pitchFamily="2" charset="-122"/>
              </a:rPr>
              <a:t>非负约束</a:t>
            </a:r>
            <a:r>
              <a:rPr lang="zh-CN" altLang="en-US" sz="2800"/>
              <a:t> </a:t>
            </a:r>
            <a:endParaRPr lang="zh-CN" altLang="en-US" sz="2800"/>
          </a:p>
        </p:txBody>
      </p:sp>
      <p:sp>
        <p:nvSpPr>
          <p:cNvPr id="43010" name="矩形 46085"/>
          <p:cNvSpPr/>
          <p:nvPr/>
        </p:nvSpPr>
        <p:spPr>
          <a:xfrm>
            <a:off x="3867150" y="307181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43011" name="对象 46084"/>
          <p:cNvGraphicFramePr/>
          <p:nvPr/>
        </p:nvGraphicFramePr>
        <p:xfrm>
          <a:off x="3048000" y="1600200"/>
          <a:ext cx="2286000" cy="1158875"/>
        </p:xfrm>
        <a:graphic>
          <a:graphicData uri="http://schemas.openxmlformats.org/presentationml/2006/ole">
            <mc:AlternateContent xmlns:mc="http://schemas.openxmlformats.org/markup-compatibility/2006">
              <mc:Choice xmlns:v="urn:schemas-microsoft-com:vml" Requires="v">
                <p:oleObj spid="_x0000_s27704" name="" r:id="rId1" imgW="1409065" imgH="711200" progId="Equation.3">
                  <p:embed/>
                </p:oleObj>
              </mc:Choice>
              <mc:Fallback>
                <p:oleObj name="" r:id="rId1" imgW="1409065" imgH="711200" progId="Equation.3">
                  <p:embed/>
                  <p:pic>
                    <p:nvPicPr>
                      <p:cNvPr id="0" name="图片 3148"/>
                      <p:cNvPicPr/>
                      <p:nvPr/>
                    </p:nvPicPr>
                    <p:blipFill>
                      <a:blip r:embed="rId2"/>
                      <a:stretch>
                        <a:fillRect/>
                      </a:stretch>
                    </p:blipFill>
                    <p:spPr>
                      <a:xfrm>
                        <a:off x="3048000" y="1600200"/>
                        <a:ext cx="2286000" cy="1158875"/>
                      </a:xfrm>
                      <a:prstGeom prst="rect">
                        <a:avLst/>
                      </a:prstGeom>
                      <a:noFill/>
                      <a:ln w="38100">
                        <a:noFill/>
                        <a:miter/>
                      </a:ln>
                    </p:spPr>
                  </p:pic>
                </p:oleObj>
              </mc:Fallback>
            </mc:AlternateContent>
          </a:graphicData>
        </a:graphic>
      </p:graphicFrame>
      <p:sp>
        <p:nvSpPr>
          <p:cNvPr id="43012" name="矩形 46087"/>
          <p:cNvSpPr/>
          <p:nvPr/>
        </p:nvSpPr>
        <p:spPr>
          <a:xfrm>
            <a:off x="3214688" y="307181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43013" name="对象 46086"/>
          <p:cNvGraphicFramePr/>
          <p:nvPr/>
        </p:nvGraphicFramePr>
        <p:xfrm>
          <a:off x="2946400" y="3276600"/>
          <a:ext cx="4546600" cy="1144588"/>
        </p:xfrm>
        <a:graphic>
          <a:graphicData uri="http://schemas.openxmlformats.org/presentationml/2006/ole">
            <mc:AlternateContent xmlns:mc="http://schemas.openxmlformats.org/markup-compatibility/2006">
              <mc:Choice xmlns:v="urn:schemas-microsoft-com:vml" Requires="v">
                <p:oleObj spid="_x0000_s27705" name="" r:id="rId3" imgW="2843530" imgH="711200" progId="Equation.3">
                  <p:embed/>
                </p:oleObj>
              </mc:Choice>
              <mc:Fallback>
                <p:oleObj name="" r:id="rId3" imgW="2843530" imgH="711200" progId="Equation.3">
                  <p:embed/>
                  <p:pic>
                    <p:nvPicPr>
                      <p:cNvPr id="0" name="图片 3146"/>
                      <p:cNvPicPr/>
                      <p:nvPr/>
                    </p:nvPicPr>
                    <p:blipFill>
                      <a:blip r:embed="rId4"/>
                      <a:stretch>
                        <a:fillRect/>
                      </a:stretch>
                    </p:blipFill>
                    <p:spPr>
                      <a:xfrm>
                        <a:off x="2946400" y="3276600"/>
                        <a:ext cx="4546600" cy="1144588"/>
                      </a:xfrm>
                      <a:prstGeom prst="rect">
                        <a:avLst/>
                      </a:prstGeom>
                      <a:noFill/>
                      <a:ln w="38100">
                        <a:noFill/>
                        <a:miter/>
                      </a:ln>
                    </p:spPr>
                  </p:pic>
                </p:oleObj>
              </mc:Fallback>
            </mc:AlternateContent>
          </a:graphicData>
        </a:graphic>
      </p:graphicFrame>
      <p:sp>
        <p:nvSpPr>
          <p:cNvPr id="43014" name="矩形 46089"/>
          <p:cNvSpPr/>
          <p:nvPr/>
        </p:nvSpPr>
        <p:spPr>
          <a:xfrm>
            <a:off x="365760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43015" name="对象 46088"/>
          <p:cNvGraphicFramePr/>
          <p:nvPr/>
        </p:nvGraphicFramePr>
        <p:xfrm>
          <a:off x="3059113" y="5229225"/>
          <a:ext cx="3668712" cy="481013"/>
        </p:xfrm>
        <a:graphic>
          <a:graphicData uri="http://schemas.openxmlformats.org/presentationml/2006/ole">
            <mc:AlternateContent xmlns:mc="http://schemas.openxmlformats.org/markup-compatibility/2006">
              <mc:Choice xmlns:v="urn:schemas-microsoft-com:vml" Requires="v">
                <p:oleObj spid="_x0000_s27706" name="" r:id="rId5" imgW="1815465" imgH="241300" progId="Equation.3">
                  <p:embed/>
                </p:oleObj>
              </mc:Choice>
              <mc:Fallback>
                <p:oleObj name="" r:id="rId5" imgW="1815465" imgH="241300" progId="Equation.3">
                  <p:embed/>
                  <p:pic>
                    <p:nvPicPr>
                      <p:cNvPr id="0" name="图片 3149"/>
                      <p:cNvPicPr/>
                      <p:nvPr/>
                    </p:nvPicPr>
                    <p:blipFill>
                      <a:blip r:embed="rId6"/>
                      <a:stretch>
                        <a:fillRect/>
                      </a:stretch>
                    </p:blipFill>
                    <p:spPr>
                      <a:xfrm>
                        <a:off x="3059113" y="5229225"/>
                        <a:ext cx="3668712" cy="481013"/>
                      </a:xfrm>
                      <a:prstGeom prst="rect">
                        <a:avLst/>
                      </a:prstGeom>
                      <a:noFill/>
                      <a:ln w="38100">
                        <a:noFill/>
                        <a:miter/>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文本框 110593"/>
          <p:cNvSpPr txBox="1"/>
          <p:nvPr/>
        </p:nvSpPr>
        <p:spPr>
          <a:xfrm>
            <a:off x="1143000" y="685800"/>
            <a:ext cx="7696200" cy="2661920"/>
          </a:xfrm>
          <a:prstGeom prst="rect">
            <a:avLst/>
          </a:prstGeom>
          <a:noFill/>
          <a:ln w="9525">
            <a:noFill/>
          </a:ln>
        </p:spPr>
        <p:txBody>
          <a:bodyPr anchor="t" anchorCtr="0">
            <a:spAutoFit/>
          </a:bodyPr>
          <a:lstStyle/>
          <a:p>
            <a:pPr algn="just">
              <a:lnSpc>
                <a:spcPct val="120000"/>
              </a:lnSpc>
              <a:spcBef>
                <a:spcPct val="20000"/>
              </a:spcBef>
              <a:buClr>
                <a:schemeClr val="accent2"/>
              </a:buClr>
              <a:buSzPct val="150000"/>
              <a:buFont typeface="Wingdings" panose="05000000000000000000" pitchFamily="2" charset="2"/>
            </a:pPr>
            <a:r>
              <a:rPr lang="en-US" altLang="zh-CN" sz="3200" dirty="0">
                <a:latin typeface="宋体" panose="02010600030101010101" pitchFamily="2" charset="-122"/>
                <a:ea typeface="宋体" panose="02010600030101010101" pitchFamily="2" charset="-122"/>
              </a:rPr>
              <a:t>   </a:t>
            </a:r>
            <a:r>
              <a:rPr lang="zh-CN" altLang="en-US" sz="3200" dirty="0">
                <a:latin typeface="宋体" panose="02010600030101010101" pitchFamily="2" charset="-122"/>
                <a:ea typeface="宋体" panose="02010600030101010101" pitchFamily="2" charset="-122"/>
              </a:rPr>
              <a:t>（</a:t>
            </a:r>
            <a:r>
              <a:rPr lang="en-US" altLang="zh-CN" sz="3200">
                <a:latin typeface="Arial" panose="020B0604020202020204" pitchFamily="34" charset="0"/>
                <a:ea typeface="宋体" panose="02010600030101010101" pitchFamily="2" charset="-122"/>
              </a:rPr>
              <a:t>1</a:t>
            </a:r>
            <a:r>
              <a:rPr lang="zh-CN" altLang="en-US" sz="3200" dirty="0">
                <a:latin typeface="宋体" panose="02010600030101010101" pitchFamily="2" charset="-122"/>
                <a:ea typeface="宋体" panose="02010600030101010101" pitchFamily="2" charset="-122"/>
              </a:rPr>
              <a:t>）追求最大总产量的目标函数为</a:t>
            </a:r>
            <a:endParaRPr lang="zh-CN" altLang="en-US" sz="32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150000"/>
              <a:buFont typeface="Wingdings" panose="05000000000000000000" pitchFamily="2" charset="2"/>
            </a:pPr>
            <a:endParaRPr lang="zh-CN" altLang="en-US" sz="32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150000"/>
              <a:buFont typeface="Wingdings" panose="05000000000000000000" pitchFamily="2" charset="2"/>
            </a:pPr>
            <a:endParaRPr lang="zh-CN" altLang="en-US" sz="32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150000"/>
              <a:buFont typeface="Wingdings" panose="05000000000000000000" pitchFamily="2" charset="2"/>
            </a:pPr>
            <a:r>
              <a:rPr lang="zh-CN" altLang="en-US" sz="2800" dirty="0">
                <a:latin typeface="宋体" panose="02010600030101010101" pitchFamily="2" charset="-122"/>
                <a:ea typeface="宋体" panose="02010600030101010101" pitchFamily="2" charset="-122"/>
              </a:rPr>
              <a:t>    。 </a:t>
            </a:r>
            <a:r>
              <a:rPr lang="zh-CN" altLang="en-US" sz="2800" dirty="0">
                <a:latin typeface="Arial" panose="020B0604020202020204" pitchFamily="34" charset="0"/>
                <a:ea typeface="宋体" panose="02010600030101010101" pitchFamily="2" charset="-122"/>
              </a:rPr>
              <a:t> </a:t>
            </a:r>
            <a:endParaRPr lang="zh-CN" altLang="en-US" sz="2800" dirty="0">
              <a:latin typeface="Arial" panose="020B0604020202020204" pitchFamily="34" charset="0"/>
              <a:ea typeface="宋体" panose="02010600030101010101" pitchFamily="2" charset="-122"/>
            </a:endParaRPr>
          </a:p>
        </p:txBody>
      </p:sp>
      <p:sp>
        <p:nvSpPr>
          <p:cNvPr id="44034" name="矩形 110595"/>
          <p:cNvSpPr/>
          <p:nvPr/>
        </p:nvSpPr>
        <p:spPr>
          <a:xfrm>
            <a:off x="3252788" y="30861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44035" name="对象 110594"/>
          <p:cNvGraphicFramePr/>
          <p:nvPr/>
        </p:nvGraphicFramePr>
        <p:xfrm>
          <a:off x="2466975" y="1524000"/>
          <a:ext cx="5048250" cy="1128713"/>
        </p:xfrm>
        <a:graphic>
          <a:graphicData uri="http://schemas.openxmlformats.org/presentationml/2006/ole">
            <mc:AlternateContent xmlns:mc="http://schemas.openxmlformats.org/markup-compatibility/2006">
              <mc:Choice xmlns:v="urn:schemas-microsoft-com:vml" Requires="v">
                <p:oleObj spid="_x0000_s28694" name="" r:id="rId1" imgW="2692400" imgH="685800" progId="Equation.3">
                  <p:embed/>
                </p:oleObj>
              </mc:Choice>
              <mc:Fallback>
                <p:oleObj name="" r:id="rId1" imgW="2692400" imgH="685800" progId="Equation.3">
                  <p:embed/>
                  <p:pic>
                    <p:nvPicPr>
                      <p:cNvPr id="0" name="图片 3145"/>
                      <p:cNvPicPr/>
                      <p:nvPr/>
                    </p:nvPicPr>
                    <p:blipFill>
                      <a:blip r:embed="rId2"/>
                      <a:stretch>
                        <a:fillRect/>
                      </a:stretch>
                    </p:blipFill>
                    <p:spPr>
                      <a:xfrm>
                        <a:off x="2466975" y="1524000"/>
                        <a:ext cx="5048250" cy="1128713"/>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文本框 139265"/>
          <p:cNvSpPr txBox="1"/>
          <p:nvPr/>
        </p:nvSpPr>
        <p:spPr>
          <a:xfrm>
            <a:off x="1066800" y="685800"/>
            <a:ext cx="7696200" cy="3350260"/>
          </a:xfrm>
          <a:prstGeom prst="rect">
            <a:avLst/>
          </a:prstGeom>
          <a:noFill/>
          <a:ln w="9525">
            <a:noFill/>
          </a:ln>
        </p:spPr>
        <p:txBody>
          <a:bodyPr anchor="t" anchorCtr="0">
            <a:spAutoFit/>
          </a:bodyPr>
          <a:lstStyle/>
          <a:p>
            <a:pPr algn="just">
              <a:lnSpc>
                <a:spcPct val="120000"/>
              </a:lnSpc>
              <a:spcBef>
                <a:spcPct val="20000"/>
              </a:spcBef>
              <a:buClr>
                <a:schemeClr val="accent2"/>
              </a:buClr>
              <a:buSzPct val="150000"/>
              <a:buFont typeface="Wingdings" panose="05000000000000000000" pitchFamily="2" charset="2"/>
            </a:pPr>
            <a:r>
              <a:rPr lang="en-US" altLang="zh-CN" sz="3200" dirty="0">
                <a:latin typeface="宋体" panose="02010600030101010101" pitchFamily="2" charset="-122"/>
                <a:ea typeface="宋体" panose="02010600030101010101" pitchFamily="2" charset="-122"/>
              </a:rPr>
              <a:t>    (2) </a:t>
            </a:r>
            <a:r>
              <a:rPr lang="zh-CN" altLang="en-US" sz="3200" dirty="0">
                <a:latin typeface="宋体" panose="02010600030101010101" pitchFamily="2" charset="-122"/>
                <a:ea typeface="宋体" panose="02010600030101010101" pitchFamily="2" charset="-122"/>
              </a:rPr>
              <a:t>追求最大总产值的目标函数为 </a:t>
            </a:r>
            <a:endParaRPr lang="zh-CN" altLang="en-US" sz="32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150000"/>
              <a:buFont typeface="Wingdings" panose="05000000000000000000" pitchFamily="2" charset="2"/>
            </a:pPr>
            <a:endParaRPr lang="zh-CN" altLang="en-US" sz="32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150000"/>
              <a:buFont typeface="Wingdings" panose="05000000000000000000" pitchFamily="2" charset="2"/>
            </a:pPr>
            <a:endParaRPr lang="zh-CN" altLang="en-US" sz="32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150000"/>
              <a:buFont typeface="Wingdings" panose="05000000000000000000" pitchFamily="2" charset="2"/>
            </a:pPr>
            <a:endParaRPr lang="zh-CN" altLang="en-US" sz="3200" dirty="0">
              <a:latin typeface="宋体" panose="02010600030101010101" pitchFamily="2" charset="-122"/>
              <a:ea typeface="宋体" panose="02010600030101010101" pitchFamily="2" charset="-122"/>
            </a:endParaRPr>
          </a:p>
          <a:p>
            <a:pPr algn="just">
              <a:lnSpc>
                <a:spcPct val="120000"/>
              </a:lnSpc>
              <a:spcBef>
                <a:spcPct val="20000"/>
              </a:spcBef>
              <a:buClr>
                <a:schemeClr val="accent2"/>
              </a:buClr>
              <a:buSzPct val="150000"/>
              <a:buFont typeface="Wingdings" panose="05000000000000000000" pitchFamily="2" charset="2"/>
            </a:pPr>
            <a:r>
              <a:rPr lang="zh-CN" altLang="en-US" sz="2800" dirty="0">
                <a:latin typeface="宋体" panose="02010600030101010101" pitchFamily="2" charset="-122"/>
                <a:ea typeface="宋体" panose="02010600030101010101" pitchFamily="2" charset="-122"/>
              </a:rPr>
              <a:t>     </a:t>
            </a:r>
            <a:r>
              <a:rPr lang="zh-CN" altLang="en-US" sz="2800" dirty="0">
                <a:latin typeface="Arial" panose="020B0604020202020204" pitchFamily="34" charset="0"/>
                <a:ea typeface="宋体" panose="02010600030101010101" pitchFamily="2" charset="-122"/>
              </a:rPr>
              <a:t> </a:t>
            </a:r>
            <a:endParaRPr lang="zh-CN" altLang="en-US" sz="2800" dirty="0">
              <a:latin typeface="Arial" panose="020B0604020202020204" pitchFamily="34" charset="0"/>
              <a:ea typeface="宋体" panose="02010600030101010101" pitchFamily="2" charset="-122"/>
            </a:endParaRPr>
          </a:p>
        </p:txBody>
      </p:sp>
      <p:sp>
        <p:nvSpPr>
          <p:cNvPr id="46082" name="矩形 139266"/>
          <p:cNvSpPr/>
          <p:nvPr/>
        </p:nvSpPr>
        <p:spPr>
          <a:xfrm>
            <a:off x="3252788" y="30861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6083" name="矩形 139269"/>
          <p:cNvSpPr/>
          <p:nvPr/>
        </p:nvSpPr>
        <p:spPr>
          <a:xfrm>
            <a:off x="2976563" y="27432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46084" name="对象 139268"/>
          <p:cNvGraphicFramePr/>
          <p:nvPr/>
        </p:nvGraphicFramePr>
        <p:xfrm>
          <a:off x="2571750" y="1371600"/>
          <a:ext cx="4838700" cy="2063750"/>
        </p:xfrm>
        <a:graphic>
          <a:graphicData uri="http://schemas.openxmlformats.org/presentationml/2006/ole">
            <mc:AlternateContent xmlns:mc="http://schemas.openxmlformats.org/markup-compatibility/2006">
              <mc:Choice xmlns:v="urn:schemas-microsoft-com:vml" Requires="v">
                <p:oleObj spid="_x0000_s29718" name="" r:id="rId1" imgW="3213100" imgH="1371600" progId="Equation.3">
                  <p:embed/>
                </p:oleObj>
              </mc:Choice>
              <mc:Fallback>
                <p:oleObj name="" r:id="rId1" imgW="3213100" imgH="1371600" progId="Equation.3">
                  <p:embed/>
                  <p:pic>
                    <p:nvPicPr>
                      <p:cNvPr id="0" name="图片 3152"/>
                      <p:cNvPicPr/>
                      <p:nvPr/>
                    </p:nvPicPr>
                    <p:blipFill>
                      <a:blip r:embed="rId2"/>
                      <a:stretch>
                        <a:fillRect/>
                      </a:stretch>
                    </p:blipFill>
                    <p:spPr>
                      <a:xfrm>
                        <a:off x="2571750" y="1371600"/>
                        <a:ext cx="4838700" cy="2063750"/>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charset="0"/>
              <a:buChar char="n"/>
            </a:pPr>
            <a:r>
              <a:rPr lang="zh-CN" altLang="en-US" sz="4000" dirty="0">
                <a:solidFill>
                  <a:schemeClr val="tx1"/>
                </a:solidFill>
                <a:effectLst>
                  <a:outerShdw blurRad="38100" dist="19050" dir="2700000" algn="tl" rotWithShape="0">
                    <a:schemeClr val="dk1">
                      <a:alpha val="40000"/>
                    </a:schemeClr>
                  </a:outerShdw>
                </a:effectLst>
              </a:rPr>
              <a:t>线性规划模型综合应用实例</a:t>
            </a:r>
            <a:endParaRPr lang="zh-CN" altLang="en-US" sz="4000" dirty="0">
              <a:solidFill>
                <a:schemeClr val="tx1"/>
              </a:solidFill>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301625" y="1700530"/>
            <a:ext cx="8540750" cy="3886200"/>
          </a:xfrm>
        </p:spPr>
        <p:txBody>
          <a:bodyPr/>
          <a:lstStyle/>
          <a:p>
            <a:pPr>
              <a:spcAft>
                <a:spcPts val="1200"/>
              </a:spcAft>
            </a:pPr>
            <a:r>
              <a:rPr lang="zh-CN" altLang="en-US" sz="2800" dirty="0"/>
              <a:t>实例：山东省青岛市城阳区夏庄街道的三个村（云头崮、太和和南屋石）开展综合发展与规划的研究。将三个地缘关系密切的村庄合并，以云头崮为主导，利用旧村改造将土地置换出来种植水果和茶叶，在此基础上，建设旅游度假村，发展第三产业等，推进乡村振兴。</a:t>
            </a:r>
            <a:endParaRPr lang="en-US" altLang="zh-CN" sz="2800" dirty="0"/>
          </a:p>
          <a:p>
            <a:r>
              <a:rPr lang="zh-CN" altLang="en-US" sz="2800" dirty="0"/>
              <a:t>问题：种植多少亩的茶叶？种植多少亩的果树？需考虑种植的比例，获利最多。而且这些方案要落实到空间规划图上。</a:t>
            </a:r>
            <a:endParaRPr lang="zh-CN"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742950" indent="-742950">
              <a:buFont typeface="Wingdings" panose="05000000000000000000" charset="0"/>
              <a:buChar char="n"/>
            </a:pPr>
            <a:r>
              <a:rPr lang="zh-CN" altLang="en-US" sz="3600" dirty="0">
                <a:solidFill>
                  <a:schemeClr val="tx1"/>
                </a:solidFill>
                <a:effectLst>
                  <a:outerShdw blurRad="38100" dist="19050" dir="2700000" algn="tl" rotWithShape="0">
                    <a:schemeClr val="dk1">
                      <a:alpha val="40000"/>
                    </a:schemeClr>
                  </a:outerShdw>
                </a:effectLst>
                <a:sym typeface="+mn-ea"/>
              </a:rPr>
              <a:t>线性规划模型综合应用实例</a:t>
            </a:r>
            <a:endParaRPr lang="zh-CN" altLang="en-US" sz="3600" dirty="0"/>
          </a:p>
        </p:txBody>
      </p:sp>
      <p:sp>
        <p:nvSpPr>
          <p:cNvPr id="3" name="内容占位符 2"/>
          <p:cNvSpPr>
            <a:spLocks noGrp="1"/>
          </p:cNvSpPr>
          <p:nvPr>
            <p:ph idx="1"/>
          </p:nvPr>
        </p:nvSpPr>
        <p:spPr>
          <a:xfrm>
            <a:off x="304800" y="1981200"/>
            <a:ext cx="8540750" cy="4328120"/>
          </a:xfrm>
        </p:spPr>
        <p:txBody>
          <a:bodyPr/>
          <a:lstStyle/>
          <a:p>
            <a:r>
              <a:rPr lang="zh-CN" altLang="en-US" sz="2800" dirty="0">
                <a:sym typeface="+mn-ea"/>
              </a:rPr>
              <a:t>思路：</a:t>
            </a:r>
            <a:endParaRPr lang="en-US" altLang="zh-CN" sz="2800" dirty="0">
              <a:sym typeface="+mn-ea"/>
            </a:endParaRPr>
          </a:p>
          <a:p>
            <a:pPr marL="914400" lvl="1" indent="-457200">
              <a:buFont typeface="+mj-ea"/>
              <a:buAutoNum type="circleNumDbPlain"/>
            </a:pPr>
            <a:r>
              <a:rPr lang="zh-CN" altLang="en-US" sz="2400" dirty="0">
                <a:sym typeface="+mn-ea"/>
              </a:rPr>
              <a:t>如何算出合理的比例，就要求资料调查，来确定变量。这里的变量有两类：总量数据和参量数据。</a:t>
            </a:r>
            <a:endParaRPr lang="zh-CN" altLang="en-US" sz="2400" dirty="0">
              <a:sym typeface="+mn-ea"/>
            </a:endParaRPr>
          </a:p>
          <a:p>
            <a:pPr marL="914400" lvl="1" indent="-457200">
              <a:buFont typeface="+mj-ea"/>
              <a:buAutoNum type="circleNumDbPlain"/>
            </a:pPr>
            <a:r>
              <a:rPr lang="zh-CN" altLang="en-US" sz="2400" dirty="0"/>
              <a:t>总量数据：三个村合计一共可以拥有多少可供种植的土地资源；一共有多少劳动力可以提供；一共有多少资金可以投入。</a:t>
            </a:r>
            <a:endParaRPr lang="zh-CN" altLang="en-US" sz="2400" dirty="0"/>
          </a:p>
          <a:p>
            <a:pPr marL="914400" lvl="1" indent="-457200">
              <a:buFont typeface="+mj-ea"/>
              <a:buAutoNum type="circleNumDbPlain"/>
            </a:pPr>
            <a:r>
              <a:rPr lang="zh-CN" altLang="en-US" sz="2400" dirty="0"/>
              <a:t>参量数据：种植一亩茶叶平均要多少劳动力，多少资金，一亩茶叶平均可以创造纯收入；种植一亩果树平均要多少劳动力、多少资金，一亩果树平均可以创造多少纯收入。</a:t>
            </a:r>
            <a:endParaRPr lang="zh-CN" altLang="en-US" sz="2400" dirty="0"/>
          </a:p>
          <a:p>
            <a:endParaRPr lang="zh-CN" alt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pitchFamily="2" charset="2"/>
              <a:buChar char="n"/>
            </a:pPr>
            <a:r>
              <a:rPr lang="zh-CN" altLang="en-US" sz="3600" dirty="0">
                <a:solidFill>
                  <a:schemeClr val="tx1"/>
                </a:solidFill>
                <a:effectLst>
                  <a:outerShdw blurRad="38100" dist="19050" dir="2700000" algn="tl" rotWithShape="0">
                    <a:schemeClr val="dk1">
                      <a:alpha val="40000"/>
                    </a:schemeClr>
                  </a:outerShdw>
                </a:effectLst>
                <a:sym typeface="+mn-ea"/>
              </a:rPr>
              <a:t>线性规划模型综合应用实例</a:t>
            </a:r>
            <a:endParaRPr lang="zh-CN" altLang="en-US" sz="3600" dirty="0">
              <a:solidFill>
                <a:schemeClr val="tx1"/>
              </a:solidFill>
              <a:effectLst>
                <a:outerShdw blurRad="38100" dist="19050" dir="2700000" algn="tl" rotWithShape="0">
                  <a:schemeClr val="dk1">
                    <a:alpha val="40000"/>
                  </a:schemeClr>
                </a:outerShdw>
              </a:effectLst>
              <a:sym typeface="+mn-ea"/>
            </a:endParaRPr>
          </a:p>
        </p:txBody>
      </p:sp>
      <p:sp>
        <p:nvSpPr>
          <p:cNvPr id="3" name="内容占位符 2"/>
          <p:cNvSpPr>
            <a:spLocks noGrp="1"/>
          </p:cNvSpPr>
          <p:nvPr>
            <p:ph idx="1"/>
          </p:nvPr>
        </p:nvSpPr>
        <p:spPr>
          <a:xfrm>
            <a:off x="304800" y="1981200"/>
            <a:ext cx="8540750" cy="1879848"/>
          </a:xfrm>
        </p:spPr>
        <p:txBody>
          <a:bodyPr/>
          <a:lstStyle/>
          <a:p>
            <a:r>
              <a:rPr lang="zh-CN" altLang="en-US" sz="2800" dirty="0">
                <a:sym typeface="+mn-ea"/>
              </a:rPr>
              <a:t>用表来描述问题：</a:t>
            </a:r>
            <a:r>
              <a:rPr lang="en-US" altLang="zh-CN" sz="2800" dirty="0">
                <a:solidFill>
                  <a:srgbClr val="FF0000"/>
                </a:solidFill>
                <a:sym typeface="+mn-ea"/>
              </a:rPr>
              <a:t>x</a:t>
            </a:r>
            <a:r>
              <a:rPr lang="zh-CN" altLang="en-US" sz="2800" baseline="-25000" dirty="0">
                <a:solidFill>
                  <a:srgbClr val="FF0000"/>
                </a:solidFill>
                <a:sym typeface="+mn-ea"/>
              </a:rPr>
              <a:t>1</a:t>
            </a:r>
            <a:r>
              <a:rPr lang="zh-CN" altLang="en-US" sz="2800" dirty="0">
                <a:sym typeface="+mn-ea"/>
              </a:rPr>
              <a:t>代表</a:t>
            </a:r>
            <a:r>
              <a:rPr lang="zh-CN" altLang="en-US" sz="2800" dirty="0"/>
              <a:t>茶叶面积</a:t>
            </a:r>
            <a:r>
              <a:rPr lang="zh-CN" altLang="en-US" sz="2800" dirty="0">
                <a:sym typeface="+mn-ea"/>
              </a:rPr>
              <a:t>、</a:t>
            </a:r>
            <a:r>
              <a:rPr lang="zh-CN" altLang="en-US" sz="2800" dirty="0">
                <a:solidFill>
                  <a:srgbClr val="FF0000"/>
                </a:solidFill>
                <a:sym typeface="+mn-ea"/>
              </a:rPr>
              <a:t>x</a:t>
            </a:r>
            <a:r>
              <a:rPr lang="zh-CN" altLang="en-US" sz="2800" baseline="-25000" dirty="0">
                <a:solidFill>
                  <a:srgbClr val="FF0000"/>
                </a:solidFill>
                <a:sym typeface="+mn-ea"/>
              </a:rPr>
              <a:t>2</a:t>
            </a:r>
            <a:r>
              <a:rPr lang="zh-CN" altLang="en-US" sz="2800" dirty="0">
                <a:sym typeface="+mn-ea"/>
              </a:rPr>
              <a:t>代表果树</a:t>
            </a:r>
            <a:r>
              <a:rPr lang="zh-CN" altLang="en-US" sz="2800" dirty="0"/>
              <a:t>面积</a:t>
            </a:r>
            <a:r>
              <a:rPr lang="zh-CN" altLang="en-US" sz="2800" dirty="0">
                <a:sym typeface="+mn-ea"/>
              </a:rPr>
              <a:t>，为未知变量；其余</a:t>
            </a:r>
            <a:r>
              <a:rPr lang="zh-CN" altLang="en-US" sz="2800" b="1" dirty="0">
                <a:solidFill>
                  <a:srgbClr val="002060"/>
                </a:solidFill>
                <a:sym typeface="+mn-ea"/>
              </a:rPr>
              <a:t>总量</a:t>
            </a:r>
            <a:r>
              <a:rPr lang="zh-CN" altLang="en-US" sz="2800" dirty="0">
                <a:sym typeface="+mn-ea"/>
              </a:rPr>
              <a:t>和参量要通过调查取得。</a:t>
            </a:r>
            <a:endParaRPr lang="zh-CN" altLang="en-US" sz="2800" dirty="0"/>
          </a:p>
          <a:p>
            <a:endParaRPr lang="zh-CN" altLang="en-US" sz="2800" dirty="0"/>
          </a:p>
        </p:txBody>
      </p:sp>
      <p:graphicFrame>
        <p:nvGraphicFramePr>
          <p:cNvPr id="5" name="表格 5"/>
          <p:cNvGraphicFramePr>
            <a:graphicFrameLocks noGrp="1"/>
          </p:cNvGraphicFramePr>
          <p:nvPr>
            <p:custDataLst>
              <p:tags r:id="rId1"/>
            </p:custDataLst>
          </p:nvPr>
        </p:nvGraphicFramePr>
        <p:xfrm>
          <a:off x="755576" y="3068960"/>
          <a:ext cx="7704856" cy="2194560"/>
        </p:xfrm>
        <a:graphic>
          <a:graphicData uri="http://schemas.openxmlformats.org/drawingml/2006/table">
            <a:tbl>
              <a:tblPr firstRow="1" bandRow="1">
                <a:tableStyleId>{5C22544A-7EE6-4342-B048-85BDC9FD1C3A}</a:tableStyleId>
              </a:tblPr>
              <a:tblGrid>
                <a:gridCol w="1795306"/>
                <a:gridCol w="1877102"/>
                <a:gridCol w="1296144"/>
                <a:gridCol w="1368152"/>
                <a:gridCol w="1368152"/>
              </a:tblGrid>
              <a:tr h="370840">
                <a:tc>
                  <a:txBody>
                    <a:bodyPr/>
                    <a:lstStyle/>
                    <a:p>
                      <a:pPr algn="ctr"/>
                      <a:r>
                        <a:rPr lang="zh-CN" altLang="zh-CN" sz="2400" b="1" i="0" u="none" kern="1200" baseline="0" dirty="0">
                          <a:solidFill>
                            <a:srgbClr val="002060"/>
                          </a:solidFill>
                          <a:effectLst/>
                          <a:latin typeface="+mn-lt"/>
                          <a:ea typeface="+mn-ea"/>
                          <a:cs typeface="+mn-cs"/>
                        </a:rPr>
                        <a:t>产品种类与总量约束</a:t>
                      </a:r>
                      <a:endParaRPr lang="zh-CN" altLang="en-US" dirty="0">
                        <a:solidFill>
                          <a:srgbClr val="002060"/>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zh-CN" sz="2400" b="1" i="0" u="none" kern="1200" baseline="0" dirty="0">
                          <a:solidFill>
                            <a:srgbClr val="002060"/>
                          </a:solidFill>
                          <a:effectLst/>
                          <a:latin typeface="+mn-lt"/>
                          <a:ea typeface="+mn-ea"/>
                          <a:cs typeface="+mn-cs"/>
                        </a:rPr>
                        <a:t>劳动力</a:t>
                      </a:r>
                      <a:r>
                        <a:rPr lang="en-US" altLang="zh-CN" sz="2400" b="1" i="0" u="none" kern="1200" baseline="0" dirty="0">
                          <a:solidFill>
                            <a:srgbClr val="002060"/>
                          </a:solidFill>
                          <a:effectLst/>
                          <a:latin typeface="+mn-lt"/>
                          <a:ea typeface="+mn-ea"/>
                          <a:cs typeface="+mn-cs"/>
                        </a:rPr>
                        <a:t>/</a:t>
                      </a:r>
                      <a:r>
                        <a:rPr lang="zh-CN" altLang="zh-CN" sz="2400" b="1" i="0" u="none" kern="1200" baseline="0" dirty="0">
                          <a:solidFill>
                            <a:srgbClr val="002060"/>
                          </a:solidFill>
                          <a:effectLst/>
                          <a:latin typeface="+mn-lt"/>
                          <a:ea typeface="+mn-ea"/>
                          <a:cs typeface="+mn-cs"/>
                        </a:rPr>
                        <a:t>个（</a:t>
                      </a:r>
                      <a:r>
                        <a:rPr lang="zh-CN" altLang="en-US" sz="2400" b="1" i="0" u="none" kern="1200" baseline="0" dirty="0">
                          <a:solidFill>
                            <a:srgbClr val="002060"/>
                          </a:solidFill>
                          <a:effectLst/>
                          <a:latin typeface="+mn-lt"/>
                          <a:ea typeface="+mn-ea"/>
                          <a:cs typeface="+mn-cs"/>
                        </a:rPr>
                        <a:t>工</a:t>
                      </a:r>
                      <a:r>
                        <a:rPr lang="zh-CN" altLang="zh-CN" sz="2400" b="1" i="0" u="none" kern="1200" baseline="0" dirty="0">
                          <a:solidFill>
                            <a:srgbClr val="002060"/>
                          </a:solidFill>
                          <a:effectLst/>
                          <a:latin typeface="+mn-lt"/>
                          <a:ea typeface="+mn-ea"/>
                          <a:cs typeface="+mn-cs"/>
                        </a:rPr>
                        <a:t>作日）</a:t>
                      </a:r>
                      <a:endParaRPr lang="zh-CN" altLang="en-US" dirty="0">
                        <a:solidFill>
                          <a:srgbClr val="002060"/>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zh-CN" sz="2400" b="1" i="0" u="none" kern="1200" baseline="0" dirty="0">
                          <a:solidFill>
                            <a:srgbClr val="002060"/>
                          </a:solidFill>
                          <a:effectLst/>
                          <a:latin typeface="+mn-lt"/>
                          <a:ea typeface="+mn-ea"/>
                          <a:cs typeface="+mn-cs"/>
                        </a:rPr>
                        <a:t>资金</a:t>
                      </a:r>
                      <a:r>
                        <a:rPr lang="en-US" altLang="zh-CN" sz="2400" b="1" i="0" u="none" kern="1200" baseline="0" dirty="0">
                          <a:solidFill>
                            <a:srgbClr val="002060"/>
                          </a:solidFill>
                          <a:effectLst/>
                          <a:latin typeface="+mn-lt"/>
                          <a:ea typeface="+mn-ea"/>
                          <a:cs typeface="+mn-cs"/>
                        </a:rPr>
                        <a:t>/</a:t>
                      </a:r>
                      <a:r>
                        <a:rPr lang="zh-CN" altLang="zh-CN" sz="2400" b="1" i="0" u="none" kern="1200" baseline="0" dirty="0">
                          <a:solidFill>
                            <a:srgbClr val="002060"/>
                          </a:solidFill>
                          <a:effectLst/>
                          <a:latin typeface="+mn-lt"/>
                          <a:ea typeface="+mn-ea"/>
                          <a:cs typeface="+mn-cs"/>
                        </a:rPr>
                        <a:t>元</a:t>
                      </a:r>
                      <a:endParaRPr lang="zh-CN" altLang="en-US" dirty="0">
                        <a:solidFill>
                          <a:srgbClr val="002060"/>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zh-CN" sz="2400" b="1" i="0" u="none" kern="1200" baseline="0" dirty="0">
                          <a:solidFill>
                            <a:srgbClr val="002060"/>
                          </a:solidFill>
                          <a:effectLst/>
                          <a:latin typeface="+mn-lt"/>
                          <a:ea typeface="+mn-ea"/>
                          <a:cs typeface="+mn-cs"/>
                        </a:rPr>
                        <a:t>单位产值</a:t>
                      </a:r>
                      <a:r>
                        <a:rPr lang="en-US" altLang="zh-CN" sz="2400" b="1" i="0" u="none" kern="1200" baseline="0" dirty="0">
                          <a:solidFill>
                            <a:srgbClr val="002060"/>
                          </a:solidFill>
                          <a:effectLst/>
                          <a:latin typeface="+mn-lt"/>
                          <a:ea typeface="+mn-ea"/>
                          <a:cs typeface="+mn-cs"/>
                        </a:rPr>
                        <a:t>/</a:t>
                      </a:r>
                      <a:r>
                        <a:rPr lang="zh-CN" altLang="zh-CN" sz="2400" b="1" i="0" u="none" kern="1200" baseline="0" dirty="0">
                          <a:solidFill>
                            <a:srgbClr val="002060"/>
                          </a:solidFill>
                          <a:effectLst/>
                          <a:latin typeface="+mn-lt"/>
                          <a:ea typeface="+mn-ea"/>
                          <a:cs typeface="+mn-cs"/>
                        </a:rPr>
                        <a:t>元</a:t>
                      </a:r>
                      <a:endParaRPr lang="zh-CN" altLang="en-US" dirty="0">
                        <a:solidFill>
                          <a:srgbClr val="002060"/>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zh-CN" sz="2400" b="1" i="0" u="none" kern="1200" baseline="0" dirty="0">
                          <a:solidFill>
                            <a:srgbClr val="002060"/>
                          </a:solidFill>
                          <a:effectLst/>
                          <a:latin typeface="+mn-lt"/>
                          <a:ea typeface="+mn-ea"/>
                          <a:cs typeface="+mn-cs"/>
                        </a:rPr>
                        <a:t>土地面积</a:t>
                      </a:r>
                      <a:r>
                        <a:rPr lang="en-US" altLang="zh-CN" sz="2400" b="1" i="0" u="none" kern="1200" baseline="0" dirty="0">
                          <a:solidFill>
                            <a:srgbClr val="002060"/>
                          </a:solidFill>
                          <a:effectLst/>
                          <a:latin typeface="+mn-lt"/>
                          <a:ea typeface="+mn-ea"/>
                          <a:cs typeface="+mn-cs"/>
                        </a:rPr>
                        <a:t>/</a:t>
                      </a:r>
                      <a:r>
                        <a:rPr lang="zh-CN" altLang="zh-CN" sz="2400" b="1" i="0" u="none" kern="1200" baseline="0" dirty="0">
                          <a:solidFill>
                            <a:srgbClr val="002060"/>
                          </a:solidFill>
                          <a:effectLst/>
                          <a:latin typeface="+mn-lt"/>
                          <a:ea typeface="+mn-ea"/>
                          <a:cs typeface="+mn-cs"/>
                        </a:rPr>
                        <a:t>亩</a:t>
                      </a:r>
                      <a:endParaRPr lang="zh-CN" altLang="en-US" dirty="0">
                        <a:solidFill>
                          <a:srgbClr val="002060"/>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lang="zh-CN" altLang="zh-CN" sz="2400" b="0" i="0" u="none" kern="1200" baseline="0" dirty="0">
                          <a:solidFill>
                            <a:srgbClr val="002060"/>
                          </a:solidFill>
                          <a:effectLst/>
                          <a:latin typeface="+mn-lt"/>
                          <a:ea typeface="+mn-ea"/>
                          <a:cs typeface="+mn-cs"/>
                        </a:rPr>
                        <a:t>茶叶</a:t>
                      </a:r>
                      <a:r>
                        <a:rPr lang="en-US" altLang="zh-CN" sz="2400" b="0" i="0" u="none" kern="1200" baseline="0" dirty="0">
                          <a:solidFill>
                            <a:srgbClr val="002060"/>
                          </a:solidFill>
                          <a:effectLst/>
                          <a:latin typeface="+mn-lt"/>
                          <a:ea typeface="+mn-ea"/>
                          <a:cs typeface="+mn-cs"/>
                        </a:rPr>
                        <a:t>/</a:t>
                      </a:r>
                      <a:r>
                        <a:rPr lang="zh-CN" altLang="zh-CN" sz="2400" b="0" i="0" u="none" kern="1200" baseline="0" dirty="0">
                          <a:solidFill>
                            <a:srgbClr val="002060"/>
                          </a:solidFill>
                          <a:effectLst/>
                          <a:latin typeface="+mn-lt"/>
                          <a:ea typeface="+mn-ea"/>
                          <a:cs typeface="+mn-cs"/>
                        </a:rPr>
                        <a:t>亩</a:t>
                      </a:r>
                      <a:endParaRPr lang="zh-CN" altLang="en-US" dirty="0">
                        <a:solidFill>
                          <a:srgbClr val="00206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002060"/>
                          </a:solidFill>
                          <a:effectLst/>
                          <a:latin typeface="+mn-lt"/>
                          <a:ea typeface="+mn-ea"/>
                          <a:cs typeface="+mn-cs"/>
                        </a:rPr>
                        <a:t>a1</a:t>
                      </a:r>
                      <a:endParaRPr lang="zh-CN" altLang="en-US" dirty="0">
                        <a:solidFill>
                          <a:srgbClr val="00206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002060"/>
                          </a:solidFill>
                          <a:effectLst/>
                          <a:latin typeface="+mn-lt"/>
                          <a:ea typeface="+mn-ea"/>
                          <a:cs typeface="+mn-cs"/>
                        </a:rPr>
                        <a:t>b1</a:t>
                      </a:r>
                      <a:endParaRPr lang="zh-CN" altLang="en-US" dirty="0">
                        <a:solidFill>
                          <a:srgbClr val="00206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002060"/>
                          </a:solidFill>
                          <a:effectLst/>
                          <a:latin typeface="+mn-lt"/>
                          <a:ea typeface="+mn-ea"/>
                          <a:cs typeface="+mn-cs"/>
                        </a:rPr>
                        <a:t>c1</a:t>
                      </a:r>
                      <a:endParaRPr lang="zh-CN" altLang="en-US" dirty="0">
                        <a:solidFill>
                          <a:srgbClr val="00206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FF0000"/>
                          </a:solidFill>
                          <a:effectLst/>
                          <a:latin typeface="+mn-lt"/>
                          <a:ea typeface="+mn-ea"/>
                          <a:cs typeface="+mn-cs"/>
                        </a:rPr>
                        <a:t>x</a:t>
                      </a:r>
                      <a:r>
                        <a:rPr lang="en-US" altLang="zh-CN" sz="2400" b="0" i="0" u="none" kern="1200" baseline="-25000" dirty="0">
                          <a:solidFill>
                            <a:srgbClr val="FF0000"/>
                          </a:solidFill>
                          <a:effectLst/>
                          <a:latin typeface="+mn-lt"/>
                          <a:ea typeface="+mn-ea"/>
                          <a:cs typeface="+mn-cs"/>
                        </a:rPr>
                        <a:t>1</a:t>
                      </a:r>
                      <a:endParaRPr lang="en-US" altLang="zh-CN" sz="2400" b="0" i="0" u="none" kern="1200" baseline="-25000" dirty="0">
                        <a:solidFill>
                          <a:srgbClr val="FF0000"/>
                        </a:solidFill>
                        <a:effectLst/>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370840">
                <a:tc>
                  <a:txBody>
                    <a:bodyPr/>
                    <a:lstStyle/>
                    <a:p>
                      <a:pPr algn="ctr"/>
                      <a:r>
                        <a:rPr lang="zh-CN" altLang="zh-CN" sz="2400" b="0" i="0" u="none" kern="1200" baseline="0" dirty="0">
                          <a:solidFill>
                            <a:srgbClr val="002060"/>
                          </a:solidFill>
                          <a:effectLst/>
                          <a:latin typeface="+mn-lt"/>
                          <a:ea typeface="+mn-ea"/>
                          <a:cs typeface="+mn-cs"/>
                        </a:rPr>
                        <a:t>果树</a:t>
                      </a:r>
                      <a:r>
                        <a:rPr lang="en-US" altLang="zh-CN" sz="2400" b="0" i="0" u="none" kern="1200" baseline="0" dirty="0">
                          <a:solidFill>
                            <a:srgbClr val="002060"/>
                          </a:solidFill>
                          <a:effectLst/>
                          <a:latin typeface="+mn-lt"/>
                          <a:ea typeface="+mn-ea"/>
                          <a:cs typeface="+mn-cs"/>
                        </a:rPr>
                        <a:t>/</a:t>
                      </a:r>
                      <a:r>
                        <a:rPr lang="zh-CN" altLang="zh-CN" sz="2400" b="0" i="0" u="none" kern="1200" baseline="0" dirty="0">
                          <a:solidFill>
                            <a:srgbClr val="002060"/>
                          </a:solidFill>
                          <a:effectLst/>
                          <a:latin typeface="+mn-lt"/>
                          <a:ea typeface="+mn-ea"/>
                          <a:cs typeface="+mn-cs"/>
                        </a:rPr>
                        <a:t>亩</a:t>
                      </a:r>
                      <a:endParaRPr lang="zh-CN" altLang="en-US" dirty="0">
                        <a:solidFill>
                          <a:srgbClr val="00206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002060"/>
                          </a:solidFill>
                          <a:effectLst/>
                          <a:latin typeface="+mn-lt"/>
                          <a:ea typeface="+mn-ea"/>
                          <a:cs typeface="+mn-cs"/>
                        </a:rPr>
                        <a:t>a2</a:t>
                      </a:r>
                      <a:endParaRPr lang="zh-CN" altLang="en-US" dirty="0">
                        <a:solidFill>
                          <a:srgbClr val="00206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002060"/>
                          </a:solidFill>
                          <a:effectLst/>
                          <a:latin typeface="+mn-lt"/>
                          <a:ea typeface="+mn-ea"/>
                          <a:cs typeface="+mn-cs"/>
                        </a:rPr>
                        <a:t>b2</a:t>
                      </a:r>
                      <a:endParaRPr lang="zh-CN" altLang="en-US" dirty="0">
                        <a:solidFill>
                          <a:srgbClr val="00206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002060"/>
                          </a:solidFill>
                          <a:effectLst/>
                          <a:latin typeface="+mn-lt"/>
                          <a:ea typeface="+mn-ea"/>
                          <a:cs typeface="+mn-cs"/>
                        </a:rPr>
                        <a:t>c2</a:t>
                      </a:r>
                      <a:endParaRPr lang="zh-CN" altLang="en-US" dirty="0">
                        <a:solidFill>
                          <a:srgbClr val="00206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FF0000"/>
                          </a:solidFill>
                          <a:effectLst/>
                          <a:latin typeface="+mn-lt"/>
                          <a:ea typeface="+mn-ea"/>
                          <a:cs typeface="+mn-cs"/>
                        </a:rPr>
                        <a:t>x</a:t>
                      </a:r>
                      <a:r>
                        <a:rPr lang="en-US" altLang="zh-CN" sz="2400" b="0" i="0" u="none" kern="1200" baseline="-25000" dirty="0">
                          <a:solidFill>
                            <a:srgbClr val="FF0000"/>
                          </a:solidFill>
                          <a:effectLst/>
                          <a:latin typeface="+mn-lt"/>
                          <a:ea typeface="+mn-ea"/>
                          <a:cs typeface="+mn-cs"/>
                        </a:rPr>
                        <a:t>2</a:t>
                      </a:r>
                      <a:endParaRPr lang="en-US" altLang="zh-CN" sz="2400" b="0" i="0" u="none" kern="1200" baseline="-25000" dirty="0">
                        <a:solidFill>
                          <a:srgbClr val="FF0000"/>
                        </a:solidFill>
                        <a:effectLst/>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370840">
                <a:tc>
                  <a:txBody>
                    <a:bodyPr/>
                    <a:lstStyle/>
                    <a:p>
                      <a:pPr algn="ctr"/>
                      <a:r>
                        <a:rPr lang="zh-CN" altLang="zh-CN" sz="2400" b="0" i="0" u="none" kern="1200" baseline="0" dirty="0">
                          <a:solidFill>
                            <a:srgbClr val="002060"/>
                          </a:solidFill>
                          <a:effectLst/>
                          <a:latin typeface="+mn-lt"/>
                          <a:ea typeface="+mn-ea"/>
                          <a:cs typeface="+mn-cs"/>
                        </a:rPr>
                        <a:t>总量约束</a:t>
                      </a:r>
                      <a:endParaRPr lang="zh-CN" altLang="en-US" dirty="0">
                        <a:solidFill>
                          <a:srgbClr val="002060"/>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0" u="none" kern="1200" baseline="0" dirty="0">
                          <a:solidFill>
                            <a:srgbClr val="002060"/>
                          </a:solidFill>
                          <a:effectLst/>
                          <a:latin typeface="+mn-lt"/>
                          <a:ea typeface="+mn-ea"/>
                          <a:cs typeface="+mn-cs"/>
                        </a:rPr>
                        <a:t>A</a:t>
                      </a:r>
                      <a:endParaRPr lang="zh-CN" altLang="en-US" b="1" dirty="0">
                        <a:solidFill>
                          <a:srgbClr val="002060"/>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0" u="none" kern="1200" baseline="0" dirty="0">
                          <a:solidFill>
                            <a:srgbClr val="002060"/>
                          </a:solidFill>
                          <a:effectLst/>
                          <a:latin typeface="+mn-lt"/>
                          <a:ea typeface="+mn-ea"/>
                          <a:cs typeface="+mn-cs"/>
                        </a:rPr>
                        <a:t>B</a:t>
                      </a:r>
                      <a:endParaRPr lang="zh-CN" altLang="en-US" b="1" dirty="0">
                        <a:solidFill>
                          <a:srgbClr val="002060"/>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i="0" u="none" kern="1200" baseline="0" dirty="0">
                          <a:solidFill>
                            <a:srgbClr val="002060"/>
                          </a:solidFill>
                          <a:effectLst/>
                          <a:latin typeface="+mn-lt"/>
                          <a:ea typeface="+mn-ea"/>
                          <a:cs typeface="+mn-cs"/>
                        </a:rPr>
                        <a:t>f (x)</a:t>
                      </a:r>
                      <a:endParaRPr lang="zh-CN" altLang="en-US" dirty="0">
                        <a:solidFill>
                          <a:srgbClr val="002060"/>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0" u="none" kern="1200" baseline="0" dirty="0">
                          <a:solidFill>
                            <a:srgbClr val="002060"/>
                          </a:solidFill>
                          <a:effectLst/>
                          <a:latin typeface="+mn-lt"/>
                          <a:ea typeface="+mn-ea"/>
                          <a:cs typeface="+mn-cs"/>
                        </a:rPr>
                        <a:t>X</a:t>
                      </a:r>
                      <a:endParaRPr lang="zh-CN" altLang="en-US" b="1" dirty="0">
                        <a:solidFill>
                          <a:srgbClr val="002060"/>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charset="0"/>
              <a:buChar char="n"/>
            </a:pPr>
            <a:r>
              <a:rPr lang="zh-CN" altLang="en-US" sz="3600" dirty="0">
                <a:solidFill>
                  <a:schemeClr val="tx1"/>
                </a:solidFill>
                <a:effectLst>
                  <a:outerShdw blurRad="38100" dist="19050" dir="2700000" algn="tl" rotWithShape="0">
                    <a:schemeClr val="dk1">
                      <a:alpha val="40000"/>
                    </a:schemeClr>
                  </a:outerShdw>
                </a:effectLst>
                <a:sym typeface="+mn-ea"/>
              </a:rPr>
              <a:t>线性规划模型综合应用实例</a:t>
            </a:r>
            <a:endParaRPr lang="zh-CN" altLang="en-US" sz="3600" dirty="0">
              <a:solidFill>
                <a:schemeClr val="tx1"/>
              </a:solidFill>
              <a:effectLst>
                <a:outerShdw blurRad="38100" dist="19050" dir="2700000" algn="tl" rotWithShape="0">
                  <a:schemeClr val="dk1">
                    <a:alpha val="40000"/>
                  </a:schemeClr>
                </a:outerShdw>
              </a:effectLst>
              <a:sym typeface="+mn-ea"/>
            </a:endParaRPr>
          </a:p>
        </p:txBody>
      </p:sp>
      <p:sp>
        <p:nvSpPr>
          <p:cNvPr id="3" name="内容占位符 2"/>
          <p:cNvSpPr>
            <a:spLocks noGrp="1"/>
          </p:cNvSpPr>
          <p:nvPr>
            <p:ph idx="1"/>
          </p:nvPr>
        </p:nvSpPr>
        <p:spPr/>
        <p:txBody>
          <a:bodyPr/>
          <a:lstStyle/>
          <a:p>
            <a:r>
              <a:rPr lang="zh-CN" altLang="en-US" dirty="0"/>
              <a:t>模型建立：</a:t>
            </a:r>
            <a:endParaRPr lang="en-US" altLang="zh-CN" dirty="0"/>
          </a:p>
          <a:p>
            <a:endParaRPr lang="zh-CN" altLang="en-US" dirty="0"/>
          </a:p>
        </p:txBody>
      </p:sp>
      <p:graphicFrame>
        <p:nvGraphicFramePr>
          <p:cNvPr id="6" name="表格 6"/>
          <p:cNvGraphicFramePr>
            <a:graphicFrameLocks noGrp="1"/>
          </p:cNvGraphicFramePr>
          <p:nvPr>
            <p:custDataLst>
              <p:tags r:id="rId1"/>
            </p:custDataLst>
          </p:nvPr>
        </p:nvGraphicFramePr>
        <p:xfrm>
          <a:off x="988695" y="2853055"/>
          <a:ext cx="6943090" cy="2377440"/>
        </p:xfrm>
        <a:graphic>
          <a:graphicData uri="http://schemas.openxmlformats.org/drawingml/2006/table">
            <a:tbl>
              <a:tblPr firstRow="1" bandRow="1">
                <a:tableStyleId>{5C22544A-7EE6-4342-B048-85BDC9FD1C3A}</a:tableStyleId>
              </a:tblPr>
              <a:tblGrid>
                <a:gridCol w="1847850"/>
                <a:gridCol w="5095240"/>
              </a:tblGrid>
              <a:tr h="1920240">
                <a:tc>
                  <a:txBody>
                    <a:bodyPr/>
                    <a:lstStyle/>
                    <a:p>
                      <a:r>
                        <a:rPr lang="zh-CN" altLang="en-US" dirty="0">
                          <a:solidFill>
                            <a:srgbClr val="002060"/>
                          </a:solidFill>
                        </a:rPr>
                        <a:t>约束条件：</a:t>
                      </a:r>
                      <a:endParaRPr lang="zh-CN" altLang="en-US" dirty="0">
                        <a:solidFill>
                          <a:srgbClr val="002060"/>
                        </a:solidFill>
                      </a:endParaRPr>
                    </a:p>
                  </a:txBody>
                  <a:tcPr>
                    <a:noFill/>
                  </a:tcPr>
                </a:tc>
                <a:tc>
                  <a:txBody>
                    <a:bodyPr/>
                    <a:lstStyle/>
                    <a:p>
                      <a:r>
                        <a:rPr lang="en-US" altLang="zh-CN" sz="2400" b="0" dirty="0">
                          <a:solidFill>
                            <a:schemeClr val="accent4"/>
                          </a:solidFill>
                          <a:sym typeface="+mn-ea"/>
                        </a:rPr>
                        <a:t>x</a:t>
                      </a:r>
                      <a:r>
                        <a:rPr lang="en-US" altLang="zh-CN" sz="2400" b="0" baseline="-25000" dirty="0">
                          <a:solidFill>
                            <a:schemeClr val="accent4"/>
                          </a:solidFill>
                          <a:sym typeface="+mn-ea"/>
                        </a:rPr>
                        <a:t>1</a:t>
                      </a:r>
                      <a:r>
                        <a:rPr lang="en-US" altLang="zh-CN" b="0" dirty="0">
                          <a:solidFill>
                            <a:schemeClr val="accent4"/>
                          </a:solidFill>
                        </a:rPr>
                        <a:t>+x</a:t>
                      </a:r>
                      <a:r>
                        <a:rPr lang="en-US" altLang="zh-CN" b="0" baseline="-25000" dirty="0">
                          <a:solidFill>
                            <a:schemeClr val="accent4"/>
                          </a:solidFill>
                        </a:rPr>
                        <a:t>2</a:t>
                      </a:r>
                      <a:r>
                        <a:rPr lang="en-US" altLang="zh-CN" b="0" dirty="0">
                          <a:solidFill>
                            <a:schemeClr val="accent4"/>
                          </a:solidFill>
                        </a:rPr>
                        <a:t>&lt;=X</a:t>
                      </a:r>
                      <a:endParaRPr lang="en-US" altLang="zh-CN" b="0" dirty="0">
                        <a:solidFill>
                          <a:schemeClr val="accent4"/>
                        </a:solidFill>
                      </a:endParaRPr>
                    </a:p>
                    <a:p>
                      <a:r>
                        <a:rPr lang="en-US" altLang="zh-CN" b="0" dirty="0">
                          <a:solidFill>
                            <a:schemeClr val="accent4"/>
                          </a:solidFill>
                        </a:rPr>
                        <a:t>a1x</a:t>
                      </a:r>
                      <a:r>
                        <a:rPr lang="en-US" altLang="zh-CN" b="0" baseline="-25000" dirty="0">
                          <a:solidFill>
                            <a:schemeClr val="accent4"/>
                          </a:solidFill>
                        </a:rPr>
                        <a:t>1</a:t>
                      </a:r>
                      <a:r>
                        <a:rPr lang="en-US" altLang="zh-CN" b="0" dirty="0">
                          <a:solidFill>
                            <a:schemeClr val="accent4"/>
                          </a:solidFill>
                        </a:rPr>
                        <a:t>+a2x</a:t>
                      </a:r>
                      <a:r>
                        <a:rPr lang="en-US" altLang="zh-CN" b="0" baseline="-25000" dirty="0">
                          <a:solidFill>
                            <a:schemeClr val="accent4"/>
                          </a:solidFill>
                        </a:rPr>
                        <a:t>2</a:t>
                      </a:r>
                      <a:r>
                        <a:rPr lang="en-US" altLang="zh-CN" b="0" dirty="0">
                          <a:solidFill>
                            <a:schemeClr val="accent4"/>
                          </a:solidFill>
                        </a:rPr>
                        <a:t>&lt;=A</a:t>
                      </a:r>
                      <a:endParaRPr lang="en-US" altLang="zh-CN" b="0" dirty="0">
                        <a:solidFill>
                          <a:schemeClr val="accent4"/>
                        </a:solidFill>
                      </a:endParaRPr>
                    </a:p>
                    <a:p>
                      <a:r>
                        <a:rPr lang="en-US" altLang="zh-CN" b="0" dirty="0">
                          <a:solidFill>
                            <a:schemeClr val="accent4"/>
                          </a:solidFill>
                        </a:rPr>
                        <a:t>b1x</a:t>
                      </a:r>
                      <a:r>
                        <a:rPr lang="en-US" altLang="zh-CN" b="0" baseline="-25000" dirty="0">
                          <a:solidFill>
                            <a:schemeClr val="accent4"/>
                          </a:solidFill>
                        </a:rPr>
                        <a:t>1</a:t>
                      </a:r>
                      <a:r>
                        <a:rPr lang="en-US" altLang="zh-CN" b="0" dirty="0">
                          <a:solidFill>
                            <a:schemeClr val="accent4"/>
                          </a:solidFill>
                        </a:rPr>
                        <a:t>+b2x</a:t>
                      </a:r>
                      <a:r>
                        <a:rPr lang="en-US" altLang="zh-CN" b="0" baseline="-25000" dirty="0">
                          <a:solidFill>
                            <a:schemeClr val="accent4"/>
                          </a:solidFill>
                        </a:rPr>
                        <a:t>2</a:t>
                      </a:r>
                      <a:r>
                        <a:rPr lang="en-US" altLang="zh-CN" b="0" dirty="0">
                          <a:solidFill>
                            <a:schemeClr val="accent4"/>
                          </a:solidFill>
                        </a:rPr>
                        <a:t>&lt;=B</a:t>
                      </a:r>
                      <a:endParaRPr lang="en-US" altLang="zh-CN" b="0" dirty="0">
                        <a:solidFill>
                          <a:schemeClr val="accent4"/>
                        </a:solidFill>
                      </a:endParaRPr>
                    </a:p>
                    <a:p>
                      <a:r>
                        <a:rPr lang="en-US" altLang="zh-CN" b="0" dirty="0">
                          <a:solidFill>
                            <a:schemeClr val="accent4"/>
                          </a:solidFill>
                        </a:rPr>
                        <a:t>x</a:t>
                      </a:r>
                      <a:r>
                        <a:rPr lang="en-US" altLang="zh-CN" b="0" baseline="-25000" dirty="0">
                          <a:solidFill>
                            <a:schemeClr val="accent4"/>
                          </a:solidFill>
                        </a:rPr>
                        <a:t>1</a:t>
                      </a:r>
                      <a:r>
                        <a:rPr lang="en-US" altLang="zh-CN" b="0" dirty="0">
                          <a:solidFill>
                            <a:schemeClr val="accent4"/>
                          </a:solidFill>
                        </a:rPr>
                        <a:t>,x</a:t>
                      </a:r>
                      <a:r>
                        <a:rPr lang="en-US" altLang="zh-CN" b="0" baseline="-25000" dirty="0">
                          <a:solidFill>
                            <a:schemeClr val="accent4"/>
                          </a:solidFill>
                        </a:rPr>
                        <a:t>2</a:t>
                      </a:r>
                      <a:r>
                        <a:rPr lang="en-US" altLang="zh-CN" b="0" dirty="0">
                          <a:solidFill>
                            <a:schemeClr val="accent4"/>
                          </a:solidFill>
                        </a:rPr>
                        <a:t>&gt;=0</a:t>
                      </a:r>
                      <a:endParaRPr lang="en-US" altLang="zh-CN" b="0" dirty="0">
                        <a:solidFill>
                          <a:schemeClr val="accent4"/>
                        </a:solidFill>
                      </a:endParaRPr>
                    </a:p>
                    <a:p>
                      <a:endParaRPr lang="zh-CN" altLang="en-US" b="0" dirty="0">
                        <a:solidFill>
                          <a:schemeClr val="accent4"/>
                        </a:solidFill>
                      </a:endParaRPr>
                    </a:p>
                  </a:txBody>
                  <a:tcPr>
                    <a:noFill/>
                  </a:tcPr>
                </a:tc>
              </a:tr>
              <a:tr h="457200">
                <a:tc>
                  <a:txBody>
                    <a:bodyPr/>
                    <a:lstStyle/>
                    <a:p>
                      <a:r>
                        <a:rPr lang="zh-CN" altLang="en-US" dirty="0">
                          <a:solidFill>
                            <a:srgbClr val="002060"/>
                          </a:solidFill>
                        </a:rPr>
                        <a:t>目标函数：</a:t>
                      </a:r>
                      <a:endParaRPr lang="zh-CN" altLang="en-US" dirty="0">
                        <a:solidFill>
                          <a:srgbClr val="002060"/>
                        </a:solidFill>
                      </a:endParaRPr>
                    </a:p>
                  </a:txBody>
                  <a:tcP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err="1">
                          <a:solidFill>
                            <a:schemeClr val="accent4"/>
                          </a:solidFill>
                        </a:rPr>
                        <a:t>maxf</a:t>
                      </a:r>
                      <a:r>
                        <a:rPr lang="en-US" altLang="zh-CN" dirty="0">
                          <a:solidFill>
                            <a:schemeClr val="accent4"/>
                          </a:solidFill>
                        </a:rPr>
                        <a:t>=c1x1+c2x2</a:t>
                      </a:r>
                      <a:endParaRPr lang="zh-CN" altLang="en-US" dirty="0">
                        <a:solidFill>
                          <a:schemeClr val="accent4"/>
                        </a:solidFill>
                      </a:endParaRPr>
                    </a:p>
                  </a:txBody>
                  <a:tcPr>
                    <a:noFill/>
                  </a:tcPr>
                </a:tc>
              </a:tr>
            </a:tbl>
          </a:graphicData>
        </a:graphic>
      </p:graphicFrame>
      <p:sp>
        <p:nvSpPr>
          <p:cNvPr id="7" name="文本框 6"/>
          <p:cNvSpPr txBox="1"/>
          <p:nvPr/>
        </p:nvSpPr>
        <p:spPr>
          <a:xfrm>
            <a:off x="827405" y="5949315"/>
            <a:ext cx="5140960" cy="645160"/>
          </a:xfrm>
          <a:prstGeom prst="rect">
            <a:avLst/>
          </a:prstGeom>
          <a:noFill/>
        </p:spPr>
        <p:txBody>
          <a:bodyPr wrap="square" rtlCol="0">
            <a:spAutoFit/>
          </a:bodyPr>
          <a:lstStyle/>
          <a:p>
            <a:r>
              <a:rPr lang="zh-CN" altLang="en-US">
                <a:solidFill>
                  <a:srgbClr val="FF0000"/>
                </a:solidFill>
              </a:rPr>
              <a:t>提问：</a:t>
            </a:r>
            <a:r>
              <a:rPr lang="en-US" altLang="zh-CN">
                <a:solidFill>
                  <a:srgbClr val="FF0000"/>
                </a:solidFill>
              </a:rPr>
              <a:t>1</a:t>
            </a:r>
            <a:r>
              <a:rPr lang="zh-CN" altLang="en-US">
                <a:solidFill>
                  <a:srgbClr val="FF0000"/>
                </a:solidFill>
              </a:rPr>
              <a:t>、总量和参量数据如何获取？</a:t>
            </a:r>
            <a:r>
              <a:rPr lang="en-US" altLang="zh-CN">
                <a:solidFill>
                  <a:srgbClr val="FF0000"/>
                </a:solidFill>
              </a:rPr>
              <a:t>2</a:t>
            </a:r>
            <a:r>
              <a:rPr lang="zh-CN" altLang="en-US">
                <a:solidFill>
                  <a:srgbClr val="FF0000"/>
                </a:solidFill>
              </a:rPr>
              <a:t>、</a:t>
            </a:r>
            <a:r>
              <a:rPr lang="zh-CN" altLang="zh-CN" b="1" kern="100" dirty="0">
                <a:solidFill>
                  <a:srgbClr val="FF0000"/>
                </a:solidFill>
                <a:effectLst/>
                <a:latin typeface="Calibri" panose="020F0502020204030204" pitchFamily="34" charset="0"/>
                <a:cs typeface="Times New Roman" panose="02020603050405020304" pitchFamily="18" charset="0"/>
                <a:sym typeface="+mn-ea"/>
              </a:rPr>
              <a:t>如果对该区划进行未来的规划，如何处理数据？</a:t>
            </a:r>
            <a:endParaRPr lang="zh-CN" altLang="zh-CN" b="1" kern="100" dirty="0">
              <a:solidFill>
                <a:srgbClr val="FF0000"/>
              </a:solidFill>
              <a:effectLst/>
              <a:latin typeface="Calibri" panose="020F0502020204030204" pitchFamily="34"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Wingdings" panose="05000000000000000000" pitchFamily="2" charset="2"/>
              <a:buChar char="n"/>
            </a:pPr>
            <a:r>
              <a:rPr lang="zh-CN" altLang="en-US" sz="3600" dirty="0">
                <a:solidFill>
                  <a:schemeClr val="tx1"/>
                </a:solidFill>
                <a:effectLst>
                  <a:outerShdw blurRad="38100" dist="19050" dir="2700000" algn="tl" rotWithShape="0">
                    <a:schemeClr val="dk1">
                      <a:alpha val="40000"/>
                    </a:schemeClr>
                  </a:outerShdw>
                </a:effectLst>
                <a:sym typeface="+mn-ea"/>
              </a:rPr>
              <a:t>线性规划模型应用实例</a:t>
            </a:r>
            <a:endParaRPr lang="zh-CN" altLang="en-US" sz="3600" dirty="0"/>
          </a:p>
        </p:txBody>
      </p:sp>
      <p:graphicFrame>
        <p:nvGraphicFramePr>
          <p:cNvPr id="6" name="图示 5"/>
          <p:cNvGraphicFramePr/>
          <p:nvPr/>
        </p:nvGraphicFramePr>
        <p:xfrm>
          <a:off x="120690" y="1785892"/>
          <a:ext cx="5492413"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16" name="组合 15"/>
          <p:cNvGrpSpPr/>
          <p:nvPr/>
        </p:nvGrpSpPr>
        <p:grpSpPr>
          <a:xfrm>
            <a:off x="4371122" y="1892787"/>
            <a:ext cx="1857692" cy="1080120"/>
            <a:chOff x="5148064" y="2060848"/>
            <a:chExt cx="1857692" cy="1080120"/>
          </a:xfrm>
        </p:grpSpPr>
        <p:sp>
          <p:nvSpPr>
            <p:cNvPr id="9" name="右大括号 8"/>
            <p:cNvSpPr/>
            <p:nvPr/>
          </p:nvSpPr>
          <p:spPr>
            <a:xfrm>
              <a:off x="5148064" y="2060848"/>
              <a:ext cx="216024" cy="1080120"/>
            </a:xfrm>
            <a:prstGeom prst="rightBrace">
              <a:avLst/>
            </a:prstGeom>
            <a:ln w="12700">
              <a:solidFill>
                <a:srgbClr val="00206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zh-CN" altLang="en-US"/>
            </a:p>
          </p:txBody>
        </p:sp>
        <p:sp>
          <p:nvSpPr>
            <p:cNvPr id="10" name="文本框 9"/>
            <p:cNvSpPr txBox="1"/>
            <p:nvPr/>
          </p:nvSpPr>
          <p:spPr>
            <a:xfrm>
              <a:off x="5436096" y="2374777"/>
              <a:ext cx="1569660" cy="369332"/>
            </a:xfrm>
            <a:prstGeom prst="rect">
              <a:avLst/>
            </a:prstGeom>
            <a:noFill/>
          </p:spPr>
          <p:txBody>
            <a:bodyPr wrap="none" rtlCol="0">
              <a:spAutoFit/>
            </a:bodyPr>
            <a:lstStyle/>
            <a:p>
              <a:r>
                <a:rPr lang="zh-CN" altLang="en-US" dirty="0"/>
                <a:t>政府部门获取</a:t>
              </a:r>
              <a:endParaRPr lang="zh-CN" altLang="en-US" dirty="0"/>
            </a:p>
          </p:txBody>
        </p:sp>
      </p:grpSp>
      <p:sp>
        <p:nvSpPr>
          <p:cNvPr id="12" name="右大括号 11"/>
          <p:cNvSpPr/>
          <p:nvPr/>
        </p:nvSpPr>
        <p:spPr>
          <a:xfrm>
            <a:off x="5191059" y="3284984"/>
            <a:ext cx="288032" cy="2468500"/>
          </a:xfrm>
          <a:prstGeom prst="rightBrace">
            <a:avLst/>
          </a:prstGeom>
          <a:ln w="12700">
            <a:solidFill>
              <a:srgbClr val="00206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zh-CN" altLang="en-US"/>
          </a:p>
        </p:txBody>
      </p:sp>
      <p:sp>
        <p:nvSpPr>
          <p:cNvPr id="13" name="文本框 12"/>
          <p:cNvSpPr txBox="1"/>
          <p:nvPr/>
        </p:nvSpPr>
        <p:spPr>
          <a:xfrm>
            <a:off x="5364166" y="4281953"/>
            <a:ext cx="2723823" cy="369332"/>
          </a:xfrm>
          <a:prstGeom prst="rect">
            <a:avLst/>
          </a:prstGeom>
          <a:noFill/>
        </p:spPr>
        <p:txBody>
          <a:bodyPr wrap="none" rtlCol="0">
            <a:spAutoFit/>
          </a:bodyPr>
          <a:lstStyle/>
          <a:p>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访问当地的果农（茶农）</a:t>
            </a:r>
            <a:endParaRPr lang="zh-CN" altLang="en-US" dirty="0"/>
          </a:p>
        </p:txBody>
      </p:sp>
      <p:sp>
        <p:nvSpPr>
          <p:cNvPr id="15" name="文本框 14"/>
          <p:cNvSpPr txBox="1"/>
          <p:nvPr/>
        </p:nvSpPr>
        <p:spPr>
          <a:xfrm>
            <a:off x="5479091" y="4707092"/>
            <a:ext cx="2981341" cy="1200329"/>
          </a:xfrm>
          <a:prstGeom prst="rect">
            <a:avLst/>
          </a:prstGeom>
          <a:noFill/>
        </p:spPr>
        <p:txBody>
          <a:bodyPr wrap="square">
            <a:spAutoFit/>
          </a:bodyPr>
          <a:lstStyle/>
          <a:p>
            <a:pPr marL="285750" indent="-285750">
              <a:buFont typeface="Wingdings" panose="05000000000000000000" pitchFamily="2" charset="2"/>
              <a:buChar char="n"/>
            </a:pP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没有种植记录</a:t>
            </a:r>
            <a:r>
              <a:rPr lang="zh-CN" altLang="en-US"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n"/>
            </a:pP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数值有偏差</a:t>
            </a:r>
            <a:r>
              <a:rPr lang="zh-CN" altLang="en-US"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n"/>
            </a:pPr>
            <a:r>
              <a:rPr lang="zh-CN" altLang="en-US" dirty="0">
                <a:solidFill>
                  <a:srgbClr val="FF0000"/>
                </a:solidFill>
              </a:rPr>
              <a:t>必须调查多户、多年，求平均。</a:t>
            </a:r>
            <a:endParaRPr lang="zh-CN" altLang="en-US" dirty="0">
              <a:solidFill>
                <a:srgbClr val="FF0000"/>
              </a:solidFill>
            </a:endParaRPr>
          </a:p>
        </p:txBody>
      </p:sp>
      <p:sp>
        <p:nvSpPr>
          <p:cNvPr id="3" name="文本框 2"/>
          <p:cNvSpPr txBox="1"/>
          <p:nvPr/>
        </p:nvSpPr>
        <p:spPr>
          <a:xfrm>
            <a:off x="1323975" y="6148705"/>
            <a:ext cx="4345940" cy="497840"/>
          </a:xfrm>
          <a:prstGeom prst="rect">
            <a:avLst/>
          </a:prstGeom>
          <a:noFill/>
        </p:spPr>
        <p:txBody>
          <a:bodyPr wrap="square" rtlCol="0">
            <a:noAutofit/>
          </a:bodyPr>
          <a:lstStyle/>
          <a:p>
            <a:r>
              <a:rPr lang="zh-CN" altLang="en-US" dirty="0">
                <a:solidFill>
                  <a:srgbClr val="FF0000"/>
                </a:solidFill>
                <a:sym typeface="+mn-ea"/>
              </a:rPr>
              <a:t>多年数据？不同年份的数据（资金和单产）是不可比的，涉及经济学及通货膨胀问题。</a:t>
            </a:r>
            <a:endParaRPr lang="en-US" altLang="zh-CN" dirty="0">
              <a:solidFill>
                <a:srgbClr val="FF0000"/>
              </a:solidFill>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400">
                <a:sym typeface="+mn-ea"/>
              </a:rPr>
              <a:t>统计学的知识可以用平均思想。可以访问当地的果农（茶农），但不同的果农（茶农）数值有偏差，因为没有种植记录，一切数据都是源于多年经营的经验积累结果，因此必须调查多户人家，对结果求平均。</a:t>
            </a:r>
            <a:endParaRPr lang="zh-CN" altLang="en-US" sz="2400"/>
          </a:p>
          <a:p>
            <a:r>
              <a:rPr lang="zh-CN" altLang="en-US" sz="2400">
                <a:sym typeface="+mn-ea"/>
              </a:rPr>
              <a:t>   经济学知识就比较复杂涉及通货膨胀和规模经济。一方面准确起见，需要对不同年份数据进行平均，但不同年份的资金和产值数是不可比的：2004年的100元不等于2005年100元，必须根据物价指数将投入、产出量调整到同一标准。经济规模，指果园的种植面积如果不达到一定规模，就不适合产业化经营，就需要确定规模经济的门槛。</a:t>
            </a:r>
            <a:endParaRPr lang="zh-CN" altLang="en-US" sz="2400"/>
          </a:p>
          <a:p>
            <a:endParaRPr lang="zh-CN"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ln>
        </p:spPr>
        <p:txBody>
          <a:bodyPr anchor="ctr" anchorCtr="0"/>
          <a:lstStyle/>
          <a:p>
            <a:pPr marL="571500" indent="-571500">
              <a:buFont typeface="Wingdings" panose="05000000000000000000" pitchFamily="2" charset="2"/>
              <a:buChar char="n"/>
            </a:pPr>
            <a:r>
              <a:rPr lang="zh-CN" altLang="en-US" sz="3600" dirty="0">
                <a:solidFill>
                  <a:schemeClr val="tx1"/>
                </a:solidFill>
                <a:effectLst>
                  <a:outerShdw blurRad="38100" dist="19050" dir="2700000" algn="tl" rotWithShape="0">
                    <a:schemeClr val="dk1">
                      <a:alpha val="40000"/>
                    </a:schemeClr>
                  </a:outerShdw>
                </a:effectLst>
                <a:sym typeface="+mn-ea"/>
              </a:rPr>
              <a:t>线性规划模型和回归综合应用实例</a:t>
            </a:r>
            <a:endParaRPr lang="zh-CN" altLang="en-US" sz="3600" dirty="0">
              <a:solidFill>
                <a:schemeClr val="tx1"/>
              </a:solidFill>
              <a:effectLst>
                <a:outerShdw blurRad="38100" dist="19050" dir="2700000" algn="tl" rotWithShape="0">
                  <a:schemeClr val="dk1">
                    <a:alpha val="40000"/>
                  </a:schemeClr>
                </a:outerShdw>
              </a:effectLst>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04800" y="1981200"/>
                <a:ext cx="8540750" cy="1591816"/>
              </a:xfrm>
            </p:spPr>
            <p:txBody>
              <a:bodyPr/>
              <a:lstStyle/>
              <a:p>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非线性规划目标函数：</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en-US" altLang="zh-CN" sz="1800" b="0" i="1" kern="100" dirty="0">
                  <a:effectLst/>
                  <a:latin typeface="Cambria Math" panose="02040503050406030204" pitchFamily="18" charset="0"/>
                  <a:ea typeface="宋体" panose="02010600030101010101" pitchFamily="2" charset="-122"/>
                  <a:cs typeface="Times New Roman" panose="02020603050405020304" pitchFamily="18" charset="0"/>
                </a:endParaRPr>
              </a:p>
              <a:p>
                <a14:m>
                  <m:oMath xmlns:m="http://schemas.openxmlformats.org/officeDocument/2006/math">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𝑓</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𝑓</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𝑓</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𝑘</m:t>
                        </m:r>
                      </m:e>
                      <m:sub>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1</m:t>
                        </m:r>
                      </m:sub>
                    </m:sSub>
                    <m:sSup>
                      <m:sSupPr>
                        <m:ctrlP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ctrlPr>
                      </m:sSupPr>
                      <m:e>
                        <m:sSub>
                          <m:sSubPr>
                            <m:ctrlP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1</m:t>
                            </m:r>
                          </m:sub>
                        </m:sSub>
                      </m:e>
                      <m:sup>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sz="1800" b="0" i="1" kern="100" smtClean="0">
                            <a:effectLst/>
                            <a:latin typeface="Cambria Math" panose="02040503050406030204" pitchFamily="18" charset="0"/>
                            <a:ea typeface="宋体" panose="02010600030101010101" pitchFamily="2" charset="-122"/>
                            <a:cs typeface="Times New Roman" panose="02020603050405020304" pitchFamily="18" charset="0"/>
                          </a:rPr>
                          <m:t>1</m:t>
                        </m:r>
                      </m:sup>
                    </m:sSup>
                  </m:oMath>
                </a14:m>
                <a:r>
                  <a:rPr lang="en-US" altLang="zh-CN" sz="1800" kern="100" dirty="0">
                    <a:ea typeface="宋体" panose="02010600030101010101" pitchFamily="2" charset="-122"/>
                    <a:cs typeface="Times New Roman" panose="02020603050405020304" pitchFamily="18" charset="0"/>
                  </a:rPr>
                  <a:t> </a:t>
                </a:r>
                <a14:m>
                  <m:oMath xmlns:m="http://schemas.openxmlformats.org/officeDocument/2006/math">
                    <m:sSup>
                      <m:sSup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pPr>
                      <m:e>
                        <m:sSub>
                          <m:sSub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1</m:t>
                            </m:r>
                          </m:sub>
                        </m:sSub>
                      </m:e>
                      <m:sup>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𝑏</m:t>
                        </m:r>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1</m:t>
                        </m:r>
                      </m:sup>
                    </m:sSup>
                    <m:sSup>
                      <m:sSup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pPr>
                      <m:e>
                        <m:sSub>
                          <m:sSubPr>
                            <m:ctrlPr>
                              <a:rPr lang="en-US" altLang="zh-CN" sz="1800" i="1" kern="10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𝑧</m:t>
                            </m:r>
                          </m:e>
                          <m:sub>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1</m:t>
                            </m:r>
                          </m:sub>
                        </m:sSub>
                      </m:e>
                      <m:sup>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𝑐</m:t>
                        </m:r>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𝑘</m:t>
                        </m:r>
                      </m:e>
                      <m:sub>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2</m:t>
                        </m:r>
                      </m:sub>
                    </m:sSub>
                    <m:sSup>
                      <m:sSup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pPr>
                      <m:e>
                        <m:sSub>
                          <m:sSub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2</m:t>
                            </m:r>
                          </m:sub>
                        </m:sSub>
                      </m:e>
                      <m:sup>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𝑎</m:t>
                        </m:r>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2</m:t>
                        </m:r>
                      </m:sup>
                    </m:sSup>
                    <m:r>
                      <m:rPr>
                        <m:nor/>
                      </m:rPr>
                      <a:rPr lang="en-US" altLang="zh-CN" sz="1800" kern="100" dirty="0">
                        <a:latin typeface="Cambria Math" panose="02040503050406030204" pitchFamily="18" charset="0"/>
                        <a:ea typeface="宋体" panose="02010600030101010101" pitchFamily="2" charset="-122"/>
                        <a:cs typeface="Times New Roman" panose="02020603050405020304" pitchFamily="18" charset="0"/>
                      </a:rPr>
                      <m:t> </m:t>
                    </m:r>
                    <m:sSup>
                      <m:sSup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pPr>
                      <m:e>
                        <m:sSub>
                          <m:sSub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2</m:t>
                            </m:r>
                          </m:sub>
                        </m:sSub>
                      </m:e>
                      <m:sup>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𝑏</m:t>
                        </m:r>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2</m:t>
                        </m:r>
                      </m:sup>
                    </m:sSup>
                    <m:sSup>
                      <m:sSup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pPr>
                      <m:e>
                        <m:sSub>
                          <m:sSubPr>
                            <m:ctrlPr>
                              <a:rPr lang="en-US" altLang="zh-CN" sz="1800" i="1" kern="10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𝑧</m:t>
                            </m:r>
                          </m:e>
                          <m:sub>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2</m:t>
                            </m:r>
                          </m:sub>
                        </m:sSub>
                      </m:e>
                      <m:sup>
                        <m:r>
                          <a:rPr lang="en-US" altLang="zh-CN" sz="1800" i="1" kern="100">
                            <a:latin typeface="Cambria Math" panose="02040503050406030204" pitchFamily="18" charset="0"/>
                            <a:ea typeface="宋体" panose="02010600030101010101" pitchFamily="2" charset="-122"/>
                            <a:cs typeface="Times New Roman" panose="02020603050405020304" pitchFamily="18" charset="0"/>
                          </a:rPr>
                          <m:t>𝑐</m:t>
                        </m:r>
                        <m:r>
                          <a:rPr lang="en-US" altLang="zh-CN" sz="1800" b="0" i="1" kern="100" smtClean="0">
                            <a:latin typeface="Cambria Math" panose="02040503050406030204" pitchFamily="18" charset="0"/>
                            <a:ea typeface="宋体" panose="02010600030101010101" pitchFamily="2" charset="-122"/>
                            <a:cs typeface="Times New Roman" panose="02020603050405020304" pitchFamily="18" charset="0"/>
                          </a:rPr>
                          <m:t>2</m:t>
                        </m:r>
                      </m:sup>
                    </m:sSup>
                  </m:oMath>
                </a14:m>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约束条件不变</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en-US" altLang="zh-CN" sz="1800" kern="100" dirty="0">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304800" y="1981200"/>
                <a:ext cx="8540750" cy="1591816"/>
              </a:xfrm>
              <a:blipFill rotWithShape="1">
                <a:blip r:embed="rId1"/>
                <a:stretch>
                  <a:fillRect b="-52904"/>
                </a:stretch>
              </a:blipFill>
            </p:spPr>
            <p:txBody>
              <a:bodyPr/>
              <a:lstStyle/>
              <a:p>
                <a:r>
                  <a:rPr lang="zh-CN" altLang="en-US">
                    <a:noFill/>
                  </a:rPr>
                  <a:t> </a:t>
                </a:r>
              </a:p>
            </p:txBody>
          </p:sp>
        </mc:Fallback>
      </mc:AlternateContent>
      <p:sp>
        <p:nvSpPr>
          <p:cNvPr id="5" name="文本框 4"/>
          <p:cNvSpPr txBox="1"/>
          <p:nvPr/>
        </p:nvSpPr>
        <p:spPr>
          <a:xfrm>
            <a:off x="6228184" y="1989088"/>
            <a:ext cx="2448272" cy="2122376"/>
          </a:xfrm>
          <a:prstGeom prst="rect">
            <a:avLst/>
          </a:prstGeom>
          <a:noFill/>
        </p:spPr>
        <p:txBody>
          <a:bodyPr wrap="square">
            <a:spAutoFit/>
          </a:bodyPr>
          <a:lstStyle/>
          <a:p>
            <a:pPr>
              <a:lnSpc>
                <a:spcPct val="150000"/>
              </a:lnSpc>
            </a:pPr>
            <a:r>
              <a:rPr lang="en-US" altLang="zh-CN" sz="1800" b="1" kern="1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f </a:t>
            </a:r>
            <a:r>
              <a:rPr lang="zh-CN" altLang="zh-CN" sz="1800" b="1" kern="1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rPr>
              <a:t>经济产值</a:t>
            </a:r>
            <a:endParaRPr lang="en-US" altLang="zh-CN" sz="1800" b="1" kern="100" dirty="0">
              <a:solidFill>
                <a:srgbClr val="002060"/>
              </a:solidFill>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rPr>
              <a:t>x </a:t>
            </a:r>
            <a:r>
              <a:rPr lang="zh-CN"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rPr>
              <a:t>资金投入</a:t>
            </a:r>
            <a:endParaRPr lang="en-US"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rPr>
              <a:t>y </a:t>
            </a:r>
            <a:r>
              <a:rPr lang="zh-CN"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rPr>
              <a:t>劳动力投入</a:t>
            </a:r>
            <a:endParaRPr lang="en-US"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rPr>
              <a:t>z </a:t>
            </a:r>
            <a:r>
              <a:rPr lang="zh-CN"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rPr>
              <a:t>土地投入</a:t>
            </a:r>
            <a:endParaRPr lang="en-US" altLang="zh-CN" sz="18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K</a:t>
            </a:r>
            <a:r>
              <a:rPr lang="zh-CN" altLang="en-US"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a:t>
            </a:r>
            <a:r>
              <a:rPr lang="zh-CN" altLang="en-US"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b</a:t>
            </a:r>
            <a:r>
              <a:rPr lang="zh-CN" altLang="en-US"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c</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表示系数</a:t>
            </a:r>
            <a:endParaRPr lang="zh-CN" altLang="en-US" dirty="0">
              <a:solidFill>
                <a:srgbClr val="FF0000"/>
              </a:solidFill>
            </a:endParaRPr>
          </a:p>
        </p:txBody>
      </p:sp>
      <p:graphicFrame>
        <p:nvGraphicFramePr>
          <p:cNvPr id="7" name="图示 6"/>
          <p:cNvGraphicFramePr/>
          <p:nvPr/>
        </p:nvGraphicFramePr>
        <p:xfrm>
          <a:off x="1115616" y="3556083"/>
          <a:ext cx="4133520" cy="23510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文本框 11"/>
          <p:cNvSpPr txBox="1"/>
          <p:nvPr/>
        </p:nvSpPr>
        <p:spPr>
          <a:xfrm>
            <a:off x="626110" y="6094730"/>
            <a:ext cx="7536180" cy="463550"/>
          </a:xfrm>
          <a:prstGeom prst="rect">
            <a:avLst/>
          </a:prstGeom>
          <a:noFill/>
        </p:spPr>
        <p:txBody>
          <a:bodyPr wrap="square">
            <a:noAutofit/>
          </a:bodyPr>
          <a:lstStyle/>
          <a:p>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提问：</a:t>
            </a: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如何求出模型的</a:t>
            </a:r>
            <a:r>
              <a:rPr lang="en-US" altLang="zh-CN" sz="1800" kern="100" dirty="0">
                <a:solidFill>
                  <a:srgbClr val="FF0000"/>
                </a:solidFill>
                <a:effectLst/>
                <a:latin typeface="Calibri" panose="020F0502020204030204" pitchFamily="34" charset="0"/>
                <a:cs typeface="Times New Roman" panose="02020603050405020304" pitchFamily="18" charset="0"/>
                <a:sym typeface="+mn-ea"/>
              </a:rPr>
              <a:t>K</a:t>
            </a:r>
            <a:r>
              <a:rPr lang="zh-CN" altLang="en-US" sz="1800" kern="100" dirty="0">
                <a:solidFill>
                  <a:srgbClr val="FF0000"/>
                </a:solidFill>
                <a:effectLst/>
                <a:latin typeface="Calibri" panose="020F0502020204030204" pitchFamily="34" charset="0"/>
                <a:cs typeface="Times New Roman" panose="02020603050405020304" pitchFamily="18" charset="0"/>
                <a:sym typeface="+mn-ea"/>
              </a:rPr>
              <a:t>、</a:t>
            </a:r>
            <a:r>
              <a:rPr lang="en-US" altLang="zh-CN" sz="1800" kern="100" dirty="0">
                <a:solidFill>
                  <a:srgbClr val="FF0000"/>
                </a:solidFill>
                <a:effectLst/>
                <a:latin typeface="Calibri" panose="020F0502020204030204" pitchFamily="34" charset="0"/>
                <a:cs typeface="Times New Roman" panose="02020603050405020304" pitchFamily="18" charset="0"/>
                <a:sym typeface="+mn-ea"/>
              </a:rPr>
              <a:t>a</a:t>
            </a:r>
            <a:r>
              <a:rPr lang="zh-CN" altLang="en-US" sz="1800" kern="100" dirty="0">
                <a:solidFill>
                  <a:srgbClr val="FF0000"/>
                </a:solidFill>
                <a:effectLst/>
                <a:latin typeface="Calibri" panose="020F0502020204030204" pitchFamily="34" charset="0"/>
                <a:cs typeface="Times New Roman" panose="02020603050405020304" pitchFamily="18" charset="0"/>
                <a:sym typeface="+mn-ea"/>
              </a:rPr>
              <a:t>、</a:t>
            </a:r>
            <a:r>
              <a:rPr lang="en-US" altLang="zh-CN" sz="1800" kern="100" dirty="0">
                <a:solidFill>
                  <a:srgbClr val="FF0000"/>
                </a:solidFill>
                <a:effectLst/>
                <a:latin typeface="Calibri" panose="020F0502020204030204" pitchFamily="34" charset="0"/>
                <a:cs typeface="Times New Roman" panose="02020603050405020304" pitchFamily="18" charset="0"/>
                <a:sym typeface="+mn-ea"/>
              </a:rPr>
              <a:t>b</a:t>
            </a:r>
            <a:r>
              <a:rPr lang="zh-CN" altLang="en-US" sz="1800" kern="100" dirty="0">
                <a:solidFill>
                  <a:srgbClr val="FF0000"/>
                </a:solidFill>
                <a:effectLst/>
                <a:latin typeface="Calibri" panose="020F0502020204030204" pitchFamily="34" charset="0"/>
                <a:cs typeface="Times New Roman" panose="02020603050405020304" pitchFamily="18" charset="0"/>
                <a:sym typeface="+mn-ea"/>
              </a:rPr>
              <a:t>、</a:t>
            </a:r>
            <a:r>
              <a:rPr lang="en-US" altLang="zh-CN" sz="1800" kern="100" dirty="0">
                <a:solidFill>
                  <a:srgbClr val="FF0000"/>
                </a:solidFill>
                <a:effectLst/>
                <a:latin typeface="Calibri" panose="020F0502020204030204" pitchFamily="34" charset="0"/>
                <a:cs typeface="Times New Roman" panose="02020603050405020304" pitchFamily="18" charset="0"/>
                <a:sym typeface="+mn-ea"/>
              </a:rPr>
              <a:t>c</a:t>
            </a:r>
            <a:r>
              <a:rPr lang="zh-CN" altLang="zh-CN" sz="1800" kern="100" dirty="0">
                <a:solidFill>
                  <a:srgbClr val="FF0000"/>
                </a:solidFill>
                <a:effectLst/>
                <a:latin typeface="Calibri" panose="020F0502020204030204" pitchFamily="34" charset="0"/>
                <a:cs typeface="Times New Roman" panose="02020603050405020304" pitchFamily="18" charset="0"/>
                <a:sym typeface="+mn-ea"/>
              </a:rPr>
              <a:t>系数</a:t>
            </a:r>
            <a:r>
              <a:rPr lang="en-US" altLang="zh-CN" sz="1800" kern="100" dirty="0">
                <a:solidFill>
                  <a:srgbClr val="FF0000"/>
                </a:solidFill>
                <a:effectLst/>
                <a:latin typeface="Calibri" panose="020F0502020204030204" pitchFamily="34" charset="0"/>
                <a:cs typeface="Times New Roman" panose="02020603050405020304" pitchFamily="18" charset="0"/>
                <a:sym typeface="+mn-ea"/>
              </a:rPr>
              <a:t>?</a:t>
            </a:r>
            <a:endParaRPr lang="zh-CN" altLang="en-US" sz="1800" dirty="0">
              <a:solidFill>
                <a:srgbClr val="FF0000"/>
              </a:solidFill>
            </a:endParaRPr>
          </a:p>
          <a:p>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400"/>
              <a:t>要借助多元回归把这些系数求出。计算这些参数，必须拥有连续多年的时间序列数据，包括历年的茶园和果园的面积数据、资金投入数据以及劳动力投入数据。这些数据可能无法获得，所以非线性模型比较困难。</a:t>
            </a:r>
            <a:endParaRPr lang="zh-CN" altLang="en-US" sz="2400"/>
          </a:p>
          <a:p>
            <a:r>
              <a:rPr lang="zh-CN" altLang="en-US" sz="2400"/>
              <a:t>注：如果要进行未来的规划，要先把现在的数据预测到未来，才能建立规划模型。</a:t>
            </a:r>
            <a:endParaRPr lang="zh-CN" altLang="en-US" sz="2400"/>
          </a:p>
          <a:p>
            <a:r>
              <a:rPr lang="zh-CN" altLang="en-US" sz="2400"/>
              <a:t>线性规划除了空间优化外，还用于生产、管理和生活的很多方面。例如，在管理上，可用线性规划优化电视节目的时间安排，使总的收视率达到最大；在生活中，可以优化食品安排，使得在满足一定的营养的前天下食品花费最少，或者在食品花费一定的情况下营养获取最多。</a:t>
            </a:r>
            <a:endParaRPr lang="zh-CN" alt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a:t>提问：通过学习和研究，你认为线性规划方法可以用于哪些地理问题的研究？</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标题 26625"/>
          <p:cNvSpPr>
            <a:spLocks noGrp="1" noRot="1"/>
          </p:cNvSpPr>
          <p:nvPr>
            <p:ph type="title"/>
          </p:nvPr>
        </p:nvSpPr>
        <p:spPr>
          <a:xfrm>
            <a:off x="1143000" y="304800"/>
            <a:ext cx="7772400" cy="838200"/>
          </a:xfrm>
        </p:spPr>
        <p:txBody>
          <a:bodyPr anchor="ctr" anchorCtr="0"/>
          <a:lstStyle/>
          <a:p>
            <a:r>
              <a:rPr lang="zh-CN" altLang="en-US" sz="4000" b="1" dirty="0">
                <a:solidFill>
                  <a:schemeClr val="tx1"/>
                </a:solidFill>
                <a:latin typeface="Times New Roman" panose="02020603050405020304" pitchFamily="18" charset="0"/>
                <a:ea typeface="黑体" panose="02010609060101010101" pitchFamily="2" charset="-122"/>
              </a:rPr>
              <a:t>（二）线性规划的数学模型</a:t>
            </a:r>
            <a:r>
              <a:rPr lang="zh-CN" altLang="en-US" sz="4000" b="1" dirty="0">
                <a:solidFill>
                  <a:srgbClr val="0066FF"/>
                </a:solidFill>
              </a:rPr>
              <a:t> </a:t>
            </a:r>
            <a:endParaRPr lang="zh-CN" altLang="en-US" sz="4000" b="1">
              <a:solidFill>
                <a:srgbClr val="0066FF"/>
              </a:solidFill>
            </a:endParaRPr>
          </a:p>
        </p:txBody>
      </p:sp>
      <p:sp>
        <p:nvSpPr>
          <p:cNvPr id="14338" name="文本占位符 26626"/>
          <p:cNvSpPr>
            <a:spLocks noGrp="1" noRot="1"/>
          </p:cNvSpPr>
          <p:nvPr>
            <p:ph idx="1"/>
          </p:nvPr>
        </p:nvSpPr>
        <p:spPr>
          <a:xfrm>
            <a:off x="1295400" y="1143000"/>
            <a:ext cx="7467600" cy="5181600"/>
          </a:xfrm>
        </p:spPr>
        <p:txBody>
          <a:bodyPr anchor="t" anchorCtr="0"/>
          <a:lstStyle/>
          <a:p>
            <a:pPr marL="0" indent="0">
              <a:lnSpc>
                <a:spcPct val="110000"/>
              </a:lnSpc>
            </a:pPr>
            <a:r>
              <a:rPr lang="en-US" altLang="zh-CN" sz="2800" dirty="0">
                <a:latin typeface="Times New Roman" panose="02020603050405020304" pitchFamily="18" charset="0"/>
              </a:rPr>
              <a:t>       </a:t>
            </a:r>
            <a:r>
              <a:rPr lang="zh-CN" altLang="en-US" sz="2400" dirty="0">
                <a:latin typeface="Times New Roman" panose="02020603050405020304" pitchFamily="18" charset="0"/>
              </a:rPr>
              <a:t>以上例子表明，线性规划问题具有以下特征： </a:t>
            </a:r>
            <a:endParaRPr lang="zh-CN" altLang="en-US" sz="2400" dirty="0">
              <a:latin typeface="Times New Roman" panose="02020603050405020304" pitchFamily="18" charset="0"/>
            </a:endParaRPr>
          </a:p>
          <a:p>
            <a:pPr marL="0" indent="0" algn="just">
              <a:lnSpc>
                <a:spcPct val="110000"/>
              </a:lnSpc>
              <a:buSzPct val="150000"/>
              <a:buFont typeface="Wingdings" panose="05000000000000000000" pitchFamily="2" charset="2"/>
              <a:buChar char="§"/>
            </a:pPr>
            <a:r>
              <a:rPr lang="zh-CN" altLang="en-US" sz="2400" dirty="0">
                <a:solidFill>
                  <a:schemeClr val="hlink"/>
                </a:solidFill>
                <a:latin typeface="Times New Roman" panose="02020603050405020304" pitchFamily="18" charset="0"/>
              </a:rPr>
              <a:t>        </a:t>
            </a:r>
            <a:r>
              <a:rPr lang="en-US" altLang="zh-CN" sz="2400" dirty="0">
                <a:solidFill>
                  <a:schemeClr val="hlink"/>
                </a:solidFill>
                <a:latin typeface="Times New Roman" panose="02020603050405020304" pitchFamily="18" charset="0"/>
              </a:rPr>
              <a:t>①</a:t>
            </a:r>
            <a:r>
              <a:rPr lang="zh-CN" altLang="en-US" sz="2400" dirty="0">
                <a:latin typeface="Times New Roman" panose="02020603050405020304" pitchFamily="18" charset="0"/>
              </a:rPr>
              <a:t>每一个问题都用一组未知变量（</a:t>
            </a:r>
            <a:r>
              <a:rPr lang="en-US" altLang="zh-CN" sz="2400" i="1" dirty="0">
                <a:latin typeface="Times New Roman" panose="02020603050405020304" pitchFamily="18" charset="0"/>
              </a:rPr>
              <a:t>x</a:t>
            </a:r>
            <a:r>
              <a:rPr lang="en-US" altLang="zh-CN" sz="2400" baseline="-300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30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t>…</a:t>
            </a:r>
            <a:r>
              <a:rPr lang="zh-CN" altLang="en-US" sz="2400" dirty="0">
                <a:latin typeface="Times New Roman" panose="02020603050405020304" pitchFamily="18" charset="0"/>
              </a:rPr>
              <a:t>，</a:t>
            </a:r>
            <a:r>
              <a:rPr lang="en-US" altLang="zh-CN" sz="2400" i="1" dirty="0" err="1">
                <a:latin typeface="Times New Roman" panose="02020603050405020304" pitchFamily="18" charset="0"/>
              </a:rPr>
              <a:t>x</a:t>
            </a:r>
            <a:r>
              <a:rPr lang="en-US" altLang="zh-CN" sz="2400" i="1" baseline="-30000" dirty="0" err="1">
                <a:latin typeface="Times New Roman" panose="02020603050405020304" pitchFamily="18" charset="0"/>
              </a:rPr>
              <a:t>n</a:t>
            </a:r>
            <a:r>
              <a:rPr lang="zh-CN" altLang="en-US" sz="2400" dirty="0">
                <a:latin typeface="Times New Roman" panose="02020603050405020304" pitchFamily="18" charset="0"/>
              </a:rPr>
              <a:t>）表示某一规划方案，其一组定值代表一个具体的方案，而且通常要求这些未知变量的取值是非负的。</a:t>
            </a:r>
            <a:endParaRPr lang="zh-CN" altLang="en-US" sz="2400" dirty="0">
              <a:latin typeface="Times New Roman" panose="02020603050405020304" pitchFamily="18" charset="0"/>
            </a:endParaRPr>
          </a:p>
          <a:p>
            <a:pPr marL="0" indent="0" algn="just">
              <a:lnSpc>
                <a:spcPct val="110000"/>
              </a:lnSpc>
              <a:buSzPct val="150000"/>
              <a:buFont typeface="Wingdings" panose="05000000000000000000" pitchFamily="2" charset="2"/>
              <a:buChar char="§"/>
            </a:pPr>
            <a:r>
              <a:rPr lang="zh-CN" altLang="en-US" sz="2400" dirty="0">
                <a:solidFill>
                  <a:schemeClr val="hlink"/>
                </a:solidFill>
                <a:latin typeface="Times New Roman" panose="02020603050405020304" pitchFamily="18" charset="0"/>
              </a:rPr>
              <a:t>        </a:t>
            </a:r>
            <a:r>
              <a:rPr lang="en-US" altLang="zh-CN" sz="2400" dirty="0">
                <a:solidFill>
                  <a:schemeClr val="hlink"/>
                </a:solidFill>
                <a:latin typeface="Times New Roman" panose="02020603050405020304" pitchFamily="18" charset="0"/>
              </a:rPr>
              <a:t>②</a:t>
            </a:r>
            <a:r>
              <a:rPr lang="zh-CN" altLang="en-US" sz="2400" dirty="0">
                <a:latin typeface="Times New Roman" panose="02020603050405020304" pitchFamily="18" charset="0"/>
              </a:rPr>
              <a:t>每一个问题的组成部分：一是目标函数，按照研究问题的不同，常常要求目标函数取最大或最小值；二是约束条件，它定义了一种求解范围，使问题的解必须在这一范围之内。</a:t>
            </a:r>
            <a:endParaRPr lang="zh-CN" altLang="en-US" sz="2400" dirty="0">
              <a:latin typeface="Times New Roman" panose="02020603050405020304" pitchFamily="18" charset="0"/>
            </a:endParaRPr>
          </a:p>
          <a:p>
            <a:pPr marL="0" indent="0" algn="just">
              <a:lnSpc>
                <a:spcPct val="110000"/>
              </a:lnSpc>
              <a:buSzPct val="150000"/>
              <a:buFont typeface="Wingdings" panose="05000000000000000000" pitchFamily="2" charset="2"/>
              <a:buChar char="§"/>
            </a:pPr>
            <a:r>
              <a:rPr lang="zh-CN" altLang="en-US" sz="2400" dirty="0">
                <a:solidFill>
                  <a:schemeClr val="hlink"/>
                </a:solidFill>
                <a:latin typeface="Times New Roman" panose="02020603050405020304" pitchFamily="18" charset="0"/>
              </a:rPr>
              <a:t>        </a:t>
            </a:r>
            <a:r>
              <a:rPr lang="en-US" altLang="zh-CN" sz="2400" dirty="0">
                <a:solidFill>
                  <a:schemeClr val="hlink"/>
                </a:solidFill>
                <a:latin typeface="Times New Roman" panose="02020603050405020304" pitchFamily="18" charset="0"/>
              </a:rPr>
              <a:t>③</a:t>
            </a:r>
            <a:r>
              <a:rPr lang="zh-CN" altLang="en-US" sz="2400" dirty="0">
                <a:latin typeface="Times New Roman" panose="02020603050405020304" pitchFamily="18" charset="0"/>
              </a:rPr>
              <a:t>每一个问题的目标函数和约束条件都是线性的。</a:t>
            </a:r>
            <a:endParaRPr lang="zh-CN" altLang="en-US" sz="2400" dirty="0">
              <a:latin typeface="Times New Roman" panose="02020603050405020304" pitchFamily="18" charset="0"/>
            </a:endParaRPr>
          </a:p>
          <a:p>
            <a:pPr marL="0" indent="0">
              <a:lnSpc>
                <a:spcPct val="90000"/>
              </a:lnSpc>
            </a:pP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文本框 27649"/>
          <p:cNvSpPr txBox="1"/>
          <p:nvPr/>
        </p:nvSpPr>
        <p:spPr>
          <a:xfrm>
            <a:off x="2422525" y="1163638"/>
            <a:ext cx="184150" cy="457200"/>
          </a:xfrm>
          <a:prstGeom prst="rect">
            <a:avLst/>
          </a:prstGeom>
          <a:noFill/>
          <a:ln w="9525">
            <a:noFill/>
          </a:ln>
        </p:spPr>
        <p:txBody>
          <a:bodyPr wrap="none" anchor="t" anchorCtr="0">
            <a:spAutoFit/>
          </a:bodyPr>
          <a:lstStyle/>
          <a:p>
            <a:endParaRPr lang="zh-CN" sz="2400" dirty="0">
              <a:latin typeface="Times New Roman" panose="02020603050405020304" pitchFamily="18" charset="0"/>
              <a:ea typeface="宋体" panose="02010600030101010101" pitchFamily="2" charset="-122"/>
            </a:endParaRPr>
          </a:p>
        </p:txBody>
      </p:sp>
      <p:sp>
        <p:nvSpPr>
          <p:cNvPr id="15362" name="矩形 27656"/>
          <p:cNvSpPr/>
          <p:nvPr/>
        </p:nvSpPr>
        <p:spPr>
          <a:xfrm>
            <a:off x="3771900" y="32051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15363" name="文本框 27650"/>
          <p:cNvSpPr txBox="1"/>
          <p:nvPr/>
        </p:nvSpPr>
        <p:spPr>
          <a:xfrm>
            <a:off x="1517650" y="762000"/>
            <a:ext cx="7197725" cy="1630363"/>
          </a:xfrm>
          <a:prstGeom prst="rect">
            <a:avLst/>
          </a:prstGeom>
          <a:noFill/>
          <a:ln w="9525">
            <a:noFill/>
          </a:ln>
        </p:spPr>
        <p:txBody>
          <a:bodyPr anchor="t" anchorCtr="0">
            <a:spAutoFit/>
          </a:bodyPr>
          <a:lstStyle/>
          <a:p>
            <a:pPr>
              <a:lnSpc>
                <a:spcPct val="120000"/>
              </a:lnSpc>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由此可以抽象出线性规划问题的数学模型，一般形式为：</a:t>
            </a:r>
            <a:endParaRPr lang="zh-CN" altLang="en-US" sz="2800" dirty="0">
              <a:latin typeface="Times New Roman" panose="02020603050405020304" pitchFamily="18" charset="0"/>
              <a:ea typeface="宋体" panose="02010600030101010101" pitchFamily="2" charset="-122"/>
            </a:endParaRPr>
          </a:p>
          <a:p>
            <a:pPr>
              <a:lnSpc>
                <a:spcPct val="120000"/>
              </a:lnSpc>
            </a:pPr>
            <a:r>
              <a:rPr lang="zh-CN" altLang="en-US" sz="2800" dirty="0">
                <a:latin typeface="Times New Roman" panose="02020603050405020304" pitchFamily="18" charset="0"/>
                <a:ea typeface="宋体" panose="02010600030101010101" pitchFamily="2" charset="-122"/>
              </a:rPr>
              <a:t>       在线性约束条件</a:t>
            </a:r>
            <a:endParaRPr lang="zh-CN" altLang="en-US" sz="2800">
              <a:latin typeface="Times New Roman" panose="02020603050405020304" pitchFamily="18" charset="0"/>
              <a:ea typeface="宋体" panose="02010600030101010101" pitchFamily="2" charset="-122"/>
            </a:endParaRPr>
          </a:p>
        </p:txBody>
      </p:sp>
      <p:graphicFrame>
        <p:nvGraphicFramePr>
          <p:cNvPr id="15364" name="对象 27652"/>
          <p:cNvGraphicFramePr/>
          <p:nvPr/>
        </p:nvGraphicFramePr>
        <p:xfrm>
          <a:off x="3395663" y="2286000"/>
          <a:ext cx="4359275" cy="1119188"/>
        </p:xfrm>
        <a:graphic>
          <a:graphicData uri="http://schemas.openxmlformats.org/presentationml/2006/ole">
            <mc:AlternateContent xmlns:mc="http://schemas.openxmlformats.org/markup-compatibility/2006">
              <mc:Choice xmlns:v="urn:schemas-microsoft-com:vml" Requires="v">
                <p:oleObj spid="_x0000_s9255" name="" r:id="rId1" imgW="1929765" imgH="444500" progId="Equation.3">
                  <p:embed/>
                </p:oleObj>
              </mc:Choice>
              <mc:Fallback>
                <p:oleObj name="" r:id="rId1" imgW="1929765" imgH="444500" progId="Equation.3">
                  <p:embed/>
                  <p:pic>
                    <p:nvPicPr>
                      <p:cNvPr id="0" name="图片 3081"/>
                      <p:cNvPicPr/>
                      <p:nvPr/>
                    </p:nvPicPr>
                    <p:blipFill>
                      <a:blip r:embed="rId2"/>
                      <a:stretch>
                        <a:fillRect/>
                      </a:stretch>
                    </p:blipFill>
                    <p:spPr>
                      <a:xfrm>
                        <a:off x="3395663" y="2286000"/>
                        <a:ext cx="4359275" cy="1119188"/>
                      </a:xfrm>
                      <a:prstGeom prst="rect">
                        <a:avLst/>
                      </a:prstGeom>
                      <a:noFill/>
                      <a:ln w="38100">
                        <a:noFill/>
                        <a:miter/>
                      </a:ln>
                    </p:spPr>
                  </p:pic>
                </p:oleObj>
              </mc:Fallback>
            </mc:AlternateContent>
          </a:graphicData>
        </a:graphic>
      </p:graphicFrame>
      <p:sp>
        <p:nvSpPr>
          <p:cNvPr id="15365" name="文本框 27654"/>
          <p:cNvSpPr txBox="1"/>
          <p:nvPr/>
        </p:nvSpPr>
        <p:spPr>
          <a:xfrm>
            <a:off x="1447800" y="3265488"/>
            <a:ext cx="7435850" cy="2655887"/>
          </a:xfrm>
          <a:prstGeom prst="rect">
            <a:avLst/>
          </a:prstGeom>
          <a:noFill/>
          <a:ln w="9525">
            <a:noFill/>
          </a:ln>
        </p:spPr>
        <p:txBody>
          <a:bodyPr anchor="t" anchorCtr="0">
            <a:spAutoFit/>
          </a:bodyPr>
          <a:lstStyle/>
          <a:p>
            <a:pPr fontAlgn="ctr">
              <a:lnSpc>
                <a:spcPct val="120000"/>
              </a:lnSpc>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以及非负约束条件</a:t>
            </a:r>
            <a:endParaRPr lang="zh-CN" altLang="en-US" sz="2800" dirty="0">
              <a:latin typeface="Times New Roman" panose="02020603050405020304" pitchFamily="18" charset="0"/>
              <a:ea typeface="宋体" panose="02010600030101010101" pitchFamily="2" charset="-122"/>
            </a:endParaRPr>
          </a:p>
          <a:p>
            <a:pPr fontAlgn="ctr">
              <a:lnSpc>
                <a:spcPct val="120000"/>
              </a:lnSpc>
            </a:pPr>
            <a:r>
              <a:rPr lang="zh-CN" altLang="en-US" sz="2800" dirty="0">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x</a:t>
            </a:r>
            <a:r>
              <a:rPr lang="en-US" altLang="zh-CN" sz="2800" baseline="-30000">
                <a:latin typeface="Times New Roman" panose="02020603050405020304" pitchFamily="18" charset="0"/>
                <a:ea typeface="宋体" panose="02010600030101010101" pitchFamily="2" charset="-122"/>
              </a:rPr>
              <a:t>j</a:t>
            </a:r>
            <a:r>
              <a:rPr lang="en-US" altLang="zh-CN" sz="2800">
                <a:latin typeface="Times New Roman" panose="02020603050405020304" pitchFamily="18" charset="0"/>
                <a:ea typeface="宋体" panose="02010600030101010101" pitchFamily="2" charset="-122"/>
              </a:rPr>
              <a:t>≥0</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j=1</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2</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n</a:t>
            </a:r>
            <a:r>
              <a:rPr lang="zh-CN" altLang="en-US" sz="2800">
                <a:latin typeface="Times New Roman" panose="02020603050405020304" pitchFamily="18" charset="0"/>
                <a:ea typeface="宋体" panose="02010600030101010101" pitchFamily="2" charset="-122"/>
              </a:rPr>
              <a:t>）</a:t>
            </a:r>
            <a:endParaRPr lang="zh-CN" altLang="en-US" sz="2800">
              <a:latin typeface="Times New Roman" panose="02020603050405020304" pitchFamily="18" charset="0"/>
              <a:ea typeface="宋体" panose="02010600030101010101" pitchFamily="2" charset="-122"/>
            </a:endParaRPr>
          </a:p>
          <a:p>
            <a:pPr fontAlgn="ctr">
              <a:lnSpc>
                <a:spcPct val="120000"/>
              </a:lnSpc>
            </a:pPr>
            <a:r>
              <a:rPr lang="zh-CN" altLang="en-US" sz="2800" dirty="0">
                <a:latin typeface="Times New Roman" panose="02020603050405020304" pitchFamily="18" charset="0"/>
                <a:ea typeface="宋体" panose="02010600030101010101" pitchFamily="2" charset="-122"/>
              </a:rPr>
              <a:t>下，求一组未知变量</a:t>
            </a:r>
            <a:r>
              <a:rPr lang="en-US" altLang="zh-CN" sz="2800" i="1" err="1">
                <a:latin typeface="Times New Roman" panose="02020603050405020304" pitchFamily="18" charset="0"/>
                <a:ea typeface="宋体" panose="02010600030101010101" pitchFamily="2" charset="-122"/>
              </a:rPr>
              <a:t>x</a:t>
            </a:r>
            <a:r>
              <a:rPr lang="en-US" altLang="zh-CN" sz="2800" i="1" baseline="-30000" err="1">
                <a:latin typeface="Times New Roman" panose="02020603050405020304" pitchFamily="18" charset="0"/>
                <a:ea typeface="宋体" panose="02010600030101010101" pitchFamily="2" charset="-122"/>
              </a:rPr>
              <a:t>j</a:t>
            </a:r>
            <a:r>
              <a:rPr lang="en-US" altLang="zh-CN" sz="2800" i="1">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j</a:t>
            </a:r>
            <a:r>
              <a:rPr lang="en-US" altLang="zh-CN" sz="2800">
                <a:latin typeface="Times New Roman" panose="02020603050405020304" pitchFamily="18" charset="0"/>
                <a:ea typeface="宋体" panose="02010600030101010101" pitchFamily="2" charset="-122"/>
              </a:rPr>
              <a:t>=1</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2</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 </a:t>
            </a:r>
            <a:r>
              <a:rPr lang="zh-CN" altLang="en-US"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的值，使</a:t>
            </a:r>
            <a:endParaRPr lang="zh-CN" altLang="en-US" sz="2800" dirty="0">
              <a:latin typeface="Times New Roman" panose="02020603050405020304" pitchFamily="18" charset="0"/>
              <a:ea typeface="宋体" panose="02010600030101010101" pitchFamily="2" charset="-122"/>
            </a:endParaRPr>
          </a:p>
          <a:p>
            <a:pPr fontAlgn="ctr">
              <a:lnSpc>
                <a:spcPct val="120000"/>
              </a:lnSpc>
            </a:pPr>
            <a:endParaRPr lang="zh-CN" altLang="en-US" sz="2800">
              <a:latin typeface="Times New Roman" panose="02020603050405020304" pitchFamily="18" charset="0"/>
              <a:ea typeface="宋体" panose="02010600030101010101" pitchFamily="2" charset="-122"/>
            </a:endParaRPr>
          </a:p>
        </p:txBody>
      </p:sp>
      <p:graphicFrame>
        <p:nvGraphicFramePr>
          <p:cNvPr id="15366" name="对象 27655"/>
          <p:cNvGraphicFramePr/>
          <p:nvPr/>
        </p:nvGraphicFramePr>
        <p:xfrm>
          <a:off x="3141663" y="5534025"/>
          <a:ext cx="3668712" cy="860425"/>
        </p:xfrm>
        <a:graphic>
          <a:graphicData uri="http://schemas.openxmlformats.org/presentationml/2006/ole">
            <mc:AlternateContent xmlns:mc="http://schemas.openxmlformats.org/markup-compatibility/2006">
              <mc:Choice xmlns:v="urn:schemas-microsoft-com:vml" Requires="v">
                <p:oleObj spid="_x0000_s9256" name="" r:id="rId3" imgW="1600200" imgH="444500" progId="Equation.3">
                  <p:embed/>
                </p:oleObj>
              </mc:Choice>
              <mc:Fallback>
                <p:oleObj name="" r:id="rId3" imgW="1600200" imgH="444500" progId="Equation.3">
                  <p:embed/>
                  <p:pic>
                    <p:nvPicPr>
                      <p:cNvPr id="0" name="图片 3078"/>
                      <p:cNvPicPr/>
                      <p:nvPr/>
                    </p:nvPicPr>
                    <p:blipFill>
                      <a:blip r:embed="rId4"/>
                      <a:stretch>
                        <a:fillRect/>
                      </a:stretch>
                    </p:blipFill>
                    <p:spPr>
                      <a:xfrm>
                        <a:off x="3141663" y="5534025"/>
                        <a:ext cx="3668712" cy="860425"/>
                      </a:xfrm>
                      <a:prstGeom prst="rect">
                        <a:avLst/>
                      </a:prstGeom>
                      <a:noFill/>
                      <a:ln w="38100">
                        <a:noFill/>
                        <a:miter/>
                      </a:ln>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文本框 28673"/>
          <p:cNvSpPr txBox="1"/>
          <p:nvPr/>
        </p:nvSpPr>
        <p:spPr>
          <a:xfrm>
            <a:off x="1547813" y="908050"/>
            <a:ext cx="6934200" cy="4194175"/>
          </a:xfrm>
          <a:prstGeom prst="rect">
            <a:avLst/>
          </a:prstGeom>
          <a:noFill/>
          <a:ln w="9525">
            <a:noFill/>
          </a:ln>
        </p:spPr>
        <p:txBody>
          <a:bodyPr anchor="t" anchorCtr="0">
            <a:spAutoFit/>
          </a:bodyPr>
          <a:lstStyle/>
          <a:p>
            <a:pPr>
              <a:lnSpc>
                <a:spcPct val="120000"/>
              </a:lnSpc>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采用矩阵形式可描述为：</a:t>
            </a:r>
            <a:endParaRPr lang="zh-CN" altLang="en-US" sz="2800" dirty="0">
              <a:latin typeface="Times New Roman" panose="02020603050405020304" pitchFamily="18" charset="0"/>
              <a:ea typeface="宋体" panose="02010600030101010101" pitchFamily="2" charset="-122"/>
            </a:endParaRPr>
          </a:p>
          <a:p>
            <a:pPr>
              <a:lnSpc>
                <a:spcPct val="120000"/>
              </a:lnSpc>
            </a:pPr>
            <a:r>
              <a:rPr lang="zh-CN" altLang="en-US" sz="2800" dirty="0">
                <a:latin typeface="Times New Roman" panose="02020603050405020304" pitchFamily="18" charset="0"/>
                <a:ea typeface="宋体" panose="02010600030101010101" pitchFamily="2" charset="-122"/>
              </a:rPr>
              <a:t>        在约束条件 </a:t>
            </a:r>
            <a:endParaRPr lang="zh-CN" altLang="en-US" sz="2800" dirty="0">
              <a:latin typeface="Times New Roman" panose="02020603050405020304" pitchFamily="18" charset="0"/>
              <a:ea typeface="宋体" panose="02010600030101010101" pitchFamily="2" charset="-122"/>
            </a:endParaRPr>
          </a:p>
          <a:p>
            <a:pPr algn="ctr">
              <a:lnSpc>
                <a:spcPct val="120000"/>
              </a:lnSpc>
            </a:pPr>
            <a:r>
              <a:rPr lang="zh-CN" altLang="en-US" sz="2800" i="1">
                <a:latin typeface="Times New Roman" panose="02020603050405020304" pitchFamily="18" charset="0"/>
                <a:ea typeface="宋体" panose="02010600030101010101" pitchFamily="2" charset="-122"/>
              </a:rPr>
              <a:t> </a:t>
            </a:r>
            <a:r>
              <a:rPr lang="en-US" altLang="zh-CN" sz="2800" i="1">
                <a:latin typeface="Times New Roman" panose="02020603050405020304" pitchFamily="18" charset="0"/>
                <a:ea typeface="宋体" panose="02010600030101010101" pitchFamily="2" charset="-122"/>
              </a:rPr>
              <a:t>AX</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b  </a:t>
            </a:r>
            <a:r>
              <a:rPr lang="en-US" altLang="zh-CN" sz="2800">
                <a:latin typeface="Times New Roman" panose="02020603050405020304" pitchFamily="18" charset="0"/>
                <a:ea typeface="宋体" panose="02010600030101010101" pitchFamily="2" charset="-122"/>
              </a:rPr>
              <a:t>        </a:t>
            </a:r>
            <a:r>
              <a:rPr lang="zh-CN" altLang="en-US" sz="2800">
                <a:latin typeface="Times New Roman" panose="02020603050405020304" pitchFamily="18" charset="0"/>
                <a:ea typeface="宋体" panose="02010600030101010101" pitchFamily="2" charset="-122"/>
              </a:rPr>
              <a:t>　　                         </a:t>
            </a:r>
            <a:r>
              <a:rPr lang="en-US" altLang="zh-CN" sz="2800" i="1">
                <a:latin typeface="Times New Roman" panose="02020603050405020304" pitchFamily="18" charset="0"/>
                <a:ea typeface="宋体" panose="02010600030101010101" pitchFamily="2" charset="-122"/>
              </a:rPr>
              <a:t>X</a:t>
            </a:r>
            <a:r>
              <a:rPr lang="en-US" altLang="zh-CN" sz="2800">
                <a:latin typeface="Times New Roman" panose="02020603050405020304" pitchFamily="18" charset="0"/>
                <a:ea typeface="宋体" panose="02010600030101010101" pitchFamily="2" charset="-122"/>
              </a:rPr>
              <a:t>≥0                       </a:t>
            </a:r>
            <a:endParaRPr lang="en-US" altLang="zh-CN" sz="2800">
              <a:latin typeface="Times New Roman" panose="02020603050405020304" pitchFamily="18" charset="0"/>
              <a:ea typeface="宋体" panose="02010600030101010101" pitchFamily="2" charset="-122"/>
            </a:endParaRPr>
          </a:p>
          <a:p>
            <a:pPr>
              <a:lnSpc>
                <a:spcPct val="120000"/>
              </a:lnSpc>
            </a:pPr>
            <a:r>
              <a:rPr lang="zh-CN" altLang="en-US" sz="2800" dirty="0">
                <a:latin typeface="Times New Roman" panose="02020603050405020304" pitchFamily="18" charset="0"/>
                <a:ea typeface="宋体" panose="02010600030101010101" pitchFamily="2" charset="-122"/>
              </a:rPr>
              <a:t>下，求未知向量                              ，使得</a:t>
            </a:r>
            <a:endParaRPr lang="zh-CN" altLang="en-US" sz="2800" dirty="0">
              <a:latin typeface="Times New Roman" panose="02020603050405020304" pitchFamily="18" charset="0"/>
              <a:ea typeface="宋体" panose="02010600030101010101" pitchFamily="2" charset="-122"/>
            </a:endParaRPr>
          </a:p>
          <a:p>
            <a:pPr algn="ctr">
              <a:lnSpc>
                <a:spcPct val="120000"/>
              </a:lnSpc>
            </a:pPr>
            <a:r>
              <a:rPr lang="en-US" altLang="zh-CN" sz="2800" i="1">
                <a:latin typeface="Times New Roman" panose="02020603050405020304" pitchFamily="18" charset="0"/>
                <a:ea typeface="宋体" panose="02010600030101010101" pitchFamily="2" charset="-122"/>
              </a:rPr>
              <a:t>Z</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CX</a:t>
            </a:r>
            <a:r>
              <a:rPr lang="en-US" altLang="zh-CN" sz="2800">
                <a:latin typeface="Times New Roman" panose="02020603050405020304" pitchFamily="18" charset="0"/>
                <a:ea typeface="宋体" panose="02010600030101010101" pitchFamily="2" charset="-122"/>
              </a:rPr>
              <a:t>→max(min) </a:t>
            </a:r>
            <a:endParaRPr lang="en-US" altLang="zh-CN" sz="2800">
              <a:latin typeface="Times New Roman" panose="02020603050405020304" pitchFamily="18" charset="0"/>
              <a:ea typeface="宋体" panose="02010600030101010101" pitchFamily="2" charset="-122"/>
            </a:endParaRPr>
          </a:p>
          <a:p>
            <a:pPr>
              <a:lnSpc>
                <a:spcPct val="120000"/>
              </a:lnSpc>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其中</a:t>
            </a:r>
            <a:endParaRPr lang="zh-CN" altLang="en-US" sz="2800" dirty="0">
              <a:latin typeface="Times New Roman" panose="02020603050405020304" pitchFamily="18" charset="0"/>
              <a:ea typeface="宋体" panose="02010600030101010101" pitchFamily="2" charset="-122"/>
            </a:endParaRPr>
          </a:p>
          <a:p>
            <a:pPr>
              <a:lnSpc>
                <a:spcPct val="120000"/>
              </a:lnSpc>
            </a:pPr>
            <a:endParaRPr lang="zh-CN" altLang="en-US" sz="2800">
              <a:latin typeface="Times New Roman" panose="02020603050405020304" pitchFamily="18" charset="0"/>
              <a:ea typeface="宋体" panose="02010600030101010101" pitchFamily="2" charset="-122"/>
            </a:endParaRPr>
          </a:p>
        </p:txBody>
      </p:sp>
      <p:sp>
        <p:nvSpPr>
          <p:cNvPr id="16386" name="矩形 28677"/>
          <p:cNvSpPr/>
          <p:nvPr/>
        </p:nvSpPr>
        <p:spPr>
          <a:xfrm>
            <a:off x="3752850" y="295751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16387" name="组合 28678"/>
          <p:cNvGrpSpPr/>
          <p:nvPr/>
        </p:nvGrpSpPr>
        <p:grpSpPr>
          <a:xfrm>
            <a:off x="2268538" y="4292600"/>
            <a:ext cx="5819775" cy="1879600"/>
            <a:chOff x="1488" y="2640"/>
            <a:chExt cx="3666" cy="1184"/>
          </a:xfrm>
        </p:grpSpPr>
        <p:graphicFrame>
          <p:nvGraphicFramePr>
            <p:cNvPr id="16388" name="对象 28674"/>
            <p:cNvGraphicFramePr/>
            <p:nvPr/>
          </p:nvGraphicFramePr>
          <p:xfrm>
            <a:off x="1488" y="3024"/>
            <a:ext cx="1467" cy="608"/>
          </p:xfrm>
          <a:graphic>
            <a:graphicData uri="http://schemas.openxmlformats.org/presentationml/2006/ole">
              <mc:AlternateContent xmlns:mc="http://schemas.openxmlformats.org/markup-compatibility/2006">
                <mc:Choice xmlns:v="urn:schemas-microsoft-com:vml" Requires="v">
                  <p:oleObj spid="_x0000_s10296" name="" r:id="rId1" imgW="1167765" imgH="482600" progId="Equation.3">
                    <p:embed/>
                  </p:oleObj>
                </mc:Choice>
                <mc:Fallback>
                  <p:oleObj name="" r:id="rId1" imgW="1167765" imgH="482600" progId="Equation.3">
                    <p:embed/>
                    <p:pic>
                      <p:nvPicPr>
                        <p:cNvPr id="0" name="图片 3079"/>
                        <p:cNvPicPr/>
                        <p:nvPr/>
                      </p:nvPicPr>
                      <p:blipFill>
                        <a:blip r:embed="rId2"/>
                        <a:stretch>
                          <a:fillRect/>
                        </a:stretch>
                      </p:blipFill>
                      <p:spPr>
                        <a:xfrm>
                          <a:off x="1488" y="3024"/>
                          <a:ext cx="1467" cy="608"/>
                        </a:xfrm>
                        <a:prstGeom prst="rect">
                          <a:avLst/>
                        </a:prstGeom>
                        <a:noFill/>
                        <a:ln w="38100">
                          <a:noFill/>
                          <a:miter/>
                        </a:ln>
                      </p:spPr>
                    </p:pic>
                  </p:oleObj>
                </mc:Fallback>
              </mc:AlternateContent>
            </a:graphicData>
          </a:graphic>
        </p:graphicFrame>
        <p:graphicFrame>
          <p:nvGraphicFramePr>
            <p:cNvPr id="16389" name="对象 28676"/>
            <p:cNvGraphicFramePr/>
            <p:nvPr/>
          </p:nvGraphicFramePr>
          <p:xfrm>
            <a:off x="3144" y="2640"/>
            <a:ext cx="2010" cy="1184"/>
          </p:xfrm>
          <a:graphic>
            <a:graphicData uri="http://schemas.openxmlformats.org/presentationml/2006/ole">
              <mc:AlternateContent xmlns:mc="http://schemas.openxmlformats.org/markup-compatibility/2006">
                <mc:Choice xmlns:v="urn:schemas-microsoft-com:vml" Requires="v">
                  <p:oleObj spid="_x0000_s10297" name="" r:id="rId3" imgW="1600200" imgH="939800" progId="Equation.3">
                    <p:embed/>
                  </p:oleObj>
                </mc:Choice>
                <mc:Fallback>
                  <p:oleObj name="" r:id="rId3" imgW="1600200" imgH="939800" progId="Equation.3">
                    <p:embed/>
                    <p:pic>
                      <p:nvPicPr>
                        <p:cNvPr id="0" name="图片 3077"/>
                        <p:cNvPicPr/>
                        <p:nvPr/>
                      </p:nvPicPr>
                      <p:blipFill>
                        <a:blip r:embed="rId4"/>
                        <a:stretch>
                          <a:fillRect/>
                        </a:stretch>
                      </p:blipFill>
                      <p:spPr>
                        <a:xfrm>
                          <a:off x="3144" y="2640"/>
                          <a:ext cx="2010" cy="1184"/>
                        </a:xfrm>
                        <a:prstGeom prst="rect">
                          <a:avLst/>
                        </a:prstGeom>
                        <a:noFill/>
                        <a:ln w="38100">
                          <a:noFill/>
                          <a:miter/>
                        </a:ln>
                      </p:spPr>
                    </p:pic>
                  </p:oleObj>
                </mc:Fallback>
              </mc:AlternateContent>
            </a:graphicData>
          </a:graphic>
        </p:graphicFrame>
      </p:grpSp>
      <p:graphicFrame>
        <p:nvGraphicFramePr>
          <p:cNvPr id="16390" name="对象 28681"/>
          <p:cNvGraphicFramePr/>
          <p:nvPr/>
        </p:nvGraphicFramePr>
        <p:xfrm>
          <a:off x="3752850" y="3724275"/>
          <a:ext cx="2417763" cy="468313"/>
        </p:xfrm>
        <a:graphic>
          <a:graphicData uri="http://schemas.openxmlformats.org/presentationml/2006/ole">
            <mc:AlternateContent xmlns:mc="http://schemas.openxmlformats.org/markup-compatibility/2006">
              <mc:Choice xmlns:v="urn:schemas-microsoft-com:vml" Requires="v">
                <p:oleObj spid="_x0000_s10298" name="" r:id="rId5" imgW="1231265" imgH="241300" progId="Equation.3">
                  <p:embed/>
                </p:oleObj>
              </mc:Choice>
              <mc:Fallback>
                <p:oleObj name="" r:id="rId5" imgW="1231265" imgH="241300" progId="Equation.3">
                  <p:embed/>
                  <p:pic>
                    <p:nvPicPr>
                      <p:cNvPr id="0" name="图片 3080"/>
                      <p:cNvPicPr/>
                      <p:nvPr/>
                    </p:nvPicPr>
                    <p:blipFill>
                      <a:blip r:embed="rId6"/>
                      <a:stretch>
                        <a:fillRect/>
                      </a:stretch>
                    </p:blipFill>
                    <p:spPr>
                      <a:xfrm>
                        <a:off x="3752850" y="3724275"/>
                        <a:ext cx="2417763" cy="468313"/>
                      </a:xfrm>
                      <a:prstGeom prst="rect">
                        <a:avLst/>
                      </a:prstGeom>
                      <a:noFill/>
                      <a:ln w="38100">
                        <a:noFill/>
                        <a:miter/>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13155" y="836295"/>
            <a:ext cx="6123305" cy="855980"/>
          </a:xfrm>
          <a:prstGeom prst="rect">
            <a:avLst/>
          </a:prstGeom>
          <a:noFill/>
        </p:spPr>
        <p:txBody>
          <a:bodyPr wrap="square" rtlCol="0">
            <a:noAutofit/>
          </a:bodyPr>
          <a:lstStyle/>
          <a:p>
            <a:r>
              <a:rPr lang="zh-CN" altLang="en-US" sz="3600"/>
              <a:t>线性规划问题的单纯形算法</a:t>
            </a:r>
            <a:endParaRPr lang="zh-CN" altLang="en-US" sz="3600"/>
          </a:p>
        </p:txBody>
      </p:sp>
      <p:sp>
        <p:nvSpPr>
          <p:cNvPr id="4" name="文本框 3"/>
          <p:cNvSpPr txBox="1"/>
          <p:nvPr/>
        </p:nvSpPr>
        <p:spPr>
          <a:xfrm>
            <a:off x="531495" y="1502410"/>
            <a:ext cx="8068310" cy="4889500"/>
          </a:xfrm>
          <a:prstGeom prst="rect">
            <a:avLst/>
          </a:prstGeom>
          <a:noFill/>
        </p:spPr>
        <p:txBody>
          <a:bodyPr wrap="square" rtlCol="0">
            <a:noAutofit/>
          </a:bodyPr>
          <a:lstStyle/>
          <a:p>
            <a:pPr marL="342900" indent="-342900">
              <a:buFont typeface="Wingdings" panose="05000000000000000000" charset="0"/>
              <a:buChar char="n"/>
            </a:pPr>
            <a:r>
              <a:rPr lang="zh-CN" altLang="en-US" sz="2400"/>
              <a:t>首先把线性规划的模型化成标准形式，具体如下：</a:t>
            </a:r>
            <a:endParaRPr lang="zh-CN" altLang="en-US" sz="2400"/>
          </a:p>
          <a:p>
            <a:pPr marL="457200" indent="-457200">
              <a:lnSpc>
                <a:spcPct val="120000"/>
              </a:lnSpc>
              <a:buFont typeface="+mj-lt"/>
              <a:buAutoNum type="arabicPeriod"/>
            </a:pPr>
            <a:r>
              <a:rPr lang="zh-CN" altLang="en-US" sz="2400"/>
              <a:t>目标函数的标准化：标准模型为最大化问题，若原来问题是求最小化，</a:t>
            </a:r>
            <a:r>
              <a:rPr lang="zh-CN" altLang="en-US" sz="2400" dirty="0">
                <a:latin typeface="Times New Roman" panose="02020603050405020304" pitchFamily="18" charset="0"/>
                <a:sym typeface="+mn-ea"/>
              </a:rPr>
              <a:t> </a:t>
            </a:r>
            <a:r>
              <a:rPr lang="en-US" altLang="zh-CN" sz="2400">
                <a:latin typeface="Times New Roman" panose="02020603050405020304" pitchFamily="18" charset="0"/>
                <a:sym typeface="+mn-ea"/>
              </a:rPr>
              <a:t>min </a:t>
            </a:r>
            <a:r>
              <a:rPr lang="en-US" altLang="zh-CN" sz="2400" i="1">
                <a:latin typeface="Times New Roman" panose="02020603050405020304" pitchFamily="18" charset="0"/>
                <a:sym typeface="+mn-ea"/>
              </a:rPr>
              <a:t>Z</a:t>
            </a:r>
            <a:r>
              <a:rPr lang="en-US" altLang="zh-CN" sz="2400">
                <a:latin typeface="宋体" panose="02010600030101010101" pitchFamily="2" charset="-122"/>
                <a:sym typeface="+mn-ea"/>
              </a:rPr>
              <a:t> </a:t>
            </a:r>
            <a:r>
              <a:rPr lang="en-US" altLang="zh-CN" sz="2400" i="1">
                <a:latin typeface="Times New Roman" panose="02020603050405020304" pitchFamily="18" charset="0"/>
                <a:sym typeface="+mn-ea"/>
              </a:rPr>
              <a:t>= CX</a:t>
            </a:r>
            <a:r>
              <a:rPr lang="en-US" altLang="zh-CN" sz="2400">
                <a:latin typeface="Times New Roman" panose="02020603050405020304" pitchFamily="18" charset="0"/>
                <a:sym typeface="+mn-ea"/>
              </a:rPr>
              <a:t> </a:t>
            </a:r>
            <a:endParaRPr lang="en-US" altLang="zh-CN" sz="2400">
              <a:latin typeface="Times New Roman" panose="02020603050405020304" pitchFamily="18" charset="0"/>
            </a:endParaRPr>
          </a:p>
          <a:p>
            <a:pPr marL="100330" indent="-100330">
              <a:lnSpc>
                <a:spcPct val="120000"/>
              </a:lnSpc>
            </a:pPr>
            <a:r>
              <a:rPr lang="en-US" altLang="zh-CN" sz="2400" dirty="0">
                <a:latin typeface="Times New Roman" panose="02020603050405020304" pitchFamily="18" charset="0"/>
                <a:sym typeface="+mn-ea"/>
              </a:rPr>
              <a:t>        </a:t>
            </a:r>
            <a:r>
              <a:rPr lang="zh-CN" altLang="en-US" sz="2400" dirty="0">
                <a:latin typeface="Times New Roman" panose="02020603050405020304" pitchFamily="18" charset="0"/>
                <a:sym typeface="+mn-ea"/>
              </a:rPr>
              <a:t>显然有      </a:t>
            </a:r>
            <a:r>
              <a:rPr lang="en-US" altLang="zh-CN" sz="2400" err="1">
                <a:latin typeface="Times New Roman" panose="02020603050405020304" pitchFamily="18" charset="0"/>
                <a:sym typeface="+mn-ea"/>
              </a:rPr>
              <a:t>min</a:t>
            </a:r>
            <a:r>
              <a:rPr lang="en-US" altLang="zh-CN" sz="2400" i="1" err="1">
                <a:latin typeface="Times New Roman" panose="02020603050405020304" pitchFamily="18" charset="0"/>
                <a:sym typeface="+mn-ea"/>
              </a:rPr>
              <a:t>Z</a:t>
            </a:r>
            <a:r>
              <a:rPr lang="en-US" altLang="zh-CN" sz="2400" i="1">
                <a:latin typeface="Times New Roman" panose="02020603050405020304" pitchFamily="18" charset="0"/>
                <a:sym typeface="+mn-ea"/>
              </a:rPr>
              <a:t> </a:t>
            </a:r>
            <a:r>
              <a:rPr lang="en-US" altLang="zh-CN" sz="2400">
                <a:latin typeface="宋体" panose="02010600030101010101" pitchFamily="2" charset="-122"/>
                <a:sym typeface="+mn-ea"/>
              </a:rPr>
              <a:t>= </a:t>
            </a:r>
            <a:r>
              <a:rPr lang="en-US" altLang="zh-CN" sz="2400">
                <a:latin typeface="Times New Roman" panose="02020603050405020304" pitchFamily="18" charset="0"/>
                <a:sym typeface="+mn-ea"/>
              </a:rPr>
              <a:t>max</a:t>
            </a:r>
            <a:r>
              <a:rPr lang="en-US" altLang="zh-CN" sz="2400">
                <a:latin typeface="宋体" panose="02010600030101010101" pitchFamily="2" charset="-122"/>
                <a:sym typeface="+mn-ea"/>
              </a:rPr>
              <a:t>(-</a:t>
            </a:r>
            <a:r>
              <a:rPr lang="en-US" altLang="zh-CN" sz="2400" i="1">
                <a:latin typeface="Times New Roman" panose="02020603050405020304" pitchFamily="18" charset="0"/>
                <a:sym typeface="+mn-ea"/>
              </a:rPr>
              <a:t>Z</a:t>
            </a:r>
            <a:r>
              <a:rPr lang="en-US" altLang="zh-CN" sz="2400">
                <a:latin typeface="宋体" panose="02010600030101010101" pitchFamily="2" charset="-122"/>
                <a:sym typeface="+mn-ea"/>
              </a:rPr>
              <a:t>)=</a:t>
            </a:r>
            <a:r>
              <a:rPr lang="en-US" altLang="zh-CN" sz="2400">
                <a:latin typeface="Times New Roman" panose="02020603050405020304" pitchFamily="18" charset="0"/>
                <a:sym typeface="+mn-ea"/>
              </a:rPr>
              <a:t>max</a:t>
            </a:r>
            <a:r>
              <a:rPr lang="en-US" altLang="zh-CN" sz="2400">
                <a:latin typeface="宋体" panose="02010600030101010101" pitchFamily="2" charset="-122"/>
                <a:sym typeface="+mn-ea"/>
              </a:rPr>
              <a:t> </a:t>
            </a:r>
            <a:r>
              <a:rPr lang="en-US" altLang="zh-CN" sz="2400" i="1">
                <a:latin typeface="Times New Roman" panose="02020603050405020304" pitchFamily="18" charset="0"/>
                <a:sym typeface="+mn-ea"/>
              </a:rPr>
              <a:t>Z</a:t>
            </a:r>
            <a:r>
              <a:rPr lang="en-US" altLang="zh-CN" sz="2400">
                <a:latin typeface="宋体" panose="02010600030101010101" pitchFamily="2" charset="-122"/>
                <a:sym typeface="+mn-ea"/>
              </a:rPr>
              <a:t>′</a:t>
            </a:r>
            <a:r>
              <a:rPr lang="en-US" altLang="zh-CN" sz="2400">
                <a:latin typeface="Times New Roman" panose="02020603050405020304" pitchFamily="18" charset="0"/>
                <a:sym typeface="+mn-ea"/>
              </a:rPr>
              <a:t> </a:t>
            </a:r>
            <a:endParaRPr lang="en-US" altLang="zh-CN" sz="2400">
              <a:latin typeface="Times New Roman" panose="02020603050405020304" pitchFamily="18" charset="0"/>
              <a:sym typeface="+mn-ea"/>
            </a:endParaRPr>
          </a:p>
          <a:p>
            <a:pPr marL="100330" indent="-100330">
              <a:lnSpc>
                <a:spcPct val="120000"/>
              </a:lnSpc>
            </a:pPr>
            <a:r>
              <a:rPr lang="en-US" altLang="zh-CN" sz="2400" dirty="0">
                <a:latin typeface="Times New Roman" panose="02020603050405020304" pitchFamily="18" charset="0"/>
                <a:sym typeface="+mn-ea"/>
              </a:rPr>
              <a:t> </a:t>
            </a:r>
            <a:r>
              <a:rPr lang="zh-CN" altLang="en-US" sz="2400" dirty="0">
                <a:latin typeface="Times New Roman" panose="02020603050405020304" pitchFamily="18" charset="0"/>
                <a:sym typeface="+mn-ea"/>
              </a:rPr>
              <a:t>则目标函数的标准形式为    </a:t>
            </a:r>
            <a:r>
              <a:rPr lang="en-US" altLang="zh-CN" sz="2400">
                <a:latin typeface="Times New Roman" panose="02020603050405020304" pitchFamily="18" charset="0"/>
                <a:sym typeface="+mn-ea"/>
              </a:rPr>
              <a:t>max</a:t>
            </a:r>
            <a:r>
              <a:rPr lang="en-US" altLang="zh-CN" sz="2400">
                <a:latin typeface="宋体" panose="02010600030101010101" pitchFamily="2" charset="-122"/>
                <a:sym typeface="+mn-ea"/>
              </a:rPr>
              <a:t> </a:t>
            </a:r>
            <a:r>
              <a:rPr lang="en-US" altLang="zh-CN" sz="2400" i="1">
                <a:latin typeface="Times New Roman" panose="02020603050405020304" pitchFamily="18" charset="0"/>
                <a:sym typeface="+mn-ea"/>
              </a:rPr>
              <a:t>Z</a:t>
            </a:r>
            <a:r>
              <a:rPr lang="zh-CN" altLang="en-US" sz="2400">
                <a:latin typeface="宋体" panose="02010600030101010101" pitchFamily="2" charset="-122"/>
                <a:sym typeface="+mn-ea"/>
              </a:rPr>
              <a:t>ˊ</a:t>
            </a:r>
            <a:r>
              <a:rPr lang="en-US" altLang="zh-CN" sz="2400">
                <a:latin typeface="宋体" panose="02010600030101010101" pitchFamily="2" charset="-122"/>
                <a:sym typeface="+mn-ea"/>
              </a:rPr>
              <a:t>= -</a:t>
            </a:r>
            <a:r>
              <a:rPr lang="en-US" altLang="zh-CN" sz="2400" i="1">
                <a:latin typeface="Times New Roman" panose="02020603050405020304" pitchFamily="18" charset="0"/>
                <a:sym typeface="+mn-ea"/>
              </a:rPr>
              <a:t>CX=-C</a:t>
            </a:r>
            <a:r>
              <a:rPr lang="en-US" altLang="zh-CN" sz="2400" i="1" baseline="-25000">
                <a:latin typeface="Times New Roman" panose="02020603050405020304" pitchFamily="18" charset="0"/>
                <a:sym typeface="+mn-ea"/>
              </a:rPr>
              <a:t>1</a:t>
            </a:r>
            <a:r>
              <a:rPr lang="en-US" altLang="zh-CN" sz="2400" i="1">
                <a:latin typeface="Times New Roman" panose="02020603050405020304" pitchFamily="18" charset="0"/>
                <a:sym typeface="+mn-ea"/>
              </a:rPr>
              <a:t>X</a:t>
            </a:r>
            <a:r>
              <a:rPr lang="en-US" altLang="zh-CN" sz="2400" i="1" baseline="-25000">
                <a:latin typeface="Times New Roman" panose="02020603050405020304" pitchFamily="18" charset="0"/>
                <a:sym typeface="+mn-ea"/>
              </a:rPr>
              <a:t>1-</a:t>
            </a:r>
            <a:r>
              <a:rPr lang="en-US" altLang="zh-CN" sz="2400" i="1">
                <a:latin typeface="Times New Roman" panose="02020603050405020304" pitchFamily="18" charset="0"/>
                <a:sym typeface="+mn-ea"/>
              </a:rPr>
              <a:t>C</a:t>
            </a:r>
            <a:r>
              <a:rPr lang="en-US" altLang="zh-CN" sz="2400" i="1" baseline="-25000">
                <a:latin typeface="Times New Roman" panose="02020603050405020304" pitchFamily="18" charset="0"/>
                <a:sym typeface="+mn-ea"/>
              </a:rPr>
              <a:t>2</a:t>
            </a:r>
            <a:r>
              <a:rPr lang="en-US" altLang="zh-CN" sz="2400" i="1">
                <a:latin typeface="Times New Roman" panose="02020603050405020304" pitchFamily="18" charset="0"/>
                <a:sym typeface="+mn-ea"/>
              </a:rPr>
              <a:t>X2</a:t>
            </a:r>
            <a:endParaRPr lang="en-US" altLang="zh-CN" sz="2400" i="1">
              <a:latin typeface="Times New Roman" panose="02020603050405020304" pitchFamily="18" charset="0"/>
              <a:sym typeface="+mn-ea"/>
            </a:endParaRPr>
          </a:p>
          <a:p>
            <a:pPr marL="100330" indent="-100330">
              <a:lnSpc>
                <a:spcPct val="120000"/>
              </a:lnSpc>
            </a:pPr>
            <a:r>
              <a:rPr lang="en-US" altLang="zh-CN" sz="2400" i="1">
                <a:latin typeface="Times New Roman" panose="02020603050405020304" pitchFamily="18" charset="0"/>
                <a:sym typeface="+mn-ea"/>
              </a:rPr>
              <a:t>...-CnXn</a:t>
            </a:r>
            <a:endParaRPr lang="en-US" altLang="zh-CN" sz="2400" i="1">
              <a:latin typeface="Times New Roman" panose="02020603050405020304" pitchFamily="18" charset="0"/>
              <a:sym typeface="+mn-ea"/>
            </a:endParaRPr>
          </a:p>
          <a:p>
            <a:pPr marL="100330" indent="-100330">
              <a:lnSpc>
                <a:spcPct val="120000"/>
              </a:lnSpc>
            </a:pPr>
            <a:r>
              <a:rPr lang="en-US" altLang="zh-CN" sz="2400">
                <a:latin typeface="Times New Roman" panose="02020603050405020304" pitchFamily="18" charset="0"/>
                <a:sym typeface="+mn-ea"/>
              </a:rPr>
              <a:t>2.</a:t>
            </a:r>
            <a:r>
              <a:rPr lang="zh-CN" altLang="en-US" sz="2400">
                <a:latin typeface="Times New Roman" panose="02020603050405020304" pitchFamily="18" charset="0"/>
                <a:sym typeface="+mn-ea"/>
              </a:rPr>
              <a:t>约束条件常数标准化：标准模型要求</a:t>
            </a:r>
            <a:r>
              <a:rPr lang="en-US" altLang="zh-CN" sz="2400">
                <a:latin typeface="Times New Roman" panose="02020603050405020304" pitchFamily="18" charset="0"/>
                <a:sym typeface="+mn-ea"/>
              </a:rPr>
              <a:t>b</a:t>
            </a:r>
            <a:r>
              <a:rPr lang="en-US" altLang="zh-CN" sz="2400" baseline="-25000">
                <a:latin typeface="Times New Roman" panose="02020603050405020304" pitchFamily="18" charset="0"/>
                <a:sym typeface="+mn-ea"/>
              </a:rPr>
              <a:t>i</a:t>
            </a:r>
            <a:r>
              <a:rPr lang="en-US" altLang="zh-CN" sz="2400">
                <a:latin typeface="Times New Roman" panose="02020603050405020304" pitchFamily="18" charset="0"/>
                <a:sym typeface="+mn-ea"/>
              </a:rPr>
              <a:t>&gt;=0,</a:t>
            </a:r>
            <a:r>
              <a:rPr lang="zh-CN" altLang="en-US" sz="2400">
                <a:latin typeface="Times New Roman" panose="02020603050405020304" pitchFamily="18" charset="0"/>
                <a:sym typeface="+mn-ea"/>
              </a:rPr>
              <a:t>若</a:t>
            </a:r>
            <a:r>
              <a:rPr lang="en-US" altLang="zh-CN" sz="2400">
                <a:latin typeface="Times New Roman" panose="02020603050405020304" pitchFamily="18" charset="0"/>
                <a:sym typeface="+mn-ea"/>
              </a:rPr>
              <a:t>b</a:t>
            </a:r>
            <a:r>
              <a:rPr lang="en-US" altLang="zh-CN" sz="2400" baseline="-25000">
                <a:latin typeface="Times New Roman" panose="02020603050405020304" pitchFamily="18" charset="0"/>
                <a:sym typeface="+mn-ea"/>
              </a:rPr>
              <a:t>i</a:t>
            </a:r>
            <a:r>
              <a:rPr lang="en-US" altLang="zh-CN" sz="2400">
                <a:latin typeface="Times New Roman" panose="02020603050405020304" pitchFamily="18" charset="0"/>
                <a:sym typeface="+mn-ea"/>
              </a:rPr>
              <a:t>&lt;0,</a:t>
            </a:r>
            <a:r>
              <a:rPr lang="zh-CN" altLang="en-US" sz="2400">
                <a:latin typeface="Times New Roman" panose="02020603050405020304" pitchFamily="18" charset="0"/>
                <a:sym typeface="+mn-ea"/>
              </a:rPr>
              <a:t>则该约束条件二边同乘以</a:t>
            </a:r>
            <a:r>
              <a:rPr lang="en-US" altLang="zh-CN" sz="2400">
                <a:latin typeface="Times New Roman" panose="02020603050405020304" pitchFamily="18" charset="0"/>
                <a:sym typeface="+mn-ea"/>
              </a:rPr>
              <a:t>-1</a:t>
            </a:r>
            <a:r>
              <a:rPr lang="zh-CN" altLang="en-US" sz="2400">
                <a:latin typeface="Times New Roman" panose="02020603050405020304" pitchFamily="18" charset="0"/>
                <a:sym typeface="+mn-ea"/>
              </a:rPr>
              <a:t>，若约束条件为不等号形式，不等号同时反向。如：</a:t>
            </a:r>
            <a:r>
              <a:rPr lang="en-US" altLang="zh-CN" sz="2400">
                <a:latin typeface="Times New Roman" panose="02020603050405020304" pitchFamily="18" charset="0"/>
                <a:sym typeface="+mn-ea"/>
              </a:rPr>
              <a:t>a</a:t>
            </a:r>
            <a:r>
              <a:rPr lang="en-US" altLang="zh-CN" sz="2400" baseline="-25000">
                <a:latin typeface="Times New Roman" panose="02020603050405020304" pitchFamily="18" charset="0"/>
                <a:sym typeface="+mn-ea"/>
              </a:rPr>
              <a:t>11</a:t>
            </a:r>
            <a:r>
              <a:rPr lang="en-US" altLang="zh-CN" sz="2400">
                <a:latin typeface="Times New Roman" panose="02020603050405020304" pitchFamily="18" charset="0"/>
                <a:sym typeface="+mn-ea"/>
              </a:rPr>
              <a:t>x</a:t>
            </a:r>
            <a:r>
              <a:rPr lang="en-US" altLang="zh-CN" sz="2400" baseline="-25000">
                <a:latin typeface="Times New Roman" panose="02020603050405020304" pitchFamily="18" charset="0"/>
                <a:sym typeface="+mn-ea"/>
              </a:rPr>
              <a:t>1</a:t>
            </a:r>
            <a:r>
              <a:rPr lang="en-US" altLang="zh-CN" sz="2400">
                <a:latin typeface="Times New Roman" panose="02020603050405020304" pitchFamily="18" charset="0"/>
                <a:sym typeface="+mn-ea"/>
              </a:rPr>
              <a:t>+a</a:t>
            </a:r>
            <a:r>
              <a:rPr lang="en-US" altLang="zh-CN" sz="2400" baseline="-25000">
                <a:latin typeface="Times New Roman" panose="02020603050405020304" pitchFamily="18" charset="0"/>
                <a:sym typeface="+mn-ea"/>
              </a:rPr>
              <a:t>12</a:t>
            </a:r>
            <a:r>
              <a:rPr lang="en-US" altLang="zh-CN" sz="2400">
                <a:latin typeface="Times New Roman" panose="02020603050405020304" pitchFamily="18" charset="0"/>
                <a:sym typeface="+mn-ea"/>
              </a:rPr>
              <a:t>x</a:t>
            </a:r>
            <a:r>
              <a:rPr lang="en-US" altLang="zh-CN" sz="2400" baseline="-25000">
                <a:latin typeface="Times New Roman" panose="02020603050405020304" pitchFamily="18" charset="0"/>
                <a:sym typeface="+mn-ea"/>
              </a:rPr>
              <a:t>2</a:t>
            </a:r>
            <a:r>
              <a:rPr lang="en-US" altLang="zh-CN" sz="2400">
                <a:latin typeface="Times New Roman" panose="02020603050405020304" pitchFamily="18" charset="0"/>
                <a:sym typeface="+mn-ea"/>
              </a:rPr>
              <a:t>+...+a</a:t>
            </a:r>
            <a:r>
              <a:rPr lang="en-US" altLang="zh-CN" sz="2400" baseline="-25000">
                <a:latin typeface="Times New Roman" panose="02020603050405020304" pitchFamily="18" charset="0"/>
                <a:sym typeface="+mn-ea"/>
              </a:rPr>
              <a:t>1n</a:t>
            </a:r>
            <a:r>
              <a:rPr lang="en-US" altLang="zh-CN" sz="2400">
                <a:latin typeface="Times New Roman" panose="02020603050405020304" pitchFamily="18" charset="0"/>
                <a:sym typeface="+mn-ea"/>
              </a:rPr>
              <a:t>x</a:t>
            </a:r>
            <a:r>
              <a:rPr lang="en-US" altLang="zh-CN" sz="2400" baseline="-25000">
                <a:latin typeface="Times New Roman" panose="02020603050405020304" pitchFamily="18" charset="0"/>
                <a:sym typeface="+mn-ea"/>
              </a:rPr>
              <a:t>n</a:t>
            </a:r>
            <a:r>
              <a:rPr lang="en-US" altLang="zh-CN" sz="2400">
                <a:latin typeface="Times New Roman" panose="02020603050405020304" pitchFamily="18" charset="0"/>
                <a:sym typeface="+mn-ea"/>
              </a:rPr>
              <a:t>&lt;=b</a:t>
            </a:r>
            <a:r>
              <a:rPr lang="en-US" altLang="zh-CN" sz="2400" baseline="-25000">
                <a:latin typeface="Times New Roman" panose="02020603050405020304" pitchFamily="18" charset="0"/>
                <a:sym typeface="+mn-ea"/>
              </a:rPr>
              <a:t>1</a:t>
            </a:r>
            <a:r>
              <a:rPr lang="en-US" altLang="zh-CN" sz="2400">
                <a:latin typeface="Times New Roman" panose="02020603050405020304" pitchFamily="18" charset="0"/>
                <a:sym typeface="+mn-ea"/>
              </a:rPr>
              <a:t>,b</a:t>
            </a:r>
            <a:r>
              <a:rPr lang="en-US" altLang="zh-CN" sz="2400" baseline="-25000">
                <a:latin typeface="Times New Roman" panose="02020603050405020304" pitchFamily="18" charset="0"/>
                <a:sym typeface="+mn-ea"/>
              </a:rPr>
              <a:t>1</a:t>
            </a:r>
            <a:r>
              <a:rPr lang="en-US" altLang="zh-CN" sz="2400">
                <a:latin typeface="Times New Roman" panose="02020603050405020304" pitchFamily="18" charset="0"/>
                <a:sym typeface="+mn-ea"/>
              </a:rPr>
              <a:t>&lt;0</a:t>
            </a:r>
            <a:endParaRPr lang="zh-CN" altLang="en-US" sz="2400" baseline="-25000">
              <a:latin typeface="Times New Roman" panose="02020603050405020304" pitchFamily="18" charset="0"/>
              <a:sym typeface="+mn-ea"/>
            </a:endParaRPr>
          </a:p>
          <a:p>
            <a:pPr marL="100330" indent="-100330">
              <a:lnSpc>
                <a:spcPct val="120000"/>
              </a:lnSpc>
            </a:pPr>
            <a:r>
              <a:rPr lang="zh-CN" altLang="en-US" sz="2400" baseline="-25000">
                <a:latin typeface="Times New Roman" panose="02020603050405020304" pitchFamily="18" charset="0"/>
                <a:sym typeface="+mn-ea"/>
              </a:rPr>
              <a:t> </a:t>
            </a:r>
            <a:r>
              <a:rPr lang="zh-CN" altLang="en-US" sz="2400">
                <a:latin typeface="Times New Roman" panose="02020603050405020304" pitchFamily="18" charset="0"/>
                <a:sym typeface="+mn-ea"/>
              </a:rPr>
              <a:t>则化为</a:t>
            </a:r>
            <a:r>
              <a:rPr lang="en-US" altLang="zh-CN" sz="2400">
                <a:latin typeface="Times New Roman" panose="02020603050405020304" pitchFamily="18" charset="0"/>
                <a:sym typeface="+mn-ea"/>
              </a:rPr>
              <a:t>-a</a:t>
            </a:r>
            <a:r>
              <a:rPr lang="en-US" altLang="zh-CN" sz="2400" baseline="-25000">
                <a:latin typeface="Times New Roman" panose="02020603050405020304" pitchFamily="18" charset="0"/>
                <a:sym typeface="+mn-ea"/>
              </a:rPr>
              <a:t>11</a:t>
            </a:r>
            <a:r>
              <a:rPr lang="en-US" altLang="zh-CN" sz="2400">
                <a:latin typeface="Times New Roman" panose="02020603050405020304" pitchFamily="18" charset="0"/>
                <a:sym typeface="+mn-ea"/>
              </a:rPr>
              <a:t>x</a:t>
            </a:r>
            <a:r>
              <a:rPr lang="en-US" altLang="zh-CN" sz="2400" baseline="-25000">
                <a:latin typeface="Times New Roman" panose="02020603050405020304" pitchFamily="18" charset="0"/>
                <a:sym typeface="+mn-ea"/>
              </a:rPr>
              <a:t>1</a:t>
            </a:r>
            <a:r>
              <a:rPr lang="en-US" altLang="zh-CN" sz="2400">
                <a:latin typeface="Times New Roman" panose="02020603050405020304" pitchFamily="18" charset="0"/>
                <a:sym typeface="+mn-ea"/>
              </a:rPr>
              <a:t>-a</a:t>
            </a:r>
            <a:r>
              <a:rPr lang="en-US" altLang="zh-CN" sz="2400" baseline="-25000">
                <a:latin typeface="Times New Roman" panose="02020603050405020304" pitchFamily="18" charset="0"/>
                <a:sym typeface="+mn-ea"/>
              </a:rPr>
              <a:t>12</a:t>
            </a:r>
            <a:r>
              <a:rPr lang="en-US" altLang="zh-CN" sz="2400">
                <a:latin typeface="Times New Roman" panose="02020603050405020304" pitchFamily="18" charset="0"/>
                <a:sym typeface="+mn-ea"/>
              </a:rPr>
              <a:t>x</a:t>
            </a:r>
            <a:r>
              <a:rPr lang="en-US" altLang="zh-CN" sz="2400" baseline="-25000">
                <a:latin typeface="Times New Roman" panose="02020603050405020304" pitchFamily="18" charset="0"/>
                <a:sym typeface="+mn-ea"/>
              </a:rPr>
              <a:t>2</a:t>
            </a:r>
            <a:r>
              <a:rPr lang="en-US" altLang="zh-CN" sz="2400">
                <a:latin typeface="Times New Roman" panose="02020603050405020304" pitchFamily="18" charset="0"/>
                <a:sym typeface="+mn-ea"/>
              </a:rPr>
              <a:t>...-a</a:t>
            </a:r>
            <a:r>
              <a:rPr lang="en-US" altLang="zh-CN" sz="2400" baseline="-25000">
                <a:latin typeface="Times New Roman" panose="02020603050405020304" pitchFamily="18" charset="0"/>
                <a:sym typeface="+mn-ea"/>
              </a:rPr>
              <a:t>1n</a:t>
            </a:r>
            <a:r>
              <a:rPr lang="en-US" altLang="zh-CN" sz="2400">
                <a:latin typeface="Times New Roman" panose="02020603050405020304" pitchFamily="18" charset="0"/>
                <a:sym typeface="+mn-ea"/>
              </a:rPr>
              <a:t>x</a:t>
            </a:r>
            <a:r>
              <a:rPr lang="en-US" altLang="zh-CN" sz="2400" baseline="-25000">
                <a:latin typeface="Times New Roman" panose="02020603050405020304" pitchFamily="18" charset="0"/>
                <a:sym typeface="+mn-ea"/>
              </a:rPr>
              <a:t>n</a:t>
            </a:r>
            <a:r>
              <a:rPr lang="en-US" altLang="zh-CN" sz="2400">
                <a:latin typeface="Times New Roman" panose="02020603050405020304" pitchFamily="18" charset="0"/>
                <a:sym typeface="+mn-ea"/>
              </a:rPr>
              <a:t>&gt;=-b</a:t>
            </a:r>
            <a:r>
              <a:rPr lang="en-US" altLang="zh-CN" sz="2400" baseline="-25000">
                <a:latin typeface="Times New Roman" panose="02020603050405020304" pitchFamily="18" charset="0"/>
                <a:sym typeface="+mn-ea"/>
              </a:rPr>
              <a:t>1</a:t>
            </a:r>
            <a:r>
              <a:rPr lang="en-US" altLang="zh-CN" sz="2400">
                <a:latin typeface="Times New Roman" panose="02020603050405020304" pitchFamily="18" charset="0"/>
                <a:sym typeface="+mn-ea"/>
              </a:rPr>
              <a:t>,-b</a:t>
            </a:r>
            <a:r>
              <a:rPr lang="en-US" altLang="zh-CN" sz="2400" baseline="-25000">
                <a:latin typeface="Times New Roman" panose="02020603050405020304" pitchFamily="18" charset="0"/>
                <a:sym typeface="+mn-ea"/>
              </a:rPr>
              <a:t>1</a:t>
            </a:r>
            <a:r>
              <a:rPr lang="en-US" altLang="zh-CN" sz="2400">
                <a:latin typeface="Times New Roman" panose="02020603050405020304" pitchFamily="18" charset="0"/>
                <a:sym typeface="+mn-ea"/>
              </a:rPr>
              <a:t>&gt;0</a:t>
            </a:r>
            <a:endParaRPr lang="en-US" altLang="zh-CN" sz="2400">
              <a:latin typeface="Times New Roman" panose="02020603050405020304" pitchFamily="18" charset="0"/>
            </a:endParaRPr>
          </a:p>
          <a:p>
            <a:pPr>
              <a:buFont typeface="+mj-lt"/>
            </a:pPr>
            <a:endParaRPr lang="en-US" altLang="zh-CN"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48130" y="908685"/>
            <a:ext cx="5358765" cy="555625"/>
          </a:xfrm>
          <a:prstGeom prst="rect">
            <a:avLst/>
          </a:prstGeom>
          <a:noFill/>
        </p:spPr>
        <p:txBody>
          <a:bodyPr wrap="square" rtlCol="0">
            <a:noAutofit/>
          </a:bodyPr>
          <a:lstStyle/>
          <a:p>
            <a:r>
              <a:rPr lang="zh-CN" altLang="en-US" sz="3200">
                <a:sym typeface="+mn-ea"/>
              </a:rPr>
              <a:t>线性规划问题的单纯形算法</a:t>
            </a:r>
            <a:endParaRPr lang="zh-CN" altLang="en-US" sz="3200"/>
          </a:p>
        </p:txBody>
      </p:sp>
      <p:sp>
        <p:nvSpPr>
          <p:cNvPr id="4" name="文本框 3"/>
          <p:cNvSpPr txBox="1"/>
          <p:nvPr/>
        </p:nvSpPr>
        <p:spPr>
          <a:xfrm>
            <a:off x="612775" y="1655445"/>
            <a:ext cx="8084185" cy="4738370"/>
          </a:xfrm>
          <a:prstGeom prst="rect">
            <a:avLst/>
          </a:prstGeom>
          <a:noFill/>
        </p:spPr>
        <p:txBody>
          <a:bodyPr wrap="square" rtlCol="0">
            <a:noAutofit/>
          </a:bodyPr>
          <a:lstStyle/>
          <a:p>
            <a:r>
              <a:rPr lang="en-US" altLang="zh-CN"/>
              <a:t>3</a:t>
            </a:r>
            <a:r>
              <a:rPr lang="zh-CN" altLang="en-US"/>
              <a:t>、</a:t>
            </a:r>
            <a:r>
              <a:rPr lang="zh-CN" altLang="en-US" sz="2400"/>
              <a:t>约束条件形式的标准化及初始基变量的引入</a:t>
            </a:r>
            <a:endParaRPr lang="zh-CN" altLang="en-US" sz="2400"/>
          </a:p>
          <a:p>
            <a:r>
              <a:rPr lang="en-US" altLang="zh-CN" sz="2400"/>
              <a:t>    </a:t>
            </a:r>
            <a:r>
              <a:rPr lang="zh-CN" altLang="en-US" sz="2400"/>
              <a:t>线性规划的迭代过程需要从一个满足所有的约束条件的初始可行解开始，初始可行解中非零的变量称为初始基变量。需要在这一步引入。另外标准模型还要求所有约束条件形式均为等号形式。这一步具体分三种情况：</a:t>
            </a:r>
            <a:endParaRPr lang="zh-CN" altLang="en-US" sz="2400"/>
          </a:p>
          <a:p>
            <a:pPr marL="457200" indent="-457200">
              <a:buFont typeface="+mj-ea"/>
              <a:buAutoNum type="circleNumDbPlain"/>
            </a:pPr>
            <a:r>
              <a:rPr lang="zh-CN" altLang="en-US" sz="2400"/>
              <a:t>约束条件为</a:t>
            </a:r>
            <a:r>
              <a:rPr lang="en-US" altLang="zh-CN" sz="2400"/>
              <a:t>“=”</a:t>
            </a:r>
            <a:r>
              <a:rPr lang="zh-CN" altLang="en-US" sz="2400"/>
              <a:t>形式，可在方程左边增加一个人工变量，它在本约束条件中的系数为</a:t>
            </a:r>
            <a:r>
              <a:rPr lang="en-US" altLang="zh-CN" sz="2400"/>
              <a:t>1</a:t>
            </a:r>
            <a:r>
              <a:rPr lang="zh-CN" altLang="en-US" sz="2400"/>
              <a:t>，在其他约束条件中均为</a:t>
            </a:r>
            <a:r>
              <a:rPr lang="en-US" altLang="zh-CN" sz="2400"/>
              <a:t>0</a:t>
            </a:r>
            <a:r>
              <a:rPr lang="zh-CN" altLang="en-US" sz="2400"/>
              <a:t>，在目标函数中的系数为</a:t>
            </a:r>
            <a:r>
              <a:rPr lang="en-US" altLang="zh-CN" sz="2400"/>
              <a:t>-M,M</a:t>
            </a:r>
            <a:r>
              <a:rPr lang="zh-CN" altLang="en-US" sz="2400"/>
              <a:t>为很大的正数。</a:t>
            </a:r>
            <a:endParaRPr lang="zh-CN" altLang="en-US" sz="2400"/>
          </a:p>
          <a:p>
            <a:pPr marL="457200" indent="-457200">
              <a:buFont typeface="+mj-ea"/>
              <a:buAutoNum type="circleNumDbPlain"/>
            </a:pPr>
            <a:r>
              <a:rPr lang="zh-CN" altLang="en-US" sz="2400"/>
              <a:t>在约束条件为</a:t>
            </a:r>
            <a:r>
              <a:rPr lang="en-US" altLang="zh-CN" sz="2400"/>
              <a:t>“</a:t>
            </a:r>
            <a:r>
              <a:rPr lang="en-US" altLang="en-US" sz="2400"/>
              <a:t>&lt;=”</a:t>
            </a:r>
            <a:r>
              <a:rPr lang="zh-CN" altLang="en-US" sz="2400"/>
              <a:t>形式，可在方程左边增加一个松弛变量，它在本约束条件中的系数为</a:t>
            </a:r>
            <a:r>
              <a:rPr lang="en-US" altLang="zh-CN" sz="2400"/>
              <a:t>1</a:t>
            </a:r>
            <a:r>
              <a:rPr lang="zh-CN" altLang="en-US" sz="2400"/>
              <a:t>，在其他约束条件中均为</a:t>
            </a:r>
            <a:r>
              <a:rPr lang="en-US" altLang="zh-CN" sz="2400"/>
              <a:t>0</a:t>
            </a:r>
            <a:r>
              <a:rPr lang="zh-CN" altLang="en-US" sz="2400"/>
              <a:t>，目标函数系数为</a:t>
            </a:r>
            <a:r>
              <a:rPr lang="en-US" altLang="zh-CN" sz="2400"/>
              <a:t>0</a:t>
            </a:r>
            <a:endParaRPr lang="en-US" altLang="zh-CN" sz="2400"/>
          </a:p>
          <a:p>
            <a:pPr marL="457200" indent="-457200">
              <a:buFont typeface="+mj-ea"/>
              <a:buAutoNum type="circleNumDbPlain"/>
            </a:pPr>
            <a:endParaRPr lang="zh-CN" altLang="en-US"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449705" y="925830"/>
            <a:ext cx="5430520" cy="557530"/>
          </a:xfrm>
          <a:prstGeom prst="rect">
            <a:avLst/>
          </a:prstGeom>
          <a:noFill/>
        </p:spPr>
        <p:txBody>
          <a:bodyPr wrap="square" rtlCol="0">
            <a:noAutofit/>
          </a:bodyPr>
          <a:lstStyle/>
          <a:p>
            <a:r>
              <a:rPr lang="zh-CN" altLang="en-US" sz="3200">
                <a:sym typeface="+mn-ea"/>
              </a:rPr>
              <a:t>线性规划问题的单纯形算法</a:t>
            </a:r>
            <a:endParaRPr lang="zh-CN" altLang="en-US" sz="3200"/>
          </a:p>
        </p:txBody>
      </p:sp>
      <p:sp>
        <p:nvSpPr>
          <p:cNvPr id="6" name="文本框 5"/>
          <p:cNvSpPr txBox="1"/>
          <p:nvPr/>
        </p:nvSpPr>
        <p:spPr>
          <a:xfrm>
            <a:off x="697865" y="1465580"/>
            <a:ext cx="7910830" cy="4641215"/>
          </a:xfrm>
          <a:prstGeom prst="rect">
            <a:avLst/>
          </a:prstGeom>
          <a:noFill/>
        </p:spPr>
        <p:txBody>
          <a:bodyPr wrap="square" rtlCol="0">
            <a:noAutofit/>
          </a:bodyPr>
          <a:lstStyle/>
          <a:p>
            <a:pPr>
              <a:buFont typeface="+mj-ea"/>
            </a:pPr>
            <a:r>
              <a:rPr lang="zh-CN" altLang="en-US">
                <a:latin typeface="Calibri" panose="020F0502020204030204" pitchFamily="34" charset="0"/>
                <a:sym typeface="+mn-ea"/>
              </a:rPr>
              <a:t>③</a:t>
            </a:r>
            <a:r>
              <a:rPr lang="zh-CN" altLang="en-US" sz="2400">
                <a:sym typeface="+mn-ea"/>
              </a:rPr>
              <a:t>在约束条件为</a:t>
            </a:r>
            <a:r>
              <a:rPr lang="en-US" altLang="zh-CN" sz="2400">
                <a:sym typeface="+mn-ea"/>
              </a:rPr>
              <a:t>“&gt;</a:t>
            </a:r>
            <a:r>
              <a:rPr lang="en-US" altLang="en-US" sz="2400">
                <a:sym typeface="+mn-ea"/>
              </a:rPr>
              <a:t>=”</a:t>
            </a:r>
            <a:r>
              <a:rPr lang="zh-CN" altLang="en-US" sz="2400">
                <a:sym typeface="+mn-ea"/>
              </a:rPr>
              <a:t>形式，可在方程左边减掉一个松弛变量，系数的定法同</a:t>
            </a:r>
            <a:r>
              <a:rPr lang="zh-CN" altLang="en-US" sz="2400">
                <a:latin typeface="Calibri" panose="020F0502020204030204" pitchFamily="34" charset="0"/>
                <a:sym typeface="+mn-ea"/>
              </a:rPr>
              <a:t>②中的松弛变量，再加上一个人工变量</a:t>
            </a:r>
            <a:endParaRPr lang="zh-CN" altLang="en-US" sz="2400">
              <a:latin typeface="Calibri" panose="020F0502020204030204" pitchFamily="34" charset="0"/>
              <a:sym typeface="+mn-ea"/>
            </a:endParaRPr>
          </a:p>
          <a:p>
            <a:pPr>
              <a:buFont typeface="+mj-ea"/>
            </a:pPr>
            <a:r>
              <a:rPr lang="zh-CN" altLang="en-US" sz="2400">
                <a:latin typeface="Calibri" panose="020F0502020204030204" pitchFamily="34" charset="0"/>
                <a:sym typeface="+mn-ea"/>
              </a:rPr>
              <a:t>，</a:t>
            </a:r>
            <a:r>
              <a:rPr lang="zh-CN" altLang="en-US" sz="2400">
                <a:sym typeface="+mn-ea"/>
              </a:rPr>
              <a:t>系数的定法同</a:t>
            </a:r>
            <a:r>
              <a:rPr lang="zh-CN" altLang="en-US" sz="2400">
                <a:latin typeface="Calibri" panose="020F0502020204030204" pitchFamily="34" charset="0"/>
                <a:sym typeface="+mn-ea"/>
              </a:rPr>
              <a:t>①中的人工变量。</a:t>
            </a:r>
            <a:endParaRPr lang="zh-CN" altLang="en-US" sz="2400">
              <a:latin typeface="Calibri" panose="020F0502020204030204" pitchFamily="34" charset="0"/>
              <a:sym typeface="+mn-ea"/>
            </a:endParaRPr>
          </a:p>
          <a:p>
            <a:pPr>
              <a:buFont typeface="+mj-ea"/>
            </a:pPr>
            <a:r>
              <a:rPr lang="en-US" altLang="zh-CN" sz="2400">
                <a:latin typeface="Calibri" panose="020F0502020204030204" pitchFamily="34" charset="0"/>
                <a:sym typeface="+mn-ea"/>
              </a:rPr>
              <a:t> </a:t>
            </a:r>
            <a:r>
              <a:rPr lang="zh-CN" altLang="en-US" sz="2400">
                <a:latin typeface="Calibri" panose="020F0502020204030204" pitchFamily="34" charset="0"/>
                <a:sym typeface="+mn-ea"/>
              </a:rPr>
              <a:t>这一约束后，对变量重新编号排列，可得以下标准形式：</a:t>
            </a:r>
            <a:endParaRPr lang="zh-CN" altLang="en-US" sz="2400">
              <a:latin typeface="Calibri" panose="020F0502020204030204" pitchFamily="34" charset="0"/>
              <a:sym typeface="+mn-ea"/>
            </a:endParaRPr>
          </a:p>
          <a:p>
            <a:pPr>
              <a:buFont typeface="+mj-ea"/>
            </a:pPr>
            <a:r>
              <a:rPr lang="zh-CN" altLang="en-US" sz="2400">
                <a:latin typeface="Calibri" panose="020F0502020204030204" pitchFamily="34" charset="0"/>
                <a:sym typeface="+mn-ea"/>
              </a:rPr>
              <a:t> </a:t>
            </a:r>
            <a:r>
              <a:rPr lang="en-US" altLang="zh-CN" sz="2400">
                <a:latin typeface="Calibri" panose="020F0502020204030204" pitchFamily="34" charset="0"/>
                <a:sym typeface="+mn-ea"/>
              </a:rPr>
              <a:t>          max Z=C</a:t>
            </a:r>
            <a:r>
              <a:rPr lang="en-US" altLang="zh-CN" sz="2400" baseline="-25000">
                <a:latin typeface="Calibri" panose="020F0502020204030204" pitchFamily="34" charset="0"/>
                <a:sym typeface="+mn-ea"/>
              </a:rPr>
              <a:t>1</a:t>
            </a:r>
            <a:r>
              <a:rPr lang="en-US" altLang="zh-CN" sz="2400">
                <a:latin typeface="Calibri" panose="020F0502020204030204" pitchFamily="34" charset="0"/>
                <a:sym typeface="+mn-ea"/>
              </a:rPr>
              <a:t>X</a:t>
            </a:r>
            <a:r>
              <a:rPr lang="en-US" altLang="zh-CN" sz="2400" baseline="-25000">
                <a:latin typeface="Calibri" panose="020F0502020204030204" pitchFamily="34" charset="0"/>
                <a:sym typeface="+mn-ea"/>
              </a:rPr>
              <a:t>1</a:t>
            </a:r>
            <a:r>
              <a:rPr lang="en-US" altLang="zh-CN" sz="2400">
                <a:latin typeface="Calibri" panose="020F0502020204030204" pitchFamily="34" charset="0"/>
                <a:sym typeface="+mn-ea"/>
              </a:rPr>
              <a:t>+C2X2+...CnXn          8-6</a:t>
            </a:r>
            <a:endParaRPr lang="en-US" altLang="zh-CN" sz="2400">
              <a:latin typeface="Calibri" panose="020F0502020204030204" pitchFamily="34" charset="0"/>
              <a:sym typeface="+mn-ea"/>
            </a:endParaRPr>
          </a:p>
          <a:p>
            <a:pPr>
              <a:buFont typeface="+mj-ea"/>
            </a:pPr>
            <a:endParaRPr lang="zh-CN" altLang="en-US" sz="2400">
              <a:latin typeface="Calibri" panose="020F0502020204030204" pitchFamily="34" charset="0"/>
              <a:sym typeface="+mn-ea"/>
            </a:endParaRPr>
          </a:p>
          <a:p>
            <a:pPr>
              <a:buFont typeface="+mj-ea"/>
            </a:pPr>
            <a:endParaRPr lang="zh-CN" altLang="en-US" sz="2400">
              <a:latin typeface="Calibri" panose="020F0502020204030204" pitchFamily="34" charset="0"/>
              <a:sym typeface="+mn-ea"/>
            </a:endParaRPr>
          </a:p>
        </p:txBody>
      </p:sp>
      <p:graphicFrame>
        <p:nvGraphicFramePr>
          <p:cNvPr id="7" name="对象 29699"/>
          <p:cNvGraphicFramePr/>
          <p:nvPr>
            <p:custDataLst>
              <p:tags r:id="rId1"/>
            </p:custDataLst>
          </p:nvPr>
        </p:nvGraphicFramePr>
        <p:xfrm>
          <a:off x="1483519" y="3500597"/>
          <a:ext cx="4563745" cy="1881505"/>
        </p:xfrm>
        <a:graphic>
          <a:graphicData uri="http://schemas.openxmlformats.org/presentationml/2006/ole">
            <mc:AlternateContent xmlns:mc="http://schemas.openxmlformats.org/markup-compatibility/2006">
              <mc:Choice xmlns:v="urn:schemas-microsoft-com:vml" Requires="v">
                <p:oleObj spid="_x0000_s30726" name="" r:id="rId2" imgW="2286000" imgH="939800" progId="Equation.3">
                  <p:embed/>
                </p:oleObj>
              </mc:Choice>
              <mc:Fallback>
                <p:oleObj name="" r:id="rId2" imgW="2286000" imgH="939800" progId="Equation.3">
                  <p:embed/>
                  <p:pic>
                    <p:nvPicPr>
                      <p:cNvPr id="0" name="图片 3076"/>
                      <p:cNvPicPr/>
                      <p:nvPr/>
                    </p:nvPicPr>
                    <p:blipFill>
                      <a:blip r:embed="rId3"/>
                      <a:stretch>
                        <a:fillRect/>
                      </a:stretch>
                    </p:blipFill>
                    <p:spPr>
                      <a:xfrm>
                        <a:off x="1483519" y="3500597"/>
                        <a:ext cx="4563745" cy="1881505"/>
                      </a:xfrm>
                      <a:prstGeom prst="rect">
                        <a:avLst/>
                      </a:prstGeom>
                      <a:noFill/>
                      <a:ln w="38100">
                        <a:noFill/>
                        <a:miter/>
                      </a:ln>
                    </p:spPr>
                  </p:pic>
                </p:oleObj>
              </mc:Fallback>
            </mc:AlternateContent>
          </a:graphicData>
        </a:graphic>
      </p:graphicFrame>
      <p:sp>
        <p:nvSpPr>
          <p:cNvPr id="9" name="文本框 8"/>
          <p:cNvSpPr txBox="1"/>
          <p:nvPr/>
        </p:nvSpPr>
        <p:spPr>
          <a:xfrm>
            <a:off x="2123440" y="6021070"/>
            <a:ext cx="3048000" cy="368300"/>
          </a:xfrm>
          <a:prstGeom prst="rect">
            <a:avLst/>
          </a:prstGeom>
          <a:noFill/>
        </p:spPr>
        <p:txBody>
          <a:bodyPr wrap="square" rtlCol="0">
            <a:spAutoFit/>
          </a:bodyPr>
          <a:lstStyle/>
          <a:p>
            <a:r>
              <a:rPr lang="en-US" altLang="zh-CN"/>
              <a:t>x1,x2...xn&gt;=0</a:t>
            </a:r>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43940" y="725805"/>
            <a:ext cx="5888355" cy="610870"/>
          </a:xfrm>
          <a:prstGeom prst="rect">
            <a:avLst/>
          </a:prstGeom>
          <a:noFill/>
        </p:spPr>
        <p:txBody>
          <a:bodyPr wrap="square" rtlCol="0">
            <a:noAutofit/>
          </a:bodyPr>
          <a:lstStyle/>
          <a:p>
            <a:r>
              <a:rPr lang="zh-CN" altLang="en-US" sz="3600">
                <a:sym typeface="+mn-ea"/>
              </a:rPr>
              <a:t>线性规划问题的单纯形算法</a:t>
            </a:r>
            <a:endParaRPr lang="zh-CN" altLang="en-US" sz="3600"/>
          </a:p>
        </p:txBody>
      </p:sp>
      <p:sp>
        <p:nvSpPr>
          <p:cNvPr id="4" name="文本框 3"/>
          <p:cNvSpPr txBox="1"/>
          <p:nvPr/>
        </p:nvSpPr>
        <p:spPr>
          <a:xfrm>
            <a:off x="616585" y="1412240"/>
            <a:ext cx="8054340" cy="4839970"/>
          </a:xfrm>
          <a:prstGeom prst="rect">
            <a:avLst/>
          </a:prstGeom>
          <a:noFill/>
        </p:spPr>
        <p:txBody>
          <a:bodyPr wrap="square" rtlCol="0">
            <a:noAutofit/>
          </a:bodyPr>
          <a:lstStyle/>
          <a:p>
            <a:r>
              <a:rPr lang="zh-CN" altLang="en-US" sz="2800"/>
              <a:t>在上述模型中令</a:t>
            </a:r>
            <a:r>
              <a:rPr lang="en-US" altLang="en-US" sz="2800"/>
              <a:t>x</a:t>
            </a:r>
            <a:r>
              <a:rPr lang="en-US" altLang="en-US" sz="2800" baseline="-25000"/>
              <a:t>m+1</a:t>
            </a:r>
            <a:r>
              <a:rPr lang="en-US" altLang="en-US" sz="2800"/>
              <a:t>,x</a:t>
            </a:r>
            <a:r>
              <a:rPr lang="en-US" altLang="en-US" sz="2800" baseline="-25000"/>
              <a:t>m+2</a:t>
            </a:r>
            <a:r>
              <a:rPr lang="en-US" altLang="en-US" sz="2800"/>
              <a:t>...x</a:t>
            </a:r>
            <a:r>
              <a:rPr lang="en-US" altLang="en-US" sz="2800" baseline="-25000"/>
              <a:t>n</a:t>
            </a:r>
            <a:r>
              <a:rPr lang="zh-CN" altLang="en-US" sz="2800"/>
              <a:t>均为</a:t>
            </a:r>
            <a:r>
              <a:rPr lang="en-US" altLang="zh-CN" sz="2800"/>
              <a:t>0</a:t>
            </a:r>
            <a:r>
              <a:rPr lang="zh-CN" altLang="en-US" sz="2800"/>
              <a:t>，则可以得初始基可行解。这个初始基可行解满是约束条件，但不一定是目标函数</a:t>
            </a:r>
            <a:r>
              <a:rPr lang="en-US" altLang="zh-CN" sz="2800"/>
              <a:t>Z</a:t>
            </a:r>
            <a:r>
              <a:rPr lang="zh-CN" altLang="en-US" sz="2800"/>
              <a:t>的最优解，需要在单纯形表上继续迭代。</a:t>
            </a:r>
            <a:endParaRPr lang="zh-CN" altLang="en-US" sz="2800"/>
          </a:p>
          <a:p>
            <a:r>
              <a:rPr lang="zh-CN" altLang="en-US" sz="2800"/>
              <a:t>根据标准模型（</a:t>
            </a:r>
            <a:r>
              <a:rPr lang="en-US" altLang="zh-CN" sz="2800"/>
              <a:t>8-6</a:t>
            </a:r>
            <a:r>
              <a:rPr lang="zh-CN" altLang="en-US" sz="2800"/>
              <a:t>）（</a:t>
            </a:r>
            <a:r>
              <a:rPr lang="en-US" altLang="zh-CN" sz="2800"/>
              <a:t>8-7</a:t>
            </a:r>
            <a:r>
              <a:rPr lang="zh-CN" altLang="en-US" sz="2800"/>
              <a:t>）可设计初始单纯形表</a:t>
            </a:r>
            <a:r>
              <a:rPr lang="en-US" altLang="zh-CN" sz="2800"/>
              <a:t>8-3.</a:t>
            </a:r>
            <a:r>
              <a:rPr lang="zh-CN" altLang="en-US" sz="2800"/>
              <a:t>其中</a:t>
            </a:r>
            <a:r>
              <a:rPr lang="en-US" altLang="en-US" sz="2800"/>
              <a:t>x</a:t>
            </a:r>
            <a:r>
              <a:rPr lang="en-US" altLang="en-US" sz="2800" baseline="-25000"/>
              <a:t>1</a:t>
            </a:r>
            <a:r>
              <a:rPr lang="en-US" altLang="en-US" sz="2800"/>
              <a:t>,x</a:t>
            </a:r>
            <a:r>
              <a:rPr lang="en-US" altLang="en-US" sz="2800" baseline="-25000"/>
              <a:t>2</a:t>
            </a:r>
            <a:r>
              <a:rPr lang="en-US" altLang="en-US" sz="2800"/>
              <a:t>...x</a:t>
            </a:r>
            <a:r>
              <a:rPr lang="en-US" altLang="en-US" sz="2800" baseline="-25000"/>
              <a:t>m</a:t>
            </a:r>
            <a:r>
              <a:rPr lang="zh-CN" altLang="en-US" sz="2800"/>
              <a:t>为基变量，</a:t>
            </a:r>
            <a:r>
              <a:rPr lang="en-US" altLang="zh-CN" sz="2800"/>
              <a:t>x</a:t>
            </a:r>
            <a:r>
              <a:rPr lang="en-US" altLang="zh-CN" sz="2800" baseline="-25000"/>
              <a:t>m+1</a:t>
            </a:r>
            <a:r>
              <a:rPr lang="en-US" altLang="zh-CN" sz="2800"/>
              <a:t>,x</a:t>
            </a:r>
            <a:r>
              <a:rPr lang="en-US" altLang="zh-CN" sz="2800" baseline="-25000"/>
              <a:t>m+2</a:t>
            </a:r>
            <a:r>
              <a:rPr lang="en-US" altLang="zh-CN" sz="2800"/>
              <a:t>...x</a:t>
            </a:r>
            <a:r>
              <a:rPr lang="en-US" altLang="zh-CN" sz="2800" baseline="-25000"/>
              <a:t>n</a:t>
            </a:r>
            <a:r>
              <a:rPr lang="zh-CN" altLang="en-US" sz="2800"/>
              <a:t>为非基变量。表中</a:t>
            </a:r>
            <a:r>
              <a:rPr lang="zh-CN" altLang="en-US" sz="2800">
                <a:latin typeface="宋体" panose="02010600030101010101" pitchFamily="2" charset="-122"/>
              </a:rPr>
              <a:t>σ</a:t>
            </a:r>
            <a:r>
              <a:rPr lang="en-US" altLang="zh-CN" sz="2800" baseline="-25000">
                <a:latin typeface="宋体" panose="02010600030101010101" pitchFamily="2" charset="-122"/>
              </a:rPr>
              <a:t>j</a:t>
            </a:r>
            <a:r>
              <a:rPr lang="zh-CN" altLang="en-US" sz="2800">
                <a:latin typeface="宋体" panose="02010600030101010101" pitchFamily="2" charset="-122"/>
              </a:rPr>
              <a:t>为检验系数，当</a:t>
            </a:r>
            <a:r>
              <a:rPr lang="zh-CN" altLang="en-US" sz="2800">
                <a:latin typeface="宋体" panose="02010600030101010101" pitchFamily="2" charset="-122"/>
                <a:sym typeface="+mn-ea"/>
              </a:rPr>
              <a:t>σ</a:t>
            </a:r>
            <a:r>
              <a:rPr lang="en-US" altLang="zh-CN" sz="2800" baseline="-25000">
                <a:latin typeface="宋体" panose="02010600030101010101" pitchFamily="2" charset="-122"/>
                <a:sym typeface="+mn-ea"/>
              </a:rPr>
              <a:t>j</a:t>
            </a:r>
            <a:r>
              <a:rPr lang="zh-CN" altLang="en-US" sz="2800">
                <a:latin typeface="宋体" panose="02010600030101010101" pitchFamily="2" charset="-122"/>
                <a:sym typeface="+mn-ea"/>
              </a:rPr>
              <a:t>均小于</a:t>
            </a:r>
            <a:r>
              <a:rPr lang="en-US" altLang="zh-CN" sz="2800">
                <a:latin typeface="宋体" panose="02010600030101010101" pitchFamily="2" charset="-122"/>
                <a:sym typeface="+mn-ea"/>
              </a:rPr>
              <a:t>0</a:t>
            </a:r>
            <a:r>
              <a:rPr lang="zh-CN" altLang="en-US" sz="2800">
                <a:latin typeface="宋体" panose="02010600030101010101" pitchFamily="2" charset="-122"/>
                <a:sym typeface="+mn-ea"/>
              </a:rPr>
              <a:t>时，表示已得最优解，否则需要进行迭代。</a:t>
            </a:r>
            <a:endParaRPr lang="zh-CN" altLang="en-US" sz="2800">
              <a:latin typeface="宋体" panose="02010600030101010101" pitchFamily="2"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37565" y="941705"/>
            <a:ext cx="6539230" cy="344170"/>
          </a:xfrm>
          <a:prstGeom prst="rect">
            <a:avLst/>
          </a:prstGeom>
          <a:noFill/>
        </p:spPr>
        <p:txBody>
          <a:bodyPr wrap="square" rtlCol="0">
            <a:noAutofit/>
          </a:bodyPr>
          <a:lstStyle/>
          <a:p>
            <a:r>
              <a:rPr lang="zh-CN" altLang="en-US" sz="3600">
                <a:sym typeface="+mn-ea"/>
              </a:rPr>
              <a:t>线性规划问题的单纯形算法</a:t>
            </a:r>
            <a:endParaRPr lang="zh-CN" altLang="en-US" sz="3600"/>
          </a:p>
        </p:txBody>
      </p:sp>
      <p:sp>
        <p:nvSpPr>
          <p:cNvPr id="3" name="文本框 2"/>
          <p:cNvSpPr txBox="1"/>
          <p:nvPr/>
        </p:nvSpPr>
        <p:spPr>
          <a:xfrm>
            <a:off x="598170" y="2054860"/>
            <a:ext cx="8242935" cy="4408170"/>
          </a:xfrm>
          <a:prstGeom prst="rect">
            <a:avLst/>
          </a:prstGeom>
          <a:noFill/>
        </p:spPr>
        <p:txBody>
          <a:bodyPr wrap="square" rtlCol="0">
            <a:noAutofit/>
          </a:bodyPr>
          <a:lstStyle/>
          <a:p>
            <a:endParaRPr lang="zh-CN" altLang="en-US"/>
          </a:p>
        </p:txBody>
      </p:sp>
      <p:graphicFrame>
        <p:nvGraphicFramePr>
          <p:cNvPr id="4" name="表格 3"/>
          <p:cNvGraphicFramePr/>
          <p:nvPr>
            <p:custDataLst>
              <p:tags r:id="rId1"/>
            </p:custDataLst>
          </p:nvPr>
        </p:nvGraphicFramePr>
        <p:xfrm>
          <a:off x="1078510" y="1521460"/>
          <a:ext cx="7282254" cy="4941570"/>
        </p:xfrm>
        <a:graphic>
          <a:graphicData uri="http://schemas.openxmlformats.org/drawingml/2006/table">
            <a:tbl>
              <a:tblPr/>
              <a:tblGrid>
                <a:gridCol w="801534"/>
                <a:gridCol w="936104"/>
                <a:gridCol w="864096"/>
                <a:gridCol w="3528392"/>
                <a:gridCol w="1152128"/>
              </a:tblGrid>
              <a:tr h="518160">
                <a:tc gridSpan="5">
                  <a:txBody>
                    <a:bodyPr/>
                    <a:lstStyle/>
                    <a:p>
                      <a:pPr algn="ctr">
                        <a:buNone/>
                      </a:pPr>
                      <a:r>
                        <a:rPr lang="zh-CN" altLang="en-US" sz="2400" dirty="0">
                          <a:latin typeface="宋体" panose="02010600030101010101" pitchFamily="2" charset="-122"/>
                          <a:ea typeface="宋体" panose="02010600030101010101" pitchFamily="2" charset="-122"/>
                          <a:cs typeface="宋体" panose="02010600030101010101" pitchFamily="2" charset="-122"/>
                        </a:rPr>
                        <a:t>表</a:t>
                      </a:r>
                      <a:r>
                        <a:rPr lang="en-US" altLang="zh-CN" sz="2400" dirty="0">
                          <a:latin typeface="宋体" panose="02010600030101010101" pitchFamily="2" charset="-122"/>
                          <a:ea typeface="宋体" panose="02010600030101010101" pitchFamily="2" charset="-122"/>
                          <a:cs typeface="宋体" panose="02010600030101010101" pitchFamily="2" charset="-122"/>
                        </a:rPr>
                        <a:t>8-3 </a:t>
                      </a:r>
                      <a:r>
                        <a:rPr lang="zh-CN" altLang="en-US" sz="2400" dirty="0">
                          <a:latin typeface="宋体" panose="02010600030101010101" pitchFamily="2" charset="-122"/>
                          <a:ea typeface="宋体" panose="02010600030101010101" pitchFamily="2" charset="-122"/>
                          <a:cs typeface="宋体" panose="02010600030101010101" pitchFamily="2" charset="-122"/>
                        </a:rPr>
                        <a:t>初始单纯形表</a:t>
                      </a:r>
                      <a:endParaRPr lang="en-US" altLang="en-US" sz="240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noFill/>
                      <a:prstDash val="solid"/>
                      <a:headEnd type="none" w="med" len="med"/>
                      <a:tailEnd type="none" w="med" len="med"/>
                    </a:lnL>
                    <a:lnR w="12700" cap="flat" cmpd="sng">
                      <a:noFill/>
                      <a:prstDash val="soli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marL="68580" marR="6858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r>
              <a:tr h="518160">
                <a:tc gridSpan="3">
                  <a:txBody>
                    <a:bodyPr/>
                    <a:lstStyle/>
                    <a:p>
                      <a:pPr algn="ctr">
                        <a:buNone/>
                      </a:pPr>
                      <a:r>
                        <a:rPr lang="en-US" altLang="en-US" sz="1000" dirty="0">
                          <a:latin typeface="宋体" panose="02010600030101010101" pitchFamily="2" charset="-122"/>
                          <a:ea typeface="宋体" panose="02010600030101010101" pitchFamily="2" charset="-122"/>
                          <a:cs typeface="宋体" panose="02010600030101010101" pitchFamily="2" charset="-122"/>
                        </a:rPr>
                        <a:t>   </a:t>
                      </a:r>
                      <a:r>
                        <a:rPr lang="en-US" altLang="en-US" sz="2400" dirty="0">
                          <a:latin typeface="宋体" panose="02010600030101010101" pitchFamily="2" charset="-122"/>
                          <a:ea typeface="宋体" panose="02010600030101010101" pitchFamily="2" charset="-122"/>
                          <a:cs typeface="宋体" panose="02010600030101010101" pitchFamily="2" charset="-122"/>
                        </a:rPr>
                        <a:t>  c</a:t>
                      </a:r>
                      <a:endParaRPr lang="en-US" altLang="en-US" sz="240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cap="flat">
                      <a:noFill/>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tcPr>
                </a:tc>
                <a:tc>
                  <a:txBody>
                    <a:bodyPr/>
                    <a:lstStyle/>
                    <a:p>
                      <a:pPr>
                        <a:buNone/>
                      </a:pPr>
                      <a:endParaRPr lang="en-US" altLang="en-US" sz="1000" dirty="0">
                        <a:latin typeface="Calibri" panose="020F0502020204030204" pitchFamily="34" charset="0"/>
                        <a:ea typeface="Calibri" panose="020F0502020204030204" pitchFamily="34" charset="0"/>
                        <a:cs typeface="Calibri" panose="020F0502020204030204" pitchFamily="34" charset="0"/>
                      </a:endParaRPr>
                    </a:p>
                    <a:p>
                      <a:pPr>
                        <a:buNone/>
                      </a:pPr>
                      <a:r>
                        <a:rPr lang="en-US" altLang="en-US" sz="2400" dirty="0">
                          <a:latin typeface="宋体" panose="02010600030101010101" pitchFamily="2" charset="-122"/>
                          <a:ea typeface="宋体" panose="02010600030101010101" pitchFamily="2" charset="-122"/>
                          <a:cs typeface="宋体" panose="02010600030101010101" pitchFamily="2" charset="-122"/>
                          <a:sym typeface="+mn-ea"/>
                        </a:rPr>
                        <a:t>c</a:t>
                      </a:r>
                      <a:r>
                        <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rPr>
                        <a:t>1   </a:t>
                      </a:r>
                      <a:r>
                        <a:rPr lang="en-US" altLang="en-US" sz="2400" dirty="0">
                          <a:latin typeface="宋体" panose="02010600030101010101" pitchFamily="2" charset="-122"/>
                          <a:ea typeface="宋体" panose="02010600030101010101" pitchFamily="2" charset="-122"/>
                          <a:cs typeface="宋体" panose="02010600030101010101" pitchFamily="2" charset="-122"/>
                          <a:sym typeface="+mn-ea"/>
                        </a:rPr>
                        <a:t>c</a:t>
                      </a:r>
                      <a:r>
                        <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rPr>
                        <a:t>2  ...    </a:t>
                      </a:r>
                      <a:r>
                        <a:rPr lang="en-US" altLang="en-US" sz="2400" dirty="0">
                          <a:latin typeface="宋体" panose="02010600030101010101" pitchFamily="2" charset="-122"/>
                          <a:ea typeface="宋体" panose="02010600030101010101" pitchFamily="2" charset="-122"/>
                          <a:cs typeface="宋体" panose="02010600030101010101" pitchFamily="2" charset="-122"/>
                          <a:sym typeface="+mn-ea"/>
                        </a:rPr>
                        <a:t>c</a:t>
                      </a:r>
                      <a:r>
                        <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rPr>
                        <a:t>m...  </a:t>
                      </a:r>
                      <a:r>
                        <a:rPr lang="en-US" altLang="en-US" sz="2400" dirty="0" err="1">
                          <a:latin typeface="宋体" panose="02010600030101010101" pitchFamily="2" charset="-122"/>
                          <a:ea typeface="宋体" panose="02010600030101010101" pitchFamily="2" charset="-122"/>
                          <a:cs typeface="宋体" panose="02010600030101010101" pitchFamily="2" charset="-122"/>
                          <a:sym typeface="+mn-ea"/>
                        </a:rPr>
                        <a:t>c</a:t>
                      </a:r>
                      <a:r>
                        <a:rPr lang="en-US" altLang="en-US" sz="2400" baseline="-25000" dirty="0" err="1">
                          <a:latin typeface="宋体" panose="02010600030101010101" pitchFamily="2" charset="-122"/>
                          <a:ea typeface="宋体" panose="02010600030101010101" pitchFamily="2" charset="-122"/>
                          <a:cs typeface="宋体" panose="02010600030101010101" pitchFamily="2" charset="-122"/>
                          <a:sym typeface="+mn-ea"/>
                        </a:rPr>
                        <a:t>n</a:t>
                      </a:r>
                      <a:r>
                        <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rPr>
                        <a:t> </a:t>
                      </a:r>
                      <a:endPar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a:buNone/>
                      </a:pPr>
                      <a:r>
                        <a:rPr lang="en-US" altLang="en-US" sz="2400" dirty="0">
                          <a:latin typeface="Arial" panose="020B0604020202020204" pitchFamily="34" charset="0"/>
                          <a:ea typeface="宋体" panose="02010600030101010101" pitchFamily="2" charset="-122"/>
                          <a:cs typeface="Arial" panose="020B0604020202020204" pitchFamily="34" charset="0"/>
                        </a:rPr>
                        <a:t>      </a:t>
                      </a:r>
                      <a:r>
                        <a:rPr lang="en-US" altLang="en-US" sz="2400" dirty="0" err="1">
                          <a:latin typeface="Arial" panose="020B0604020202020204" pitchFamily="34" charset="0"/>
                          <a:ea typeface="宋体" panose="02010600030101010101" pitchFamily="2" charset="-122"/>
                          <a:cs typeface="Arial" panose="020B0604020202020204" pitchFamily="34" charset="0"/>
                        </a:rPr>
                        <a:t>θ</a:t>
                      </a:r>
                      <a:r>
                        <a:rPr lang="en-US" altLang="en-US" sz="2400" baseline="-25000" dirty="0" err="1">
                          <a:latin typeface="Arial" panose="020B0604020202020204" pitchFamily="34" charset="0"/>
                          <a:ea typeface="宋体" panose="02010600030101010101" pitchFamily="2" charset="-122"/>
                          <a:cs typeface="Arial" panose="020B0604020202020204" pitchFamily="34" charset="0"/>
                        </a:rPr>
                        <a:t>i</a:t>
                      </a:r>
                      <a:endParaRPr lang="en-US" altLang="en-US" sz="2400" baseline="-25000" dirty="0" err="1">
                        <a:latin typeface="Arial" panose="020B0604020202020204" pitchFamily="34" charset="0"/>
                        <a:ea typeface="宋体" panose="02010600030101010101" pitchFamily="2" charset="-122"/>
                        <a:cs typeface="Arial" panose="020B0604020202020204" pitchFamily="34" charset="0"/>
                      </a:endParaRPr>
                    </a:p>
                    <a:p>
                      <a:pPr>
                        <a:buNone/>
                      </a:pPr>
                      <a:endParaRPr lang="en-US" altLang="en-US" sz="2400" baseline="-25000" dirty="0">
                        <a:latin typeface="Arial" panose="020B0604020202020204" pitchFamily="34" charset="0"/>
                        <a:ea typeface="宋体" panose="02010600030101010101" pitchFamily="2" charset="-122"/>
                        <a:cs typeface="Arial" panose="020B0604020202020204" pitchFamily="3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lstStyle/>
                    <a:p>
                      <a:pPr algn="ctr">
                        <a:buNone/>
                      </a:pPr>
                      <a:r>
                        <a:rPr lang="en-US" altLang="en-US" sz="2400" dirty="0" err="1">
                          <a:latin typeface="宋体" panose="02010600030101010101" pitchFamily="2" charset="-122"/>
                          <a:ea typeface="宋体" panose="02010600030101010101" pitchFamily="2" charset="-122"/>
                          <a:cs typeface="宋体" panose="02010600030101010101" pitchFamily="2" charset="-122"/>
                        </a:rPr>
                        <a:t>c</a:t>
                      </a:r>
                      <a:r>
                        <a:rPr lang="en-US" altLang="en-US" sz="2400" baseline="-25000" dirty="0" err="1">
                          <a:latin typeface="宋体" panose="02010600030101010101" pitchFamily="2" charset="-122"/>
                          <a:ea typeface="宋体" panose="02010600030101010101" pitchFamily="2" charset="-122"/>
                          <a:cs typeface="宋体" panose="02010600030101010101" pitchFamily="2" charset="-122"/>
                        </a:rPr>
                        <a:t>b</a:t>
                      </a:r>
                      <a:endParaRPr lang="en-US" altLang="en-US" sz="2400" baseline="-2500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en-US" sz="2400" dirty="0" err="1">
                          <a:latin typeface="宋体" panose="02010600030101010101" pitchFamily="2" charset="-122"/>
                          <a:ea typeface="宋体" panose="02010600030101010101" pitchFamily="2" charset="-122"/>
                          <a:cs typeface="宋体" panose="02010600030101010101" pitchFamily="2" charset="-122"/>
                        </a:rPr>
                        <a:t>x</a:t>
                      </a:r>
                      <a:r>
                        <a:rPr lang="en-US" altLang="en-US" sz="2400" baseline="-25000" dirty="0" err="1">
                          <a:latin typeface="宋体" panose="02010600030101010101" pitchFamily="2" charset="-122"/>
                          <a:ea typeface="宋体" panose="02010600030101010101" pitchFamily="2" charset="-122"/>
                          <a:cs typeface="宋体" panose="02010600030101010101" pitchFamily="2" charset="-122"/>
                        </a:rPr>
                        <a:t>b</a:t>
                      </a:r>
                      <a:endParaRPr lang="en-US" altLang="en-US" sz="2400" baseline="-2500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en-US" sz="2400" dirty="0">
                          <a:latin typeface="宋体" panose="02010600030101010101" pitchFamily="2" charset="-122"/>
                          <a:ea typeface="宋体" panose="02010600030101010101" pitchFamily="2" charset="-122"/>
                          <a:cs typeface="宋体" panose="02010600030101010101" pitchFamily="2" charset="-122"/>
                        </a:rPr>
                        <a:t>b</a:t>
                      </a:r>
                      <a:endParaRPr lang="en-US" altLang="en-US" sz="240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en-US" sz="2400">
                          <a:latin typeface="Calibri" panose="020F0502020204030204" pitchFamily="34" charset="0"/>
                          <a:ea typeface="Calibri" panose="020F0502020204030204" pitchFamily="34" charset="0"/>
                          <a:cs typeface="Calibri" panose="020F0502020204030204" pitchFamily="34" charset="0"/>
                        </a:rPr>
                        <a:t>x</a:t>
                      </a:r>
                      <a:r>
                        <a:rPr lang="en-US" altLang="en-US" sz="2400" baseline="-25000">
                          <a:latin typeface="Calibri" panose="020F0502020204030204" pitchFamily="34" charset="0"/>
                          <a:ea typeface="Calibri" panose="020F0502020204030204" pitchFamily="34" charset="0"/>
                          <a:cs typeface="Calibri" panose="020F0502020204030204" pitchFamily="34" charset="0"/>
                        </a:rPr>
                        <a:t>1       </a:t>
                      </a:r>
                      <a:r>
                        <a:rPr lang="en-US" altLang="en-US" sz="2400">
                          <a:latin typeface="Calibri" panose="020F0502020204030204" pitchFamily="34" charset="0"/>
                          <a:ea typeface="Calibri" panose="020F0502020204030204" pitchFamily="34" charset="0"/>
                          <a:cs typeface="Calibri" panose="020F0502020204030204" pitchFamily="34" charset="0"/>
                          <a:sym typeface="+mn-ea"/>
                        </a:rPr>
                        <a:t>x</a:t>
                      </a:r>
                      <a:r>
                        <a:rPr lang="en-US" altLang="en-US" sz="2400" baseline="-25000">
                          <a:latin typeface="Calibri" panose="020F0502020204030204" pitchFamily="34" charset="0"/>
                          <a:ea typeface="Calibri" panose="020F0502020204030204" pitchFamily="34" charset="0"/>
                          <a:cs typeface="Calibri" panose="020F0502020204030204" pitchFamily="34" charset="0"/>
                          <a:sym typeface="+mn-ea"/>
                        </a:rPr>
                        <a:t>2</a:t>
                      </a:r>
                      <a:r>
                        <a:rPr lang="en-US" altLang="en-US" sz="2400" baseline="-25000">
                          <a:latin typeface="Calibri" panose="020F0502020204030204" pitchFamily="34" charset="0"/>
                          <a:ea typeface="Calibri" panose="020F0502020204030204" pitchFamily="34" charset="0"/>
                          <a:cs typeface="Calibri" panose="020F0502020204030204" pitchFamily="34" charset="0"/>
                        </a:rPr>
                        <a:t>    ...              </a:t>
                      </a:r>
                      <a:r>
                        <a:rPr lang="en-US" altLang="en-US" sz="2400">
                          <a:latin typeface="Calibri" panose="020F0502020204030204" pitchFamily="34" charset="0"/>
                          <a:ea typeface="Calibri" panose="020F0502020204030204" pitchFamily="34" charset="0"/>
                          <a:cs typeface="Calibri" panose="020F0502020204030204" pitchFamily="34" charset="0"/>
                          <a:sym typeface="+mn-ea"/>
                        </a:rPr>
                        <a:t>x</a:t>
                      </a:r>
                      <a:r>
                        <a:rPr lang="en-US" altLang="en-US" sz="2400" baseline="-25000">
                          <a:latin typeface="Calibri" panose="020F0502020204030204" pitchFamily="34" charset="0"/>
                          <a:ea typeface="Calibri" panose="020F0502020204030204" pitchFamily="34" charset="0"/>
                          <a:cs typeface="Calibri" panose="020F0502020204030204" pitchFamily="34" charset="0"/>
                          <a:sym typeface="+mn-ea"/>
                        </a:rPr>
                        <a:t>m         </a:t>
                      </a:r>
                      <a:r>
                        <a:rPr lang="en-US" altLang="en-US" sz="2400">
                          <a:latin typeface="Calibri" panose="020F0502020204030204" pitchFamily="34" charset="0"/>
                          <a:ea typeface="Calibri" panose="020F0502020204030204" pitchFamily="34" charset="0"/>
                          <a:cs typeface="Calibri" panose="020F0502020204030204" pitchFamily="34" charset="0"/>
                          <a:sym typeface="+mn-ea"/>
                        </a:rPr>
                        <a:t>x</a:t>
                      </a:r>
                      <a:r>
                        <a:rPr lang="en-US" altLang="en-US" sz="2400" baseline="-25000">
                          <a:latin typeface="Calibri" panose="020F0502020204030204" pitchFamily="34" charset="0"/>
                          <a:ea typeface="Calibri" panose="020F0502020204030204" pitchFamily="34" charset="0"/>
                          <a:cs typeface="Calibri" panose="020F0502020204030204" pitchFamily="34" charset="0"/>
                          <a:sym typeface="+mn-ea"/>
                        </a:rPr>
                        <a:t>n </a:t>
                      </a:r>
                      <a:endParaRPr lang="en-US" altLang="en-US" sz="2400" baseline="-25000">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r>
              <a:tr h="2523490">
                <a:tc>
                  <a:txBody>
                    <a:bodyPr/>
                    <a:lstStyle/>
                    <a:p>
                      <a:pPr algn="ctr">
                        <a:buNone/>
                      </a:pPr>
                      <a:r>
                        <a:rPr lang="en-US" altLang="en-US" sz="1000" dirty="0">
                          <a:latin typeface="Calibri" panose="020F0502020204030204" pitchFamily="34" charset="0"/>
                          <a:ea typeface="Calibri" panose="020F0502020204030204" pitchFamily="34" charset="0"/>
                          <a:cs typeface="Calibri" panose="020F0502020204030204" pitchFamily="34" charset="0"/>
                        </a:rPr>
                        <a:t>  </a:t>
                      </a:r>
                      <a:r>
                        <a:rPr lang="en-US" altLang="en-US" sz="2400" dirty="0">
                          <a:latin typeface="Calibri" panose="020F0502020204030204" pitchFamily="34" charset="0"/>
                          <a:ea typeface="Calibri" panose="020F0502020204030204" pitchFamily="34" charset="0"/>
                          <a:cs typeface="Calibri" panose="020F0502020204030204" pitchFamily="34" charset="0"/>
                        </a:rPr>
                        <a:t>c</a:t>
                      </a:r>
                      <a:r>
                        <a:rPr lang="en-US" altLang="en-US" sz="2400" baseline="-25000" dirty="0">
                          <a:latin typeface="Calibri" panose="020F0502020204030204" pitchFamily="34" charset="0"/>
                          <a:ea typeface="Calibri" panose="020F0502020204030204" pitchFamily="34" charset="0"/>
                          <a:cs typeface="Calibri" panose="020F0502020204030204" pitchFamily="34" charset="0"/>
                        </a:rPr>
                        <a:t>1</a:t>
                      </a: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algn="ctr">
                        <a:buNone/>
                      </a:pPr>
                      <a:r>
                        <a:rPr lang="en-US" altLang="en-US" sz="2400" dirty="0">
                          <a:latin typeface="Calibri" panose="020F0502020204030204" pitchFamily="34" charset="0"/>
                          <a:ea typeface="Calibri" panose="020F0502020204030204" pitchFamily="34" charset="0"/>
                          <a:cs typeface="Calibri" panose="020F0502020204030204" pitchFamily="34" charset="0"/>
                        </a:rPr>
                        <a:t> c</a:t>
                      </a:r>
                      <a:r>
                        <a:rPr lang="en-US" altLang="en-US" sz="2400" baseline="-25000" dirty="0">
                          <a:latin typeface="Calibri" panose="020F0502020204030204" pitchFamily="34" charset="0"/>
                          <a:ea typeface="Calibri" panose="020F0502020204030204" pitchFamily="34" charset="0"/>
                          <a:cs typeface="Calibri" panose="020F0502020204030204" pitchFamily="34" charset="0"/>
                        </a:rPr>
                        <a:t>2</a:t>
                      </a:r>
                      <a:endParaRPr lang="en-US" altLang="en-US" sz="2400" baseline="-25000" dirty="0">
                        <a:latin typeface="Calibri" panose="020F0502020204030204" pitchFamily="34" charset="0"/>
                        <a:ea typeface="Calibri" panose="020F0502020204030204" pitchFamily="34" charset="0"/>
                        <a:cs typeface="Calibri" panose="020F0502020204030204" pitchFamily="34" charset="0"/>
                      </a:endParaRPr>
                    </a:p>
                    <a:p>
                      <a:pPr algn="ctr">
                        <a:buNone/>
                      </a:pPr>
                      <a:r>
                        <a:rPr lang="en-US" altLang="en-US" sz="2400" baseline="-25000" dirty="0">
                          <a:latin typeface="Calibri" panose="020F0502020204030204" pitchFamily="34" charset="0"/>
                          <a:ea typeface="Calibri" panose="020F0502020204030204" pitchFamily="34" charset="0"/>
                          <a:cs typeface="Calibri" panose="020F0502020204030204" pitchFamily="34" charset="0"/>
                        </a:rPr>
                        <a:t>...</a:t>
                      </a:r>
                      <a:endParaRPr lang="en-US" altLang="en-US" sz="2400" baseline="-25000" dirty="0">
                        <a:latin typeface="Calibri" panose="020F0502020204030204" pitchFamily="34" charset="0"/>
                        <a:ea typeface="Calibri" panose="020F0502020204030204" pitchFamily="34" charset="0"/>
                        <a:cs typeface="Calibri" panose="020F0502020204030204" pitchFamily="34" charset="0"/>
                      </a:endParaRPr>
                    </a:p>
                    <a:p>
                      <a:pPr algn="ctr">
                        <a:buNone/>
                      </a:pPr>
                      <a:endParaRPr lang="en-US" altLang="en-US" sz="2400" baseline="-25000" dirty="0">
                        <a:latin typeface="Calibri" panose="020F0502020204030204" pitchFamily="34" charset="0"/>
                        <a:ea typeface="Calibri" panose="020F0502020204030204" pitchFamily="34" charset="0"/>
                        <a:cs typeface="Calibri" panose="020F0502020204030204" pitchFamily="34" charset="0"/>
                      </a:endParaRPr>
                    </a:p>
                    <a:p>
                      <a:pPr algn="ctr">
                        <a:buNone/>
                      </a:pPr>
                      <a:r>
                        <a:rPr lang="en-US" altLang="en-US" sz="2400" baseline="-25000" dirty="0">
                          <a:latin typeface="Calibri" panose="020F0502020204030204" pitchFamily="34" charset="0"/>
                          <a:ea typeface="Calibri" panose="020F0502020204030204" pitchFamily="34" charset="0"/>
                          <a:cs typeface="Calibri" panose="020F0502020204030204" pitchFamily="34" charset="0"/>
                        </a:rPr>
                        <a:t> </a:t>
                      </a:r>
                      <a:r>
                        <a:rPr lang="en-US" altLang="en-US" sz="2400" dirty="0">
                          <a:latin typeface="Calibri" panose="020F0502020204030204" pitchFamily="34" charset="0"/>
                          <a:ea typeface="Calibri" panose="020F0502020204030204" pitchFamily="34" charset="0"/>
                          <a:cs typeface="Calibri" panose="020F0502020204030204" pitchFamily="34" charset="0"/>
                        </a:rPr>
                        <a:t> c</a:t>
                      </a:r>
                      <a:r>
                        <a:rPr lang="en-US" altLang="en-US" sz="2400" baseline="-25000" dirty="0">
                          <a:latin typeface="Calibri" panose="020F0502020204030204" pitchFamily="34" charset="0"/>
                          <a:ea typeface="Calibri" panose="020F0502020204030204" pitchFamily="34" charset="0"/>
                          <a:cs typeface="Calibri" panose="020F0502020204030204" pitchFamily="34" charset="0"/>
                        </a:rPr>
                        <a:t>m</a:t>
                      </a:r>
                      <a:endParaRPr lang="en-US" altLang="en-US" sz="2400" baseline="-25000" dirty="0">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en-US" sz="2400" dirty="0">
                          <a:latin typeface="宋体" panose="02010600030101010101" pitchFamily="2" charset="-122"/>
                          <a:ea typeface="宋体" panose="02010600030101010101" pitchFamily="2" charset="-122"/>
                          <a:cs typeface="宋体" panose="02010600030101010101" pitchFamily="2" charset="-122"/>
                        </a:rPr>
                        <a:t>x</a:t>
                      </a:r>
                      <a:r>
                        <a:rPr lang="en-US" altLang="en-US" sz="2400" baseline="-25000" dirty="0">
                          <a:latin typeface="宋体" panose="02010600030101010101" pitchFamily="2" charset="-122"/>
                          <a:ea typeface="宋体" panose="02010600030101010101" pitchFamily="2" charset="-122"/>
                          <a:cs typeface="宋体" panose="02010600030101010101" pitchFamily="2" charset="-122"/>
                        </a:rPr>
                        <a:t>1</a:t>
                      </a:r>
                      <a:endParaRPr lang="en-US" altLang="en-US" sz="2400" baseline="-25000" dirty="0">
                        <a:latin typeface="宋体" panose="02010600030101010101" pitchFamily="2" charset="-122"/>
                        <a:ea typeface="宋体" panose="02010600030101010101" pitchFamily="2" charset="-122"/>
                        <a:cs typeface="宋体" panose="02010600030101010101" pitchFamily="2" charset="-122"/>
                      </a:endParaRPr>
                    </a:p>
                    <a:p>
                      <a:pPr algn="ctr">
                        <a:buNone/>
                      </a:pPr>
                      <a:r>
                        <a:rPr lang="en-US" altLang="en-US" sz="2400" dirty="0">
                          <a:latin typeface="宋体" panose="02010600030101010101" pitchFamily="2" charset="-122"/>
                          <a:ea typeface="宋体" panose="02010600030101010101" pitchFamily="2" charset="-122"/>
                          <a:cs typeface="宋体" panose="02010600030101010101" pitchFamily="2" charset="-122"/>
                          <a:sym typeface="+mn-ea"/>
                        </a:rPr>
                        <a:t>x</a:t>
                      </a:r>
                      <a:r>
                        <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rPr>
                        <a:t>2</a:t>
                      </a:r>
                      <a:endPar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endParaRPr>
                    </a:p>
                    <a:p>
                      <a:pPr algn="ctr">
                        <a:buNone/>
                      </a:pPr>
                      <a:r>
                        <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endParaRPr>
                    </a:p>
                    <a:p>
                      <a:pPr algn="ctr">
                        <a:buNone/>
                      </a:pPr>
                      <a:endPar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endParaRPr>
                    </a:p>
                    <a:p>
                      <a:pPr algn="ctr">
                        <a:buNone/>
                      </a:pPr>
                      <a:r>
                        <a:rPr lang="en-US" altLang="en-US" sz="2400" dirty="0" err="1">
                          <a:latin typeface="宋体" panose="02010600030101010101" pitchFamily="2" charset="-122"/>
                          <a:ea typeface="宋体" panose="02010600030101010101" pitchFamily="2" charset="-122"/>
                          <a:cs typeface="宋体" panose="02010600030101010101" pitchFamily="2" charset="-122"/>
                          <a:sym typeface="+mn-ea"/>
                        </a:rPr>
                        <a:t>x</a:t>
                      </a:r>
                      <a:r>
                        <a:rPr lang="en-US" altLang="en-US" sz="2400" baseline="-25000" dirty="0" err="1">
                          <a:latin typeface="宋体" panose="02010600030101010101" pitchFamily="2" charset="-122"/>
                          <a:ea typeface="宋体" panose="02010600030101010101" pitchFamily="2" charset="-122"/>
                          <a:cs typeface="宋体" panose="02010600030101010101" pitchFamily="2" charset="-122"/>
                          <a:sym typeface="+mn-ea"/>
                        </a:rPr>
                        <a:t>m</a:t>
                      </a:r>
                      <a:endParaRPr lang="en-US" altLang="en-US" sz="2400" baseline="-25000" dirty="0">
                        <a:latin typeface="宋体" panose="02010600030101010101" pitchFamily="2" charset="-122"/>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en-US" sz="1000" dirty="0">
                          <a:latin typeface="Calibri" panose="020F0502020204030204" pitchFamily="34" charset="0"/>
                          <a:ea typeface="Calibri" panose="020F0502020204030204" pitchFamily="34" charset="0"/>
                          <a:cs typeface="Calibri" panose="020F0502020204030204" pitchFamily="34" charset="0"/>
                        </a:rPr>
                        <a:t>  </a:t>
                      </a:r>
                      <a:endParaRPr lang="en-US" altLang="en-US" sz="1000" dirty="0">
                        <a:latin typeface="Calibri" panose="020F0502020204030204" pitchFamily="34" charset="0"/>
                        <a:ea typeface="Calibri" panose="020F0502020204030204" pitchFamily="34" charset="0"/>
                        <a:cs typeface="Calibri" panose="020F0502020204030204" pitchFamily="34" charset="0"/>
                      </a:endParaRPr>
                    </a:p>
                    <a:p>
                      <a:pPr algn="ctr">
                        <a:buNone/>
                      </a:pPr>
                      <a:r>
                        <a:rPr lang="en-US" altLang="en-US" sz="2400" dirty="0">
                          <a:latin typeface="Calibri" panose="020F0502020204030204" pitchFamily="34" charset="0"/>
                          <a:ea typeface="Calibri" panose="020F0502020204030204" pitchFamily="34" charset="0"/>
                          <a:cs typeface="Calibri" panose="020F0502020204030204" pitchFamily="34" charset="0"/>
                        </a:rPr>
                        <a:t>b</a:t>
                      </a:r>
                      <a:r>
                        <a:rPr lang="en-US" altLang="en-US" sz="2400" baseline="-25000" dirty="0">
                          <a:latin typeface="Calibri" panose="020F0502020204030204" pitchFamily="34" charset="0"/>
                          <a:ea typeface="Calibri" panose="020F0502020204030204" pitchFamily="34" charset="0"/>
                          <a:cs typeface="Calibri" panose="020F0502020204030204" pitchFamily="34" charset="0"/>
                        </a:rPr>
                        <a:t>1</a:t>
                      </a:r>
                      <a:endParaRPr lang="en-US" altLang="en-US" sz="2400" baseline="-25000" dirty="0">
                        <a:latin typeface="Calibri" panose="020F0502020204030204" pitchFamily="34" charset="0"/>
                        <a:ea typeface="Calibri" panose="020F0502020204030204" pitchFamily="34" charset="0"/>
                        <a:cs typeface="Calibri" panose="020F0502020204030204" pitchFamily="34" charset="0"/>
                      </a:endParaRPr>
                    </a:p>
                    <a:p>
                      <a:pPr algn="ctr">
                        <a:buNone/>
                      </a:pPr>
                      <a:r>
                        <a:rPr lang="en-US" altLang="en-US" sz="2400" dirty="0">
                          <a:latin typeface="Calibri" panose="020F0502020204030204" pitchFamily="34" charset="0"/>
                          <a:ea typeface="Calibri" panose="020F0502020204030204" pitchFamily="34" charset="0"/>
                          <a:cs typeface="Calibri" panose="020F0502020204030204" pitchFamily="34" charset="0"/>
                          <a:sym typeface="+mn-ea"/>
                        </a:rPr>
                        <a:t>b</a:t>
                      </a:r>
                      <a:r>
                        <a:rPr lang="en-US" altLang="en-US" sz="2400" baseline="-25000" dirty="0">
                          <a:latin typeface="Calibri" panose="020F0502020204030204" pitchFamily="34" charset="0"/>
                          <a:ea typeface="Calibri" panose="020F0502020204030204" pitchFamily="34" charset="0"/>
                          <a:cs typeface="Calibri" panose="020F0502020204030204" pitchFamily="34" charset="0"/>
                          <a:sym typeface="+mn-ea"/>
                        </a:rPr>
                        <a:t>2</a:t>
                      </a:r>
                      <a:endParaRPr lang="en-US" altLang="en-US" sz="2400" baseline="-25000" dirty="0">
                        <a:latin typeface="Calibri" panose="020F0502020204030204" pitchFamily="34" charset="0"/>
                        <a:ea typeface="Calibri" panose="020F0502020204030204" pitchFamily="34" charset="0"/>
                        <a:cs typeface="Calibri" panose="020F0502020204030204" pitchFamily="34" charset="0"/>
                        <a:sym typeface="+mn-ea"/>
                      </a:endParaRPr>
                    </a:p>
                    <a:p>
                      <a:pPr algn="ctr">
                        <a:buNone/>
                      </a:pPr>
                      <a:r>
                        <a:rPr lang="en-US" altLang="en-US" sz="2400" baseline="-25000" dirty="0">
                          <a:latin typeface="Calibri" panose="020F0502020204030204" pitchFamily="34" charset="0"/>
                          <a:ea typeface="Calibri" panose="020F0502020204030204" pitchFamily="34" charset="0"/>
                          <a:cs typeface="Calibri" panose="020F0502020204030204" pitchFamily="34" charset="0"/>
                          <a:sym typeface="+mn-ea"/>
                        </a:rPr>
                        <a:t>...</a:t>
                      </a:r>
                      <a:endParaRPr lang="en-US" altLang="en-US" sz="2400" baseline="-25000" dirty="0">
                        <a:latin typeface="Calibri" panose="020F0502020204030204" pitchFamily="34" charset="0"/>
                        <a:ea typeface="Calibri" panose="020F0502020204030204" pitchFamily="34" charset="0"/>
                        <a:cs typeface="Calibri" panose="020F0502020204030204" pitchFamily="34" charset="0"/>
                        <a:sym typeface="+mn-ea"/>
                      </a:endParaRPr>
                    </a:p>
                    <a:p>
                      <a:pPr algn="ctr">
                        <a:buNone/>
                      </a:pPr>
                      <a:endParaRPr lang="en-US" altLang="en-US" sz="2400" baseline="-25000" dirty="0">
                        <a:latin typeface="Calibri" panose="020F0502020204030204" pitchFamily="34" charset="0"/>
                        <a:ea typeface="Calibri" panose="020F0502020204030204" pitchFamily="34" charset="0"/>
                        <a:cs typeface="Calibri" panose="020F0502020204030204" pitchFamily="34" charset="0"/>
                        <a:sym typeface="+mn-ea"/>
                      </a:endParaRPr>
                    </a:p>
                    <a:p>
                      <a:pPr algn="ctr">
                        <a:buNone/>
                      </a:pPr>
                      <a:r>
                        <a:rPr lang="en-US" altLang="en-US" sz="2400" dirty="0">
                          <a:latin typeface="Calibri" panose="020F0502020204030204" pitchFamily="34" charset="0"/>
                          <a:ea typeface="Calibri" panose="020F0502020204030204" pitchFamily="34" charset="0"/>
                          <a:cs typeface="Calibri" panose="020F0502020204030204" pitchFamily="34" charset="0"/>
                          <a:sym typeface="+mn-ea"/>
                        </a:rPr>
                        <a:t>b</a:t>
                      </a:r>
                      <a:r>
                        <a:rPr lang="en-US" altLang="en-US" sz="2400" baseline="-25000" dirty="0">
                          <a:latin typeface="Calibri" panose="020F0502020204030204" pitchFamily="34" charset="0"/>
                          <a:ea typeface="Calibri" panose="020F0502020204030204" pitchFamily="34" charset="0"/>
                          <a:cs typeface="Calibri" panose="020F0502020204030204" pitchFamily="34" charset="0"/>
                          <a:sym typeface="+mn-ea"/>
                        </a:rPr>
                        <a:t>m</a:t>
                      </a:r>
                      <a:endParaRPr lang="en-US" altLang="en-US" sz="2400" baseline="-25000" dirty="0">
                        <a:latin typeface="Calibri" panose="020F0502020204030204" pitchFamily="34" charset="0"/>
                        <a:ea typeface="Calibri" panose="020F0502020204030204" pitchFamily="34" charset="0"/>
                        <a:cs typeface="Calibri" panose="020F0502020204030204" pitchFamily="34" charset="0"/>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endParaRPr lang="en-US" altLang="en-US" sz="1000">
                        <a:latin typeface="宋体" panose="02010600030101010101" pitchFamily="2" charset="-122"/>
                        <a:ea typeface="宋体" panose="02010600030101010101" pitchFamily="2" charset="-122"/>
                        <a:cs typeface="宋体" panose="02010600030101010101" pitchFamily="2" charset="-122"/>
                      </a:endParaRPr>
                    </a:p>
                    <a:p>
                      <a:pPr>
                        <a:buNone/>
                      </a:pPr>
                      <a:r>
                        <a:rPr lang="en-US" altLang="en-US" sz="2000">
                          <a:latin typeface="宋体" panose="02010600030101010101" pitchFamily="2" charset="-122"/>
                          <a:ea typeface="宋体" panose="02010600030101010101" pitchFamily="2" charset="-122"/>
                          <a:cs typeface="宋体" panose="02010600030101010101" pitchFamily="2" charset="-122"/>
                        </a:rPr>
                        <a:t>1   0   </a:t>
                      </a:r>
                      <a:r>
                        <a:rPr lang="en-US" altLang="en-US" sz="2000" baseline="-25000">
                          <a:latin typeface="Calibri" panose="020F0502020204030204" pitchFamily="34" charset="0"/>
                          <a:ea typeface="Calibri" panose="020F0502020204030204" pitchFamily="34" charset="0"/>
                          <a:cs typeface="Calibri" panose="020F0502020204030204" pitchFamily="34" charset="0"/>
                          <a:sym typeface="+mn-ea"/>
                        </a:rPr>
                        <a:t> ...           </a:t>
                      </a:r>
                      <a:r>
                        <a:rPr lang="en-US" altLang="en-US" sz="2000">
                          <a:latin typeface="Calibri" panose="020F0502020204030204" pitchFamily="34" charset="0"/>
                          <a:ea typeface="Calibri" panose="020F0502020204030204" pitchFamily="34" charset="0"/>
                          <a:cs typeface="Calibri" panose="020F0502020204030204" pitchFamily="34" charset="0"/>
                          <a:sym typeface="+mn-ea"/>
                        </a:rPr>
                        <a:t> 0    ...    a1n</a:t>
                      </a:r>
                      <a:endParaRPr lang="en-US" altLang="en-US" sz="2000">
                        <a:latin typeface="Calibri" panose="020F0502020204030204" pitchFamily="34" charset="0"/>
                        <a:ea typeface="Calibri" panose="020F0502020204030204" pitchFamily="34" charset="0"/>
                        <a:cs typeface="Calibri" panose="020F0502020204030204" pitchFamily="34" charset="0"/>
                        <a:sym typeface="+mn-ea"/>
                      </a:endParaRPr>
                    </a:p>
                    <a:p>
                      <a:pPr>
                        <a:buNone/>
                      </a:pPr>
                      <a:r>
                        <a:rPr lang="en-US" altLang="en-US" sz="2000">
                          <a:latin typeface="Calibri" panose="020F0502020204030204" pitchFamily="34" charset="0"/>
                          <a:ea typeface="Calibri" panose="020F0502020204030204" pitchFamily="34" charset="0"/>
                          <a:cs typeface="Calibri" panose="020F0502020204030204" pitchFamily="34" charset="0"/>
                          <a:sym typeface="+mn-ea"/>
                        </a:rPr>
                        <a:t>0       1                 0  ...       a2n</a:t>
                      </a:r>
                      <a:endParaRPr lang="en-US" altLang="en-US" sz="2000">
                        <a:latin typeface="Calibri" panose="020F0502020204030204" pitchFamily="34" charset="0"/>
                        <a:ea typeface="Calibri" panose="020F0502020204030204" pitchFamily="34" charset="0"/>
                        <a:cs typeface="Calibri" panose="020F0502020204030204" pitchFamily="34" charset="0"/>
                        <a:sym typeface="+mn-ea"/>
                      </a:endParaRPr>
                    </a:p>
                    <a:p>
                      <a:pPr>
                        <a:buNone/>
                      </a:pPr>
                      <a:r>
                        <a:rPr lang="en-US" altLang="en-US" sz="2000">
                          <a:latin typeface="Calibri" panose="020F0502020204030204" pitchFamily="34" charset="0"/>
                          <a:ea typeface="Calibri" panose="020F0502020204030204" pitchFamily="34" charset="0"/>
                          <a:cs typeface="Calibri" panose="020F0502020204030204" pitchFamily="34" charset="0"/>
                          <a:sym typeface="+mn-ea"/>
                        </a:rPr>
                        <a:t> ... </a:t>
                      </a:r>
                      <a:endParaRPr lang="en-US" altLang="en-US" sz="2000">
                        <a:latin typeface="Calibri" panose="020F0502020204030204" pitchFamily="34" charset="0"/>
                        <a:ea typeface="Calibri" panose="020F0502020204030204" pitchFamily="34" charset="0"/>
                        <a:cs typeface="Calibri" panose="020F0502020204030204" pitchFamily="34" charset="0"/>
                        <a:sym typeface="+mn-ea"/>
                      </a:endParaRPr>
                    </a:p>
                    <a:p>
                      <a:pPr>
                        <a:buNone/>
                      </a:pPr>
                      <a:endParaRPr lang="en-US" altLang="en-US" sz="2000">
                        <a:latin typeface="Calibri" panose="020F0502020204030204" pitchFamily="34" charset="0"/>
                        <a:ea typeface="Calibri" panose="020F0502020204030204" pitchFamily="34" charset="0"/>
                        <a:cs typeface="Calibri" panose="020F0502020204030204" pitchFamily="34" charset="0"/>
                        <a:sym typeface="+mn-ea"/>
                      </a:endParaRPr>
                    </a:p>
                    <a:p>
                      <a:pPr>
                        <a:buNone/>
                      </a:pPr>
                      <a:r>
                        <a:rPr lang="en-US" altLang="en-US" sz="2000">
                          <a:latin typeface="Calibri" panose="020F0502020204030204" pitchFamily="34" charset="0"/>
                          <a:ea typeface="Calibri" panose="020F0502020204030204" pitchFamily="34" charset="0"/>
                          <a:cs typeface="Calibri" panose="020F0502020204030204" pitchFamily="34" charset="0"/>
                          <a:sym typeface="+mn-ea"/>
                        </a:rPr>
                        <a:t>0      0...               1...        amn</a:t>
                      </a:r>
                      <a:endParaRPr lang="en-US" altLang="en-US" sz="2000">
                        <a:latin typeface="Calibri" panose="020F0502020204030204" pitchFamily="34" charset="0"/>
                        <a:ea typeface="Calibri" panose="020F0502020204030204" pitchFamily="34" charset="0"/>
                        <a:cs typeface="Calibri" panose="020F0502020204030204" pitchFamily="34" charset="0"/>
                        <a:sym typeface="+mn-ea"/>
                      </a:endParaRPr>
                    </a:p>
                    <a:p>
                      <a:pPr>
                        <a:buNone/>
                      </a:pPr>
                      <a:r>
                        <a:rPr lang="en-US" altLang="en-US" sz="2400" baseline="-25000">
                          <a:latin typeface="Calibri" panose="020F0502020204030204" pitchFamily="34" charset="0"/>
                          <a:ea typeface="Calibri" panose="020F0502020204030204" pitchFamily="34" charset="0"/>
                          <a:cs typeface="Calibri" panose="020F0502020204030204" pitchFamily="34" charset="0"/>
                          <a:sym typeface="+mn-ea"/>
                        </a:rPr>
                        <a:t>  </a:t>
                      </a:r>
                      <a:endParaRPr lang="en-US" altLang="en-US" sz="2400" baseline="-25000">
                        <a:latin typeface="Calibri" panose="020F0502020204030204" pitchFamily="34" charset="0"/>
                        <a:ea typeface="Calibri" panose="020F0502020204030204" pitchFamily="34" charset="0"/>
                        <a:cs typeface="Calibri" panose="020F0502020204030204" pitchFamily="34" charset="0"/>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en-US" sz="1000">
                          <a:latin typeface="宋体" panose="02010600030101010101" pitchFamily="2" charset="-122"/>
                          <a:ea typeface="宋体" panose="02010600030101010101" pitchFamily="2" charset="-122"/>
                          <a:cs typeface="宋体" panose="02010600030101010101" pitchFamily="2" charset="-122"/>
                        </a:rPr>
                        <a:t>  </a:t>
                      </a:r>
                      <a:endParaRPr lang="en-US" altLang="en-US" sz="1000">
                        <a:latin typeface="宋体" panose="02010600030101010101" pitchFamily="2" charset="-122"/>
                        <a:ea typeface="宋体" panose="02010600030101010101" pitchFamily="2" charset="-122"/>
                        <a:cs typeface="宋体" panose="02010600030101010101" pitchFamily="2" charset="-122"/>
                      </a:endParaRPr>
                    </a:p>
                    <a:p>
                      <a:pPr>
                        <a:buNone/>
                      </a:pPr>
                      <a:r>
                        <a:rPr lang="en-US" altLang="en-US" sz="1000">
                          <a:latin typeface="宋体" panose="02010600030101010101" pitchFamily="2" charset="-122"/>
                          <a:ea typeface="宋体" panose="02010600030101010101" pitchFamily="2" charset="-122"/>
                          <a:cs typeface="宋体" panose="02010600030101010101" pitchFamily="2" charset="-122"/>
                        </a:rPr>
                        <a:t>       </a:t>
                      </a:r>
                      <a:r>
                        <a:rPr lang="en-US" altLang="en-US" sz="2000">
                          <a:latin typeface="Arial" panose="020B0604020202020204" pitchFamily="34" charset="0"/>
                          <a:ea typeface="宋体" panose="02010600030101010101" pitchFamily="2" charset="-122"/>
                          <a:cs typeface="Arial" panose="020B0604020202020204" pitchFamily="34" charset="0"/>
                          <a:sym typeface="+mn-ea"/>
                        </a:rPr>
                        <a:t>θ</a:t>
                      </a:r>
                      <a:r>
                        <a:rPr lang="en-US" altLang="en-US" sz="2000" baseline="-25000">
                          <a:latin typeface="Arial" panose="020B0604020202020204" pitchFamily="34" charset="0"/>
                          <a:ea typeface="宋体" panose="02010600030101010101" pitchFamily="2" charset="-122"/>
                          <a:cs typeface="Arial" panose="020B0604020202020204" pitchFamily="34" charset="0"/>
                          <a:sym typeface="+mn-ea"/>
                        </a:rPr>
                        <a:t>1</a:t>
                      </a:r>
                      <a:endParaRPr lang="en-US" altLang="en-US" sz="2000" baseline="-25000">
                        <a:latin typeface="Arial" panose="020B0604020202020204" pitchFamily="34" charset="0"/>
                        <a:ea typeface="宋体" panose="02010600030101010101" pitchFamily="2" charset="-122"/>
                        <a:cs typeface="Arial" panose="020B0604020202020204" pitchFamily="34" charset="0"/>
                      </a:endParaRPr>
                    </a:p>
                    <a:p>
                      <a:pPr>
                        <a:buNone/>
                      </a:pPr>
                      <a:r>
                        <a:rPr lang="en-US" altLang="en-US" sz="2000">
                          <a:latin typeface="Arial" panose="020B0604020202020204" pitchFamily="34" charset="0"/>
                          <a:ea typeface="宋体" panose="02010600030101010101" pitchFamily="2" charset="-122"/>
                          <a:cs typeface="Arial" panose="020B0604020202020204" pitchFamily="34" charset="0"/>
                          <a:sym typeface="+mn-ea"/>
                        </a:rPr>
                        <a:t>      θ</a:t>
                      </a:r>
                      <a:r>
                        <a:rPr lang="en-US" altLang="en-US" sz="2000" baseline="-25000">
                          <a:latin typeface="Arial" panose="020B0604020202020204" pitchFamily="34" charset="0"/>
                          <a:ea typeface="宋体" panose="02010600030101010101" pitchFamily="2" charset="-122"/>
                          <a:cs typeface="Arial" panose="020B0604020202020204" pitchFamily="34" charset="0"/>
                          <a:sym typeface="+mn-ea"/>
                        </a:rPr>
                        <a:t>2</a:t>
                      </a:r>
                      <a:endParaRPr lang="en-US" altLang="en-US" sz="2000" baseline="-25000">
                        <a:latin typeface="Arial" panose="020B0604020202020204" pitchFamily="34" charset="0"/>
                        <a:ea typeface="宋体" panose="02010600030101010101" pitchFamily="2" charset="-122"/>
                        <a:cs typeface="Arial" panose="020B0604020202020204" pitchFamily="34" charset="0"/>
                        <a:sym typeface="+mn-ea"/>
                      </a:endParaRPr>
                    </a:p>
                    <a:p>
                      <a:pPr>
                        <a:buNone/>
                      </a:pPr>
                      <a:r>
                        <a:rPr lang="en-US" altLang="en-US" sz="2000">
                          <a:latin typeface="宋体" panose="02010600030101010101" pitchFamily="2" charset="-122"/>
                          <a:ea typeface="宋体" panose="02010600030101010101" pitchFamily="2" charset="-122"/>
                          <a:cs typeface="宋体" panose="02010600030101010101" pitchFamily="2" charset="-122"/>
                        </a:rPr>
                        <a:t>...</a:t>
                      </a:r>
                      <a:endParaRPr lang="en-US" altLang="en-US" sz="2000">
                        <a:latin typeface="宋体" panose="02010600030101010101" pitchFamily="2" charset="-122"/>
                        <a:ea typeface="宋体" panose="02010600030101010101" pitchFamily="2" charset="-122"/>
                        <a:cs typeface="宋体" panose="02010600030101010101" pitchFamily="2" charset="-122"/>
                      </a:endParaRPr>
                    </a:p>
                    <a:p>
                      <a:pPr>
                        <a:buNone/>
                      </a:pPr>
                      <a:endParaRPr lang="en-US" altLang="en-US" sz="2000">
                        <a:latin typeface="宋体" panose="02010600030101010101" pitchFamily="2" charset="-122"/>
                        <a:ea typeface="宋体" panose="02010600030101010101" pitchFamily="2" charset="-122"/>
                        <a:cs typeface="宋体" panose="02010600030101010101" pitchFamily="2" charset="-122"/>
                      </a:endParaRPr>
                    </a:p>
                    <a:p>
                      <a:pPr>
                        <a:buNone/>
                      </a:pPr>
                      <a:r>
                        <a:rPr lang="en-US" altLang="en-US" sz="2000">
                          <a:latin typeface="Arial" panose="020B0604020202020204" pitchFamily="34" charset="0"/>
                          <a:ea typeface="宋体" panose="02010600030101010101" pitchFamily="2" charset="-122"/>
                          <a:cs typeface="Arial" panose="020B0604020202020204" pitchFamily="34" charset="0"/>
                          <a:sym typeface="+mn-ea"/>
                        </a:rPr>
                        <a:t>     θm</a:t>
                      </a:r>
                      <a:endParaRPr lang="en-US" altLang="en-US" sz="2000" baseline="-25000">
                        <a:latin typeface="Arial" panose="020B0604020202020204" pitchFamily="34" charset="0"/>
                        <a:ea typeface="宋体" panose="02010600030101010101" pitchFamily="2" charset="-122"/>
                        <a:cs typeface="Arial" panose="020B0604020202020204" pitchFamily="34" charset="0"/>
                      </a:endParaRPr>
                    </a:p>
                    <a:p>
                      <a:pPr>
                        <a:buNone/>
                      </a:pPr>
                      <a:endParaRPr lang="en-US" altLang="en-US" sz="200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05840">
                <a:tc gridSpan="3">
                  <a:txBody>
                    <a:bodyPr/>
                    <a:lstStyle/>
                    <a:p>
                      <a:endParaRPr lang="zh-CN"/>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blipFill>
                      <a:blip r:embed="rId2"/>
                    </a:blipFill>
                  </a:tcPr>
                </a:tc>
                <a:tc hMerge="1">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en-US" sz="2000" dirty="0">
                          <a:latin typeface="宋体" panose="02010600030101010101" pitchFamily="2" charset="-122"/>
                          <a:ea typeface="宋体" panose="02010600030101010101" pitchFamily="2" charset="-122"/>
                          <a:cs typeface="宋体" panose="02010600030101010101" pitchFamily="2" charset="-122"/>
                          <a:sym typeface="+mn-ea"/>
                        </a:rPr>
                        <a:t>σ</a:t>
                      </a:r>
                      <a:r>
                        <a:rPr lang="en-US" altLang="en-US" sz="2000" baseline="-25000" dirty="0">
                          <a:latin typeface="宋体" panose="02010600030101010101" pitchFamily="2" charset="-122"/>
                          <a:ea typeface="宋体" panose="02010600030101010101" pitchFamily="2" charset="-122"/>
                          <a:cs typeface="宋体" panose="02010600030101010101" pitchFamily="2" charset="-122"/>
                          <a:sym typeface="+mn-ea"/>
                        </a:rPr>
                        <a:t>1</a:t>
                      </a:r>
                      <a:r>
                        <a:rPr lang="en-US" altLang="en-US" sz="2000" dirty="0">
                          <a:latin typeface="宋体" panose="02010600030101010101" pitchFamily="2" charset="-122"/>
                          <a:ea typeface="宋体" panose="02010600030101010101" pitchFamily="2" charset="-122"/>
                          <a:cs typeface="宋体" panose="02010600030101010101" pitchFamily="2" charset="-122"/>
                          <a:sym typeface="+mn-ea"/>
                        </a:rPr>
                        <a:t> σ</a:t>
                      </a:r>
                      <a:r>
                        <a:rPr lang="en-US" altLang="en-US" sz="2000" baseline="-25000" dirty="0">
                          <a:latin typeface="宋体" panose="02010600030101010101" pitchFamily="2" charset="-122"/>
                          <a:ea typeface="宋体" panose="02010600030101010101" pitchFamily="2" charset="-122"/>
                          <a:cs typeface="宋体" panose="02010600030101010101" pitchFamily="2" charset="-122"/>
                          <a:sym typeface="+mn-ea"/>
                        </a:rPr>
                        <a:t>2...       </a:t>
                      </a:r>
                      <a:r>
                        <a:rPr lang="en-US" altLang="en-US" sz="2000" dirty="0" err="1">
                          <a:latin typeface="宋体" panose="02010600030101010101" pitchFamily="2" charset="-122"/>
                          <a:ea typeface="宋体" panose="02010600030101010101" pitchFamily="2" charset="-122"/>
                          <a:cs typeface="宋体" panose="02010600030101010101" pitchFamily="2" charset="-122"/>
                          <a:sym typeface="+mn-ea"/>
                        </a:rPr>
                        <a:t>σm</a:t>
                      </a:r>
                      <a:r>
                        <a:rPr lang="en-US" altLang="en-US" sz="2000" dirty="0">
                          <a:latin typeface="宋体" panose="02010600030101010101" pitchFamily="2" charset="-122"/>
                          <a:ea typeface="宋体" panose="02010600030101010101" pitchFamily="2" charset="-122"/>
                          <a:cs typeface="宋体" panose="02010600030101010101" pitchFamily="2" charset="-122"/>
                          <a:sym typeface="+mn-ea"/>
                        </a:rPr>
                        <a:t>... </a:t>
                      </a:r>
                      <a:r>
                        <a:rPr lang="en-US" altLang="en-US" sz="2000" dirty="0" err="1">
                          <a:latin typeface="宋体" panose="02010600030101010101" pitchFamily="2" charset="-122"/>
                          <a:ea typeface="宋体" panose="02010600030101010101" pitchFamily="2" charset="-122"/>
                          <a:cs typeface="宋体" panose="02010600030101010101" pitchFamily="2" charset="-122"/>
                          <a:sym typeface="+mn-ea"/>
                        </a:rPr>
                        <a:t>σ</a:t>
                      </a:r>
                      <a:r>
                        <a:rPr lang="en-US" altLang="en-US" sz="2000" baseline="-25000" dirty="0" err="1">
                          <a:latin typeface="宋体" panose="02010600030101010101" pitchFamily="2" charset="-122"/>
                          <a:ea typeface="宋体" panose="02010600030101010101" pitchFamily="2" charset="-122"/>
                          <a:cs typeface="宋体" panose="02010600030101010101" pitchFamily="2" charset="-122"/>
                          <a:sym typeface="+mn-ea"/>
                        </a:rPr>
                        <a:t>n</a:t>
                      </a:r>
                      <a:endParaRPr lang="en-US" altLang="en-US" sz="2000" baseline="-25000" dirty="0">
                        <a:latin typeface="宋体" panose="02010600030101010101" pitchFamily="2" charset="-122"/>
                        <a:ea typeface="宋体" panose="02010600030101010101" pitchFamily="2" charset="-122"/>
                        <a:cs typeface="宋体" panose="02010600030101010101" pitchFamily="2" charset="-122"/>
                      </a:endParaRPr>
                    </a:p>
                    <a:p>
                      <a:pPr>
                        <a:buNone/>
                      </a:pPr>
                      <a:endParaRPr lang="en-US" altLang="en-US" sz="2000" baseline="-25000" dirty="0">
                        <a:latin typeface="宋体" panose="02010600030101010101" pitchFamily="2" charset="-122"/>
                        <a:ea typeface="宋体" panose="02010600030101010101" pitchFamily="2" charset="-122"/>
                        <a:cs typeface="宋体" panose="02010600030101010101" pitchFamily="2" charset="-122"/>
                      </a:endParaRPr>
                    </a:p>
                    <a:p>
                      <a:pPr>
                        <a:buNone/>
                      </a:pPr>
                      <a:r>
                        <a:rPr lang="en-US" altLang="en-US" sz="2000" baseline="-25000" dirty="0">
                          <a:latin typeface="宋体" panose="02010600030101010101" pitchFamily="2" charset="-122"/>
                          <a:ea typeface="宋体" panose="02010600030101010101" pitchFamily="2" charset="-122"/>
                          <a:cs typeface="宋体" panose="02010600030101010101" pitchFamily="2" charset="-122"/>
                          <a:sym typeface="+mn-ea"/>
                        </a:rPr>
                        <a:t> </a:t>
                      </a:r>
                      <a:endParaRPr lang="en-US" altLang="en-US" sz="2000" baseline="-25000" dirty="0">
                        <a:latin typeface="宋体" panose="02010600030101010101" pitchFamily="2" charset="-122"/>
                        <a:ea typeface="宋体" panose="02010600030101010101" pitchFamily="2" charset="-122"/>
                        <a:cs typeface="宋体" panose="02010600030101010101" pitchFamily="2" charset="-122"/>
                      </a:endParaRPr>
                    </a:p>
                    <a:p>
                      <a:pPr>
                        <a:buNone/>
                      </a:pPr>
                      <a:endParaRPr lang="en-US" altLang="en-US" sz="200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endParaRPr lang="en-US" altLang="en-US" sz="1000" dirty="0">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4318000" y="3238500"/>
            <a:ext cx="309880" cy="368300"/>
          </a:xfrm>
          <a:prstGeom prst="rect">
            <a:avLst/>
          </a:prstGeom>
          <a:noFill/>
        </p:spPr>
        <p:txBody>
          <a:bodyPr wrap="none" rtlCol="0" anchor="t">
            <a:spAutoFit/>
          </a:bodyPr>
          <a:lstStyle/>
          <a:p>
            <a:endParaRPr lang="zh-CN" altLang="en-US">
              <a:latin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58265" y="862965"/>
            <a:ext cx="5403850" cy="663575"/>
          </a:xfrm>
          <a:prstGeom prst="rect">
            <a:avLst/>
          </a:prstGeom>
          <a:noFill/>
        </p:spPr>
        <p:txBody>
          <a:bodyPr wrap="square" rtlCol="0">
            <a:noAutofit/>
          </a:bodyPr>
          <a:lstStyle/>
          <a:p>
            <a:r>
              <a:rPr lang="en-US" altLang="zh-CN">
                <a:sym typeface="+mn-ea"/>
              </a:rPr>
              <a:t>  </a:t>
            </a:r>
            <a:r>
              <a:rPr lang="en-US" altLang="zh-CN" sz="3200">
                <a:sym typeface="+mn-ea"/>
              </a:rPr>
              <a:t> </a:t>
            </a:r>
            <a:r>
              <a:rPr lang="zh-CN" altLang="en-US" sz="3200">
                <a:sym typeface="+mn-ea"/>
              </a:rPr>
              <a:t>线性规划问题的单纯形算法</a:t>
            </a:r>
            <a:endParaRPr lang="zh-CN" altLang="en-US" sz="3200"/>
          </a:p>
        </p:txBody>
      </p:sp>
      <p:sp>
        <p:nvSpPr>
          <p:cNvPr id="3" name="文本框 2"/>
          <p:cNvSpPr txBox="1"/>
          <p:nvPr/>
        </p:nvSpPr>
        <p:spPr>
          <a:xfrm>
            <a:off x="452755" y="1527175"/>
            <a:ext cx="8290560" cy="4705350"/>
          </a:xfrm>
          <a:prstGeom prst="rect">
            <a:avLst/>
          </a:prstGeom>
          <a:noFill/>
        </p:spPr>
        <p:txBody>
          <a:bodyPr wrap="square" rtlCol="0">
            <a:noAutofit/>
          </a:bodyPr>
          <a:lstStyle/>
          <a:p>
            <a:pPr marL="342900" indent="-342900">
              <a:buFont typeface="+mj-lt"/>
              <a:buAutoNum type="arabicPeriod"/>
            </a:pPr>
            <a:r>
              <a:rPr lang="zh-CN" altLang="en-US" sz="2400"/>
              <a:t>找出</a:t>
            </a:r>
            <a:r>
              <a:rPr lang="en-US" altLang="zh-CN" sz="2400"/>
              <a:t>MAX{</a:t>
            </a:r>
            <a:r>
              <a:rPr lang="en-US" altLang="en-US" sz="2400">
                <a:latin typeface="宋体" panose="02010600030101010101" pitchFamily="2" charset="-122"/>
                <a:cs typeface="宋体" panose="02010600030101010101" pitchFamily="2" charset="-122"/>
                <a:sym typeface="+mn-ea"/>
              </a:rPr>
              <a:t>σ</a:t>
            </a:r>
            <a:r>
              <a:rPr lang="en-US" altLang="en-US" sz="2400" baseline="-25000">
                <a:latin typeface="宋体" panose="02010600030101010101" pitchFamily="2" charset="-122"/>
                <a:cs typeface="宋体" panose="02010600030101010101" pitchFamily="2" charset="-122"/>
                <a:sym typeface="+mn-ea"/>
              </a:rPr>
              <a:t>j</a:t>
            </a:r>
            <a:r>
              <a:rPr lang="en-US" altLang="en-US" sz="2400">
                <a:latin typeface="宋体" panose="02010600030101010101" pitchFamily="2" charset="-122"/>
                <a:cs typeface="宋体" panose="02010600030101010101" pitchFamily="2" charset="-122"/>
                <a:sym typeface="+mn-ea"/>
              </a:rPr>
              <a:t>/σ</a:t>
            </a:r>
            <a:r>
              <a:rPr lang="en-US" altLang="en-US" sz="2400" baseline="-25000">
                <a:latin typeface="宋体" panose="02010600030101010101" pitchFamily="2" charset="-122"/>
                <a:cs typeface="宋体" panose="02010600030101010101" pitchFamily="2" charset="-122"/>
                <a:sym typeface="+mn-ea"/>
              </a:rPr>
              <a:t>j</a:t>
            </a:r>
            <a:r>
              <a:rPr lang="en-US" altLang="en-US" sz="2400">
                <a:latin typeface="宋体" panose="02010600030101010101" pitchFamily="2" charset="-122"/>
                <a:cs typeface="宋体" panose="02010600030101010101" pitchFamily="2" charset="-122"/>
                <a:sym typeface="+mn-ea"/>
              </a:rPr>
              <a:t>&gt;0}=σ</a:t>
            </a:r>
            <a:r>
              <a:rPr lang="en-US" altLang="en-US" sz="2400" baseline="-25000">
                <a:latin typeface="宋体" panose="02010600030101010101" pitchFamily="2" charset="-122"/>
                <a:cs typeface="宋体" panose="02010600030101010101" pitchFamily="2" charset="-122"/>
                <a:sym typeface="+mn-ea"/>
              </a:rPr>
              <a:t>K</a:t>
            </a:r>
            <a:r>
              <a:rPr lang="zh-CN" altLang="en-US" sz="2400">
                <a:latin typeface="宋体" panose="02010600030101010101" pitchFamily="2" charset="-122"/>
                <a:cs typeface="宋体" panose="02010600030101010101" pitchFamily="2" charset="-122"/>
                <a:sym typeface="+mn-ea"/>
              </a:rPr>
              <a:t>则</a:t>
            </a:r>
            <a:r>
              <a:rPr lang="en-US" altLang="en-US" sz="2400">
                <a:latin typeface="宋体" panose="02010600030101010101" pitchFamily="2" charset="-122"/>
                <a:cs typeface="宋体" panose="02010600030101010101" pitchFamily="2" charset="-122"/>
                <a:sym typeface="+mn-ea"/>
              </a:rPr>
              <a:t>σ</a:t>
            </a:r>
            <a:r>
              <a:rPr lang="en-US" altLang="en-US" sz="2400" baseline="-25000">
                <a:latin typeface="宋体" panose="02010600030101010101" pitchFamily="2" charset="-122"/>
                <a:cs typeface="宋体" panose="02010600030101010101" pitchFamily="2" charset="-122"/>
                <a:sym typeface="+mn-ea"/>
              </a:rPr>
              <a:t>K</a:t>
            </a:r>
            <a:r>
              <a:rPr lang="zh-CN" altLang="en-US" sz="2400">
                <a:latin typeface="宋体" panose="02010600030101010101" pitchFamily="2" charset="-122"/>
                <a:cs typeface="宋体" panose="02010600030101010101" pitchFamily="2" charset="-122"/>
                <a:sym typeface="+mn-ea"/>
              </a:rPr>
              <a:t>为换入基变量。</a:t>
            </a:r>
            <a:endParaRPr lang="zh-CN" altLang="en-US" sz="2400">
              <a:latin typeface="宋体" panose="02010600030101010101" pitchFamily="2" charset="-122"/>
              <a:cs typeface="宋体" panose="02010600030101010101" pitchFamily="2" charset="-122"/>
              <a:sym typeface="+mn-ea"/>
            </a:endParaRPr>
          </a:p>
          <a:p>
            <a:pPr marL="342900" indent="-342900">
              <a:buFont typeface="+mj-lt"/>
              <a:buAutoNum type="arabicPeriod"/>
            </a:pPr>
            <a:r>
              <a:rPr lang="zh-CN" altLang="en-US" sz="2400">
                <a:latin typeface="宋体" panose="02010600030101010101" pitchFamily="2" charset="-122"/>
                <a:cs typeface="宋体" panose="02010600030101010101" pitchFamily="2" charset="-122"/>
                <a:sym typeface="+mn-ea"/>
              </a:rPr>
              <a:t>计算</a:t>
            </a:r>
            <a:r>
              <a:rPr lang="en-US" altLang="en-US" sz="2400">
                <a:cs typeface="Arial" panose="020B0604020202020204" pitchFamily="34" charset="0"/>
                <a:sym typeface="+mn-ea"/>
              </a:rPr>
              <a:t> θ</a:t>
            </a:r>
            <a:r>
              <a:rPr lang="en-US" altLang="en-US" sz="2400" baseline="-25000">
                <a:cs typeface="Arial" panose="020B0604020202020204" pitchFamily="34" charset="0"/>
                <a:sym typeface="+mn-ea"/>
              </a:rPr>
              <a:t>i</a:t>
            </a:r>
            <a:r>
              <a:rPr lang="en-US" altLang="en-US" sz="2400">
                <a:cs typeface="Arial" panose="020B0604020202020204" pitchFamily="34" charset="0"/>
                <a:sym typeface="+mn-ea"/>
              </a:rPr>
              <a:t>=b</a:t>
            </a:r>
            <a:r>
              <a:rPr lang="en-US" altLang="en-US" sz="2400" baseline="-25000">
                <a:cs typeface="Arial" panose="020B0604020202020204" pitchFamily="34" charset="0"/>
                <a:sym typeface="+mn-ea"/>
              </a:rPr>
              <a:t>i</a:t>
            </a:r>
            <a:r>
              <a:rPr lang="en-US" altLang="en-US" sz="2400">
                <a:cs typeface="Arial" panose="020B0604020202020204" pitchFamily="34" charset="0"/>
                <a:sym typeface="+mn-ea"/>
              </a:rPr>
              <a:t>/a</a:t>
            </a:r>
            <a:r>
              <a:rPr lang="en-US" altLang="en-US" sz="2400" baseline="-25000">
                <a:cs typeface="Arial" panose="020B0604020202020204" pitchFamily="34" charset="0"/>
                <a:sym typeface="+mn-ea"/>
              </a:rPr>
              <a:t>ik</a:t>
            </a:r>
            <a:r>
              <a:rPr lang="en-US" altLang="en-US" sz="2400">
                <a:cs typeface="Arial" panose="020B0604020202020204" pitchFamily="34" charset="0"/>
                <a:sym typeface="+mn-ea"/>
              </a:rPr>
              <a:t>(a</a:t>
            </a:r>
            <a:r>
              <a:rPr lang="en-US" altLang="en-US" sz="2400" baseline="-25000">
                <a:cs typeface="Arial" panose="020B0604020202020204" pitchFamily="34" charset="0"/>
                <a:sym typeface="+mn-ea"/>
              </a:rPr>
              <a:t>ik</a:t>
            </a:r>
            <a:r>
              <a:rPr lang="en-US" altLang="en-US" sz="2400">
                <a:cs typeface="Arial" panose="020B0604020202020204" pitchFamily="34" charset="0"/>
                <a:sym typeface="+mn-ea"/>
              </a:rPr>
              <a:t>&gt;0),i=1,2...m</a:t>
            </a:r>
            <a:endParaRPr lang="en-US" altLang="en-US" sz="2400">
              <a:cs typeface="Arial" panose="020B0604020202020204" pitchFamily="34" charset="0"/>
              <a:sym typeface="+mn-ea"/>
            </a:endParaRPr>
          </a:p>
          <a:p>
            <a:pPr>
              <a:buFont typeface="+mj-lt"/>
            </a:pPr>
            <a:r>
              <a:rPr lang="zh-CN" altLang="en-US" sz="2400">
                <a:latin typeface="Arial" panose="020B0604020202020204" pitchFamily="34" charset="0"/>
                <a:ea typeface="宋体" panose="02010600030101010101" pitchFamily="2" charset="-122"/>
                <a:cs typeface="Arial" panose="020B0604020202020204" pitchFamily="34" charset="0"/>
              </a:rPr>
              <a:t>找出</a:t>
            </a:r>
            <a:r>
              <a:rPr lang="en-US" altLang="zh-CN" sz="2400">
                <a:latin typeface="Arial" panose="020B0604020202020204" pitchFamily="34" charset="0"/>
                <a:ea typeface="宋体" panose="02010600030101010101" pitchFamily="2" charset="-122"/>
                <a:cs typeface="Arial" panose="020B0604020202020204" pitchFamily="34" charset="0"/>
              </a:rPr>
              <a:t>min</a:t>
            </a:r>
            <a:r>
              <a:rPr lang="en-US" altLang="en-US" sz="2400">
                <a:cs typeface="Arial" panose="020B0604020202020204" pitchFamily="34" charset="0"/>
                <a:sym typeface="+mn-ea"/>
              </a:rPr>
              <a:t>θ</a:t>
            </a:r>
            <a:r>
              <a:rPr lang="en-US" altLang="en-US" sz="2400" baseline="-25000">
                <a:cs typeface="Arial" panose="020B0604020202020204" pitchFamily="34" charset="0"/>
                <a:sym typeface="+mn-ea"/>
              </a:rPr>
              <a:t>i=</a:t>
            </a:r>
            <a:r>
              <a:rPr lang="en-US" altLang="en-US" sz="2400">
                <a:cs typeface="Arial" panose="020B0604020202020204" pitchFamily="34" charset="0"/>
                <a:sym typeface="+mn-ea"/>
              </a:rPr>
              <a:t>θ</a:t>
            </a:r>
            <a:r>
              <a:rPr lang="en-US" altLang="en-US" sz="2400" baseline="-25000">
                <a:cs typeface="Arial" panose="020B0604020202020204" pitchFamily="34" charset="0"/>
                <a:sym typeface="+mn-ea"/>
              </a:rPr>
              <a:t>l</a:t>
            </a:r>
            <a:r>
              <a:rPr lang="en-US" altLang="en-US" sz="2400">
                <a:cs typeface="Arial" panose="020B0604020202020204" pitchFamily="34" charset="0"/>
                <a:sym typeface="+mn-ea"/>
              </a:rPr>
              <a:t>,</a:t>
            </a:r>
            <a:r>
              <a:rPr lang="zh-CN" altLang="en-US" sz="2400">
                <a:cs typeface="Arial" panose="020B0604020202020204" pitchFamily="34" charset="0"/>
                <a:sym typeface="+mn-ea"/>
              </a:rPr>
              <a:t>为</a:t>
            </a:r>
            <a:r>
              <a:rPr lang="en-US" altLang="zh-CN" sz="2400">
                <a:cs typeface="Arial" panose="020B0604020202020204" pitchFamily="34" charset="0"/>
                <a:sym typeface="+mn-ea"/>
              </a:rPr>
              <a:t>x</a:t>
            </a:r>
            <a:r>
              <a:rPr lang="en-US" altLang="zh-CN" sz="2400" baseline="-25000">
                <a:cs typeface="Arial" panose="020B0604020202020204" pitchFamily="34" charset="0"/>
                <a:sym typeface="+mn-ea"/>
              </a:rPr>
              <a:t>l</a:t>
            </a:r>
            <a:r>
              <a:rPr lang="zh-CN" altLang="en-US" sz="2400">
                <a:cs typeface="Arial" panose="020B0604020202020204" pitchFamily="34" charset="0"/>
                <a:sym typeface="+mn-ea"/>
              </a:rPr>
              <a:t>为换出基变量。若</a:t>
            </a:r>
            <a:r>
              <a:rPr lang="en-US" altLang="zh-CN" sz="2400">
                <a:cs typeface="Arial" panose="020B0604020202020204" pitchFamily="34" charset="0"/>
                <a:sym typeface="+mn-ea"/>
              </a:rPr>
              <a:t>2</a:t>
            </a:r>
            <a:r>
              <a:rPr lang="zh-CN" altLang="en-US" sz="2400">
                <a:cs typeface="Arial" panose="020B0604020202020204" pitchFamily="34" charset="0"/>
                <a:sym typeface="+mn-ea"/>
              </a:rPr>
              <a:t>个以上相同的最小</a:t>
            </a:r>
            <a:r>
              <a:rPr lang="en-US" altLang="en-US" sz="2400">
                <a:cs typeface="Arial" panose="020B0604020202020204" pitchFamily="34" charset="0"/>
                <a:sym typeface="+mn-ea"/>
              </a:rPr>
              <a:t>θ</a:t>
            </a:r>
            <a:r>
              <a:rPr lang="en-US" altLang="en-US" sz="2400" baseline="-25000">
                <a:cs typeface="Arial" panose="020B0604020202020204" pitchFamily="34" charset="0"/>
                <a:sym typeface="+mn-ea"/>
              </a:rPr>
              <a:t>i</a:t>
            </a:r>
            <a:r>
              <a:rPr lang="en-US" altLang="en-US" sz="2400">
                <a:cs typeface="Arial" panose="020B0604020202020204" pitchFamily="34" charset="0"/>
                <a:sym typeface="+mn-ea"/>
              </a:rPr>
              <a:t>,</a:t>
            </a:r>
            <a:r>
              <a:rPr lang="zh-CN" altLang="en-US" sz="2400">
                <a:cs typeface="Arial" panose="020B0604020202020204" pitchFamily="34" charset="0"/>
                <a:sym typeface="+mn-ea"/>
              </a:rPr>
              <a:t>则以下标较大者为</a:t>
            </a:r>
            <a:r>
              <a:rPr lang="en-US" altLang="en-US" sz="2400">
                <a:cs typeface="Arial" panose="020B0604020202020204" pitchFamily="34" charset="0"/>
                <a:sym typeface="+mn-ea"/>
              </a:rPr>
              <a:t>θ</a:t>
            </a:r>
            <a:r>
              <a:rPr lang="en-US" altLang="en-US" sz="2400" baseline="-25000">
                <a:cs typeface="Arial" panose="020B0604020202020204" pitchFamily="34" charset="0"/>
                <a:sym typeface="+mn-ea"/>
              </a:rPr>
              <a:t>l</a:t>
            </a:r>
            <a:r>
              <a:rPr lang="zh-CN" altLang="en-US" sz="2400" baseline="-25000">
                <a:cs typeface="Arial" panose="020B0604020202020204" pitchFamily="34" charset="0"/>
                <a:sym typeface="+mn-ea"/>
              </a:rPr>
              <a:t>。</a:t>
            </a:r>
            <a:endParaRPr lang="zh-CN" altLang="en-US" sz="2400" baseline="-25000">
              <a:cs typeface="Arial" panose="020B0604020202020204" pitchFamily="34" charset="0"/>
              <a:sym typeface="+mn-ea"/>
            </a:endParaRPr>
          </a:p>
          <a:p>
            <a:pPr>
              <a:buFont typeface="+mj-lt"/>
            </a:pPr>
            <a:r>
              <a:rPr lang="zh-CN" altLang="en-US" sz="2400">
                <a:cs typeface="Arial" panose="020B0604020202020204" pitchFamily="34" charset="0"/>
                <a:sym typeface="+mn-ea"/>
              </a:rPr>
              <a:t>若这一步所有</a:t>
            </a:r>
            <a:r>
              <a:rPr lang="en-US" altLang="zh-CN" sz="2400">
                <a:cs typeface="Arial" panose="020B0604020202020204" pitchFamily="34" charset="0"/>
                <a:sym typeface="+mn-ea"/>
              </a:rPr>
              <a:t>a</a:t>
            </a:r>
            <a:r>
              <a:rPr lang="en-US" altLang="zh-CN" sz="2400" baseline="-25000">
                <a:cs typeface="Arial" panose="020B0604020202020204" pitchFamily="34" charset="0"/>
                <a:sym typeface="+mn-ea"/>
              </a:rPr>
              <a:t>ik</a:t>
            </a:r>
            <a:r>
              <a:rPr lang="en-US" altLang="zh-CN" sz="2400">
                <a:cs typeface="Arial" panose="020B0604020202020204" pitchFamily="34" charset="0"/>
                <a:sym typeface="+mn-ea"/>
              </a:rPr>
              <a:t>&lt;=0,</a:t>
            </a:r>
            <a:r>
              <a:rPr lang="zh-CN" altLang="en-US" sz="2400">
                <a:cs typeface="Arial" panose="020B0604020202020204" pitchFamily="34" charset="0"/>
                <a:sym typeface="+mn-ea"/>
              </a:rPr>
              <a:t>无法计算</a:t>
            </a:r>
            <a:r>
              <a:rPr lang="en-US" altLang="en-US" sz="2400">
                <a:cs typeface="Arial" panose="020B0604020202020204" pitchFamily="34" charset="0"/>
                <a:sym typeface="+mn-ea"/>
              </a:rPr>
              <a:t> θ</a:t>
            </a:r>
            <a:r>
              <a:rPr lang="en-US" altLang="en-US" sz="2400" baseline="-25000">
                <a:cs typeface="Arial" panose="020B0604020202020204" pitchFamily="34" charset="0"/>
                <a:sym typeface="+mn-ea"/>
              </a:rPr>
              <a:t>i</a:t>
            </a:r>
            <a:r>
              <a:rPr lang="zh-CN" altLang="en-US" sz="2400" baseline="-25000">
                <a:cs typeface="Arial" panose="020B0604020202020204" pitchFamily="34" charset="0"/>
                <a:sym typeface="+mn-ea"/>
              </a:rPr>
              <a:t>，</a:t>
            </a:r>
            <a:r>
              <a:rPr lang="zh-CN" altLang="en-US" sz="2400">
                <a:cs typeface="Arial" panose="020B0604020202020204" pitchFamily="34" charset="0"/>
                <a:sym typeface="+mn-ea"/>
              </a:rPr>
              <a:t>则说明本问题无可行解。</a:t>
            </a:r>
            <a:endParaRPr lang="zh-CN" altLang="en-US" sz="2400">
              <a:cs typeface="Arial" panose="020B0604020202020204" pitchFamily="34" charset="0"/>
              <a:sym typeface="+mn-ea"/>
            </a:endParaRPr>
          </a:p>
          <a:p>
            <a:pPr>
              <a:buFont typeface="+mj-lt"/>
            </a:pPr>
            <a:r>
              <a:rPr lang="en-US" altLang="zh-CN" sz="2400">
                <a:cs typeface="Arial" panose="020B0604020202020204" pitchFamily="34" charset="0"/>
                <a:sym typeface="+mn-ea"/>
              </a:rPr>
              <a:t>3.</a:t>
            </a:r>
            <a:r>
              <a:rPr lang="zh-CN" altLang="en-US" sz="2400">
                <a:cs typeface="Arial" panose="020B0604020202020204" pitchFamily="34" charset="0"/>
                <a:sym typeface="+mn-ea"/>
              </a:rPr>
              <a:t>以</a:t>
            </a:r>
            <a:r>
              <a:rPr lang="en-US" altLang="zh-CN" sz="2400">
                <a:cs typeface="Arial" panose="020B0604020202020204" pitchFamily="34" charset="0"/>
                <a:sym typeface="+mn-ea"/>
              </a:rPr>
              <a:t>a</a:t>
            </a:r>
            <a:r>
              <a:rPr lang="en-US" altLang="zh-CN" sz="2400" baseline="-25000">
                <a:cs typeface="Arial" panose="020B0604020202020204" pitchFamily="34" charset="0"/>
                <a:sym typeface="+mn-ea"/>
              </a:rPr>
              <a:t>lk</a:t>
            </a:r>
            <a:r>
              <a:rPr lang="zh-CN" altLang="en-US" sz="2400">
                <a:cs typeface="Arial" panose="020B0604020202020204" pitchFamily="34" charset="0"/>
                <a:sym typeface="+mn-ea"/>
              </a:rPr>
              <a:t>为</a:t>
            </a:r>
            <a:r>
              <a:rPr lang="en-US" altLang="zh-CN" sz="2400">
                <a:cs typeface="Arial" panose="020B0604020202020204" pitchFamily="34" charset="0"/>
                <a:sym typeface="+mn-ea"/>
              </a:rPr>
              <a:t> </a:t>
            </a:r>
            <a:r>
              <a:rPr lang="zh-CN" altLang="en-US" sz="2400">
                <a:cs typeface="Arial" panose="020B0604020202020204" pitchFamily="34" charset="0"/>
                <a:sym typeface="+mn-ea"/>
              </a:rPr>
              <a:t>主元，作行初等变换，使第</a:t>
            </a:r>
            <a:r>
              <a:rPr lang="en-US" altLang="zh-CN" sz="2400">
                <a:cs typeface="Arial" panose="020B0604020202020204" pitchFamily="34" charset="0"/>
                <a:sym typeface="+mn-ea"/>
              </a:rPr>
              <a:t>k</a:t>
            </a:r>
            <a:r>
              <a:rPr lang="zh-CN" altLang="en-US" sz="2400">
                <a:cs typeface="Arial" panose="020B0604020202020204" pitchFamily="34" charset="0"/>
                <a:sym typeface="+mn-ea"/>
              </a:rPr>
              <a:t>列的元素除了</a:t>
            </a:r>
            <a:r>
              <a:rPr lang="en-US" altLang="zh-CN" sz="2400">
                <a:cs typeface="Arial" panose="020B0604020202020204" pitchFamily="34" charset="0"/>
                <a:sym typeface="+mn-ea"/>
              </a:rPr>
              <a:t>a</a:t>
            </a:r>
            <a:r>
              <a:rPr lang="en-US" altLang="zh-CN" sz="2400" baseline="-25000">
                <a:cs typeface="Arial" panose="020B0604020202020204" pitchFamily="34" charset="0"/>
                <a:sym typeface="+mn-ea"/>
              </a:rPr>
              <a:t>lk</a:t>
            </a:r>
            <a:r>
              <a:rPr lang="zh-CN" altLang="en-US" sz="2400">
                <a:cs typeface="Arial" panose="020B0604020202020204" pitchFamily="34" charset="0"/>
                <a:sym typeface="+mn-ea"/>
              </a:rPr>
              <a:t>为</a:t>
            </a:r>
            <a:r>
              <a:rPr lang="en-US" altLang="en-US" sz="2400">
                <a:latin typeface="Arial" panose="020B0604020202020204" pitchFamily="34" charset="0"/>
                <a:ea typeface="宋体" panose="02010600030101010101" pitchFamily="2" charset="-122"/>
                <a:cs typeface="Arial" panose="020B0604020202020204" pitchFamily="34" charset="0"/>
              </a:rPr>
              <a:t>1</a:t>
            </a:r>
            <a:r>
              <a:rPr lang="zh-CN" altLang="en-US" sz="2400">
                <a:latin typeface="Arial" panose="020B0604020202020204" pitchFamily="34" charset="0"/>
                <a:ea typeface="宋体" panose="02010600030101010101" pitchFamily="2" charset="-122"/>
                <a:cs typeface="Arial" panose="020B0604020202020204" pitchFamily="34" charset="0"/>
              </a:rPr>
              <a:t>外其余均为</a:t>
            </a:r>
            <a:r>
              <a:rPr lang="en-US" altLang="zh-CN" sz="2400">
                <a:latin typeface="Arial" panose="020B0604020202020204" pitchFamily="34" charset="0"/>
                <a:ea typeface="宋体" panose="02010600030101010101" pitchFamily="2" charset="-122"/>
                <a:cs typeface="Arial" panose="020B0604020202020204" pitchFamily="34" charset="0"/>
              </a:rPr>
              <a:t>0.</a:t>
            </a:r>
            <a:r>
              <a:rPr lang="zh-CN" altLang="en-US" sz="2400">
                <a:latin typeface="Arial" panose="020B0604020202020204" pitchFamily="34" charset="0"/>
                <a:ea typeface="宋体" panose="02010600030101010101" pitchFamily="2" charset="-122"/>
                <a:cs typeface="Arial" panose="020B0604020202020204" pitchFamily="34" charset="0"/>
              </a:rPr>
              <a:t>同时把</a:t>
            </a:r>
            <a:endParaRPr lang="zh-CN" altLang="en-US" sz="2400">
              <a:latin typeface="Arial" panose="020B0604020202020204" pitchFamily="34" charset="0"/>
              <a:ea typeface="宋体" panose="02010600030101010101" pitchFamily="2" charset="-122"/>
              <a:cs typeface="Arial" panose="020B0604020202020204" pitchFamily="34" charset="0"/>
            </a:endParaRPr>
          </a:p>
          <a:p>
            <a:pPr>
              <a:buFont typeface="+mj-lt"/>
            </a:pPr>
            <a:r>
              <a:rPr lang="en-US" altLang="zh-CN" sz="2400">
                <a:latin typeface="Arial" panose="020B0604020202020204" pitchFamily="34" charset="0"/>
                <a:ea typeface="宋体" panose="02010600030101010101" pitchFamily="2" charset="-122"/>
                <a:cs typeface="Arial" panose="020B0604020202020204" pitchFamily="34" charset="0"/>
              </a:rPr>
              <a:t>x</a:t>
            </a:r>
            <a:r>
              <a:rPr lang="en-US" altLang="zh-CN" sz="2400" baseline="-25000">
                <a:latin typeface="Arial" panose="020B0604020202020204" pitchFamily="34" charset="0"/>
                <a:ea typeface="宋体" panose="02010600030101010101" pitchFamily="2" charset="-122"/>
                <a:cs typeface="Arial" panose="020B0604020202020204" pitchFamily="34" charset="0"/>
              </a:rPr>
              <a:t>k</a:t>
            </a:r>
            <a:r>
              <a:rPr lang="en-US" altLang="zh-CN" sz="2400">
                <a:latin typeface="Arial" panose="020B0604020202020204" pitchFamily="34" charset="0"/>
                <a:ea typeface="宋体" panose="02010600030101010101" pitchFamily="2" charset="-122"/>
                <a:cs typeface="Arial" panose="020B0604020202020204" pitchFamily="34" charset="0"/>
              </a:rPr>
              <a:t>,x</a:t>
            </a:r>
            <a:r>
              <a:rPr lang="en-US" altLang="zh-CN" sz="2400" baseline="-25000">
                <a:latin typeface="Arial" panose="020B0604020202020204" pitchFamily="34" charset="0"/>
                <a:ea typeface="宋体" panose="02010600030101010101" pitchFamily="2" charset="-122"/>
                <a:cs typeface="Arial" panose="020B0604020202020204" pitchFamily="34" charset="0"/>
              </a:rPr>
              <a:t>l</a:t>
            </a:r>
            <a:r>
              <a:rPr lang="en-US" altLang="zh-CN" sz="2400">
                <a:latin typeface="Arial" panose="020B0604020202020204" pitchFamily="34" charset="0"/>
                <a:ea typeface="宋体" panose="02010600030101010101" pitchFamily="2" charset="-122"/>
                <a:cs typeface="Arial" panose="020B0604020202020204" pitchFamily="34" charset="0"/>
              </a:rPr>
              <a:t>,c</a:t>
            </a:r>
            <a:r>
              <a:rPr lang="en-US" altLang="zh-CN" sz="2400" baseline="-25000">
                <a:latin typeface="Arial" panose="020B0604020202020204" pitchFamily="34" charset="0"/>
                <a:ea typeface="宋体" panose="02010600030101010101" pitchFamily="2" charset="-122"/>
                <a:cs typeface="Arial" panose="020B0604020202020204" pitchFamily="34" charset="0"/>
              </a:rPr>
              <a:t>k</a:t>
            </a:r>
            <a:r>
              <a:rPr lang="en-US" altLang="zh-CN" sz="2400">
                <a:latin typeface="Arial" panose="020B0604020202020204" pitchFamily="34" charset="0"/>
                <a:ea typeface="宋体" panose="02010600030101010101" pitchFamily="2" charset="-122"/>
                <a:cs typeface="Arial" panose="020B0604020202020204" pitchFamily="34" charset="0"/>
              </a:rPr>
              <a:t>,c</a:t>
            </a:r>
            <a:r>
              <a:rPr lang="en-US" altLang="zh-CN" sz="2400" baseline="-25000">
                <a:latin typeface="Arial" panose="020B0604020202020204" pitchFamily="34" charset="0"/>
                <a:ea typeface="宋体" panose="02010600030101010101" pitchFamily="2" charset="-122"/>
                <a:cs typeface="Arial" panose="020B0604020202020204" pitchFamily="34" charset="0"/>
              </a:rPr>
              <a:t>l</a:t>
            </a:r>
            <a:r>
              <a:rPr lang="zh-CN" altLang="en-US" sz="2400">
                <a:latin typeface="Arial" panose="020B0604020202020204" pitchFamily="34" charset="0"/>
                <a:ea typeface="宋体" panose="02010600030101010101" pitchFamily="2" charset="-122"/>
                <a:cs typeface="Arial" panose="020B0604020202020204" pitchFamily="34" charset="0"/>
              </a:rPr>
              <a:t>在</a:t>
            </a:r>
            <a:r>
              <a:rPr lang="zh-CN" altLang="en-US" sz="2400">
                <a:latin typeface="宋体" panose="02010600030101010101" pitchFamily="2" charset="-122"/>
                <a:ea typeface="宋体" panose="02010600030101010101" pitchFamily="2" charset="-122"/>
                <a:cs typeface="宋体" panose="02010600030101010101" pitchFamily="2" charset="-122"/>
              </a:rPr>
              <a:t>单纯形表中位置互换。</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32230" y="620395"/>
            <a:ext cx="5508625" cy="888365"/>
          </a:xfrm>
          <a:prstGeom prst="rect">
            <a:avLst/>
          </a:prstGeom>
          <a:noFill/>
        </p:spPr>
        <p:txBody>
          <a:bodyPr wrap="square" rtlCol="0">
            <a:noAutofit/>
          </a:bodyPr>
          <a:lstStyle/>
          <a:p>
            <a:r>
              <a:rPr lang="zh-CN" altLang="en-US" sz="2800">
                <a:sym typeface="+mn-ea"/>
              </a:rPr>
              <a:t>线性规划问题的单纯形算法例子</a:t>
            </a:r>
            <a:endParaRPr lang="en-US" altLang="zh-CN" sz="2800">
              <a:sym typeface="+mn-ea"/>
            </a:endParaRPr>
          </a:p>
        </p:txBody>
      </p:sp>
      <p:sp>
        <p:nvSpPr>
          <p:cNvPr id="4" name="文本框 3"/>
          <p:cNvSpPr txBox="1"/>
          <p:nvPr/>
        </p:nvSpPr>
        <p:spPr>
          <a:xfrm>
            <a:off x="308610" y="1191260"/>
            <a:ext cx="8595995" cy="5084445"/>
          </a:xfrm>
          <a:prstGeom prst="rect">
            <a:avLst/>
          </a:prstGeom>
          <a:noFill/>
        </p:spPr>
        <p:txBody>
          <a:bodyPr wrap="square" rtlCol="0">
            <a:noAutofit/>
          </a:bodyPr>
          <a:lstStyle/>
          <a:p>
            <a:r>
              <a:rPr lang="zh-CN" altLang="en-US" sz="2400"/>
              <a:t>目标函数</a:t>
            </a:r>
            <a:endParaRPr lang="zh-CN" altLang="en-US" sz="2400"/>
          </a:p>
          <a:p>
            <a:r>
              <a:rPr lang="zh-CN" altLang="en-US" sz="2400"/>
              <a:t>Min=1000x1+800x2</a:t>
            </a:r>
            <a:endParaRPr lang="zh-CN" altLang="en-US" sz="2400"/>
          </a:p>
          <a:p>
            <a:r>
              <a:rPr lang="zh-CN" altLang="en-US" sz="2400"/>
              <a:t>约束条件St:</a:t>
            </a:r>
            <a:endParaRPr lang="zh-CN" altLang="en-US" sz="2400"/>
          </a:p>
          <a:p>
            <a:r>
              <a:rPr lang="zh-CN" altLang="en-US" sz="2400"/>
              <a:t>X</a:t>
            </a:r>
            <a:r>
              <a:rPr lang="zh-CN" altLang="en-US" sz="2400" baseline="-25000"/>
              <a:t>1</a:t>
            </a:r>
            <a:r>
              <a:rPr lang="zh-CN" altLang="en-US" sz="2400"/>
              <a:t>&gt;10</a:t>
            </a:r>
            <a:endParaRPr lang="zh-CN" altLang="en-US" sz="2400"/>
          </a:p>
          <a:p>
            <a:r>
              <a:rPr lang="zh-CN" altLang="en-US" sz="2400"/>
              <a:t>0.8x</a:t>
            </a:r>
            <a:r>
              <a:rPr lang="zh-CN" altLang="en-US" sz="2400" baseline="-25000"/>
              <a:t>1</a:t>
            </a:r>
            <a:r>
              <a:rPr lang="zh-CN" altLang="en-US" sz="2400"/>
              <a:t>+x</a:t>
            </a:r>
            <a:r>
              <a:rPr lang="zh-CN" altLang="en-US" sz="2400" baseline="-25000"/>
              <a:t>2</a:t>
            </a:r>
            <a:r>
              <a:rPr lang="zh-CN" altLang="en-US" sz="2400"/>
              <a:t>&gt;=16</a:t>
            </a:r>
            <a:endParaRPr lang="zh-CN" altLang="en-US" sz="2400"/>
          </a:p>
          <a:p>
            <a:r>
              <a:rPr lang="zh-CN" altLang="en-US" sz="2400"/>
              <a:t>X</a:t>
            </a:r>
            <a:r>
              <a:rPr lang="zh-CN" altLang="en-US" sz="2400" baseline="-25000"/>
              <a:t>1</a:t>
            </a:r>
            <a:r>
              <a:rPr lang="zh-CN" altLang="en-US" sz="2400"/>
              <a:t>&lt;20</a:t>
            </a:r>
            <a:endParaRPr lang="zh-CN" altLang="en-US" sz="2400"/>
          </a:p>
          <a:p>
            <a:r>
              <a:rPr lang="zh-CN" altLang="en-US" sz="2400"/>
              <a:t>X</a:t>
            </a:r>
            <a:r>
              <a:rPr lang="zh-CN" altLang="en-US" sz="2400" baseline="-25000"/>
              <a:t>2</a:t>
            </a:r>
            <a:r>
              <a:rPr lang="zh-CN" altLang="en-US" sz="2400"/>
              <a:t>&lt;14</a:t>
            </a:r>
            <a:endParaRPr lang="zh-CN" altLang="en-US" sz="2400"/>
          </a:p>
          <a:p>
            <a:r>
              <a:rPr lang="zh-CN" altLang="en-US" sz="2400"/>
              <a:t>解：化为标准形式：引入x</a:t>
            </a:r>
            <a:r>
              <a:rPr lang="zh-CN" altLang="en-US" sz="2400" baseline="-25000"/>
              <a:t>3</a:t>
            </a:r>
            <a:r>
              <a:rPr lang="zh-CN" altLang="en-US" sz="2400"/>
              <a:t>,x</a:t>
            </a:r>
            <a:r>
              <a:rPr lang="zh-CN" altLang="en-US" sz="2400" baseline="-25000"/>
              <a:t>4</a:t>
            </a:r>
            <a:r>
              <a:rPr lang="zh-CN" altLang="en-US" sz="2400"/>
              <a:t>,x</a:t>
            </a:r>
            <a:r>
              <a:rPr lang="zh-CN" altLang="en-US" sz="2400" baseline="-25000"/>
              <a:t>5</a:t>
            </a:r>
            <a:r>
              <a:rPr lang="zh-CN" altLang="en-US" sz="2400"/>
              <a:t>,x</a:t>
            </a:r>
            <a:r>
              <a:rPr lang="zh-CN" altLang="en-US" sz="2400" baseline="-25000"/>
              <a:t>6</a:t>
            </a:r>
            <a:r>
              <a:rPr lang="zh-CN" altLang="en-US" sz="2400"/>
              <a:t>松弛变量，x</a:t>
            </a:r>
            <a:r>
              <a:rPr lang="zh-CN" altLang="en-US" sz="2400" baseline="-25000"/>
              <a:t>7</a:t>
            </a:r>
            <a:r>
              <a:rPr lang="zh-CN" altLang="en-US" sz="2400"/>
              <a:t>,x</a:t>
            </a:r>
            <a:r>
              <a:rPr lang="zh-CN" altLang="en-US" sz="2400" baseline="-25000"/>
              <a:t>8</a:t>
            </a:r>
            <a:r>
              <a:rPr lang="zh-CN" altLang="en-US" sz="2400"/>
              <a:t>人工变量</a:t>
            </a:r>
            <a:endParaRPr lang="zh-CN" altLang="en-US" sz="2400"/>
          </a:p>
          <a:p>
            <a:endParaRPr lang="zh-CN" altLang="en-US" sz="2400"/>
          </a:p>
          <a:p>
            <a:r>
              <a:rPr lang="zh-CN" altLang="en-US" sz="2400"/>
              <a:t>Max=-1000x</a:t>
            </a:r>
            <a:r>
              <a:rPr lang="zh-CN" altLang="en-US" sz="2400" baseline="-25000"/>
              <a:t>1</a:t>
            </a:r>
            <a:r>
              <a:rPr lang="zh-CN" altLang="en-US" sz="2400"/>
              <a:t>-800x</a:t>
            </a:r>
            <a:r>
              <a:rPr lang="zh-CN" altLang="en-US" sz="2400" baseline="-25000"/>
              <a:t>2</a:t>
            </a:r>
            <a:r>
              <a:rPr lang="zh-CN" altLang="en-US" sz="2400"/>
              <a:t>+0x</a:t>
            </a:r>
            <a:r>
              <a:rPr lang="zh-CN" altLang="en-US" sz="2400" baseline="-25000"/>
              <a:t>3</a:t>
            </a:r>
            <a:r>
              <a:rPr lang="zh-CN" altLang="en-US" sz="2400"/>
              <a:t>+0x</a:t>
            </a:r>
            <a:r>
              <a:rPr lang="zh-CN" altLang="en-US" sz="2400" baseline="-25000"/>
              <a:t>4</a:t>
            </a:r>
            <a:r>
              <a:rPr lang="zh-CN" altLang="en-US" sz="2400"/>
              <a:t>+0x</a:t>
            </a:r>
            <a:r>
              <a:rPr lang="zh-CN" altLang="en-US" sz="2400" baseline="-25000"/>
              <a:t>5</a:t>
            </a:r>
            <a:r>
              <a:rPr lang="zh-CN" altLang="en-US" sz="2400"/>
              <a:t>+0x</a:t>
            </a:r>
            <a:r>
              <a:rPr lang="zh-CN" altLang="en-US" sz="2400" baseline="-25000"/>
              <a:t>6</a:t>
            </a:r>
            <a:r>
              <a:rPr lang="zh-CN" altLang="en-US" sz="2400"/>
              <a:t>-Mx</a:t>
            </a:r>
            <a:r>
              <a:rPr lang="zh-CN" altLang="en-US" sz="2400" baseline="-25000"/>
              <a:t>7</a:t>
            </a:r>
            <a:r>
              <a:rPr lang="zh-CN" altLang="en-US" sz="2400"/>
              <a:t>-Mx</a:t>
            </a:r>
            <a:r>
              <a:rPr lang="zh-CN" altLang="en-US" sz="2400" baseline="-25000"/>
              <a:t>8</a:t>
            </a:r>
            <a:endParaRPr lang="zh-CN" altLang="en-US" sz="2400" baseline="-25000"/>
          </a:p>
          <a:p>
            <a:r>
              <a:rPr lang="zh-CN" altLang="en-US" sz="2400"/>
              <a:t>  X</a:t>
            </a:r>
            <a:r>
              <a:rPr lang="zh-CN" altLang="en-US" sz="2400" baseline="-25000"/>
              <a:t>1</a:t>
            </a:r>
            <a:r>
              <a:rPr lang="zh-CN" altLang="en-US" sz="2400"/>
              <a:t>-X</a:t>
            </a:r>
            <a:r>
              <a:rPr lang="zh-CN" altLang="en-US" sz="2400" baseline="-25000"/>
              <a:t>3</a:t>
            </a:r>
            <a:r>
              <a:rPr lang="zh-CN" altLang="en-US" sz="2400"/>
              <a:t>+X</a:t>
            </a:r>
            <a:r>
              <a:rPr lang="zh-CN" altLang="en-US" sz="2400" baseline="-25000"/>
              <a:t>7</a:t>
            </a:r>
            <a:r>
              <a:rPr lang="zh-CN" altLang="en-US" sz="2400"/>
              <a:t>=10</a:t>
            </a:r>
            <a:endParaRPr lang="zh-CN" altLang="en-US" sz="2400"/>
          </a:p>
          <a:p>
            <a:r>
              <a:rPr lang="zh-CN" altLang="en-US" sz="2400"/>
              <a:t> 0.8X</a:t>
            </a:r>
            <a:r>
              <a:rPr lang="zh-CN" altLang="en-US" sz="2400" baseline="-25000"/>
              <a:t>1</a:t>
            </a:r>
            <a:r>
              <a:rPr lang="zh-CN" altLang="en-US" sz="2400"/>
              <a:t>+X</a:t>
            </a:r>
            <a:r>
              <a:rPr lang="zh-CN" altLang="en-US" sz="2400" baseline="-25000"/>
              <a:t>2</a:t>
            </a:r>
            <a:r>
              <a:rPr lang="zh-CN" altLang="en-US" sz="2400"/>
              <a:t>-X</a:t>
            </a:r>
            <a:r>
              <a:rPr lang="zh-CN" altLang="en-US" sz="2400" baseline="-25000"/>
              <a:t>4</a:t>
            </a:r>
            <a:r>
              <a:rPr lang="zh-CN" altLang="en-US" sz="2400"/>
              <a:t>+X</a:t>
            </a:r>
            <a:r>
              <a:rPr lang="zh-CN" altLang="en-US" sz="2400" baseline="-25000"/>
              <a:t>8</a:t>
            </a:r>
            <a:r>
              <a:rPr lang="zh-CN" altLang="en-US" sz="2400"/>
              <a:t>=16</a:t>
            </a:r>
            <a:endParaRPr lang="zh-CN" altLang="en-US" sz="2400"/>
          </a:p>
          <a:p>
            <a:r>
              <a:rPr lang="zh-CN" altLang="en-US" sz="2400"/>
              <a:t> X</a:t>
            </a:r>
            <a:r>
              <a:rPr lang="zh-CN" altLang="en-US" sz="2400" baseline="-25000"/>
              <a:t>1</a:t>
            </a:r>
            <a:r>
              <a:rPr lang="zh-CN" altLang="en-US" sz="2400"/>
              <a:t>+X</a:t>
            </a:r>
            <a:r>
              <a:rPr lang="zh-CN" altLang="en-US" sz="2400" baseline="-25000"/>
              <a:t>5</a:t>
            </a:r>
            <a:r>
              <a:rPr lang="zh-CN" altLang="en-US" sz="2400"/>
              <a:t>=20</a:t>
            </a:r>
            <a:endParaRPr lang="zh-CN" altLang="en-US" sz="2400"/>
          </a:p>
          <a:p>
            <a:r>
              <a:rPr lang="zh-CN" altLang="en-US" sz="2400"/>
              <a:t> X</a:t>
            </a:r>
            <a:r>
              <a:rPr lang="zh-CN" altLang="en-US" sz="2400" baseline="-25000"/>
              <a:t>2</a:t>
            </a:r>
            <a:r>
              <a:rPr lang="zh-CN" altLang="en-US" sz="2400"/>
              <a:t>+X</a:t>
            </a:r>
            <a:r>
              <a:rPr lang="zh-CN" altLang="en-US" sz="2400" baseline="-25000"/>
              <a:t>6</a:t>
            </a:r>
            <a:r>
              <a:rPr lang="zh-CN" altLang="en-US" sz="2400"/>
              <a:t>=14</a:t>
            </a:r>
            <a:endParaRPr lang="zh-CN" altLang="en-US" sz="2400"/>
          </a:p>
          <a:p>
            <a:r>
              <a:rPr lang="zh-CN" altLang="en-US" sz="2400"/>
              <a:t>其中基变量为x5,x6，x7,x8</a:t>
            </a:r>
            <a:endParaRPr lang="zh-CN" altLang="en-US"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177323" y="692696"/>
          <a:ext cx="7308813" cy="1962430"/>
        </p:xfrm>
        <a:graphic>
          <a:graphicData uri="http://schemas.openxmlformats.org/drawingml/2006/table">
            <a:tbl>
              <a:tblPr firstRow="1" firstCol="1" bandRow="1">
                <a:tableStyleId>{5C22544A-7EE6-4342-B048-85BDC9FD1C3A}</a:tableStyleId>
              </a:tblPr>
              <a:tblGrid>
                <a:gridCol w="488626"/>
                <a:gridCol w="570063"/>
                <a:gridCol w="453479"/>
                <a:gridCol w="4680520"/>
                <a:gridCol w="1116125"/>
              </a:tblGrid>
              <a:tr h="257958">
                <a:tc gridSpan="3">
                  <a:txBody>
                    <a:bodyPr/>
                    <a:lstStyle/>
                    <a:p>
                      <a:pPr algn="ctr"/>
                      <a:r>
                        <a:rPr lang="en-US" sz="1600" kern="100">
                          <a:solidFill>
                            <a:schemeClr val="accent4"/>
                          </a:solidFill>
                          <a:effectLst/>
                        </a:rPr>
                        <a:t>c</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a:txBody>
                    <a:bodyPr/>
                    <a:lstStyle/>
                    <a:p>
                      <a:pPr algn="just"/>
                      <a:r>
                        <a:rPr lang="en-US" sz="1600" kern="100">
                          <a:solidFill>
                            <a:schemeClr val="accent4"/>
                          </a:solidFill>
                          <a:effectLst/>
                        </a:rPr>
                        <a:t>-1000    -800   0    0    0    0  -M   -M</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1600" kern="100">
                          <a:solidFill>
                            <a:schemeClr val="accent4"/>
                          </a:solidFill>
                          <a:effectLst/>
                        </a:rPr>
                        <a:t>θ</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90114">
                <a:tc>
                  <a:txBody>
                    <a:bodyPr/>
                    <a:lstStyle/>
                    <a:p>
                      <a:pPr algn="just"/>
                      <a:r>
                        <a:rPr lang="en-US" sz="1600" kern="100">
                          <a:solidFill>
                            <a:schemeClr val="accent4"/>
                          </a:solidFill>
                          <a:effectLst/>
                        </a:rPr>
                        <a:t>C</a:t>
                      </a:r>
                      <a:r>
                        <a:rPr lang="en-US" sz="1600" kern="100" baseline="-250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dirty="0">
                          <a:solidFill>
                            <a:schemeClr val="accent4"/>
                          </a:solidFill>
                          <a:effectLst/>
                        </a:rPr>
                        <a:t>X</a:t>
                      </a:r>
                      <a:r>
                        <a:rPr lang="en-US" sz="1600" kern="100" baseline="-25000" dirty="0">
                          <a:solidFill>
                            <a:schemeClr val="accent4"/>
                          </a:solidFill>
                          <a:effectLst/>
                        </a:rPr>
                        <a:t>B</a:t>
                      </a:r>
                      <a:endParaRPr lang="zh-CN" sz="16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X1       X2   X3   X4    X5  X6   X7  X8</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1056400">
                <a:tc>
                  <a:txBody>
                    <a:bodyPr/>
                    <a:lstStyle/>
                    <a:p>
                      <a:pPr algn="just"/>
                      <a:r>
                        <a:rPr lang="en-US" sz="1600" kern="100">
                          <a:solidFill>
                            <a:schemeClr val="accent4"/>
                          </a:solidFill>
                          <a:effectLst/>
                        </a:rPr>
                        <a:t>-M</a:t>
                      </a:r>
                      <a:endParaRPr lang="zh-CN" sz="1600" kern="100">
                        <a:solidFill>
                          <a:schemeClr val="accent4"/>
                        </a:solidFill>
                        <a:effectLst/>
                      </a:endParaRPr>
                    </a:p>
                    <a:p>
                      <a:pPr algn="just"/>
                      <a:r>
                        <a:rPr lang="en-US" sz="1600" kern="100">
                          <a:solidFill>
                            <a:schemeClr val="accent4"/>
                          </a:solidFill>
                          <a:effectLst/>
                        </a:rPr>
                        <a:t>-M</a:t>
                      </a:r>
                      <a:endParaRPr lang="zh-CN" sz="1600" kern="100">
                        <a:solidFill>
                          <a:schemeClr val="accent4"/>
                        </a:solidFill>
                        <a:effectLst/>
                      </a:endParaRPr>
                    </a:p>
                    <a:p>
                      <a:pPr algn="just"/>
                      <a:r>
                        <a:rPr lang="en-US" sz="1600" kern="100">
                          <a:solidFill>
                            <a:schemeClr val="accent4"/>
                          </a:solidFill>
                          <a:effectLst/>
                        </a:rPr>
                        <a:t>0</a:t>
                      </a:r>
                      <a:endParaRPr lang="zh-CN" sz="1600" kern="100">
                        <a:solidFill>
                          <a:schemeClr val="accent4"/>
                        </a:solidFill>
                        <a:effectLst/>
                      </a:endParaRPr>
                    </a:p>
                    <a:p>
                      <a:pPr algn="just"/>
                      <a:r>
                        <a:rPr lang="en-US" sz="1600" kern="100">
                          <a:solidFill>
                            <a:schemeClr val="accent4"/>
                          </a:solidFill>
                          <a:effectLst/>
                        </a:rPr>
                        <a:t>0</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dirty="0">
                          <a:solidFill>
                            <a:schemeClr val="accent4"/>
                          </a:solidFill>
                          <a:effectLst/>
                        </a:rPr>
                        <a:t>X7</a:t>
                      </a:r>
                      <a:endParaRPr lang="zh-CN" sz="1600" kern="100" dirty="0">
                        <a:solidFill>
                          <a:schemeClr val="accent4"/>
                        </a:solidFill>
                        <a:effectLst/>
                      </a:endParaRPr>
                    </a:p>
                    <a:p>
                      <a:pPr algn="just"/>
                      <a:r>
                        <a:rPr lang="en-US" sz="1600" kern="100" dirty="0">
                          <a:solidFill>
                            <a:schemeClr val="accent4"/>
                          </a:solidFill>
                          <a:effectLst/>
                        </a:rPr>
                        <a:t>X8</a:t>
                      </a:r>
                      <a:endParaRPr lang="zh-CN" sz="1600" kern="100" dirty="0">
                        <a:solidFill>
                          <a:schemeClr val="accent4"/>
                        </a:solidFill>
                        <a:effectLst/>
                      </a:endParaRPr>
                    </a:p>
                    <a:p>
                      <a:pPr algn="just"/>
                      <a:r>
                        <a:rPr lang="en-US" sz="1600" kern="100" dirty="0">
                          <a:solidFill>
                            <a:schemeClr val="accent4"/>
                          </a:solidFill>
                          <a:effectLst/>
                        </a:rPr>
                        <a:t>X5</a:t>
                      </a:r>
                      <a:endParaRPr lang="zh-CN" sz="1600" kern="100" dirty="0">
                        <a:solidFill>
                          <a:schemeClr val="accent4"/>
                        </a:solidFill>
                        <a:effectLst/>
                      </a:endParaRPr>
                    </a:p>
                    <a:p>
                      <a:pPr algn="just"/>
                      <a:r>
                        <a:rPr lang="en-US" sz="1600" kern="100" dirty="0">
                          <a:solidFill>
                            <a:schemeClr val="accent4"/>
                          </a:solidFill>
                          <a:effectLst/>
                        </a:rPr>
                        <a:t>X6</a:t>
                      </a:r>
                      <a:endParaRPr lang="zh-CN" sz="16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10</a:t>
                      </a:r>
                      <a:endParaRPr lang="zh-CN" sz="1600" kern="100">
                        <a:solidFill>
                          <a:schemeClr val="accent4"/>
                        </a:solidFill>
                        <a:effectLst/>
                      </a:endParaRPr>
                    </a:p>
                    <a:p>
                      <a:pPr algn="just"/>
                      <a:r>
                        <a:rPr lang="en-US" sz="1600" kern="100">
                          <a:solidFill>
                            <a:schemeClr val="accent4"/>
                          </a:solidFill>
                          <a:effectLst/>
                        </a:rPr>
                        <a:t>16</a:t>
                      </a:r>
                      <a:endParaRPr lang="zh-CN" sz="1600" kern="100">
                        <a:solidFill>
                          <a:schemeClr val="accent4"/>
                        </a:solidFill>
                        <a:effectLst/>
                      </a:endParaRPr>
                    </a:p>
                    <a:p>
                      <a:pPr algn="just"/>
                      <a:r>
                        <a:rPr lang="en-US" sz="1600" kern="100">
                          <a:solidFill>
                            <a:schemeClr val="accent4"/>
                          </a:solidFill>
                          <a:effectLst/>
                        </a:rPr>
                        <a:t>20</a:t>
                      </a:r>
                      <a:endParaRPr lang="zh-CN" sz="1600" kern="100">
                        <a:solidFill>
                          <a:schemeClr val="accent4"/>
                        </a:solidFill>
                        <a:effectLst/>
                      </a:endParaRPr>
                    </a:p>
                    <a:p>
                      <a:pPr algn="just"/>
                      <a:r>
                        <a:rPr lang="en-US" sz="1600" kern="100">
                          <a:solidFill>
                            <a:schemeClr val="accent4"/>
                          </a:solidFill>
                          <a:effectLst/>
                        </a:rPr>
                        <a:t>14</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1         0     -1      0      0    0     </a:t>
                      </a:r>
                      <a:r>
                        <a:rPr lang="en-US" sz="1600" kern="100">
                          <a:solidFill>
                            <a:srgbClr val="FF0000"/>
                          </a:solidFill>
                          <a:effectLst/>
                        </a:rPr>
                        <a:t> 1</a:t>
                      </a:r>
                      <a:r>
                        <a:rPr lang="en-US" sz="1600" kern="100">
                          <a:solidFill>
                            <a:schemeClr val="accent4"/>
                          </a:solidFill>
                          <a:effectLst/>
                        </a:rPr>
                        <a:t>      0</a:t>
                      </a:r>
                      <a:endParaRPr lang="zh-CN" sz="1600" kern="100">
                        <a:solidFill>
                          <a:schemeClr val="accent4"/>
                        </a:solidFill>
                        <a:effectLst/>
                      </a:endParaRPr>
                    </a:p>
                    <a:p>
                      <a:pPr algn="just"/>
                      <a:r>
                        <a:rPr lang="en-US" sz="1600" kern="100">
                          <a:solidFill>
                            <a:schemeClr val="accent4"/>
                          </a:solidFill>
                          <a:effectLst/>
                        </a:rPr>
                        <a:t>0.8      1     0      -1      0    0      0     </a:t>
                      </a:r>
                      <a:r>
                        <a:rPr lang="en-US" sz="1600" kern="100">
                          <a:solidFill>
                            <a:srgbClr val="FF0000"/>
                          </a:solidFill>
                          <a:effectLst/>
                        </a:rPr>
                        <a:t> 1</a:t>
                      </a:r>
                      <a:r>
                        <a:rPr lang="en-US" sz="1600" kern="100">
                          <a:solidFill>
                            <a:schemeClr val="accent4"/>
                          </a:solidFill>
                          <a:effectLst/>
                        </a:rPr>
                        <a:t>      </a:t>
                      </a:r>
                      <a:endParaRPr lang="zh-CN" sz="1600" kern="100">
                        <a:solidFill>
                          <a:schemeClr val="accent4"/>
                        </a:solidFill>
                        <a:effectLst/>
                      </a:endParaRPr>
                    </a:p>
                    <a:p>
                      <a:pPr algn="just"/>
                      <a:r>
                        <a:rPr lang="en-US" sz="1600" kern="100">
                          <a:solidFill>
                            <a:schemeClr val="accent4"/>
                          </a:solidFill>
                          <a:effectLst/>
                        </a:rPr>
                        <a:t>1         0     0       0      </a:t>
                      </a:r>
                      <a:r>
                        <a:rPr lang="en-US" sz="1600" kern="100">
                          <a:solidFill>
                            <a:srgbClr val="FF0000"/>
                          </a:solidFill>
                          <a:effectLst/>
                        </a:rPr>
                        <a:t>1</a:t>
                      </a:r>
                      <a:r>
                        <a:rPr lang="en-US" sz="1600" kern="100">
                          <a:solidFill>
                            <a:schemeClr val="accent4"/>
                          </a:solidFill>
                          <a:effectLst/>
                        </a:rPr>
                        <a:t>    0      0      0</a:t>
                      </a:r>
                      <a:endParaRPr lang="zh-CN" sz="1600" kern="100">
                        <a:solidFill>
                          <a:schemeClr val="accent4"/>
                        </a:solidFill>
                        <a:effectLst/>
                      </a:endParaRPr>
                    </a:p>
                    <a:p>
                      <a:pPr algn="just"/>
                      <a:r>
                        <a:rPr lang="en-US" sz="1600" kern="100">
                          <a:solidFill>
                            <a:schemeClr val="accent4"/>
                          </a:solidFill>
                          <a:effectLst/>
                        </a:rPr>
                        <a:t>0        1      0       0      0    </a:t>
                      </a:r>
                      <a:r>
                        <a:rPr lang="en-US" sz="1600" kern="100">
                          <a:solidFill>
                            <a:srgbClr val="FF0000"/>
                          </a:solidFill>
                          <a:effectLst/>
                        </a:rPr>
                        <a:t>1</a:t>
                      </a:r>
                      <a:r>
                        <a:rPr lang="en-US" sz="1600" kern="100">
                          <a:solidFill>
                            <a:schemeClr val="accent4"/>
                          </a:solidFill>
                          <a:effectLst/>
                        </a:rPr>
                        <a:t>      0      0</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kern="100">
                          <a:solidFill>
                            <a:schemeClr val="accent4"/>
                          </a:solidFill>
                          <a:effectLst/>
                        </a:rPr>
                        <a:t>10</a:t>
                      </a:r>
                      <a:endParaRPr lang="zh-CN" sz="1600" kern="100">
                        <a:solidFill>
                          <a:schemeClr val="accent4"/>
                        </a:solidFill>
                        <a:effectLst/>
                      </a:endParaRPr>
                    </a:p>
                    <a:p>
                      <a:pPr algn="ctr"/>
                      <a:r>
                        <a:rPr lang="en-US" sz="1600" kern="100">
                          <a:solidFill>
                            <a:schemeClr val="accent4"/>
                          </a:solidFill>
                          <a:effectLst/>
                        </a:rPr>
                        <a:t>20</a:t>
                      </a:r>
                      <a:endParaRPr lang="zh-CN" sz="1600" kern="100">
                        <a:solidFill>
                          <a:schemeClr val="accent4"/>
                        </a:solidFill>
                        <a:effectLst/>
                      </a:endParaRPr>
                    </a:p>
                    <a:p>
                      <a:pPr algn="ctr"/>
                      <a:r>
                        <a:rPr lang="en-US" sz="1600" kern="100">
                          <a:solidFill>
                            <a:schemeClr val="accent4"/>
                          </a:solidFill>
                          <a:effectLst/>
                        </a:rPr>
                        <a:t>20</a:t>
                      </a:r>
                      <a:endParaRPr lang="zh-CN" sz="1600" kern="100">
                        <a:solidFill>
                          <a:schemeClr val="accent4"/>
                        </a:solidFill>
                        <a:effectLst/>
                      </a:endParaRPr>
                    </a:p>
                    <a:p>
                      <a:pPr algn="ctr"/>
                      <a:r>
                        <a:rPr lang="en-US" sz="1600" kern="100">
                          <a:solidFill>
                            <a:schemeClr val="accent4"/>
                          </a:solidFill>
                          <a:effectLst/>
                        </a:rPr>
                        <a:t>--</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7958">
                <a:tc>
                  <a:txBody>
                    <a:bodyPr/>
                    <a:lstStyle/>
                    <a:p>
                      <a:pPr algn="just"/>
                      <a:r>
                        <a:rPr lang="zh-CN" sz="1600" kern="100">
                          <a:solidFill>
                            <a:schemeClr val="accent4"/>
                          </a:solidFill>
                          <a:effectLst/>
                        </a:rPr>
                        <a:t>б</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-1000+1.8M  M-800  -M     -M      0     0      0     0</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dirty="0">
                          <a:solidFill>
                            <a:schemeClr val="accent4"/>
                          </a:solidFill>
                          <a:effectLst/>
                        </a:rPr>
                        <a:t> </a:t>
                      </a:r>
                      <a:endParaRPr lang="zh-CN" sz="16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3" name="表格 2"/>
          <p:cNvGraphicFramePr>
            <a:graphicFrameLocks noGrp="1"/>
          </p:cNvGraphicFramePr>
          <p:nvPr/>
        </p:nvGraphicFramePr>
        <p:xfrm>
          <a:off x="1115060" y="2944495"/>
          <a:ext cx="7331710" cy="1706880"/>
        </p:xfrm>
        <a:graphic>
          <a:graphicData uri="http://schemas.openxmlformats.org/drawingml/2006/table">
            <a:tbl>
              <a:tblPr firstRow="1" firstCol="1" bandRow="1">
                <a:tableStyleId>{5C22544A-7EE6-4342-B048-85BDC9FD1C3A}</a:tableStyleId>
              </a:tblPr>
              <a:tblGrid>
                <a:gridCol w="661035"/>
                <a:gridCol w="427990"/>
                <a:gridCol w="508000"/>
                <a:gridCol w="4718685"/>
                <a:gridCol w="1016000"/>
              </a:tblGrid>
              <a:tr h="243840">
                <a:tc gridSpan="3">
                  <a:txBody>
                    <a:bodyPr/>
                    <a:lstStyle/>
                    <a:p>
                      <a:pPr algn="ctr"/>
                      <a:r>
                        <a:rPr lang="en-US" sz="1600" kern="100" dirty="0">
                          <a:solidFill>
                            <a:schemeClr val="accent4"/>
                          </a:solidFill>
                          <a:effectLst/>
                        </a:rPr>
                        <a:t>c</a:t>
                      </a:r>
                      <a:endParaRPr lang="zh-CN" sz="16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a:txBody>
                    <a:bodyPr/>
                    <a:lstStyle/>
                    <a:p>
                      <a:pPr algn="just"/>
                      <a:r>
                        <a:rPr lang="en-US" sz="1600" kern="100">
                          <a:solidFill>
                            <a:schemeClr val="accent4"/>
                          </a:solidFill>
                          <a:effectLst/>
                        </a:rPr>
                        <a:t>-1000  -800   0    0          0    0    -M   -M</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1600" kern="100">
                          <a:solidFill>
                            <a:schemeClr val="accent4"/>
                          </a:solidFill>
                          <a:effectLst/>
                        </a:rPr>
                        <a:t>θ</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3840">
                <a:tc>
                  <a:txBody>
                    <a:bodyPr/>
                    <a:lstStyle/>
                    <a:p>
                      <a:pPr algn="just"/>
                      <a:r>
                        <a:rPr lang="en-US" sz="1600" kern="100">
                          <a:solidFill>
                            <a:schemeClr val="accent4"/>
                          </a:solidFill>
                          <a:effectLst/>
                        </a:rPr>
                        <a:t>C</a:t>
                      </a:r>
                      <a:r>
                        <a:rPr lang="en-US" sz="1600" kern="100" baseline="-250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X</a:t>
                      </a:r>
                      <a:r>
                        <a:rPr lang="en-US" sz="1600" kern="100" baseline="-250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X1       X2   X3   X4       X5  X6   X7  X8</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975360">
                <a:tc>
                  <a:txBody>
                    <a:bodyPr/>
                    <a:lstStyle/>
                    <a:p>
                      <a:pPr algn="just"/>
                      <a:r>
                        <a:rPr lang="en-US" sz="1600" kern="100">
                          <a:solidFill>
                            <a:schemeClr val="accent4"/>
                          </a:solidFill>
                          <a:effectLst/>
                        </a:rPr>
                        <a:t>-1000</a:t>
                      </a:r>
                      <a:endParaRPr lang="zh-CN" sz="1600" kern="100">
                        <a:solidFill>
                          <a:schemeClr val="accent4"/>
                        </a:solidFill>
                        <a:effectLst/>
                      </a:endParaRPr>
                    </a:p>
                    <a:p>
                      <a:pPr algn="just"/>
                      <a:r>
                        <a:rPr lang="en-US" sz="1600" kern="100">
                          <a:solidFill>
                            <a:schemeClr val="accent4"/>
                          </a:solidFill>
                          <a:effectLst/>
                        </a:rPr>
                        <a:t>-M</a:t>
                      </a:r>
                      <a:endParaRPr lang="zh-CN" sz="1600" kern="100">
                        <a:solidFill>
                          <a:schemeClr val="accent4"/>
                        </a:solidFill>
                        <a:effectLst/>
                      </a:endParaRPr>
                    </a:p>
                    <a:p>
                      <a:pPr algn="just"/>
                      <a:r>
                        <a:rPr lang="en-US" sz="1600" kern="100">
                          <a:solidFill>
                            <a:schemeClr val="accent4"/>
                          </a:solidFill>
                          <a:effectLst/>
                        </a:rPr>
                        <a:t>0</a:t>
                      </a:r>
                      <a:endParaRPr lang="zh-CN" sz="1600" kern="100">
                        <a:solidFill>
                          <a:schemeClr val="accent4"/>
                        </a:solidFill>
                        <a:effectLst/>
                      </a:endParaRPr>
                    </a:p>
                    <a:p>
                      <a:pPr algn="just"/>
                      <a:r>
                        <a:rPr lang="en-US" sz="1600" kern="100">
                          <a:solidFill>
                            <a:schemeClr val="accent4"/>
                          </a:solidFill>
                          <a:effectLst/>
                        </a:rPr>
                        <a:t>0</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X1</a:t>
                      </a:r>
                      <a:endParaRPr lang="zh-CN" sz="1600" kern="100">
                        <a:solidFill>
                          <a:schemeClr val="accent4"/>
                        </a:solidFill>
                        <a:effectLst/>
                      </a:endParaRPr>
                    </a:p>
                    <a:p>
                      <a:pPr algn="just"/>
                      <a:r>
                        <a:rPr lang="en-US" sz="1600" kern="100">
                          <a:solidFill>
                            <a:schemeClr val="accent4"/>
                          </a:solidFill>
                          <a:effectLst/>
                        </a:rPr>
                        <a:t>X8</a:t>
                      </a:r>
                      <a:endParaRPr lang="zh-CN" sz="1600" kern="100">
                        <a:solidFill>
                          <a:schemeClr val="accent4"/>
                        </a:solidFill>
                        <a:effectLst/>
                      </a:endParaRPr>
                    </a:p>
                    <a:p>
                      <a:pPr algn="just"/>
                      <a:r>
                        <a:rPr lang="en-US" sz="1600" kern="100">
                          <a:solidFill>
                            <a:schemeClr val="accent4"/>
                          </a:solidFill>
                          <a:effectLst/>
                        </a:rPr>
                        <a:t>X5</a:t>
                      </a:r>
                      <a:endParaRPr lang="zh-CN" sz="1600" kern="100">
                        <a:solidFill>
                          <a:schemeClr val="accent4"/>
                        </a:solidFill>
                        <a:effectLst/>
                      </a:endParaRPr>
                    </a:p>
                    <a:p>
                      <a:pPr algn="just"/>
                      <a:r>
                        <a:rPr lang="en-US" sz="1600" kern="100">
                          <a:solidFill>
                            <a:schemeClr val="accent4"/>
                          </a:solidFill>
                          <a:effectLst/>
                        </a:rPr>
                        <a:t>X6</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10</a:t>
                      </a:r>
                      <a:endParaRPr lang="zh-CN" sz="1600" kern="100">
                        <a:solidFill>
                          <a:schemeClr val="accent4"/>
                        </a:solidFill>
                        <a:effectLst/>
                      </a:endParaRPr>
                    </a:p>
                    <a:p>
                      <a:pPr algn="just"/>
                      <a:r>
                        <a:rPr lang="en-US" altLang="zh-CN" sz="1600" kern="100">
                          <a:solidFill>
                            <a:schemeClr val="accent4"/>
                          </a:solidFill>
                          <a:effectLst/>
                        </a:rPr>
                        <a:t>8</a:t>
                      </a:r>
                      <a:endParaRPr lang="zh-CN" sz="1600" kern="100">
                        <a:solidFill>
                          <a:schemeClr val="accent4"/>
                        </a:solidFill>
                        <a:effectLst/>
                      </a:endParaRPr>
                    </a:p>
                    <a:p>
                      <a:pPr algn="just"/>
                      <a:r>
                        <a:rPr lang="en-US" altLang="zh-CN" sz="1600" kern="100">
                          <a:solidFill>
                            <a:schemeClr val="accent4"/>
                          </a:solidFill>
                          <a:effectLst/>
                        </a:rPr>
                        <a:t>10</a:t>
                      </a:r>
                      <a:endParaRPr lang="zh-CN" sz="1600" kern="100">
                        <a:solidFill>
                          <a:schemeClr val="accent4"/>
                        </a:solidFill>
                        <a:effectLst/>
                      </a:endParaRPr>
                    </a:p>
                    <a:p>
                      <a:pPr algn="just"/>
                      <a:r>
                        <a:rPr lang="en-US" sz="1600" kern="100">
                          <a:solidFill>
                            <a:schemeClr val="accent4"/>
                          </a:solidFill>
                          <a:effectLst/>
                        </a:rPr>
                        <a:t>14</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rgbClr val="FF0000"/>
                          </a:solidFill>
                          <a:effectLst/>
                        </a:rPr>
                        <a:t>1 </a:t>
                      </a:r>
                      <a:r>
                        <a:rPr lang="en-US" sz="1600" kern="100">
                          <a:solidFill>
                            <a:schemeClr val="accent4"/>
                          </a:solidFill>
                          <a:effectLst/>
                        </a:rPr>
                        <a:t>       0     -1       0         0     0    1      0</a:t>
                      </a:r>
                      <a:endParaRPr lang="zh-CN" sz="1600" kern="100">
                        <a:solidFill>
                          <a:schemeClr val="accent4"/>
                        </a:solidFill>
                        <a:effectLst/>
                      </a:endParaRPr>
                    </a:p>
                    <a:p>
                      <a:pPr algn="just"/>
                      <a:r>
                        <a:rPr lang="en-US" sz="1600" kern="100">
                          <a:solidFill>
                            <a:schemeClr val="accent4"/>
                          </a:solidFill>
                          <a:effectLst/>
                        </a:rPr>
                        <a:t>0        1     0.8    -1         0     0   -0.8   </a:t>
                      </a:r>
                      <a:r>
                        <a:rPr lang="en-US" sz="1600" kern="100">
                          <a:solidFill>
                            <a:srgbClr val="FF0000"/>
                          </a:solidFill>
                          <a:effectLst/>
                        </a:rPr>
                        <a:t>1 </a:t>
                      </a:r>
                      <a:r>
                        <a:rPr lang="en-US" sz="1600" kern="100">
                          <a:solidFill>
                            <a:schemeClr val="accent4"/>
                          </a:solidFill>
                          <a:effectLst/>
                        </a:rPr>
                        <a:t>     </a:t>
                      </a:r>
                      <a:endParaRPr lang="zh-CN" sz="1600" kern="100">
                        <a:solidFill>
                          <a:schemeClr val="accent4"/>
                        </a:solidFill>
                        <a:effectLst/>
                      </a:endParaRPr>
                    </a:p>
                    <a:p>
                      <a:pPr algn="just"/>
                      <a:r>
                        <a:rPr lang="en-US" sz="1600" kern="100">
                          <a:solidFill>
                            <a:schemeClr val="accent4"/>
                          </a:solidFill>
                          <a:effectLst/>
                        </a:rPr>
                        <a:t>0        0     1        0         </a:t>
                      </a:r>
                      <a:r>
                        <a:rPr lang="en-US" sz="1600" kern="100">
                          <a:solidFill>
                            <a:srgbClr val="FF0000"/>
                          </a:solidFill>
                          <a:effectLst/>
                        </a:rPr>
                        <a:t>1</a:t>
                      </a:r>
                      <a:r>
                        <a:rPr lang="en-US" sz="1600" kern="100">
                          <a:solidFill>
                            <a:schemeClr val="accent4"/>
                          </a:solidFill>
                          <a:effectLst/>
                        </a:rPr>
                        <a:t>     0    -1     0</a:t>
                      </a:r>
                      <a:endParaRPr lang="zh-CN" sz="1600" kern="100">
                        <a:solidFill>
                          <a:schemeClr val="accent4"/>
                        </a:solidFill>
                        <a:effectLst/>
                      </a:endParaRPr>
                    </a:p>
                    <a:p>
                      <a:pPr algn="just"/>
                      <a:r>
                        <a:rPr lang="en-US" sz="1600" kern="100">
                          <a:solidFill>
                            <a:schemeClr val="accent4"/>
                          </a:solidFill>
                          <a:effectLst/>
                        </a:rPr>
                        <a:t>0        1     0        0         0   </a:t>
                      </a:r>
                      <a:r>
                        <a:rPr lang="en-US" sz="1600" kern="100">
                          <a:solidFill>
                            <a:srgbClr val="FF0000"/>
                          </a:solidFill>
                          <a:effectLst/>
                        </a:rPr>
                        <a:t>  1  </a:t>
                      </a:r>
                      <a:r>
                        <a:rPr lang="en-US" sz="1600" kern="100">
                          <a:solidFill>
                            <a:schemeClr val="accent4"/>
                          </a:solidFill>
                          <a:effectLst/>
                        </a:rPr>
                        <a:t>  0      0</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kern="100">
                          <a:solidFill>
                            <a:schemeClr val="accent4"/>
                          </a:solidFill>
                          <a:effectLst/>
                        </a:rPr>
                        <a:t>--</a:t>
                      </a:r>
                      <a:endParaRPr lang="zh-CN" sz="1600" kern="100">
                        <a:solidFill>
                          <a:schemeClr val="accent4"/>
                        </a:solidFill>
                        <a:effectLst/>
                      </a:endParaRPr>
                    </a:p>
                    <a:p>
                      <a:pPr algn="ctr"/>
                      <a:r>
                        <a:rPr lang="en-US" altLang="zh-CN" sz="1600" kern="100">
                          <a:solidFill>
                            <a:schemeClr val="accent4"/>
                          </a:solidFill>
                          <a:effectLst/>
                        </a:rPr>
                        <a:t>8</a:t>
                      </a:r>
                      <a:endParaRPr lang="zh-CN" sz="1600" kern="100">
                        <a:solidFill>
                          <a:schemeClr val="accent4"/>
                        </a:solidFill>
                        <a:effectLst/>
                      </a:endParaRPr>
                    </a:p>
                    <a:p>
                      <a:pPr algn="ctr"/>
                      <a:r>
                        <a:rPr lang="en-US" sz="1600" kern="100">
                          <a:solidFill>
                            <a:schemeClr val="accent4"/>
                          </a:solidFill>
                          <a:effectLst/>
                        </a:rPr>
                        <a:t>--</a:t>
                      </a:r>
                      <a:endParaRPr lang="en-US" sz="1600" kern="100">
                        <a:solidFill>
                          <a:schemeClr val="accent4"/>
                        </a:solidFill>
                        <a:effectLst/>
                      </a:endParaRPr>
                    </a:p>
                    <a:p>
                      <a:pPr algn="ctr"/>
                      <a:r>
                        <a:rPr lang="en-US" alt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rPr>
                        <a:t>14</a:t>
                      </a:r>
                      <a:endParaRPr lang="en-US" alt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3840">
                <a:tc>
                  <a:txBody>
                    <a:bodyPr/>
                    <a:lstStyle/>
                    <a:p>
                      <a:pPr algn="just"/>
                      <a:r>
                        <a:rPr lang="zh-CN" sz="1600" kern="100">
                          <a:solidFill>
                            <a:schemeClr val="accent4"/>
                          </a:solidFill>
                          <a:effectLst/>
                        </a:rPr>
                        <a:t>б</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0  M-800 1000+0.8M  -M   0   0 1000-0.2M   0</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dirty="0">
                          <a:solidFill>
                            <a:schemeClr val="accent4"/>
                          </a:solidFill>
                          <a:effectLst/>
                        </a:rPr>
                        <a:t> </a:t>
                      </a:r>
                      <a:endParaRPr lang="zh-CN" sz="16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4" name="表格 3"/>
          <p:cNvGraphicFramePr>
            <a:graphicFrameLocks noGrp="1"/>
          </p:cNvGraphicFramePr>
          <p:nvPr/>
        </p:nvGraphicFramePr>
        <p:xfrm>
          <a:off x="1209536" y="4941168"/>
          <a:ext cx="7560841" cy="1706880"/>
        </p:xfrm>
        <a:graphic>
          <a:graphicData uri="http://schemas.openxmlformats.org/drawingml/2006/table">
            <a:tbl>
              <a:tblPr firstRow="1" firstCol="1" bandRow="1">
                <a:tableStyleId>{5C22544A-7EE6-4342-B048-85BDC9FD1C3A}</a:tableStyleId>
              </a:tblPr>
              <a:tblGrid>
                <a:gridCol w="792088"/>
                <a:gridCol w="432048"/>
                <a:gridCol w="504056"/>
                <a:gridCol w="4946640"/>
                <a:gridCol w="886009"/>
              </a:tblGrid>
              <a:tr h="243840">
                <a:tc gridSpan="3">
                  <a:txBody>
                    <a:bodyPr/>
                    <a:lstStyle/>
                    <a:p>
                      <a:pPr algn="ctr"/>
                      <a:r>
                        <a:rPr lang="en-US" sz="1600" kern="100">
                          <a:solidFill>
                            <a:schemeClr val="accent4"/>
                          </a:solidFill>
                          <a:effectLst/>
                        </a:rPr>
                        <a:t>c</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a:txBody>
                    <a:bodyPr/>
                    <a:lstStyle/>
                    <a:p>
                      <a:pPr algn="just"/>
                      <a:r>
                        <a:rPr lang="en-US" sz="1600" kern="100">
                          <a:solidFill>
                            <a:schemeClr val="accent4"/>
                          </a:solidFill>
                          <a:effectLst/>
                        </a:rPr>
                        <a:t>-1000  -800   0    0     0       0    -M   -M</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1600" kern="100">
                          <a:solidFill>
                            <a:schemeClr val="accent4"/>
                          </a:solidFill>
                          <a:effectLst/>
                        </a:rPr>
                        <a:t>θ</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r>
                        <a:rPr lang="en-US" sz="1600" kern="100">
                          <a:solidFill>
                            <a:schemeClr val="accent4"/>
                          </a:solidFill>
                          <a:effectLst/>
                        </a:rPr>
                        <a:t>C</a:t>
                      </a:r>
                      <a:r>
                        <a:rPr lang="en-US" sz="1600" kern="100" baseline="-250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X</a:t>
                      </a:r>
                      <a:r>
                        <a:rPr lang="en-US" sz="1600" kern="100" baseline="-250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B</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X1       X2   X3   X4    X5    X6   X7  X8</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655320">
                <a:tc>
                  <a:txBody>
                    <a:bodyPr/>
                    <a:lstStyle/>
                    <a:p>
                      <a:pPr algn="just"/>
                      <a:r>
                        <a:rPr lang="en-US" sz="1600" kern="100">
                          <a:solidFill>
                            <a:schemeClr val="accent4"/>
                          </a:solidFill>
                          <a:effectLst/>
                        </a:rPr>
                        <a:t>-1000</a:t>
                      </a:r>
                      <a:endParaRPr lang="zh-CN" sz="1600" kern="100">
                        <a:solidFill>
                          <a:schemeClr val="accent4"/>
                        </a:solidFill>
                        <a:effectLst/>
                      </a:endParaRPr>
                    </a:p>
                    <a:p>
                      <a:pPr algn="just"/>
                      <a:r>
                        <a:rPr lang="en-US" sz="1600" kern="100">
                          <a:solidFill>
                            <a:schemeClr val="accent4"/>
                          </a:solidFill>
                          <a:effectLst/>
                        </a:rPr>
                        <a:t>-800</a:t>
                      </a:r>
                      <a:endParaRPr lang="zh-CN" sz="1600" kern="100">
                        <a:solidFill>
                          <a:schemeClr val="accent4"/>
                        </a:solidFill>
                        <a:effectLst/>
                      </a:endParaRPr>
                    </a:p>
                    <a:p>
                      <a:pPr algn="just"/>
                      <a:r>
                        <a:rPr lang="en-US" sz="1600" kern="100">
                          <a:solidFill>
                            <a:schemeClr val="accent4"/>
                          </a:solidFill>
                          <a:effectLst/>
                        </a:rPr>
                        <a:t>0</a:t>
                      </a:r>
                      <a:endParaRPr lang="zh-CN" sz="1600" kern="100">
                        <a:solidFill>
                          <a:schemeClr val="accent4"/>
                        </a:solidFill>
                        <a:effectLst/>
                      </a:endParaRPr>
                    </a:p>
                    <a:p>
                      <a:pPr algn="just"/>
                      <a:r>
                        <a:rPr lang="en-US" sz="1600" kern="100">
                          <a:solidFill>
                            <a:schemeClr val="accent4"/>
                          </a:solidFill>
                          <a:effectLst/>
                        </a:rPr>
                        <a:t>0</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X1</a:t>
                      </a:r>
                      <a:endParaRPr lang="zh-CN" sz="1600" kern="100">
                        <a:solidFill>
                          <a:schemeClr val="accent4"/>
                        </a:solidFill>
                        <a:effectLst/>
                      </a:endParaRPr>
                    </a:p>
                    <a:p>
                      <a:pPr algn="just"/>
                      <a:r>
                        <a:rPr lang="en-US" sz="1600" kern="100">
                          <a:solidFill>
                            <a:schemeClr val="accent4"/>
                          </a:solidFill>
                          <a:effectLst/>
                        </a:rPr>
                        <a:t>X2</a:t>
                      </a:r>
                      <a:endParaRPr lang="zh-CN" sz="1600" kern="100">
                        <a:solidFill>
                          <a:schemeClr val="accent4"/>
                        </a:solidFill>
                        <a:effectLst/>
                      </a:endParaRPr>
                    </a:p>
                    <a:p>
                      <a:pPr algn="just"/>
                      <a:r>
                        <a:rPr lang="en-US" sz="1600" kern="100">
                          <a:solidFill>
                            <a:schemeClr val="accent4"/>
                          </a:solidFill>
                          <a:effectLst/>
                        </a:rPr>
                        <a:t>X5</a:t>
                      </a:r>
                      <a:endParaRPr lang="zh-CN" sz="1600" kern="100">
                        <a:solidFill>
                          <a:schemeClr val="accent4"/>
                        </a:solidFill>
                        <a:effectLst/>
                      </a:endParaRPr>
                    </a:p>
                    <a:p>
                      <a:pPr algn="just"/>
                      <a:r>
                        <a:rPr lang="en-US" sz="1600" kern="100">
                          <a:solidFill>
                            <a:schemeClr val="accent4"/>
                          </a:solidFill>
                          <a:effectLst/>
                        </a:rPr>
                        <a:t>X6</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10</a:t>
                      </a:r>
                      <a:endParaRPr lang="zh-CN" sz="1600" kern="100">
                        <a:solidFill>
                          <a:schemeClr val="accent4"/>
                        </a:solidFill>
                        <a:effectLst/>
                      </a:endParaRPr>
                    </a:p>
                    <a:p>
                      <a:pPr algn="just"/>
                      <a:r>
                        <a:rPr lang="en-US" sz="1600" kern="100">
                          <a:solidFill>
                            <a:schemeClr val="accent4"/>
                          </a:solidFill>
                          <a:effectLst/>
                        </a:rPr>
                        <a:t>8</a:t>
                      </a:r>
                      <a:endParaRPr lang="zh-CN" sz="1600" kern="100">
                        <a:solidFill>
                          <a:schemeClr val="accent4"/>
                        </a:solidFill>
                        <a:effectLst/>
                      </a:endParaRPr>
                    </a:p>
                    <a:p>
                      <a:pPr algn="just"/>
                      <a:r>
                        <a:rPr lang="en-US" sz="1600" kern="100">
                          <a:solidFill>
                            <a:schemeClr val="accent4"/>
                          </a:solidFill>
                          <a:effectLst/>
                        </a:rPr>
                        <a:t>10</a:t>
                      </a:r>
                      <a:endParaRPr lang="zh-CN" sz="1600" kern="100">
                        <a:solidFill>
                          <a:schemeClr val="accent4"/>
                        </a:solidFill>
                        <a:effectLst/>
                      </a:endParaRPr>
                    </a:p>
                    <a:p>
                      <a:pPr algn="just"/>
                      <a:r>
                        <a:rPr lang="en-US" sz="1600" kern="100">
                          <a:solidFill>
                            <a:schemeClr val="accent4"/>
                          </a:solidFill>
                          <a:effectLst/>
                        </a:rPr>
                        <a:t>14</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rgbClr val="FF0000"/>
                          </a:solidFill>
                          <a:effectLst/>
                        </a:rPr>
                        <a:t>1</a:t>
                      </a:r>
                      <a:r>
                        <a:rPr lang="en-US" sz="1600" kern="100">
                          <a:solidFill>
                            <a:schemeClr val="accent4"/>
                          </a:solidFill>
                          <a:effectLst/>
                        </a:rPr>
                        <a:t>        0      -1      0      0      0      1      0</a:t>
                      </a:r>
                      <a:endParaRPr lang="zh-CN" sz="1600" kern="100">
                        <a:solidFill>
                          <a:schemeClr val="accent4"/>
                        </a:solidFill>
                        <a:effectLst/>
                      </a:endParaRPr>
                    </a:p>
                    <a:p>
                      <a:pPr algn="just"/>
                      <a:r>
                        <a:rPr lang="en-US" sz="1600" kern="100">
                          <a:solidFill>
                            <a:schemeClr val="accent4"/>
                          </a:solidFill>
                          <a:effectLst/>
                        </a:rPr>
                        <a:t>0        </a:t>
                      </a:r>
                      <a:r>
                        <a:rPr lang="en-US" sz="1600" kern="100">
                          <a:solidFill>
                            <a:srgbClr val="FF0000"/>
                          </a:solidFill>
                          <a:effectLst/>
                        </a:rPr>
                        <a:t>1  </a:t>
                      </a:r>
                      <a:r>
                        <a:rPr lang="en-US" sz="1600" kern="100">
                          <a:solidFill>
                            <a:schemeClr val="accent4"/>
                          </a:solidFill>
                          <a:effectLst/>
                        </a:rPr>
                        <a:t>    0.8   -1      0      0     -0.8   1      </a:t>
                      </a:r>
                      <a:endParaRPr lang="zh-CN" sz="1600" kern="100">
                        <a:solidFill>
                          <a:schemeClr val="accent4"/>
                        </a:solidFill>
                        <a:effectLst/>
                      </a:endParaRPr>
                    </a:p>
                    <a:p>
                      <a:pPr algn="just"/>
                      <a:r>
                        <a:rPr lang="en-US" sz="1600" kern="100">
                          <a:solidFill>
                            <a:schemeClr val="accent4"/>
                          </a:solidFill>
                          <a:effectLst/>
                        </a:rPr>
                        <a:t>0        0      1       0      </a:t>
                      </a:r>
                      <a:r>
                        <a:rPr lang="en-US" sz="1600" kern="100">
                          <a:solidFill>
                            <a:srgbClr val="FF0000"/>
                          </a:solidFill>
                          <a:effectLst/>
                        </a:rPr>
                        <a:t>1</a:t>
                      </a:r>
                      <a:r>
                        <a:rPr lang="en-US" sz="1600" kern="100">
                          <a:solidFill>
                            <a:schemeClr val="accent4"/>
                          </a:solidFill>
                          <a:effectLst/>
                        </a:rPr>
                        <a:t>      0      -1     0</a:t>
                      </a:r>
                      <a:endParaRPr lang="zh-CN" sz="1600" kern="100">
                        <a:solidFill>
                          <a:schemeClr val="accent4"/>
                        </a:solidFill>
                        <a:effectLst/>
                      </a:endParaRPr>
                    </a:p>
                    <a:p>
                      <a:pPr algn="just"/>
                      <a:r>
                        <a:rPr lang="en-US" sz="1600" kern="100">
                          <a:solidFill>
                            <a:schemeClr val="accent4"/>
                          </a:solidFill>
                          <a:effectLst/>
                        </a:rPr>
                        <a:t>0        0    -0.8    1       0      </a:t>
                      </a:r>
                      <a:r>
                        <a:rPr lang="en-US" sz="1600" kern="100">
                          <a:solidFill>
                            <a:srgbClr val="FF0000"/>
                          </a:solidFill>
                          <a:effectLst/>
                        </a:rPr>
                        <a:t>1 </a:t>
                      </a:r>
                      <a:r>
                        <a:rPr lang="en-US" sz="1600" kern="100">
                          <a:solidFill>
                            <a:schemeClr val="accent4"/>
                          </a:solidFill>
                          <a:effectLst/>
                        </a:rPr>
                        <a:t>   0.8     -1</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kern="100">
                          <a:solidFill>
                            <a:schemeClr val="accent4"/>
                          </a:solidFill>
                          <a:effectLst/>
                        </a:rPr>
                        <a:t>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r>
                        <a:rPr lang="zh-CN" sz="1600" kern="100">
                          <a:solidFill>
                            <a:schemeClr val="accent4"/>
                          </a:solidFill>
                          <a:effectLst/>
                        </a:rPr>
                        <a:t>б</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accent4"/>
                          </a:solidFill>
                          <a:effectLst/>
                        </a:rPr>
                        <a:t>0        0      -360  -800  0     0    -M+360 -M+800 </a:t>
                      </a:r>
                      <a:endParaRPr lang="zh-CN" sz="1600" kern="10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kern="100" dirty="0">
                          <a:solidFill>
                            <a:schemeClr val="accent4"/>
                          </a:solidFill>
                          <a:effectLst/>
                        </a:rPr>
                        <a:t> </a:t>
                      </a:r>
                      <a:endParaRPr lang="zh-CN" sz="1600" kern="100" dirty="0">
                        <a:solidFill>
                          <a:schemeClr val="accent4"/>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线性规划问题的单纯形算法例子</a:t>
            </a:r>
            <a:br>
              <a:rPr lang="en-US" altLang="zh-CN">
                <a:sym typeface="+mn-ea"/>
              </a:rPr>
            </a:br>
            <a:endParaRPr lang="zh-CN" altLang="en-US"/>
          </a:p>
        </p:txBody>
      </p:sp>
      <p:sp>
        <p:nvSpPr>
          <p:cNvPr id="3" name="内容占位符 2"/>
          <p:cNvSpPr>
            <a:spLocks noGrp="1"/>
          </p:cNvSpPr>
          <p:nvPr>
            <p:ph idx="1"/>
          </p:nvPr>
        </p:nvSpPr>
        <p:spPr/>
        <p:txBody>
          <a:bodyPr/>
          <a:p>
            <a:r>
              <a:rPr lang="zh-CN" altLang="en-US"/>
              <a:t>检验系数</a:t>
            </a:r>
            <a:r>
              <a:rPr lang="zh-CN" kern="100">
                <a:solidFill>
                  <a:schemeClr val="accent4"/>
                </a:solidFill>
                <a:effectLst/>
                <a:sym typeface="+mn-ea"/>
              </a:rPr>
              <a:t>б都小于</a:t>
            </a:r>
            <a:r>
              <a:rPr lang="en-US" altLang="zh-CN" kern="100">
                <a:solidFill>
                  <a:schemeClr val="accent4"/>
                </a:solidFill>
                <a:effectLst/>
                <a:sym typeface="+mn-ea"/>
              </a:rPr>
              <a:t>0</a:t>
            </a:r>
            <a:r>
              <a:rPr lang="zh-CN" altLang="en-US" kern="100">
                <a:solidFill>
                  <a:schemeClr val="accent4"/>
                </a:solidFill>
                <a:effectLst/>
                <a:sym typeface="+mn-ea"/>
              </a:rPr>
              <a:t>，迭代结束</a:t>
            </a:r>
            <a:endParaRPr lang="en-US" altLang="zh-CN"/>
          </a:p>
          <a:p>
            <a:r>
              <a:rPr lang="en-US" altLang="zh-CN"/>
              <a:t>x</a:t>
            </a:r>
            <a:r>
              <a:rPr lang="en-US" altLang="zh-CN" baseline="-25000"/>
              <a:t>1</a:t>
            </a:r>
            <a:r>
              <a:rPr lang="en-US" altLang="zh-CN"/>
              <a:t>=10   x</a:t>
            </a:r>
            <a:r>
              <a:rPr lang="en-US" altLang="zh-CN" baseline="-25000"/>
              <a:t>2</a:t>
            </a:r>
            <a:r>
              <a:rPr lang="en-US" altLang="zh-CN"/>
              <a:t>=8</a:t>
            </a:r>
            <a:endParaRPr lang="en-US" altLang="zh-CN"/>
          </a:p>
          <a:p>
            <a:r>
              <a:rPr lang="en-US" altLang="zh-CN"/>
              <a:t>min=16400</a:t>
            </a:r>
            <a:endParaRPr lang="en-US" altLang="zh-CN"/>
          </a:p>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标题 29697"/>
          <p:cNvSpPr>
            <a:spLocks noGrp="1" noRot="1"/>
          </p:cNvSpPr>
          <p:nvPr>
            <p:ph type="title"/>
          </p:nvPr>
        </p:nvSpPr>
        <p:spPr>
          <a:xfrm>
            <a:off x="1143000" y="381000"/>
            <a:ext cx="7772400" cy="914400"/>
          </a:xfrm>
        </p:spPr>
        <p:txBody>
          <a:bodyPr anchor="ctr" anchorCtr="0"/>
          <a:lstStyle/>
          <a:p>
            <a:pPr>
              <a:buClr>
                <a:schemeClr val="accent2"/>
              </a:buClr>
              <a:buSzPct val="150000"/>
            </a:pPr>
            <a:r>
              <a:rPr lang="en-US" altLang="zh-CN" sz="4000" b="1" dirty="0">
                <a:solidFill>
                  <a:schemeClr val="tx1"/>
                </a:solidFill>
                <a:latin typeface="Times New Roman" panose="02020603050405020304" pitchFamily="18" charset="0"/>
                <a:ea typeface="黑体" panose="02010609060101010101" pitchFamily="2" charset="-122"/>
              </a:rPr>
              <a:t>           </a:t>
            </a:r>
            <a:r>
              <a:rPr lang="zh-CN" altLang="en-US" sz="4000" b="1" dirty="0">
                <a:solidFill>
                  <a:schemeClr val="tx1"/>
                </a:solidFill>
                <a:latin typeface="Times New Roman" panose="02020603050405020304" pitchFamily="18" charset="0"/>
                <a:ea typeface="黑体" panose="02010609060101010101" pitchFamily="2" charset="-122"/>
              </a:rPr>
              <a:t>二、线性规划的标准形式及方法</a:t>
            </a:r>
            <a:r>
              <a:rPr lang="zh-CN" altLang="en-US" sz="4000" b="1">
                <a:solidFill>
                  <a:schemeClr val="tx1"/>
                </a:solidFill>
                <a:latin typeface="Times New Roman" panose="02020603050405020304" pitchFamily="18" charset="0"/>
              </a:rPr>
              <a:t> </a:t>
            </a:r>
            <a:endParaRPr lang="zh-CN" altLang="en-US" sz="4000" b="1">
              <a:solidFill>
                <a:schemeClr val="tx1"/>
              </a:solidFill>
              <a:latin typeface="Times New Roman" panose="02020603050405020304" pitchFamily="18" charset="0"/>
            </a:endParaRPr>
          </a:p>
        </p:txBody>
      </p:sp>
      <p:sp>
        <p:nvSpPr>
          <p:cNvPr id="17410" name="文本占位符 29698"/>
          <p:cNvSpPr>
            <a:spLocks noGrp="1" noRot="1"/>
          </p:cNvSpPr>
          <p:nvPr>
            <p:ph idx="1"/>
          </p:nvPr>
        </p:nvSpPr>
        <p:spPr>
          <a:xfrm>
            <a:off x="1403350" y="1295400"/>
            <a:ext cx="7740650" cy="2057400"/>
          </a:xfrm>
        </p:spPr>
        <p:txBody>
          <a:bodyPr anchor="t" anchorCtr="0"/>
          <a:lstStyle/>
          <a:p>
            <a:pPr marL="0" indent="0">
              <a:lnSpc>
                <a:spcPct val="120000"/>
              </a:lnSpc>
            </a:pPr>
            <a:r>
              <a:rPr lang="en-US" altLang="zh-CN" b="1" dirty="0">
                <a:latin typeface="Times New Roman" panose="02020603050405020304" pitchFamily="18" charset="0"/>
                <a:ea typeface="黑体" panose="02010609060101010101" pitchFamily="2" charset="-122"/>
              </a:rPr>
              <a:t>        (</a:t>
            </a:r>
            <a:r>
              <a:rPr lang="zh-CN" altLang="en-US" b="1" dirty="0">
                <a:latin typeface="Times New Roman" panose="02020603050405020304" pitchFamily="18" charset="0"/>
                <a:ea typeface="黑体" panose="02010609060101010101" pitchFamily="2" charset="-122"/>
              </a:rPr>
              <a:t>一）线性规划的标准形式</a:t>
            </a:r>
            <a:r>
              <a:rPr lang="zh-CN" altLang="en-US" b="1" dirty="0">
                <a:latin typeface="Times New Roman" panose="02020603050405020304" pitchFamily="18" charset="0"/>
              </a:rPr>
              <a:t> </a:t>
            </a:r>
            <a:endParaRPr lang="zh-CN" altLang="en-US" dirty="0">
              <a:latin typeface="Times New Roman" panose="02020603050405020304" pitchFamily="18" charset="0"/>
            </a:endParaRPr>
          </a:p>
          <a:p>
            <a:pPr marL="0" indent="0" algn="just">
              <a:lnSpc>
                <a:spcPct val="120000"/>
              </a:lnSpc>
            </a:pPr>
            <a:r>
              <a:rPr lang="zh-CN" altLang="en-US" sz="2800" dirty="0">
                <a:latin typeface="Times New Roman" panose="02020603050405020304" pitchFamily="18" charset="0"/>
              </a:rPr>
              <a:t>       </a:t>
            </a:r>
            <a:r>
              <a:rPr lang="zh-CN" altLang="en-US" sz="2400" dirty="0">
                <a:latin typeface="Times New Roman" panose="02020603050405020304" pitchFamily="18" charset="0"/>
              </a:rPr>
              <a:t>在讨论与计算时，需要将线性规划问题的数学模型转化为标准形式，即在约束条件</a:t>
            </a:r>
            <a:endParaRPr lang="zh-CN" altLang="en-US" sz="2400">
              <a:latin typeface="Times New Roman" panose="02020603050405020304" pitchFamily="18" charset="0"/>
            </a:endParaRPr>
          </a:p>
        </p:txBody>
      </p:sp>
      <p:graphicFrame>
        <p:nvGraphicFramePr>
          <p:cNvPr id="17411" name="对象 29699"/>
          <p:cNvGraphicFramePr/>
          <p:nvPr/>
        </p:nvGraphicFramePr>
        <p:xfrm>
          <a:off x="2771775" y="2924175"/>
          <a:ext cx="3878263" cy="1881188"/>
        </p:xfrm>
        <a:graphic>
          <a:graphicData uri="http://schemas.openxmlformats.org/presentationml/2006/ole">
            <mc:AlternateContent xmlns:mc="http://schemas.openxmlformats.org/markup-compatibility/2006">
              <mc:Choice xmlns:v="urn:schemas-microsoft-com:vml" Requires="v">
                <p:oleObj spid="_x0000_s11303" name="" r:id="rId1" imgW="1943100" imgH="939800" progId="Equation.3">
                  <p:embed/>
                </p:oleObj>
              </mc:Choice>
              <mc:Fallback>
                <p:oleObj name="" r:id="rId1" imgW="1943100" imgH="939800" progId="Equation.3">
                  <p:embed/>
                  <p:pic>
                    <p:nvPicPr>
                      <p:cNvPr id="0" name="图片 3076"/>
                      <p:cNvPicPr/>
                      <p:nvPr/>
                    </p:nvPicPr>
                    <p:blipFill>
                      <a:blip r:embed="rId2"/>
                      <a:stretch>
                        <a:fillRect/>
                      </a:stretch>
                    </p:blipFill>
                    <p:spPr>
                      <a:xfrm>
                        <a:off x="2771775" y="2924175"/>
                        <a:ext cx="3878263" cy="1881188"/>
                      </a:xfrm>
                      <a:prstGeom prst="rect">
                        <a:avLst/>
                      </a:prstGeom>
                      <a:noFill/>
                      <a:ln w="38100">
                        <a:noFill/>
                        <a:miter/>
                      </a:ln>
                    </p:spPr>
                  </p:pic>
                </p:oleObj>
              </mc:Fallback>
            </mc:AlternateContent>
          </a:graphicData>
        </a:graphic>
      </p:graphicFrame>
      <p:sp>
        <p:nvSpPr>
          <p:cNvPr id="17412" name="文本框 29701"/>
          <p:cNvSpPr txBox="1"/>
          <p:nvPr/>
        </p:nvSpPr>
        <p:spPr>
          <a:xfrm>
            <a:off x="1476375" y="4724400"/>
            <a:ext cx="7439025" cy="1114425"/>
          </a:xfrm>
          <a:prstGeom prst="rect">
            <a:avLst/>
          </a:prstGeom>
          <a:noFill/>
          <a:ln w="9525">
            <a:noFill/>
          </a:ln>
        </p:spPr>
        <p:txBody>
          <a:bodyPr anchor="t" anchorCtr="0">
            <a:spAutoFit/>
          </a:bodyPr>
          <a:lstStyle/>
          <a:p>
            <a:pPr algn="ctr">
              <a:lnSpc>
                <a:spcPct val="120000"/>
              </a:lnSpc>
            </a:pPr>
            <a:r>
              <a:rPr lang="en-US" altLang="zh-CN" sz="2400" i="1">
                <a:latin typeface="Times New Roman" panose="02020603050405020304" pitchFamily="18" charset="0"/>
                <a:ea typeface="宋体" panose="02010600030101010101" pitchFamily="2" charset="-122"/>
              </a:rPr>
              <a:t>x</a:t>
            </a:r>
            <a:r>
              <a:rPr lang="en-US" altLang="zh-CN" sz="2400" i="1" baseline="-25000">
                <a:latin typeface="Times New Roman" panose="02020603050405020304" pitchFamily="18" charset="0"/>
                <a:ea typeface="宋体" panose="02010600030101010101" pitchFamily="2" charset="-122"/>
              </a:rPr>
              <a:t>j</a:t>
            </a:r>
            <a:r>
              <a:rPr lang="en-US" altLang="zh-CN" sz="2400">
                <a:latin typeface="Times New Roman" panose="02020603050405020304" pitchFamily="18" charset="0"/>
                <a:ea typeface="宋体" panose="02010600030101010101" pitchFamily="2" charset="-122"/>
              </a:rPr>
              <a:t>≥0</a:t>
            </a:r>
            <a:r>
              <a:rPr lang="zh-CN" altLang="en-US"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j </a:t>
            </a:r>
            <a:r>
              <a:rPr lang="en-US" altLang="zh-CN" sz="2400">
                <a:latin typeface="Times New Roman" panose="02020603050405020304" pitchFamily="18" charset="0"/>
                <a:ea typeface="宋体" panose="02010600030101010101" pitchFamily="2" charset="-122"/>
              </a:rPr>
              <a:t>= 1</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2</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n</a:t>
            </a:r>
            <a:r>
              <a:rPr lang="zh-CN" altLang="en-US" sz="2400">
                <a:latin typeface="Times New Roman" panose="02020603050405020304" pitchFamily="18" charset="0"/>
                <a:ea typeface="宋体" panose="02010600030101010101" pitchFamily="2" charset="-122"/>
              </a:rPr>
              <a:t>）</a:t>
            </a:r>
            <a:r>
              <a:rPr lang="zh-CN" altLang="en-US" sz="3200">
                <a:latin typeface="Times New Roman" panose="02020603050405020304" pitchFamily="18" charset="0"/>
                <a:ea typeface="宋体" panose="02010600030101010101" pitchFamily="2" charset="-122"/>
              </a:rPr>
              <a:t>              </a:t>
            </a:r>
            <a:endParaRPr lang="zh-CN" altLang="en-US" sz="3200">
              <a:latin typeface="Times New Roman" panose="02020603050405020304" pitchFamily="18" charset="0"/>
              <a:ea typeface="宋体" panose="02010600030101010101" pitchFamily="2" charset="-122"/>
            </a:endParaRPr>
          </a:p>
          <a:p>
            <a:pPr>
              <a:lnSpc>
                <a:spcPct val="120000"/>
              </a:lnSpc>
            </a:pPr>
            <a:r>
              <a:rPr lang="zh-CN" altLang="en-US" sz="2400" dirty="0">
                <a:latin typeface="Times New Roman" panose="02020603050405020304" pitchFamily="18" charset="0"/>
                <a:ea typeface="宋体" panose="02010600030101010101" pitchFamily="2" charset="-122"/>
              </a:rPr>
              <a:t>下，求一组未知变量</a:t>
            </a:r>
            <a:r>
              <a:rPr lang="en-US" altLang="zh-CN" sz="2400" i="1" err="1">
                <a:latin typeface="Times New Roman" panose="02020603050405020304" pitchFamily="18" charset="0"/>
                <a:ea typeface="宋体" panose="02010600030101010101" pitchFamily="2" charset="-122"/>
              </a:rPr>
              <a:t>x</a:t>
            </a:r>
            <a:r>
              <a:rPr lang="en-US" altLang="zh-CN" sz="2400" i="1" baseline="-30000" err="1">
                <a:latin typeface="Times New Roman" panose="02020603050405020304" pitchFamily="18" charset="0"/>
                <a:ea typeface="宋体" panose="02010600030101010101" pitchFamily="2" charset="-122"/>
              </a:rPr>
              <a:t>j</a:t>
            </a:r>
            <a:r>
              <a:rPr lang="zh-CN" altLang="en-US"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j</a:t>
            </a:r>
            <a:r>
              <a:rPr lang="en-US" altLang="zh-CN" sz="2400">
                <a:latin typeface="Times New Roman" panose="02020603050405020304" pitchFamily="18" charset="0"/>
                <a:ea typeface="宋体" panose="02010600030101010101" pitchFamily="2" charset="-122"/>
              </a:rPr>
              <a:t> = 1</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2</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）的值，使</a:t>
            </a:r>
            <a:endParaRPr lang="zh-CN" altLang="en-US" sz="2400">
              <a:latin typeface="Times New Roman" panose="02020603050405020304" pitchFamily="18" charset="0"/>
              <a:ea typeface="宋体" panose="02010600030101010101" pitchFamily="2" charset="-122"/>
            </a:endParaRPr>
          </a:p>
        </p:txBody>
      </p:sp>
      <p:graphicFrame>
        <p:nvGraphicFramePr>
          <p:cNvPr id="17413" name="对象 29705"/>
          <p:cNvGraphicFramePr/>
          <p:nvPr/>
        </p:nvGraphicFramePr>
        <p:xfrm>
          <a:off x="3657600" y="5791200"/>
          <a:ext cx="3051175" cy="838200"/>
        </p:xfrm>
        <a:graphic>
          <a:graphicData uri="http://schemas.openxmlformats.org/presentationml/2006/ole">
            <mc:AlternateContent xmlns:mc="http://schemas.openxmlformats.org/markup-compatibility/2006">
              <mc:Choice xmlns:v="urn:schemas-microsoft-com:vml" Requires="v">
                <p:oleObj spid="_x0000_s11304" name="" r:id="rId3" imgW="1231265" imgH="444500" progId="Equation.3">
                  <p:embed/>
                </p:oleObj>
              </mc:Choice>
              <mc:Fallback>
                <p:oleObj name="" r:id="rId3" imgW="1231265" imgH="444500" progId="Equation.3">
                  <p:embed/>
                  <p:pic>
                    <p:nvPicPr>
                      <p:cNvPr id="0" name="图片 3075"/>
                      <p:cNvPicPr/>
                      <p:nvPr/>
                    </p:nvPicPr>
                    <p:blipFill>
                      <a:blip r:embed="rId4"/>
                      <a:stretch>
                        <a:fillRect/>
                      </a:stretch>
                    </p:blipFill>
                    <p:spPr>
                      <a:xfrm>
                        <a:off x="3657600" y="5791200"/>
                        <a:ext cx="3051175" cy="838200"/>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文本框 31746"/>
          <p:cNvSpPr txBox="1"/>
          <p:nvPr/>
        </p:nvSpPr>
        <p:spPr>
          <a:xfrm>
            <a:off x="2193925" y="858838"/>
            <a:ext cx="184150" cy="457200"/>
          </a:xfrm>
          <a:prstGeom prst="rect">
            <a:avLst/>
          </a:prstGeom>
          <a:noFill/>
          <a:ln w="9525">
            <a:noFill/>
          </a:ln>
        </p:spPr>
        <p:txBody>
          <a:bodyPr wrap="none" anchor="t" anchorCtr="0">
            <a:spAutoFit/>
          </a:bodyPr>
          <a:lstStyle/>
          <a:p>
            <a:endParaRPr lang="zh-CN" sz="2400" dirty="0">
              <a:latin typeface="Arial" panose="020B0604020202020204" pitchFamily="34" charset="0"/>
              <a:ea typeface="宋体" panose="02010600030101010101" pitchFamily="2" charset="-122"/>
            </a:endParaRPr>
          </a:p>
        </p:txBody>
      </p:sp>
      <p:sp>
        <p:nvSpPr>
          <p:cNvPr id="18434" name="文本框 31747"/>
          <p:cNvSpPr txBox="1"/>
          <p:nvPr/>
        </p:nvSpPr>
        <p:spPr>
          <a:xfrm>
            <a:off x="2193925" y="782638"/>
            <a:ext cx="184150" cy="457200"/>
          </a:xfrm>
          <a:prstGeom prst="rect">
            <a:avLst/>
          </a:prstGeom>
          <a:noFill/>
          <a:ln w="9525">
            <a:noFill/>
          </a:ln>
        </p:spPr>
        <p:txBody>
          <a:bodyPr wrap="none" anchor="t" anchorCtr="0">
            <a:spAutoFit/>
          </a:bodyPr>
          <a:lstStyle/>
          <a:p>
            <a:endParaRPr lang="zh-CN" sz="2400" dirty="0">
              <a:latin typeface="Arial" panose="020B0604020202020204" pitchFamily="34" charset="0"/>
              <a:ea typeface="宋体" panose="02010600030101010101" pitchFamily="2" charset="-122"/>
            </a:endParaRPr>
          </a:p>
        </p:txBody>
      </p:sp>
      <p:sp>
        <p:nvSpPr>
          <p:cNvPr id="18435" name="文本框 31748"/>
          <p:cNvSpPr txBox="1"/>
          <p:nvPr/>
        </p:nvSpPr>
        <p:spPr>
          <a:xfrm>
            <a:off x="2346325" y="935038"/>
            <a:ext cx="184150" cy="457200"/>
          </a:xfrm>
          <a:prstGeom prst="rect">
            <a:avLst/>
          </a:prstGeom>
          <a:noFill/>
          <a:ln w="9525">
            <a:noFill/>
          </a:ln>
        </p:spPr>
        <p:txBody>
          <a:bodyPr wrap="none" anchor="t" anchorCtr="0">
            <a:spAutoFit/>
          </a:bodyPr>
          <a:lstStyle/>
          <a:p>
            <a:endParaRPr lang="zh-CN" sz="2400" dirty="0">
              <a:latin typeface="Arial" panose="020B0604020202020204" pitchFamily="34" charset="0"/>
              <a:ea typeface="宋体" panose="02010600030101010101" pitchFamily="2" charset="-122"/>
            </a:endParaRPr>
          </a:p>
        </p:txBody>
      </p:sp>
      <p:sp>
        <p:nvSpPr>
          <p:cNvPr id="18436" name="文本框 31749"/>
          <p:cNvSpPr txBox="1"/>
          <p:nvPr/>
        </p:nvSpPr>
        <p:spPr>
          <a:xfrm>
            <a:off x="2339975" y="476250"/>
            <a:ext cx="4968875" cy="519113"/>
          </a:xfrm>
          <a:prstGeom prst="rect">
            <a:avLst/>
          </a:prstGeom>
          <a:noFill/>
          <a:ln w="9525">
            <a:noFill/>
          </a:ln>
        </p:spPr>
        <p:txBody>
          <a:bodyPr anchor="t" anchorCtr="0">
            <a:spAutoFit/>
          </a:bodyPr>
          <a:lstStyle/>
          <a:p>
            <a:r>
              <a:rPr lang="zh-CN" altLang="en-US" sz="2800" dirty="0">
                <a:latin typeface="宋体" panose="02010600030101010101" pitchFamily="2" charset="-122"/>
                <a:ea typeface="宋体" panose="02010600030101010101" pitchFamily="2" charset="-122"/>
              </a:rPr>
              <a:t>其缩写形式为：在约束条件</a:t>
            </a:r>
            <a:r>
              <a:rPr lang="zh-CN" altLang="en-US" sz="2800" dirty="0">
                <a:latin typeface="Arial" panose="020B0604020202020204" pitchFamily="34" charset="0"/>
                <a:ea typeface="宋体" panose="02010600030101010101" pitchFamily="2" charset="-122"/>
              </a:rPr>
              <a:t> </a:t>
            </a:r>
            <a:endParaRPr lang="zh-CN" altLang="en-US" sz="2800">
              <a:latin typeface="Arial" panose="020B0604020202020204" pitchFamily="34" charset="0"/>
              <a:ea typeface="宋体" panose="02010600030101010101" pitchFamily="2" charset="-122"/>
            </a:endParaRPr>
          </a:p>
        </p:txBody>
      </p:sp>
      <p:sp>
        <p:nvSpPr>
          <p:cNvPr id="18437" name="矩形 31751"/>
          <p:cNvSpPr/>
          <p:nvPr/>
        </p:nvSpPr>
        <p:spPr>
          <a:xfrm>
            <a:off x="3748088" y="32051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18438" name="对象 31750"/>
          <p:cNvGraphicFramePr/>
          <p:nvPr/>
        </p:nvGraphicFramePr>
        <p:xfrm>
          <a:off x="3124200" y="838200"/>
          <a:ext cx="4038600" cy="1098550"/>
        </p:xfrm>
        <a:graphic>
          <a:graphicData uri="http://schemas.openxmlformats.org/presentationml/2006/ole">
            <mc:AlternateContent xmlns:mc="http://schemas.openxmlformats.org/markup-compatibility/2006">
              <mc:Choice xmlns:v="urn:schemas-microsoft-com:vml" Requires="v">
                <p:oleObj spid="_x0000_s12361" name="" r:id="rId1" imgW="1651000" imgH="444500" progId="Equation.3">
                  <p:embed/>
                </p:oleObj>
              </mc:Choice>
              <mc:Fallback>
                <p:oleObj name="" r:id="rId1" imgW="1651000" imgH="444500" progId="Equation.3">
                  <p:embed/>
                  <p:pic>
                    <p:nvPicPr>
                      <p:cNvPr id="0" name="图片 3086"/>
                      <p:cNvPicPr/>
                      <p:nvPr/>
                    </p:nvPicPr>
                    <p:blipFill>
                      <a:blip r:embed="rId2"/>
                      <a:stretch>
                        <a:fillRect/>
                      </a:stretch>
                    </p:blipFill>
                    <p:spPr>
                      <a:xfrm>
                        <a:off x="3124200" y="838200"/>
                        <a:ext cx="4038600" cy="1098550"/>
                      </a:xfrm>
                      <a:prstGeom prst="rect">
                        <a:avLst/>
                      </a:prstGeom>
                      <a:noFill/>
                      <a:ln w="38100">
                        <a:noFill/>
                        <a:miter/>
                      </a:ln>
                    </p:spPr>
                  </p:pic>
                </p:oleObj>
              </mc:Fallback>
            </mc:AlternateContent>
          </a:graphicData>
        </a:graphic>
      </p:graphicFrame>
      <p:sp>
        <p:nvSpPr>
          <p:cNvPr id="18439" name="文本框 31752"/>
          <p:cNvSpPr txBox="1"/>
          <p:nvPr/>
        </p:nvSpPr>
        <p:spPr>
          <a:xfrm>
            <a:off x="1476375" y="1828800"/>
            <a:ext cx="7667625" cy="2592388"/>
          </a:xfrm>
          <a:prstGeom prst="rect">
            <a:avLst/>
          </a:prstGeom>
          <a:noFill/>
          <a:ln w="9525">
            <a:noFill/>
          </a:ln>
        </p:spPr>
        <p:txBody>
          <a:bodyPr anchor="t" anchorCtr="0">
            <a:spAutoFit/>
          </a:bodyPr>
          <a:lstStyle/>
          <a:p>
            <a:pPr algn="ctr"/>
            <a:r>
              <a:rPr lang="en-US" altLang="zh-CN" sz="2400">
                <a:latin typeface="Times New Roman" panose="02020603050405020304" pitchFamily="18" charset="0"/>
                <a:ea typeface="宋体" panose="02010600030101010101" pitchFamily="2" charset="-122"/>
              </a:rPr>
              <a:t> x≥</a:t>
            </a:r>
            <a:r>
              <a:rPr lang="en-US" altLang="zh-CN" sz="2400">
                <a:latin typeface="Arial" panose="020B0604020202020204" pitchFamily="34" charset="0"/>
                <a:ea typeface="宋体" panose="02010600030101010101" pitchFamily="2" charset="-122"/>
              </a:rPr>
              <a:t>0</a:t>
            </a:r>
            <a:r>
              <a:rPr lang="zh-CN" altLang="en-US" sz="2400">
                <a:latin typeface="Times New Roman" panose="02020603050405020304" pitchFamily="18" charset="0"/>
                <a:ea typeface="宋体" panose="02010600030101010101" pitchFamily="2" charset="-122"/>
              </a:rPr>
              <a:t>（</a:t>
            </a:r>
            <a:r>
              <a:rPr lang="en-US" altLang="zh-CN" sz="2400">
                <a:latin typeface="Arial" panose="020B0604020202020204" pitchFamily="34" charset="0"/>
                <a:ea typeface="宋体" panose="02010600030101010101" pitchFamily="2" charset="-122"/>
              </a:rPr>
              <a:t>j = 1</a:t>
            </a:r>
            <a:r>
              <a:rPr lang="zh-CN" altLang="en-US" sz="2400">
                <a:latin typeface="Times New Roman" panose="02020603050405020304" pitchFamily="18" charset="0"/>
                <a:ea typeface="宋体" panose="02010600030101010101" pitchFamily="2" charset="-122"/>
              </a:rPr>
              <a:t>，</a:t>
            </a:r>
            <a:r>
              <a:rPr lang="en-US" altLang="zh-CN" sz="2400">
                <a:latin typeface="Arial" panose="020B0604020202020204" pitchFamily="34" charset="0"/>
                <a:ea typeface="宋体" panose="02010600030101010101" pitchFamily="2" charset="-122"/>
              </a:rPr>
              <a:t>2</a:t>
            </a:r>
            <a:r>
              <a:rPr lang="zh-CN" altLang="en-US" sz="2400">
                <a:latin typeface="宋体" panose="02010600030101010101" pitchFamily="2" charset="-122"/>
                <a:ea typeface="宋体" panose="02010600030101010101" pitchFamily="2" charset="-122"/>
              </a:rPr>
              <a:t>，</a:t>
            </a:r>
            <a:r>
              <a:rPr lang="en-US" altLang="zh-CN" sz="2400">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a:t>
            </a:r>
            <a:r>
              <a:rPr lang="en-US" altLang="zh-CN" sz="2400" i="1">
                <a:latin typeface="Arial" panose="020B0604020202020204" pitchFamily="34" charset="0"/>
                <a:ea typeface="宋体" panose="02010600030101010101" pitchFamily="2" charset="-122"/>
              </a:rPr>
              <a:t>n</a:t>
            </a:r>
            <a:r>
              <a:rPr lang="zh-CN" altLang="en-US" sz="2400">
                <a:latin typeface="Times New Roman" panose="02020603050405020304" pitchFamily="18" charset="0"/>
                <a:ea typeface="宋体" panose="02010600030101010101" pitchFamily="2" charset="-122"/>
              </a:rPr>
              <a:t>）</a:t>
            </a:r>
            <a:r>
              <a:rPr lang="zh-CN" altLang="en-US" sz="2400">
                <a:latin typeface="Arial" panose="020B0604020202020204" pitchFamily="34" charset="0"/>
                <a:ea typeface="宋体" panose="02010600030101010101" pitchFamily="2" charset="-122"/>
              </a:rPr>
              <a:t>             </a:t>
            </a:r>
            <a:endParaRPr lang="zh-CN" altLang="en-US" sz="2400">
              <a:latin typeface="Arial" panose="020B0604020202020204" pitchFamily="34" charset="0"/>
              <a:ea typeface="宋体" panose="02010600030101010101" pitchFamily="2" charset="-122"/>
            </a:endParaRPr>
          </a:p>
          <a:p>
            <a:r>
              <a:rPr lang="zh-CN" altLang="en-US" sz="2800" dirty="0">
                <a:latin typeface="Times New Roman" panose="02020603050405020304" pitchFamily="18" charset="0"/>
                <a:ea typeface="宋体" panose="02010600030101010101" pitchFamily="2" charset="-122"/>
              </a:rPr>
              <a:t>下，求一组未知变量（</a:t>
            </a:r>
            <a:r>
              <a:rPr lang="en-US" altLang="zh-CN" sz="2800" i="1">
                <a:latin typeface="Times New Roman" panose="02020603050405020304" pitchFamily="18" charset="0"/>
                <a:ea typeface="宋体" panose="02010600030101010101" pitchFamily="2" charset="-122"/>
              </a:rPr>
              <a:t>j</a:t>
            </a:r>
            <a:r>
              <a:rPr lang="en-US" altLang="zh-CN" sz="2800" i="1">
                <a:latin typeface="Arial" panose="020B0604020202020204" pitchFamily="34" charset="0"/>
                <a:ea typeface="宋体" panose="02010600030101010101" pitchFamily="2" charset="-122"/>
              </a:rPr>
              <a:t> </a:t>
            </a:r>
            <a:r>
              <a:rPr lang="en-US" altLang="zh-CN" sz="2800">
                <a:latin typeface="Arial" panose="020B0604020202020204" pitchFamily="34"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1</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2</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n</a:t>
            </a:r>
            <a:r>
              <a:rPr lang="zh-CN" altLang="en-US" sz="2800" dirty="0">
                <a:latin typeface="Times New Roman" panose="02020603050405020304" pitchFamily="18" charset="0"/>
                <a:ea typeface="宋体" panose="02010600030101010101" pitchFamily="2" charset="-122"/>
              </a:rPr>
              <a:t>）的值，使得</a:t>
            </a:r>
            <a:endParaRPr lang="zh-CN" altLang="en-US" sz="2800" dirty="0">
              <a:latin typeface="Times New Roman" panose="02020603050405020304" pitchFamily="18" charset="0"/>
              <a:ea typeface="宋体" panose="02010600030101010101" pitchFamily="2" charset="-122"/>
            </a:endParaRPr>
          </a:p>
          <a:p>
            <a:endParaRPr lang="zh-CN" altLang="en-US" sz="2800" dirty="0">
              <a:latin typeface="Arial" panose="020B0604020202020204" pitchFamily="34" charset="0"/>
              <a:ea typeface="宋体" panose="02010600030101010101" pitchFamily="2" charset="-122"/>
            </a:endParaRPr>
          </a:p>
          <a:p>
            <a:r>
              <a:rPr lang="zh-CN" altLang="en-US" sz="2800" dirty="0">
                <a:latin typeface="Arial" panose="020B0604020202020204" pitchFamily="34" charset="0"/>
                <a:ea typeface="宋体" panose="02010600030101010101" pitchFamily="2" charset="-122"/>
              </a:rPr>
              <a:t>                                                 </a:t>
            </a:r>
            <a:endParaRPr lang="zh-CN" altLang="en-US" sz="2800" dirty="0">
              <a:latin typeface="Arial" panose="020B0604020202020204" pitchFamily="34" charset="0"/>
              <a:ea typeface="宋体" panose="02010600030101010101" pitchFamily="2" charset="-122"/>
            </a:endParaRPr>
          </a:p>
          <a:p>
            <a:r>
              <a:rPr lang="zh-CN" altLang="en-US" sz="2800" dirty="0">
                <a:latin typeface="宋体" panose="02010600030101010101" pitchFamily="2" charset="-122"/>
                <a:ea typeface="宋体" panose="02010600030101010101" pitchFamily="2" charset="-122"/>
              </a:rPr>
              <a:t>    常记为如下更为紧凑的形式</a:t>
            </a:r>
            <a:r>
              <a:rPr lang="zh-CN" altLang="en-US" sz="2800" dirty="0">
                <a:latin typeface="Arial" panose="020B0604020202020204" pitchFamily="34" charset="0"/>
                <a:ea typeface="宋体" panose="02010600030101010101" pitchFamily="2" charset="-122"/>
              </a:rPr>
              <a:t> </a:t>
            </a:r>
            <a:endParaRPr lang="zh-CN" altLang="en-US" sz="2800">
              <a:latin typeface="Arial" panose="020B0604020202020204" pitchFamily="34" charset="0"/>
              <a:ea typeface="宋体" panose="02010600030101010101" pitchFamily="2" charset="-122"/>
            </a:endParaRPr>
          </a:p>
        </p:txBody>
      </p:sp>
      <p:sp>
        <p:nvSpPr>
          <p:cNvPr id="18440" name="矩形 31754"/>
          <p:cNvSpPr/>
          <p:nvPr/>
        </p:nvSpPr>
        <p:spPr>
          <a:xfrm>
            <a:off x="3733800" y="27432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18441" name="矩形 31756"/>
          <p:cNvSpPr/>
          <p:nvPr/>
        </p:nvSpPr>
        <p:spPr>
          <a:xfrm>
            <a:off x="3938588" y="32051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18442" name="对象 31755"/>
          <p:cNvGraphicFramePr/>
          <p:nvPr/>
        </p:nvGraphicFramePr>
        <p:xfrm>
          <a:off x="3771900" y="2895600"/>
          <a:ext cx="2513013" cy="915988"/>
        </p:xfrm>
        <a:graphic>
          <a:graphicData uri="http://schemas.openxmlformats.org/presentationml/2006/ole">
            <mc:AlternateContent xmlns:mc="http://schemas.openxmlformats.org/markup-compatibility/2006">
              <mc:Choice xmlns:v="urn:schemas-microsoft-com:vml" Requires="v">
                <p:oleObj spid="_x0000_s12362" name="" r:id="rId3" imgW="1231265" imgH="444500" progId="Equation.3">
                  <p:embed/>
                </p:oleObj>
              </mc:Choice>
              <mc:Fallback>
                <p:oleObj name="" r:id="rId3" imgW="1231265" imgH="444500" progId="Equation.3">
                  <p:embed/>
                  <p:pic>
                    <p:nvPicPr>
                      <p:cNvPr id="0" name="图片 3091"/>
                      <p:cNvPicPr/>
                      <p:nvPr/>
                    </p:nvPicPr>
                    <p:blipFill>
                      <a:blip r:embed="rId4"/>
                      <a:stretch>
                        <a:fillRect/>
                      </a:stretch>
                    </p:blipFill>
                    <p:spPr>
                      <a:xfrm>
                        <a:off x="3771900" y="2895600"/>
                        <a:ext cx="2513013" cy="915988"/>
                      </a:xfrm>
                      <a:prstGeom prst="rect">
                        <a:avLst/>
                      </a:prstGeom>
                      <a:noFill/>
                      <a:ln w="38100">
                        <a:noFill/>
                        <a:miter/>
                      </a:ln>
                    </p:spPr>
                  </p:pic>
                </p:oleObj>
              </mc:Fallback>
            </mc:AlternateContent>
          </a:graphicData>
        </a:graphic>
      </p:graphicFrame>
      <p:graphicFrame>
        <p:nvGraphicFramePr>
          <p:cNvPr id="18443" name="对象 31753"/>
          <p:cNvGraphicFramePr/>
          <p:nvPr/>
        </p:nvGraphicFramePr>
        <p:xfrm>
          <a:off x="1763713" y="4267200"/>
          <a:ext cx="3276600" cy="2590800"/>
        </p:xfrm>
        <a:graphic>
          <a:graphicData uri="http://schemas.openxmlformats.org/presentationml/2006/ole">
            <mc:AlternateContent xmlns:mc="http://schemas.openxmlformats.org/markup-compatibility/2006">
              <mc:Choice xmlns:v="urn:schemas-microsoft-com:vml" Requires="v">
                <p:oleObj spid="_x0000_s12363" name="" r:id="rId5" imgW="1727200" imgH="1397000" progId="Equation.3">
                  <p:embed/>
                </p:oleObj>
              </mc:Choice>
              <mc:Fallback>
                <p:oleObj name="" r:id="rId5" imgW="1727200" imgH="1397000" progId="Equation.3">
                  <p:embed/>
                  <p:pic>
                    <p:nvPicPr>
                      <p:cNvPr id="0" name="图片 3087"/>
                      <p:cNvPicPr/>
                      <p:nvPr/>
                    </p:nvPicPr>
                    <p:blipFill>
                      <a:blip r:embed="rId6"/>
                      <a:stretch>
                        <a:fillRect/>
                      </a:stretch>
                    </p:blipFill>
                    <p:spPr>
                      <a:xfrm>
                        <a:off x="1763713" y="4267200"/>
                        <a:ext cx="3276600" cy="2590800"/>
                      </a:xfrm>
                      <a:prstGeom prst="rect">
                        <a:avLst/>
                      </a:prstGeom>
                      <a:noFill/>
                      <a:ln w="38100">
                        <a:noFill/>
                        <a:miter/>
                      </a:ln>
                    </p:spPr>
                  </p:pic>
                </p:oleObj>
              </mc:Fallback>
            </mc:AlternateContent>
          </a:graphicData>
        </a:graphic>
      </p:graphicFrame>
      <p:sp>
        <p:nvSpPr>
          <p:cNvPr id="18444" name="文本框 31757"/>
          <p:cNvSpPr txBox="1"/>
          <p:nvPr/>
        </p:nvSpPr>
        <p:spPr>
          <a:xfrm>
            <a:off x="5029200" y="4876800"/>
            <a:ext cx="488950" cy="457200"/>
          </a:xfrm>
          <a:prstGeom prst="rect">
            <a:avLst/>
          </a:prstGeom>
          <a:noFill/>
          <a:ln w="9525">
            <a:noFill/>
          </a:ln>
        </p:spPr>
        <p:txBody>
          <a:bodyPr anchor="t" anchorCtr="0">
            <a:spAutoFit/>
          </a:bodyPr>
          <a:lstStyle/>
          <a:p>
            <a:r>
              <a:rPr lang="zh-CN" altLang="en-US" sz="2400">
                <a:latin typeface="Arial" panose="020B0604020202020204" pitchFamily="34" charset="0"/>
                <a:ea typeface="宋体" panose="02010600030101010101" pitchFamily="2" charset="-122"/>
              </a:rPr>
              <a:t>或</a:t>
            </a:r>
            <a:endParaRPr lang="zh-CN" altLang="en-US" sz="2400">
              <a:latin typeface="Arial" panose="020B0604020202020204" pitchFamily="34" charset="0"/>
              <a:ea typeface="宋体" panose="02010600030101010101" pitchFamily="2" charset="-122"/>
            </a:endParaRPr>
          </a:p>
        </p:txBody>
      </p:sp>
      <p:graphicFrame>
        <p:nvGraphicFramePr>
          <p:cNvPr id="18445" name="对象 31758"/>
          <p:cNvGraphicFramePr/>
          <p:nvPr/>
        </p:nvGraphicFramePr>
        <p:xfrm>
          <a:off x="6048375" y="4572000"/>
          <a:ext cx="2722563" cy="1673225"/>
        </p:xfrm>
        <a:graphic>
          <a:graphicData uri="http://schemas.openxmlformats.org/presentationml/2006/ole">
            <mc:AlternateContent xmlns:mc="http://schemas.openxmlformats.org/markup-compatibility/2006">
              <mc:Choice xmlns:v="urn:schemas-microsoft-com:vml" Requires="v">
                <p:oleObj spid="_x0000_s12364" name="" r:id="rId7" imgW="1409065" imgH="711200" progId="Equation.3">
                  <p:embed/>
                </p:oleObj>
              </mc:Choice>
              <mc:Fallback>
                <p:oleObj name="" r:id="rId7" imgW="1409065" imgH="711200" progId="Equation.3">
                  <p:embed/>
                  <p:pic>
                    <p:nvPicPr>
                      <p:cNvPr id="0" name="图片 3090"/>
                      <p:cNvPicPr/>
                      <p:nvPr/>
                    </p:nvPicPr>
                    <p:blipFill>
                      <a:blip r:embed="rId8"/>
                      <a:stretch>
                        <a:fillRect/>
                      </a:stretch>
                    </p:blipFill>
                    <p:spPr>
                      <a:xfrm>
                        <a:off x="6048375" y="4572000"/>
                        <a:ext cx="2722563" cy="1673225"/>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7" name="标题 33793"/>
          <p:cNvSpPr>
            <a:spLocks noGrp="1" noRot="1"/>
          </p:cNvSpPr>
          <p:nvPr>
            <p:ph type="title"/>
          </p:nvPr>
        </p:nvSpPr>
        <p:spPr>
          <a:xfrm>
            <a:off x="1476375" y="692150"/>
            <a:ext cx="8059738" cy="533400"/>
          </a:xfrm>
        </p:spPr>
        <p:txBody>
          <a:bodyPr anchor="ctr" anchorCtr="0"/>
          <a:lstStyle/>
          <a:p>
            <a:r>
              <a:rPr lang="zh-CN" altLang="en-US" sz="4000" b="1" dirty="0">
                <a:solidFill>
                  <a:schemeClr val="tx1"/>
                </a:solidFill>
                <a:latin typeface="Times New Roman" panose="02020603050405020304" pitchFamily="18" charset="0"/>
                <a:ea typeface="黑体" panose="02010609060101010101" pitchFamily="2" charset="-122"/>
              </a:rPr>
              <a:t>（二）化为标准形式的方法</a:t>
            </a:r>
            <a:r>
              <a:rPr lang="zh-CN" altLang="en-US" sz="4000" b="1" dirty="0">
                <a:solidFill>
                  <a:srgbClr val="0066FF"/>
                </a:solidFill>
                <a:latin typeface="Times New Roman" panose="02020603050405020304" pitchFamily="18" charset="0"/>
              </a:rPr>
              <a:t> </a:t>
            </a:r>
            <a:endParaRPr lang="zh-CN" altLang="en-US" sz="4000" b="1">
              <a:solidFill>
                <a:srgbClr val="0066FF"/>
              </a:solidFill>
              <a:latin typeface="Times New Roman" panose="02020603050405020304" pitchFamily="18" charset="0"/>
            </a:endParaRPr>
          </a:p>
        </p:txBody>
      </p:sp>
      <p:sp>
        <p:nvSpPr>
          <p:cNvPr id="19458" name="文本占位符 33794"/>
          <p:cNvSpPr>
            <a:spLocks noGrp="1" noRot="1"/>
          </p:cNvSpPr>
          <p:nvPr>
            <p:ph idx="1"/>
          </p:nvPr>
        </p:nvSpPr>
        <p:spPr>
          <a:xfrm>
            <a:off x="971550" y="1371600"/>
            <a:ext cx="7791450" cy="5181600"/>
          </a:xfrm>
        </p:spPr>
        <p:txBody>
          <a:bodyPr anchor="t" anchorCtr="0"/>
          <a:lstStyle/>
          <a:p>
            <a:pPr marL="100330" indent="-100330">
              <a:lnSpc>
                <a:spcPct val="12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具体的线性规划问题，需要对目标函数或约束条件进行转换，化为标准形式。</a:t>
            </a:r>
            <a:endParaRPr lang="zh-CN" altLang="en-US" sz="2800" dirty="0">
              <a:latin typeface="Times New Roman" panose="02020603050405020304" pitchFamily="18" charset="0"/>
            </a:endParaRPr>
          </a:p>
          <a:p>
            <a:pPr marL="100330" indent="-100330">
              <a:lnSpc>
                <a:spcPct val="120000"/>
              </a:lnSpc>
              <a:buSzPct val="80000"/>
            </a:pPr>
            <a:r>
              <a:rPr lang="zh-CN" altLang="en-US" sz="2800" b="1" dirty="0">
                <a:latin typeface="Times New Roman" panose="02020603050405020304" pitchFamily="18" charset="0"/>
                <a:ea typeface="黑体" panose="02010609060101010101" pitchFamily="2" charset="-122"/>
              </a:rPr>
              <a:t>目标函数化为标准形式的方法</a:t>
            </a:r>
            <a:r>
              <a:rPr lang="zh-CN" altLang="en-US" sz="2800" b="1" dirty="0">
                <a:latin typeface="Times New Roman" panose="02020603050405020304" pitchFamily="18" charset="0"/>
              </a:rPr>
              <a:t> </a:t>
            </a:r>
            <a:endParaRPr lang="zh-CN" altLang="en-US" sz="2800" dirty="0">
              <a:latin typeface="Times New Roman" panose="02020603050405020304" pitchFamily="18" charset="0"/>
            </a:endParaRPr>
          </a:p>
          <a:p>
            <a:pPr marL="100330" indent="-100330">
              <a:lnSpc>
                <a:spcPct val="120000"/>
              </a:lnSpc>
            </a:pPr>
            <a:r>
              <a:rPr lang="zh-CN" altLang="en-US" sz="2800" dirty="0">
                <a:latin typeface="Times New Roman" panose="02020603050405020304" pitchFamily="18" charset="0"/>
              </a:rPr>
              <a:t>         如果其线性规划问题的目标函数为</a:t>
            </a:r>
            <a:endParaRPr lang="zh-CN" altLang="en-US" sz="2800" dirty="0">
              <a:latin typeface="Times New Roman" panose="02020603050405020304" pitchFamily="18" charset="0"/>
            </a:endParaRPr>
          </a:p>
          <a:p>
            <a:pPr marL="100330" indent="-100330" algn="ctr">
              <a:lnSpc>
                <a:spcPct val="120000"/>
              </a:lnSpc>
            </a:pPr>
            <a:r>
              <a:rPr lang="zh-CN" altLang="en-US" sz="2800" dirty="0">
                <a:latin typeface="Times New Roman" panose="02020603050405020304" pitchFamily="18" charset="0"/>
              </a:rPr>
              <a:t> </a:t>
            </a:r>
            <a:r>
              <a:rPr lang="en-US" altLang="zh-CN" sz="2800">
                <a:latin typeface="Times New Roman" panose="02020603050405020304" pitchFamily="18" charset="0"/>
              </a:rPr>
              <a:t>min </a:t>
            </a:r>
            <a:r>
              <a:rPr lang="en-US" altLang="zh-CN" sz="2800" i="1">
                <a:latin typeface="Times New Roman" panose="02020603050405020304" pitchFamily="18" charset="0"/>
              </a:rPr>
              <a:t>Z</a:t>
            </a:r>
            <a:r>
              <a:rPr lang="en-US" altLang="zh-CN" sz="2800">
                <a:latin typeface="宋体" panose="02010600030101010101" pitchFamily="2" charset="-122"/>
              </a:rPr>
              <a:t> </a:t>
            </a:r>
            <a:r>
              <a:rPr lang="en-US" altLang="zh-CN" sz="2800" i="1">
                <a:latin typeface="Times New Roman" panose="02020603050405020304" pitchFamily="18" charset="0"/>
              </a:rPr>
              <a:t>= CX</a:t>
            </a:r>
            <a:r>
              <a:rPr lang="en-US" altLang="zh-CN" sz="2800">
                <a:latin typeface="Times New Roman" panose="02020603050405020304" pitchFamily="18" charset="0"/>
              </a:rPr>
              <a:t> </a:t>
            </a:r>
            <a:endParaRPr lang="en-US" altLang="zh-CN" sz="2800">
              <a:latin typeface="Times New Roman" panose="02020603050405020304" pitchFamily="18" charset="0"/>
            </a:endParaRPr>
          </a:p>
          <a:p>
            <a:pPr marL="100330" indent="-100330">
              <a:lnSpc>
                <a:spcPct val="12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显然有      </a:t>
            </a:r>
            <a:r>
              <a:rPr lang="en-US" altLang="zh-CN" sz="2800" err="1">
                <a:latin typeface="Times New Roman" panose="02020603050405020304" pitchFamily="18" charset="0"/>
              </a:rPr>
              <a:t>min</a:t>
            </a:r>
            <a:r>
              <a:rPr lang="en-US" altLang="zh-CN" sz="2800" i="1" err="1">
                <a:latin typeface="Times New Roman" panose="02020603050405020304" pitchFamily="18" charset="0"/>
              </a:rPr>
              <a:t>Z</a:t>
            </a:r>
            <a:r>
              <a:rPr lang="en-US" altLang="zh-CN" sz="2800" i="1">
                <a:latin typeface="Times New Roman" panose="02020603050405020304" pitchFamily="18" charset="0"/>
              </a:rPr>
              <a:t> </a:t>
            </a:r>
            <a:r>
              <a:rPr lang="en-US" altLang="zh-CN" sz="2800">
                <a:latin typeface="宋体" panose="02010600030101010101" pitchFamily="2" charset="-122"/>
              </a:rPr>
              <a:t>= </a:t>
            </a:r>
            <a:r>
              <a:rPr lang="en-US" altLang="zh-CN" sz="2800">
                <a:latin typeface="Times New Roman" panose="02020603050405020304" pitchFamily="18" charset="0"/>
              </a:rPr>
              <a:t>max</a:t>
            </a:r>
            <a:r>
              <a:rPr lang="en-US" altLang="zh-CN" sz="2800">
                <a:latin typeface="宋体" panose="02010600030101010101" pitchFamily="2" charset="-122"/>
              </a:rPr>
              <a:t>(-</a:t>
            </a:r>
            <a:r>
              <a:rPr lang="en-US" altLang="zh-CN" sz="2800" i="1">
                <a:latin typeface="Times New Roman" panose="02020603050405020304" pitchFamily="18" charset="0"/>
              </a:rPr>
              <a:t>Z</a:t>
            </a:r>
            <a:r>
              <a:rPr lang="en-US" altLang="zh-CN" sz="2800">
                <a:latin typeface="宋体" panose="02010600030101010101" pitchFamily="2" charset="-122"/>
              </a:rPr>
              <a:t>)=</a:t>
            </a:r>
            <a:r>
              <a:rPr lang="en-US" altLang="zh-CN" sz="2800">
                <a:latin typeface="Times New Roman" panose="02020603050405020304" pitchFamily="18" charset="0"/>
              </a:rPr>
              <a:t>max</a:t>
            </a:r>
            <a:r>
              <a:rPr lang="en-US" altLang="zh-CN" sz="2800">
                <a:latin typeface="宋体" panose="02010600030101010101" pitchFamily="2" charset="-122"/>
              </a:rPr>
              <a:t> </a:t>
            </a:r>
            <a:r>
              <a:rPr lang="en-US" altLang="zh-CN" sz="2800" i="1">
                <a:latin typeface="Times New Roman" panose="02020603050405020304" pitchFamily="18" charset="0"/>
              </a:rPr>
              <a:t>Z</a:t>
            </a:r>
            <a:r>
              <a:rPr lang="en-US" altLang="zh-CN" sz="2800">
                <a:latin typeface="宋体" panose="02010600030101010101" pitchFamily="2" charset="-122"/>
              </a:rPr>
              <a:t>′</a:t>
            </a:r>
            <a:r>
              <a:rPr lang="en-US" altLang="zh-CN" sz="2800">
                <a:latin typeface="Times New Roman" panose="02020603050405020304" pitchFamily="18" charset="0"/>
              </a:rPr>
              <a:t> </a:t>
            </a:r>
            <a:endParaRPr lang="en-US" altLang="zh-CN" sz="2800">
              <a:latin typeface="Times New Roman" panose="02020603050405020304" pitchFamily="18" charset="0"/>
            </a:endParaRPr>
          </a:p>
          <a:p>
            <a:pPr marL="100330" indent="-100330">
              <a:lnSpc>
                <a:spcPct val="12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则目标函数的标准形式为    </a:t>
            </a:r>
            <a:r>
              <a:rPr lang="en-US" altLang="zh-CN" sz="2800">
                <a:latin typeface="Times New Roman" panose="02020603050405020304" pitchFamily="18" charset="0"/>
              </a:rPr>
              <a:t>max</a:t>
            </a:r>
            <a:r>
              <a:rPr lang="en-US" altLang="zh-CN" sz="2800">
                <a:latin typeface="宋体" panose="02010600030101010101" pitchFamily="2" charset="-122"/>
              </a:rPr>
              <a:t> </a:t>
            </a:r>
            <a:r>
              <a:rPr lang="en-US" altLang="zh-CN" sz="2800" i="1">
                <a:latin typeface="Times New Roman" panose="02020603050405020304" pitchFamily="18" charset="0"/>
              </a:rPr>
              <a:t>Z</a:t>
            </a:r>
            <a:r>
              <a:rPr lang="zh-CN" altLang="en-US" sz="2800">
                <a:latin typeface="宋体" panose="02010600030101010101" pitchFamily="2" charset="-122"/>
              </a:rPr>
              <a:t>ˊ</a:t>
            </a:r>
            <a:r>
              <a:rPr lang="en-US" altLang="zh-CN" sz="2800">
                <a:latin typeface="宋体" panose="02010600030101010101" pitchFamily="2" charset="-122"/>
              </a:rPr>
              <a:t>= -</a:t>
            </a:r>
            <a:r>
              <a:rPr lang="en-US" altLang="zh-CN" sz="2800" i="1">
                <a:latin typeface="Times New Roman" panose="02020603050405020304" pitchFamily="18" charset="0"/>
              </a:rPr>
              <a:t>CX</a:t>
            </a:r>
            <a:endParaRPr lang="en-US" altLang="zh-CN" sz="2800" i="1">
              <a:latin typeface="Times New Roman" panose="02020603050405020304" pitchFamily="18" charset="0"/>
            </a:endParaRPr>
          </a:p>
          <a:p>
            <a:pPr marL="100330" indent="-100330">
              <a:buSzPct val="150000"/>
              <a:buFont typeface="Wingdings" panose="05000000000000000000" pitchFamily="2" charset="2"/>
              <a:buChar char="§"/>
            </a:pPr>
            <a:endParaRPr lang="en-US" altLang="zh-CN" sz="2800">
              <a:latin typeface="Times New Roman" panose="02020603050405020304" pitchFamily="18" charset="0"/>
            </a:endParaRPr>
          </a:p>
        </p:txBody>
      </p:sp>
      <p:sp>
        <p:nvSpPr>
          <p:cNvPr id="19459" name="矩形 33796"/>
          <p:cNvSpPr/>
          <p:nvPr/>
        </p:nvSpPr>
        <p:spPr>
          <a:xfrm>
            <a:off x="3543300" y="33147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19460" name="文本框 33797"/>
          <p:cNvSpPr txBox="1"/>
          <p:nvPr/>
        </p:nvSpPr>
        <p:spPr>
          <a:xfrm>
            <a:off x="1295400" y="4876800"/>
            <a:ext cx="6477000" cy="396875"/>
          </a:xfrm>
          <a:prstGeom prst="rect">
            <a:avLst/>
          </a:prstGeom>
          <a:noFill/>
          <a:ln w="9525">
            <a:noFill/>
          </a:ln>
        </p:spPr>
        <p:txBody>
          <a:bodyPr anchor="t" anchorCtr="0">
            <a:spAutoFit/>
          </a:bodyPr>
          <a:lstStyle/>
          <a:p>
            <a:endParaRPr lang="zh-CN" sz="2000" dirty="0">
              <a:latin typeface="Times New Roman" panose="02020603050405020304" pitchFamily="18" charset="0"/>
              <a:ea typeface="宋体" panose="02010600030101010101" pitchFamily="2" charset="-122"/>
            </a:endParaRPr>
          </a:p>
        </p:txBody>
      </p:sp>
      <p:sp>
        <p:nvSpPr>
          <p:cNvPr id="19461" name="矩形 33799"/>
          <p:cNvSpPr/>
          <p:nvPr/>
        </p:nvSpPr>
        <p:spPr>
          <a:xfrm>
            <a:off x="4319588" y="33147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19462" name="矩形 33805"/>
          <p:cNvSpPr/>
          <p:nvPr/>
        </p:nvSpPr>
        <p:spPr>
          <a:xfrm>
            <a:off x="3595688" y="32051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19463" name="文本框 33806"/>
          <p:cNvSpPr txBox="1"/>
          <p:nvPr/>
        </p:nvSpPr>
        <p:spPr>
          <a:xfrm>
            <a:off x="1219200" y="5791200"/>
            <a:ext cx="184150" cy="457200"/>
          </a:xfrm>
          <a:prstGeom prst="rect">
            <a:avLst/>
          </a:prstGeom>
          <a:noFill/>
          <a:ln w="9525">
            <a:noFill/>
          </a:ln>
        </p:spPr>
        <p:txBody>
          <a:bodyPr wrap="none" anchor="t" anchorCtr="0">
            <a:spAutoFit/>
          </a:bodyPr>
          <a:lstStyle/>
          <a:p>
            <a:pPr fontAlgn="b"/>
            <a:endParaRPr lang="zh-CN" sz="2400" dirty="0">
              <a:latin typeface="Times New Roman" panose="02020603050405020304" pitchFamily="18"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1" name="文本框 101377"/>
          <p:cNvSpPr txBox="1"/>
          <p:nvPr/>
        </p:nvSpPr>
        <p:spPr>
          <a:xfrm>
            <a:off x="1524000" y="990600"/>
            <a:ext cx="7391400" cy="457200"/>
          </a:xfrm>
          <a:prstGeom prst="rect">
            <a:avLst/>
          </a:prstGeom>
          <a:noFill/>
          <a:ln w="9525">
            <a:noFill/>
          </a:ln>
        </p:spPr>
        <p:txBody>
          <a:bodyPr anchor="t" anchorCtr="0">
            <a:spAutoFit/>
          </a:bodyPr>
          <a:lstStyle/>
          <a:p>
            <a:pPr algn="ctr">
              <a:spcBef>
                <a:spcPct val="50000"/>
              </a:spcBef>
            </a:pPr>
            <a:endParaRPr lang="zh-CN" sz="2400" dirty="0">
              <a:latin typeface="Arial" panose="020B0604020202020204" pitchFamily="34" charset="0"/>
              <a:ea typeface="宋体" panose="02010600030101010101" pitchFamily="2" charset="-122"/>
            </a:endParaRPr>
          </a:p>
        </p:txBody>
      </p:sp>
      <p:graphicFrame>
        <p:nvGraphicFramePr>
          <p:cNvPr id="20482" name="对象 101380"/>
          <p:cNvGraphicFramePr/>
          <p:nvPr/>
        </p:nvGraphicFramePr>
        <p:xfrm>
          <a:off x="2484438" y="2205038"/>
          <a:ext cx="6477000" cy="495300"/>
        </p:xfrm>
        <a:graphic>
          <a:graphicData uri="http://schemas.openxmlformats.org/presentationml/2006/ole">
            <mc:AlternateContent xmlns:mc="http://schemas.openxmlformats.org/markup-compatibility/2006">
              <mc:Choice xmlns:v="urn:schemas-microsoft-com:vml" Requires="v">
                <p:oleObj spid="_x0000_s13385" name="" r:id="rId1" imgW="2057400" imgH="228600" progId="Equation.3">
                  <p:embed/>
                </p:oleObj>
              </mc:Choice>
              <mc:Fallback>
                <p:oleObj name="" r:id="rId1" imgW="2057400" imgH="228600" progId="Equation.3">
                  <p:embed/>
                  <p:pic>
                    <p:nvPicPr>
                      <p:cNvPr id="0" name="图片 3084"/>
                      <p:cNvPicPr/>
                      <p:nvPr/>
                    </p:nvPicPr>
                    <p:blipFill>
                      <a:blip r:embed="rId2"/>
                      <a:stretch>
                        <a:fillRect/>
                      </a:stretch>
                    </p:blipFill>
                    <p:spPr>
                      <a:xfrm>
                        <a:off x="2484438" y="2205038"/>
                        <a:ext cx="6477000" cy="495300"/>
                      </a:xfrm>
                      <a:prstGeom prst="rect">
                        <a:avLst/>
                      </a:prstGeom>
                      <a:noFill/>
                      <a:ln w="38100">
                        <a:noFill/>
                        <a:miter/>
                      </a:ln>
                    </p:spPr>
                  </p:pic>
                </p:oleObj>
              </mc:Fallback>
            </mc:AlternateContent>
          </a:graphicData>
        </a:graphic>
      </p:graphicFrame>
      <p:graphicFrame>
        <p:nvGraphicFramePr>
          <p:cNvPr id="20483" name="对象 101382"/>
          <p:cNvGraphicFramePr/>
          <p:nvPr/>
        </p:nvGraphicFramePr>
        <p:xfrm>
          <a:off x="2555875" y="3573463"/>
          <a:ext cx="6400800" cy="457200"/>
        </p:xfrm>
        <a:graphic>
          <a:graphicData uri="http://schemas.openxmlformats.org/presentationml/2006/ole">
            <mc:AlternateContent xmlns:mc="http://schemas.openxmlformats.org/markup-compatibility/2006">
              <mc:Choice xmlns:v="urn:schemas-microsoft-com:vml" Requires="v">
                <p:oleObj spid="_x0000_s13386" name="" r:id="rId3" imgW="2463800" imgH="228600" progId="Equation.3">
                  <p:embed/>
                </p:oleObj>
              </mc:Choice>
              <mc:Fallback>
                <p:oleObj name="" r:id="rId3" imgW="2463800" imgH="228600" progId="Equation.3">
                  <p:embed/>
                  <p:pic>
                    <p:nvPicPr>
                      <p:cNvPr id="0" name="图片 3088"/>
                      <p:cNvPicPr/>
                      <p:nvPr/>
                    </p:nvPicPr>
                    <p:blipFill>
                      <a:blip r:embed="rId4"/>
                      <a:stretch>
                        <a:fillRect/>
                      </a:stretch>
                    </p:blipFill>
                    <p:spPr>
                      <a:xfrm>
                        <a:off x="2555875" y="3573463"/>
                        <a:ext cx="6400800" cy="457200"/>
                      </a:xfrm>
                      <a:prstGeom prst="rect">
                        <a:avLst/>
                      </a:prstGeom>
                      <a:noFill/>
                      <a:ln w="38100">
                        <a:noFill/>
                        <a:miter/>
                      </a:ln>
                    </p:spPr>
                  </p:pic>
                </p:oleObj>
              </mc:Fallback>
            </mc:AlternateContent>
          </a:graphicData>
        </a:graphic>
      </p:graphicFrame>
      <p:grpSp>
        <p:nvGrpSpPr>
          <p:cNvPr id="20484" name="组合 101385"/>
          <p:cNvGrpSpPr/>
          <p:nvPr/>
        </p:nvGrpSpPr>
        <p:grpSpPr>
          <a:xfrm>
            <a:off x="1447800" y="609600"/>
            <a:ext cx="7239000" cy="5278438"/>
            <a:chOff x="912" y="384"/>
            <a:chExt cx="4560" cy="3325"/>
          </a:xfrm>
        </p:grpSpPr>
        <p:sp>
          <p:nvSpPr>
            <p:cNvPr id="20485" name="文本框 101379"/>
            <p:cNvSpPr txBox="1"/>
            <p:nvPr/>
          </p:nvSpPr>
          <p:spPr>
            <a:xfrm>
              <a:off x="912" y="384"/>
              <a:ext cx="4560" cy="2716"/>
            </a:xfrm>
            <a:prstGeom prst="rect">
              <a:avLst/>
            </a:prstGeom>
            <a:noFill/>
            <a:ln w="9525">
              <a:noFill/>
            </a:ln>
          </p:spPr>
          <p:txBody>
            <a:bodyPr anchor="t" anchorCtr="0">
              <a:spAutoFit/>
            </a:bodyPr>
            <a:lstStyle/>
            <a:p>
              <a:pPr>
                <a:lnSpc>
                  <a:spcPct val="120000"/>
                </a:lnSpc>
                <a:spcBef>
                  <a:spcPct val="20000"/>
                </a:spcBef>
                <a:buClr>
                  <a:schemeClr val="accent2"/>
                </a:buClr>
                <a:buSzPct val="80000"/>
                <a:buFont typeface="Wingdings" panose="05000000000000000000" pitchFamily="2" charset="2"/>
                <a:buChar char="n"/>
              </a:pPr>
              <a:r>
                <a:rPr lang="zh-CN" altLang="en-US" sz="3200" b="1" dirty="0">
                  <a:latin typeface="宋体" panose="02010600030101010101" pitchFamily="2" charset="-122"/>
                  <a:ea typeface="黑体" panose="02010609060101010101" pitchFamily="2" charset="-122"/>
                </a:rPr>
                <a:t>约束方程化为标准形式的方法</a:t>
              </a:r>
              <a:r>
                <a:rPr lang="zh-CN" altLang="en-US" sz="3200" b="1" dirty="0">
                  <a:latin typeface="宋体" panose="02010600030101010101" pitchFamily="2" charset="-122"/>
                  <a:ea typeface="宋体" panose="02010600030101010101" pitchFamily="2" charset="-122"/>
                </a:rPr>
                <a:t> </a:t>
              </a:r>
              <a:endParaRPr lang="zh-CN" altLang="en-US" sz="3200" dirty="0">
                <a:latin typeface="Arial" panose="020B0604020202020204" pitchFamily="34" charset="0"/>
                <a:ea typeface="宋体" panose="02010600030101010101" pitchFamily="2" charset="-122"/>
              </a:endParaRPr>
            </a:p>
            <a:p>
              <a:pPr>
                <a:lnSpc>
                  <a:spcPct val="150000"/>
                </a:lnSpc>
                <a:spcBef>
                  <a:spcPct val="20000"/>
                </a:spcBef>
                <a:buClr>
                  <a:schemeClr val="accent2"/>
                </a:buClr>
                <a:buSzPct val="150000"/>
                <a:buFont typeface="Wingdings" panose="05000000000000000000" pitchFamily="2" charset="2"/>
              </a:pPr>
              <a:r>
                <a:rPr lang="zh-CN" altLang="en-US" sz="2800" dirty="0">
                  <a:latin typeface="宋体" panose="02010600030101010101" pitchFamily="2" charset="-122"/>
                  <a:ea typeface="宋体" panose="02010600030101010101" pitchFamily="2" charset="-122"/>
                </a:rPr>
                <a:t>      若第</a:t>
              </a:r>
              <a:r>
                <a:rPr lang="en-US" altLang="zh-CN" sz="2800" i="1">
                  <a:latin typeface="Times New Roman" panose="02020603050405020304" pitchFamily="18" charset="0"/>
                  <a:ea typeface="宋体" panose="02010600030101010101" pitchFamily="2" charset="-122"/>
                </a:rPr>
                <a:t>k</a:t>
              </a:r>
              <a:r>
                <a:rPr lang="zh-CN" altLang="en-US" sz="2800" dirty="0">
                  <a:latin typeface="宋体" panose="02010600030101010101" pitchFamily="2" charset="-122"/>
                  <a:ea typeface="宋体" panose="02010600030101010101" pitchFamily="2" charset="-122"/>
                </a:rPr>
                <a:t>个约束方程为不等式，即</a:t>
              </a:r>
              <a:r>
                <a:rPr lang="zh-CN" altLang="en-US" sz="2800" dirty="0">
                  <a:latin typeface="Arial" panose="020B0604020202020204" pitchFamily="34" charset="0"/>
                  <a:ea typeface="宋体" panose="02010600030101010101" pitchFamily="2" charset="-122"/>
                </a:rPr>
                <a:t> </a:t>
              </a:r>
              <a:endParaRPr lang="zh-CN" altLang="en-US" sz="2800" dirty="0">
                <a:latin typeface="Arial" panose="020B0604020202020204" pitchFamily="34" charset="0"/>
                <a:ea typeface="宋体" panose="02010600030101010101" pitchFamily="2" charset="-122"/>
              </a:endParaRPr>
            </a:p>
            <a:p>
              <a:pPr>
                <a:lnSpc>
                  <a:spcPct val="150000"/>
                </a:lnSpc>
                <a:spcBef>
                  <a:spcPct val="20000"/>
                </a:spcBef>
                <a:buClr>
                  <a:schemeClr val="accent2"/>
                </a:buClr>
                <a:buSzPct val="150000"/>
                <a:buFont typeface="Wingdings" panose="05000000000000000000" pitchFamily="2" charset="2"/>
              </a:pPr>
              <a:endParaRPr lang="zh-CN" altLang="en-US" sz="2800" dirty="0">
                <a:latin typeface="Arial" panose="020B0604020202020204" pitchFamily="34" charset="0"/>
                <a:ea typeface="宋体" panose="02010600030101010101" pitchFamily="2" charset="-122"/>
              </a:endParaRPr>
            </a:p>
            <a:p>
              <a:pPr>
                <a:lnSpc>
                  <a:spcPct val="150000"/>
                </a:lnSpc>
                <a:spcBef>
                  <a:spcPct val="20000"/>
                </a:spcBef>
                <a:buClr>
                  <a:schemeClr val="accent2"/>
                </a:buClr>
                <a:buSzPct val="150000"/>
                <a:buFont typeface="Wingdings" panose="05000000000000000000" pitchFamily="2" charset="2"/>
              </a:pPr>
              <a:r>
                <a:rPr lang="zh-CN" altLang="en-US" sz="2800" dirty="0">
                  <a:latin typeface="Arial" panose="020B0604020202020204" pitchFamily="34" charset="0"/>
                  <a:ea typeface="宋体" panose="02010600030101010101" pitchFamily="2" charset="-122"/>
                </a:rPr>
                <a:t>          引入松弛变量            </a:t>
              </a:r>
              <a:r>
                <a:rPr lang="en-US" altLang="zh-CN" sz="2800">
                  <a:latin typeface="Arial" panose="020B0604020202020204" pitchFamily="34" charset="0"/>
                  <a:ea typeface="宋体" panose="02010600030101010101" pitchFamily="2" charset="-122"/>
                </a:rPr>
                <a:t>, </a:t>
              </a:r>
              <a:r>
                <a:rPr lang="en-US" altLang="zh-CN" sz="2800" i="1">
                  <a:latin typeface="Times New Roman" panose="02020603050405020304" pitchFamily="18" charset="0"/>
                  <a:ea typeface="宋体" panose="02010600030101010101" pitchFamily="2" charset="-122"/>
                </a:rPr>
                <a:t>K</a:t>
              </a:r>
              <a:r>
                <a:rPr lang="zh-CN" altLang="en-US" sz="2800" dirty="0">
                  <a:latin typeface="Arial" panose="020B0604020202020204" pitchFamily="34" charset="0"/>
                  <a:ea typeface="宋体" panose="02010600030101010101" pitchFamily="2" charset="-122"/>
                </a:rPr>
                <a:t>个方程改写为</a:t>
              </a:r>
              <a:endParaRPr lang="zh-CN" altLang="en-US" sz="2800" dirty="0">
                <a:latin typeface="Arial" panose="020B0604020202020204" pitchFamily="34" charset="0"/>
                <a:ea typeface="宋体" panose="02010600030101010101" pitchFamily="2" charset="-122"/>
              </a:endParaRPr>
            </a:p>
            <a:p>
              <a:pPr>
                <a:lnSpc>
                  <a:spcPct val="150000"/>
                </a:lnSpc>
                <a:spcBef>
                  <a:spcPct val="20000"/>
                </a:spcBef>
                <a:buClr>
                  <a:schemeClr val="accent2"/>
                </a:buClr>
                <a:buSzPct val="150000"/>
                <a:buFont typeface="Wingdings" panose="05000000000000000000" pitchFamily="2" charset="2"/>
              </a:pPr>
              <a:endParaRPr lang="zh-CN" altLang="en-US" sz="2800" dirty="0">
                <a:latin typeface="Arial" panose="020B0604020202020204" pitchFamily="34" charset="0"/>
                <a:ea typeface="宋体" panose="02010600030101010101" pitchFamily="2" charset="-122"/>
              </a:endParaRPr>
            </a:p>
            <a:p>
              <a:pPr>
                <a:lnSpc>
                  <a:spcPct val="150000"/>
                </a:lnSpc>
                <a:spcBef>
                  <a:spcPct val="20000"/>
                </a:spcBef>
                <a:buClr>
                  <a:schemeClr val="accent2"/>
                </a:buClr>
                <a:buSzPct val="150000"/>
                <a:buFont typeface="Wingdings" panose="05000000000000000000" pitchFamily="2" charset="2"/>
              </a:pPr>
              <a:r>
                <a:rPr lang="zh-CN" altLang="en-US" sz="2800" dirty="0">
                  <a:latin typeface="Arial" panose="020B0604020202020204" pitchFamily="34" charset="0"/>
                  <a:ea typeface="宋体" panose="02010600030101010101" pitchFamily="2" charset="-122"/>
                </a:rPr>
                <a:t>          则目标函数标准形式为</a:t>
              </a:r>
              <a:endParaRPr lang="zh-CN" altLang="en-US" sz="2800">
                <a:latin typeface="Arial" panose="020B0604020202020204" pitchFamily="34" charset="0"/>
                <a:ea typeface="宋体" panose="02010600030101010101" pitchFamily="2" charset="-122"/>
              </a:endParaRPr>
            </a:p>
          </p:txBody>
        </p:sp>
        <p:graphicFrame>
          <p:nvGraphicFramePr>
            <p:cNvPr id="20486" name="对象 101381"/>
            <p:cNvGraphicFramePr/>
            <p:nvPr/>
          </p:nvGraphicFramePr>
          <p:xfrm>
            <a:off x="2919" y="1933"/>
            <a:ext cx="723" cy="299"/>
          </p:xfrm>
          <a:graphic>
            <a:graphicData uri="http://schemas.openxmlformats.org/presentationml/2006/ole">
              <mc:AlternateContent xmlns:mc="http://schemas.openxmlformats.org/markup-compatibility/2006">
                <mc:Choice xmlns:v="urn:schemas-microsoft-com:vml" Requires="v">
                  <p:oleObj spid="_x0000_s13387" name="" r:id="rId5" imgW="508000" imgH="228600" progId="Equation.3">
                    <p:embed/>
                  </p:oleObj>
                </mc:Choice>
                <mc:Fallback>
                  <p:oleObj name="" r:id="rId5" imgW="508000" imgH="228600" progId="Equation.3">
                    <p:embed/>
                    <p:pic>
                      <p:nvPicPr>
                        <p:cNvPr id="0" name="图片 3089"/>
                        <p:cNvPicPr/>
                        <p:nvPr/>
                      </p:nvPicPr>
                      <p:blipFill>
                        <a:blip r:embed="rId6"/>
                        <a:stretch>
                          <a:fillRect/>
                        </a:stretch>
                      </p:blipFill>
                      <p:spPr>
                        <a:xfrm>
                          <a:off x="2919" y="1933"/>
                          <a:ext cx="723" cy="299"/>
                        </a:xfrm>
                        <a:prstGeom prst="rect">
                          <a:avLst/>
                        </a:prstGeom>
                        <a:noFill/>
                        <a:ln w="38100">
                          <a:noFill/>
                          <a:miter/>
                        </a:ln>
                      </p:spPr>
                    </p:pic>
                  </p:oleObj>
                </mc:Fallback>
              </mc:AlternateContent>
            </a:graphicData>
          </a:graphic>
        </p:graphicFrame>
        <p:graphicFrame>
          <p:nvGraphicFramePr>
            <p:cNvPr id="20487" name="对象 101383"/>
            <p:cNvGraphicFramePr/>
            <p:nvPr/>
          </p:nvGraphicFramePr>
          <p:xfrm>
            <a:off x="1655" y="3203"/>
            <a:ext cx="2208" cy="506"/>
          </p:xfrm>
          <a:graphic>
            <a:graphicData uri="http://schemas.openxmlformats.org/presentationml/2006/ole">
              <mc:AlternateContent xmlns:mc="http://schemas.openxmlformats.org/markup-compatibility/2006">
                <mc:Choice xmlns:v="urn:schemas-microsoft-com:vml" Requires="v">
                  <p:oleObj spid="_x0000_s13388" name="" r:id="rId7" imgW="1955165" imgH="444500" progId="Equation.3">
                    <p:embed/>
                  </p:oleObj>
                </mc:Choice>
                <mc:Fallback>
                  <p:oleObj name="" r:id="rId7" imgW="1955165" imgH="444500" progId="Equation.3">
                    <p:embed/>
                    <p:pic>
                      <p:nvPicPr>
                        <p:cNvPr id="0" name="图片 3085"/>
                        <p:cNvPicPr/>
                        <p:nvPr/>
                      </p:nvPicPr>
                      <p:blipFill>
                        <a:blip r:embed="rId8"/>
                        <a:stretch>
                          <a:fillRect/>
                        </a:stretch>
                      </p:blipFill>
                      <p:spPr>
                        <a:xfrm>
                          <a:off x="1655" y="3203"/>
                          <a:ext cx="2208" cy="506"/>
                        </a:xfrm>
                        <a:prstGeom prst="rect">
                          <a:avLst/>
                        </a:prstGeom>
                        <a:noFill/>
                        <a:ln w="38100">
                          <a:noFill/>
                          <a:miter/>
                        </a:ln>
                      </p:spPr>
                    </p:pic>
                  </p:oleObj>
                </mc:Fallback>
              </mc:AlternateContent>
            </a:graphicData>
          </a:graphic>
        </p:graphicFrame>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5" name="标题 34817"/>
          <p:cNvSpPr>
            <a:spLocks noGrp="1" noRot="1"/>
          </p:cNvSpPr>
          <p:nvPr>
            <p:ph type="title"/>
          </p:nvPr>
        </p:nvSpPr>
        <p:spPr>
          <a:xfrm>
            <a:off x="1692275" y="188913"/>
            <a:ext cx="6696075" cy="1030287"/>
          </a:xfrm>
        </p:spPr>
        <p:txBody>
          <a:bodyPr anchor="ctr" anchorCtr="0"/>
          <a:lstStyle/>
          <a:p>
            <a:pPr>
              <a:buClr>
                <a:schemeClr val="accent2"/>
              </a:buClr>
              <a:buSzPct val="150000"/>
            </a:pPr>
            <a:r>
              <a:rPr lang="zh-CN" altLang="en-US" sz="4000" b="1" dirty="0">
                <a:solidFill>
                  <a:schemeClr val="tx1"/>
                </a:solidFill>
                <a:latin typeface="宋体" panose="02010600030101010101" pitchFamily="2" charset="-122"/>
                <a:ea typeface="黑体" panose="02010609060101010101" pitchFamily="2" charset="-122"/>
              </a:rPr>
              <a:t>三、线性规划的解及其性质</a:t>
            </a:r>
            <a:r>
              <a:rPr lang="zh-CN" altLang="en-US" sz="4000" b="1" dirty="0">
                <a:solidFill>
                  <a:schemeClr val="tx1"/>
                </a:solidFill>
                <a:latin typeface="宋体" panose="02010600030101010101" pitchFamily="2" charset="-122"/>
              </a:rPr>
              <a:t> </a:t>
            </a:r>
            <a:endParaRPr lang="zh-CN" altLang="en-US" sz="4000" b="1">
              <a:solidFill>
                <a:schemeClr val="tx1"/>
              </a:solidFill>
              <a:latin typeface="宋体" panose="02010600030101010101" pitchFamily="2" charset="-122"/>
            </a:endParaRPr>
          </a:p>
        </p:txBody>
      </p:sp>
      <p:sp>
        <p:nvSpPr>
          <p:cNvPr id="21506" name="文本占位符 34818"/>
          <p:cNvSpPr>
            <a:spLocks noGrp="1" noRot="1"/>
          </p:cNvSpPr>
          <p:nvPr>
            <p:ph idx="1"/>
          </p:nvPr>
        </p:nvSpPr>
        <p:spPr>
          <a:xfrm>
            <a:off x="971550" y="1196975"/>
            <a:ext cx="7791450" cy="4822825"/>
          </a:xfrm>
        </p:spPr>
        <p:txBody>
          <a:bodyPr anchor="t" anchorCtr="0"/>
          <a:lstStyle/>
          <a:p>
            <a:pPr marL="100330" indent="-100330" algn="just">
              <a:lnSpc>
                <a:spcPct val="120000"/>
              </a:lnSpc>
            </a:pPr>
            <a:r>
              <a:rPr lang="en-US" altLang="zh-CN" b="1" dirty="0">
                <a:latin typeface="Times New Roman" panose="02020603050405020304" pitchFamily="18" charset="0"/>
                <a:ea typeface="黑体" panose="02010609060101010101" pitchFamily="2" charset="-122"/>
              </a:rPr>
              <a:t>           (</a:t>
            </a:r>
            <a:r>
              <a:rPr lang="zh-CN" altLang="en-US" b="1" dirty="0">
                <a:latin typeface="Times New Roman" panose="02020603050405020304" pitchFamily="18" charset="0"/>
                <a:ea typeface="黑体" panose="02010609060101010101" pitchFamily="2" charset="-122"/>
              </a:rPr>
              <a:t>一</a:t>
            </a:r>
            <a:r>
              <a:rPr lang="en-US" altLang="zh-CN" b="1" dirty="0">
                <a:latin typeface="Times New Roman" panose="02020603050405020304" pitchFamily="18" charset="0"/>
                <a:ea typeface="黑体" panose="02010609060101010101" pitchFamily="2" charset="-122"/>
              </a:rPr>
              <a:t>)</a:t>
            </a:r>
            <a:r>
              <a:rPr lang="zh-CN" altLang="en-US" b="1" dirty="0">
                <a:latin typeface="Times New Roman" panose="02020603050405020304" pitchFamily="18" charset="0"/>
                <a:ea typeface="黑体" panose="02010609060101010101" pitchFamily="2" charset="-122"/>
              </a:rPr>
              <a:t>线性规划的解</a:t>
            </a:r>
            <a:r>
              <a:rPr lang="zh-CN" altLang="en-US" b="1" dirty="0">
                <a:latin typeface="Times New Roman" panose="02020603050405020304" pitchFamily="18" charset="0"/>
              </a:rPr>
              <a:t> </a:t>
            </a:r>
            <a:endParaRPr lang="zh-CN" altLang="en-US" b="1" dirty="0">
              <a:latin typeface="Times New Roman" panose="02020603050405020304" pitchFamily="18" charset="0"/>
            </a:endParaRPr>
          </a:p>
          <a:p>
            <a:pPr marL="100330" indent="-100330">
              <a:lnSpc>
                <a:spcPct val="120000"/>
              </a:lnSpc>
              <a:buClr>
                <a:srgbClr val="F4702E"/>
              </a:buClr>
              <a:buSzPct val="80000"/>
            </a:pPr>
            <a:r>
              <a:rPr lang="zh-CN" altLang="en-US" b="1" dirty="0">
                <a:latin typeface="宋体" panose="02010600030101010101" pitchFamily="2" charset="-122"/>
              </a:rPr>
              <a:t>可行解与最优解</a:t>
            </a:r>
            <a:endParaRPr lang="zh-CN" altLang="en-US" b="1" dirty="0">
              <a:latin typeface="宋体" panose="02010600030101010101" pitchFamily="2" charset="-122"/>
            </a:endParaRPr>
          </a:p>
          <a:p>
            <a:pPr marL="100330" indent="-100330" algn="just">
              <a:lnSpc>
                <a:spcPct val="120000"/>
              </a:lnSpc>
              <a:buClr>
                <a:srgbClr val="F4702E"/>
              </a:buClr>
              <a:buSzPct val="120000"/>
              <a:buFont typeface="Wingdings" panose="05000000000000000000" pitchFamily="2" charset="2"/>
              <a:buChar char="§"/>
            </a:pPr>
            <a:r>
              <a:rPr lang="zh-CN" altLang="en-US" sz="2800" dirty="0">
                <a:latin typeface="Times New Roman" panose="02020603050405020304" pitchFamily="18" charset="0"/>
              </a:rPr>
              <a:t>         满足约束条件（即满足线性约束和非负约束）的一组变量为可行解。所有可行解组成的集合称为可行域。</a:t>
            </a:r>
            <a:endParaRPr lang="zh-CN" altLang="en-US" sz="2800" dirty="0"/>
          </a:p>
          <a:p>
            <a:pPr marL="100330" indent="-100330" algn="just">
              <a:lnSpc>
                <a:spcPct val="120000"/>
              </a:lnSpc>
              <a:buClr>
                <a:srgbClr val="F4702E"/>
              </a:buClr>
              <a:buSzPct val="120000"/>
              <a:buFont typeface="Wingdings" panose="05000000000000000000" pitchFamily="2" charset="2"/>
              <a:buChar char="§"/>
            </a:pPr>
            <a:r>
              <a:rPr lang="zh-CN" altLang="en-US" sz="2800" dirty="0">
                <a:latin typeface="宋体" panose="02010600030101010101" pitchFamily="2" charset="-122"/>
              </a:rPr>
              <a:t>    使目标函数最大或最小化的可行解称为最优解。</a:t>
            </a:r>
            <a:r>
              <a:rPr lang="zh-CN" altLang="en-US" dirty="0"/>
              <a:t> </a:t>
            </a:r>
            <a:endParaRPr lang="zh-CN" altLang="en-US" dirty="0"/>
          </a:p>
        </p:txBody>
      </p:sp>
      <p:sp>
        <p:nvSpPr>
          <p:cNvPr id="21507" name="矩形 34820"/>
          <p:cNvSpPr/>
          <p:nvPr/>
        </p:nvSpPr>
        <p:spPr>
          <a:xfrm>
            <a:off x="3976688" y="33147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内容占位符 144385"/>
          <p:cNvSpPr>
            <a:spLocks noGrp="1" noRot="1"/>
          </p:cNvSpPr>
          <p:nvPr>
            <p:ph idx="4294967295"/>
          </p:nvPr>
        </p:nvSpPr>
        <p:spPr>
          <a:xfrm>
            <a:off x="301625" y="685800"/>
            <a:ext cx="8418513" cy="1582738"/>
          </a:xfrm>
        </p:spPr>
        <p:txBody>
          <a:bodyPr anchor="t" anchorCtr="0"/>
          <a:lstStyle/>
          <a:p>
            <a:pPr algn="just">
              <a:lnSpc>
                <a:spcPct val="120000"/>
              </a:lnSpc>
              <a:buClr>
                <a:srgbClr val="F4702E"/>
              </a:buClr>
              <a:buSzPct val="80000"/>
            </a:pPr>
            <a:r>
              <a:rPr lang="zh-CN" altLang="en-US" b="1" dirty="0">
                <a:latin typeface="宋体" panose="02010600030101010101" pitchFamily="2" charset="-122"/>
              </a:rPr>
              <a:t>基本解与基本可行解</a:t>
            </a:r>
            <a:r>
              <a:rPr lang="zh-CN" altLang="en-US" dirty="0"/>
              <a:t> </a:t>
            </a:r>
            <a:endParaRPr lang="zh-CN" altLang="en-US" dirty="0"/>
          </a:p>
          <a:p>
            <a:pPr algn="just">
              <a:lnSpc>
                <a:spcPct val="120000"/>
              </a:lnSpc>
              <a:buClr>
                <a:srgbClr val="F4702E"/>
              </a:buClr>
              <a:buSzPct val="120000"/>
              <a:buFont typeface="Wingdings" panose="05000000000000000000" pitchFamily="2" charset="2"/>
              <a:buChar char="§"/>
            </a:pPr>
            <a:r>
              <a:rPr lang="zh-CN" altLang="en-US" sz="2800" dirty="0">
                <a:latin typeface="宋体" panose="02010600030101010101" pitchFamily="2" charset="-122"/>
              </a:rPr>
              <a:t>        在线性规划问题中，将</a:t>
            </a:r>
            <a:r>
              <a:rPr lang="zh-CN" altLang="en-US" sz="2800" dirty="0">
                <a:latin typeface="Times New Roman" panose="02020603050405020304" pitchFamily="18" charset="0"/>
              </a:rPr>
              <a:t>约束方程组的</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n</a:t>
            </a:r>
            <a:r>
              <a:rPr lang="zh-CN" altLang="en-US" sz="2800" dirty="0">
                <a:latin typeface="Times New Roman" panose="02020603050405020304" pitchFamily="18" charset="0"/>
              </a:rPr>
              <a:t>阶矩阵</a:t>
            </a:r>
            <a:r>
              <a:rPr lang="en-US" altLang="zh-CN" sz="2800" i="1">
                <a:latin typeface="Times New Roman" panose="02020603050405020304" pitchFamily="18" charset="0"/>
              </a:rPr>
              <a:t>A</a:t>
            </a:r>
            <a:r>
              <a:rPr lang="zh-CN" altLang="en-US" sz="2800" dirty="0">
                <a:latin typeface="Times New Roman" panose="02020603050405020304" pitchFamily="18" charset="0"/>
              </a:rPr>
              <a:t>写成由</a:t>
            </a:r>
            <a:r>
              <a:rPr lang="en-US" altLang="zh-CN" sz="2800" i="1">
                <a:latin typeface="Times New Roman" panose="02020603050405020304" pitchFamily="18" charset="0"/>
              </a:rPr>
              <a:t>n</a:t>
            </a:r>
            <a:r>
              <a:rPr lang="zh-CN" altLang="en-US" sz="2800" dirty="0">
                <a:latin typeface="Times New Roman" panose="02020603050405020304" pitchFamily="18" charset="0"/>
              </a:rPr>
              <a:t>个列向量组成的分块矩阵</a:t>
            </a:r>
            <a:endParaRPr lang="zh-CN" altLang="en-US" sz="2800"/>
          </a:p>
        </p:txBody>
      </p:sp>
      <p:graphicFrame>
        <p:nvGraphicFramePr>
          <p:cNvPr id="22530" name="对象 144386"/>
          <p:cNvGraphicFramePr/>
          <p:nvPr/>
        </p:nvGraphicFramePr>
        <p:xfrm>
          <a:off x="2771775" y="2997200"/>
          <a:ext cx="3200400" cy="661988"/>
        </p:xfrm>
        <a:graphic>
          <a:graphicData uri="http://schemas.openxmlformats.org/presentationml/2006/ole">
            <mc:AlternateContent xmlns:mc="http://schemas.openxmlformats.org/markup-compatibility/2006">
              <mc:Choice xmlns:v="urn:schemas-microsoft-com:vml" Requires="v">
                <p:oleObj spid="_x0000_s14375" name="" r:id="rId1" imgW="1193800" imgH="228600" progId="Equation.3">
                  <p:embed/>
                </p:oleObj>
              </mc:Choice>
              <mc:Fallback>
                <p:oleObj name="" r:id="rId1" imgW="1193800" imgH="228600" progId="Equation.3">
                  <p:embed/>
                  <p:pic>
                    <p:nvPicPr>
                      <p:cNvPr id="0" name="图片 3094"/>
                      <p:cNvPicPr/>
                      <p:nvPr/>
                    </p:nvPicPr>
                    <p:blipFill>
                      <a:blip r:embed="rId2"/>
                      <a:stretch>
                        <a:fillRect/>
                      </a:stretch>
                    </p:blipFill>
                    <p:spPr>
                      <a:xfrm>
                        <a:off x="2771775" y="2997200"/>
                        <a:ext cx="3200400" cy="661988"/>
                      </a:xfrm>
                      <a:prstGeom prst="rect">
                        <a:avLst/>
                      </a:prstGeom>
                      <a:noFill/>
                      <a:ln w="38100">
                        <a:noFill/>
                        <a:miter/>
                      </a:ln>
                    </p:spPr>
                  </p:pic>
                </p:oleObj>
              </mc:Fallback>
            </mc:AlternateContent>
          </a:graphicData>
        </a:graphic>
      </p:graphicFrame>
      <p:graphicFrame>
        <p:nvGraphicFramePr>
          <p:cNvPr id="22531" name="对象 144387"/>
          <p:cNvGraphicFramePr/>
          <p:nvPr/>
        </p:nvGraphicFramePr>
        <p:xfrm>
          <a:off x="2843213" y="4005263"/>
          <a:ext cx="5334000" cy="601662"/>
        </p:xfrm>
        <a:graphic>
          <a:graphicData uri="http://schemas.openxmlformats.org/presentationml/2006/ole">
            <mc:AlternateContent xmlns:mc="http://schemas.openxmlformats.org/markup-compatibility/2006">
              <mc:Choice xmlns:v="urn:schemas-microsoft-com:vml" Requires="v">
                <p:oleObj spid="_x0000_s14376" name="" r:id="rId3" imgW="2273300" imgH="254000" progId="Equation.3">
                  <p:embed/>
                </p:oleObj>
              </mc:Choice>
              <mc:Fallback>
                <p:oleObj name="" r:id="rId3" imgW="2273300" imgH="254000" progId="Equation.3">
                  <p:embed/>
                  <p:pic>
                    <p:nvPicPr>
                      <p:cNvPr id="0" name="图片 3095"/>
                      <p:cNvPicPr/>
                      <p:nvPr/>
                    </p:nvPicPr>
                    <p:blipFill>
                      <a:blip r:embed="rId4"/>
                      <a:stretch>
                        <a:fillRect/>
                      </a:stretch>
                    </p:blipFill>
                    <p:spPr>
                      <a:xfrm>
                        <a:off x="2843213" y="4005263"/>
                        <a:ext cx="5334000" cy="601662"/>
                      </a:xfrm>
                      <a:prstGeom prst="rect">
                        <a:avLst/>
                      </a:prstGeom>
                      <a:noFill/>
                      <a:ln w="38100">
                        <a:noFill/>
                        <a:miter/>
                      </a:ln>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3" name="文本框 102401"/>
          <p:cNvSpPr txBox="1"/>
          <p:nvPr/>
        </p:nvSpPr>
        <p:spPr>
          <a:xfrm>
            <a:off x="1371600" y="914400"/>
            <a:ext cx="7239000" cy="5219700"/>
          </a:xfrm>
          <a:prstGeom prst="rect">
            <a:avLst/>
          </a:prstGeom>
          <a:noFill/>
          <a:ln w="9525">
            <a:noFill/>
          </a:ln>
        </p:spPr>
        <p:txBody>
          <a:bodyPr anchor="t" anchorCtr="0">
            <a:spAutoFit/>
          </a:bodyPr>
          <a:lstStyle/>
          <a:p>
            <a:pPr algn="just">
              <a:lnSpc>
                <a:spcPct val="120000"/>
              </a:lnSpc>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如果</a:t>
            </a:r>
            <a:r>
              <a:rPr lang="en-US" altLang="zh-CN" sz="2800" i="1">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是</a:t>
            </a:r>
            <a:r>
              <a:rPr lang="en-US" altLang="zh-CN" sz="2800" i="1">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ea typeface="宋体" panose="02010600030101010101" pitchFamily="2" charset="-122"/>
              </a:rPr>
              <a:t>中的一个阶的非奇异子阵，则称</a:t>
            </a:r>
            <a:r>
              <a:rPr lang="en-US" altLang="zh-CN" sz="2800" i="1">
                <a:latin typeface="Times New Roman" panose="02020603050405020304" pitchFamily="18" charset="0"/>
                <a:ea typeface="宋体" panose="02010600030101010101" pitchFamily="2" charset="-122"/>
              </a:rPr>
              <a:t>B</a:t>
            </a:r>
            <a:r>
              <a:rPr lang="zh-CN" altLang="en-US" sz="2800" dirty="0">
                <a:latin typeface="Times New Roman" panose="02020603050405020304" pitchFamily="18" charset="0"/>
                <a:ea typeface="宋体" panose="02010600030101010101" pitchFamily="2" charset="-122"/>
              </a:rPr>
              <a:t>为该线性规划问题的一个基。不失一般性，不妨设</a:t>
            </a:r>
            <a:endParaRPr lang="zh-CN" altLang="en-US" sz="2800" dirty="0">
              <a:latin typeface="Times New Roman" panose="02020603050405020304" pitchFamily="18" charset="0"/>
              <a:ea typeface="宋体" panose="02010600030101010101" pitchFamily="2" charset="-122"/>
            </a:endParaRPr>
          </a:p>
          <a:p>
            <a:pPr algn="just">
              <a:lnSpc>
                <a:spcPct val="120000"/>
              </a:lnSpc>
            </a:pPr>
            <a:endParaRPr lang="zh-CN" altLang="en-US" sz="2800" dirty="0">
              <a:latin typeface="Times New Roman" panose="02020603050405020304" pitchFamily="18" charset="0"/>
              <a:ea typeface="宋体" panose="02010600030101010101" pitchFamily="2" charset="-122"/>
            </a:endParaRPr>
          </a:p>
          <a:p>
            <a:pPr algn="just">
              <a:lnSpc>
                <a:spcPct val="120000"/>
              </a:lnSpc>
            </a:pPr>
            <a:endParaRPr lang="zh-CN" altLang="en-US" sz="2800" dirty="0">
              <a:latin typeface="Times New Roman" panose="02020603050405020304" pitchFamily="18" charset="0"/>
              <a:ea typeface="宋体" panose="02010600030101010101" pitchFamily="2" charset="-122"/>
            </a:endParaRPr>
          </a:p>
          <a:p>
            <a:pPr algn="just">
              <a:lnSpc>
                <a:spcPct val="120000"/>
              </a:lnSpc>
            </a:pPr>
            <a:endParaRPr lang="zh-CN" altLang="en-US" sz="2800" dirty="0">
              <a:latin typeface="宋体" panose="02010600030101010101" pitchFamily="2" charset="-122"/>
              <a:ea typeface="宋体" panose="02010600030101010101" pitchFamily="2" charset="-122"/>
            </a:endParaRPr>
          </a:p>
          <a:p>
            <a:pPr algn="just">
              <a:lnSpc>
                <a:spcPct val="120000"/>
              </a:lnSpc>
            </a:pPr>
            <a:endParaRPr lang="zh-CN" altLang="en-US" sz="2800" dirty="0">
              <a:latin typeface="宋体" panose="02010600030101010101" pitchFamily="2" charset="-122"/>
              <a:ea typeface="宋体" panose="02010600030101010101" pitchFamily="2" charset="-122"/>
            </a:endParaRPr>
          </a:p>
          <a:p>
            <a:pPr algn="just">
              <a:lnSpc>
                <a:spcPct val="120000"/>
              </a:lnSpc>
            </a:pPr>
            <a:r>
              <a:rPr lang="zh-CN" altLang="en-US" sz="2800" dirty="0">
                <a:latin typeface="宋体" panose="02010600030101010101" pitchFamily="2" charset="-122"/>
                <a:ea typeface="宋体" panose="02010600030101010101" pitchFamily="2" charset="-122"/>
              </a:rPr>
              <a:t>则称          为基向量，与基向量相对应的向量           为基变量，而其余的变量</a:t>
            </a:r>
            <a:endParaRPr lang="zh-CN" altLang="en-US" sz="2800" dirty="0">
              <a:latin typeface="宋体" panose="02010600030101010101" pitchFamily="2" charset="-122"/>
              <a:ea typeface="宋体" panose="02010600030101010101" pitchFamily="2" charset="-122"/>
            </a:endParaRPr>
          </a:p>
          <a:p>
            <a:pPr algn="just">
              <a:lnSpc>
                <a:spcPct val="120000"/>
              </a:lnSpc>
            </a:pPr>
            <a:r>
              <a:rPr lang="zh-CN" altLang="en-US" sz="2800" dirty="0">
                <a:latin typeface="宋体" panose="02010600030101010101" pitchFamily="2" charset="-122"/>
                <a:ea typeface="宋体" panose="02010600030101010101" pitchFamily="2" charset="-122"/>
              </a:rPr>
              <a:t>                  为非基变量。</a:t>
            </a:r>
            <a:r>
              <a:rPr lang="zh-CN" altLang="en-US" sz="2800" dirty="0">
                <a:latin typeface="Times New Roman" panose="02020603050405020304" pitchFamily="18" charset="0"/>
                <a:ea typeface="宋体" panose="02010600030101010101" pitchFamily="2" charset="-122"/>
              </a:rPr>
              <a:t> </a:t>
            </a:r>
            <a:endParaRPr lang="zh-CN" altLang="en-US" sz="3200" baseline="-25000" dirty="0">
              <a:latin typeface="Times New Roman" panose="02020603050405020304" pitchFamily="18" charset="0"/>
              <a:ea typeface="宋体" panose="02010600030101010101" pitchFamily="2" charset="-122"/>
            </a:endParaRPr>
          </a:p>
        </p:txBody>
      </p:sp>
      <p:sp>
        <p:nvSpPr>
          <p:cNvPr id="23554" name="矩形 102408"/>
          <p:cNvSpPr/>
          <p:nvPr/>
        </p:nvSpPr>
        <p:spPr>
          <a:xfrm>
            <a:off x="3433763" y="330041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3555" name="矩形 102410"/>
          <p:cNvSpPr/>
          <p:nvPr/>
        </p:nvSpPr>
        <p:spPr>
          <a:xfrm>
            <a:off x="3238500" y="295751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3556" name="对象 102409"/>
          <p:cNvGraphicFramePr/>
          <p:nvPr/>
        </p:nvGraphicFramePr>
        <p:xfrm>
          <a:off x="2811463" y="2590800"/>
          <a:ext cx="4662487" cy="1698625"/>
        </p:xfrm>
        <a:graphic>
          <a:graphicData uri="http://schemas.openxmlformats.org/presentationml/2006/ole">
            <mc:AlternateContent xmlns:mc="http://schemas.openxmlformats.org/markup-compatibility/2006">
              <mc:Choice xmlns:v="urn:schemas-microsoft-com:vml" Requires="v">
                <p:oleObj spid="_x0000_s15433" name="" r:id="rId1" imgW="2590800" imgH="939800" progId="Equation.3">
                  <p:embed/>
                </p:oleObj>
              </mc:Choice>
              <mc:Fallback>
                <p:oleObj name="" r:id="rId1" imgW="2590800" imgH="939800" progId="Equation.3">
                  <p:embed/>
                  <p:pic>
                    <p:nvPicPr>
                      <p:cNvPr id="0" name="图片 3096"/>
                      <p:cNvPicPr/>
                      <p:nvPr/>
                    </p:nvPicPr>
                    <p:blipFill>
                      <a:blip r:embed="rId2"/>
                      <a:stretch>
                        <a:fillRect/>
                      </a:stretch>
                    </p:blipFill>
                    <p:spPr>
                      <a:xfrm>
                        <a:off x="2811463" y="2590800"/>
                        <a:ext cx="4662487" cy="1698625"/>
                      </a:xfrm>
                      <a:prstGeom prst="rect">
                        <a:avLst/>
                      </a:prstGeom>
                      <a:noFill/>
                      <a:ln w="38100">
                        <a:noFill/>
                        <a:miter/>
                      </a:ln>
                    </p:spPr>
                  </p:pic>
                </p:oleObj>
              </mc:Fallback>
            </mc:AlternateContent>
          </a:graphicData>
        </a:graphic>
      </p:graphicFrame>
      <p:sp>
        <p:nvSpPr>
          <p:cNvPr id="23557" name="矩形 102412"/>
          <p:cNvSpPr/>
          <p:nvPr/>
        </p:nvSpPr>
        <p:spPr>
          <a:xfrm>
            <a:off x="403860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3558" name="对象 102411"/>
          <p:cNvGraphicFramePr/>
          <p:nvPr/>
        </p:nvGraphicFramePr>
        <p:xfrm>
          <a:off x="2286000" y="4648200"/>
          <a:ext cx="1828800" cy="407988"/>
        </p:xfrm>
        <a:graphic>
          <a:graphicData uri="http://schemas.openxmlformats.org/presentationml/2006/ole">
            <mc:AlternateContent xmlns:mc="http://schemas.openxmlformats.org/markup-compatibility/2006">
              <mc:Choice xmlns:v="urn:schemas-microsoft-com:vml" Requires="v">
                <p:oleObj spid="_x0000_s15434" name="" r:id="rId3" imgW="1066800" imgH="241300" progId="Equation.3">
                  <p:embed/>
                </p:oleObj>
              </mc:Choice>
              <mc:Fallback>
                <p:oleObj name="" r:id="rId3" imgW="1066800" imgH="241300" progId="Equation.3">
                  <p:embed/>
                  <p:pic>
                    <p:nvPicPr>
                      <p:cNvPr id="0" name="图片 3097"/>
                      <p:cNvPicPr/>
                      <p:nvPr/>
                    </p:nvPicPr>
                    <p:blipFill>
                      <a:blip r:embed="rId4"/>
                      <a:stretch>
                        <a:fillRect/>
                      </a:stretch>
                    </p:blipFill>
                    <p:spPr>
                      <a:xfrm>
                        <a:off x="2286000" y="4648200"/>
                        <a:ext cx="1828800" cy="407988"/>
                      </a:xfrm>
                      <a:prstGeom prst="rect">
                        <a:avLst/>
                      </a:prstGeom>
                      <a:noFill/>
                      <a:ln w="38100">
                        <a:noFill/>
                        <a:miter/>
                      </a:ln>
                    </p:spPr>
                  </p:pic>
                </p:oleObj>
              </mc:Fallback>
            </mc:AlternateContent>
          </a:graphicData>
        </a:graphic>
      </p:graphicFrame>
      <p:sp>
        <p:nvSpPr>
          <p:cNvPr id="23559" name="矩形 102414"/>
          <p:cNvSpPr/>
          <p:nvPr/>
        </p:nvSpPr>
        <p:spPr>
          <a:xfrm>
            <a:off x="403860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3560" name="对象 102413"/>
          <p:cNvGraphicFramePr/>
          <p:nvPr/>
        </p:nvGraphicFramePr>
        <p:xfrm>
          <a:off x="2514600" y="5181600"/>
          <a:ext cx="1828800" cy="407988"/>
        </p:xfrm>
        <a:graphic>
          <a:graphicData uri="http://schemas.openxmlformats.org/presentationml/2006/ole">
            <mc:AlternateContent xmlns:mc="http://schemas.openxmlformats.org/markup-compatibility/2006">
              <mc:Choice xmlns:v="urn:schemas-microsoft-com:vml" Requires="v">
                <p:oleObj spid="_x0000_s15435" name="" r:id="rId5" imgW="1066800" imgH="241300" progId="Equation.3">
                  <p:embed/>
                </p:oleObj>
              </mc:Choice>
              <mc:Fallback>
                <p:oleObj name="" r:id="rId5" imgW="1066800" imgH="241300" progId="Equation.3">
                  <p:embed/>
                  <p:pic>
                    <p:nvPicPr>
                      <p:cNvPr id="0" name="图片 3098"/>
                      <p:cNvPicPr/>
                      <p:nvPr/>
                    </p:nvPicPr>
                    <p:blipFill>
                      <a:blip r:embed="rId6"/>
                      <a:stretch>
                        <a:fillRect/>
                      </a:stretch>
                    </p:blipFill>
                    <p:spPr>
                      <a:xfrm>
                        <a:off x="2514600" y="5181600"/>
                        <a:ext cx="1828800" cy="407988"/>
                      </a:xfrm>
                      <a:prstGeom prst="rect">
                        <a:avLst/>
                      </a:prstGeom>
                      <a:noFill/>
                      <a:ln w="38100">
                        <a:noFill/>
                        <a:miter/>
                      </a:ln>
                    </p:spPr>
                  </p:pic>
                </p:oleObj>
              </mc:Fallback>
            </mc:AlternateContent>
          </a:graphicData>
        </a:graphic>
      </p:graphicFrame>
      <p:sp>
        <p:nvSpPr>
          <p:cNvPr id="23561" name="矩形 102416"/>
          <p:cNvSpPr/>
          <p:nvPr/>
        </p:nvSpPr>
        <p:spPr>
          <a:xfrm>
            <a:off x="3795713" y="33147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3562" name="对象 102415"/>
          <p:cNvGraphicFramePr/>
          <p:nvPr/>
        </p:nvGraphicFramePr>
        <p:xfrm>
          <a:off x="1447800" y="5638800"/>
          <a:ext cx="3048000" cy="447675"/>
        </p:xfrm>
        <a:graphic>
          <a:graphicData uri="http://schemas.openxmlformats.org/presentationml/2006/ole">
            <mc:AlternateContent xmlns:mc="http://schemas.openxmlformats.org/markup-compatibility/2006">
              <mc:Choice xmlns:v="urn:schemas-microsoft-com:vml" Requires="v">
                <p:oleObj spid="_x0000_s15436" name="" r:id="rId7" imgW="1549400" imgH="228600" progId="Equation.3">
                  <p:embed/>
                </p:oleObj>
              </mc:Choice>
              <mc:Fallback>
                <p:oleObj name="" r:id="rId7" imgW="1549400" imgH="228600" progId="Equation.3">
                  <p:embed/>
                  <p:pic>
                    <p:nvPicPr>
                      <p:cNvPr id="0" name="图片 3093"/>
                      <p:cNvPicPr/>
                      <p:nvPr/>
                    </p:nvPicPr>
                    <p:blipFill>
                      <a:blip r:embed="rId8"/>
                      <a:stretch>
                        <a:fillRect/>
                      </a:stretch>
                    </p:blipFill>
                    <p:spPr>
                      <a:xfrm>
                        <a:off x="1447800" y="5638800"/>
                        <a:ext cx="3048000" cy="447675"/>
                      </a:xfrm>
                      <a:prstGeom prst="rect">
                        <a:avLst/>
                      </a:prstGeom>
                      <a:noFill/>
                      <a:ln w="38100">
                        <a:noFill/>
                        <a:miter/>
                      </a:ln>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7" name="文本框 136193"/>
          <p:cNvSpPr txBox="1"/>
          <p:nvPr/>
        </p:nvSpPr>
        <p:spPr>
          <a:xfrm>
            <a:off x="1600200" y="1143000"/>
            <a:ext cx="7004050" cy="4194175"/>
          </a:xfrm>
          <a:prstGeom prst="rect">
            <a:avLst/>
          </a:prstGeom>
          <a:noFill/>
          <a:ln w="9525">
            <a:noFill/>
          </a:ln>
        </p:spPr>
        <p:txBody>
          <a:bodyPr anchor="t" anchorCtr="0">
            <a:spAutoFit/>
          </a:bodyPr>
          <a:lstStyle/>
          <a:p>
            <a:pPr algn="just">
              <a:lnSpc>
                <a:spcPct val="120000"/>
              </a:lnSpc>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如果                          是方程组                的解</a:t>
            </a: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则                                                就是方程</a:t>
            </a:r>
            <a:endParaRPr lang="zh-CN" altLang="en-US" sz="2800" dirty="0">
              <a:latin typeface="Times New Roman" panose="02020603050405020304" pitchFamily="18" charset="0"/>
              <a:ea typeface="宋体" panose="02010600030101010101" pitchFamily="2" charset="-122"/>
            </a:endParaRPr>
          </a:p>
          <a:p>
            <a:pPr algn="just">
              <a:lnSpc>
                <a:spcPct val="120000"/>
              </a:lnSpc>
            </a:pPr>
            <a:r>
              <a:rPr lang="zh-CN" altLang="en-US" sz="2800" dirty="0">
                <a:latin typeface="Times New Roman" panose="02020603050405020304" pitchFamily="18" charset="0"/>
                <a:ea typeface="宋体" panose="02010600030101010101" pitchFamily="2" charset="-122"/>
              </a:rPr>
              <a:t>组                  的一个解，它称之为对应于基</a:t>
            </a:r>
            <a:r>
              <a:rPr lang="en-US" altLang="zh-CN" sz="2800" i="1">
                <a:latin typeface="Times New Roman" panose="02020603050405020304" pitchFamily="18" charset="0"/>
                <a:ea typeface="宋体" panose="02010600030101010101" pitchFamily="2" charset="-122"/>
              </a:rPr>
              <a:t>B</a:t>
            </a:r>
            <a:r>
              <a:rPr lang="zh-CN" altLang="en-US" sz="2800" dirty="0">
                <a:latin typeface="Times New Roman" panose="02020603050405020304" pitchFamily="18" charset="0"/>
                <a:ea typeface="宋体" panose="02010600030101010101" pitchFamily="2" charset="-122"/>
              </a:rPr>
              <a:t>的基本解，简称基解。</a:t>
            </a:r>
            <a:endParaRPr lang="zh-CN" altLang="en-US" sz="2800" dirty="0">
              <a:latin typeface="Times New Roman" panose="02020603050405020304" pitchFamily="18" charset="0"/>
              <a:ea typeface="宋体" panose="02010600030101010101" pitchFamily="2" charset="-122"/>
            </a:endParaRPr>
          </a:p>
          <a:p>
            <a:pPr algn="just">
              <a:lnSpc>
                <a:spcPct val="120000"/>
              </a:lnSpc>
            </a:pPr>
            <a:endParaRPr lang="zh-CN" altLang="en-US" sz="2800" dirty="0">
              <a:latin typeface="Times New Roman" panose="02020603050405020304" pitchFamily="18" charset="0"/>
              <a:ea typeface="宋体" panose="02010600030101010101" pitchFamily="2" charset="-122"/>
            </a:endParaRPr>
          </a:p>
          <a:p>
            <a:pPr algn="just">
              <a:lnSpc>
                <a:spcPct val="120000"/>
              </a:lnSpc>
            </a:pPr>
            <a:r>
              <a:rPr lang="zh-CN" altLang="en-US" sz="2800" dirty="0">
                <a:latin typeface="Times New Roman" panose="02020603050405020304" pitchFamily="18" charset="0"/>
                <a:ea typeface="宋体" panose="02010600030101010101" pitchFamily="2" charset="-122"/>
              </a:rPr>
              <a:t>       满足非负约束条件的基本解，称为基本可行解。对应于基本可行解的基，称为可行基。</a:t>
            </a:r>
            <a:endParaRPr lang="zh-CN" altLang="en-US" sz="2800" dirty="0">
              <a:latin typeface="Times New Roman" panose="02020603050405020304" pitchFamily="18" charset="0"/>
              <a:ea typeface="宋体" panose="02010600030101010101" pitchFamily="2" charset="-122"/>
            </a:endParaRPr>
          </a:p>
        </p:txBody>
      </p:sp>
      <p:sp>
        <p:nvSpPr>
          <p:cNvPr id="24578" name="矩形 136194"/>
          <p:cNvSpPr/>
          <p:nvPr/>
        </p:nvSpPr>
        <p:spPr>
          <a:xfrm>
            <a:off x="3433763" y="330041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4579" name="矩形 136196"/>
          <p:cNvSpPr/>
          <p:nvPr/>
        </p:nvSpPr>
        <p:spPr>
          <a:xfrm>
            <a:off x="3238500" y="295751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4580" name="矩形 136198"/>
          <p:cNvSpPr/>
          <p:nvPr/>
        </p:nvSpPr>
        <p:spPr>
          <a:xfrm>
            <a:off x="403860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4581" name="矩形 136200"/>
          <p:cNvSpPr/>
          <p:nvPr/>
        </p:nvSpPr>
        <p:spPr>
          <a:xfrm>
            <a:off x="403860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4582" name="矩形 136202"/>
          <p:cNvSpPr/>
          <p:nvPr/>
        </p:nvSpPr>
        <p:spPr>
          <a:xfrm>
            <a:off x="3795713" y="3314700"/>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4583" name="矩形 136205"/>
          <p:cNvSpPr/>
          <p:nvPr/>
        </p:nvSpPr>
        <p:spPr>
          <a:xfrm>
            <a:off x="390525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4584" name="对象 136204"/>
          <p:cNvGraphicFramePr/>
          <p:nvPr/>
        </p:nvGraphicFramePr>
        <p:xfrm>
          <a:off x="2843213" y="1268413"/>
          <a:ext cx="2613025" cy="466725"/>
        </p:xfrm>
        <a:graphic>
          <a:graphicData uri="http://schemas.openxmlformats.org/presentationml/2006/ole">
            <mc:AlternateContent xmlns:mc="http://schemas.openxmlformats.org/markup-compatibility/2006">
              <mc:Choice xmlns:v="urn:schemas-microsoft-com:vml" Requires="v">
                <p:oleObj spid="_x0000_s16457" name="" r:id="rId1" imgW="1333500" imgH="241300" progId="Equation.3">
                  <p:embed/>
                </p:oleObj>
              </mc:Choice>
              <mc:Fallback>
                <p:oleObj name="" r:id="rId1" imgW="1333500" imgH="241300" progId="Equation.3">
                  <p:embed/>
                  <p:pic>
                    <p:nvPicPr>
                      <p:cNvPr id="0" name="图片 3092"/>
                      <p:cNvPicPr/>
                      <p:nvPr/>
                    </p:nvPicPr>
                    <p:blipFill>
                      <a:blip r:embed="rId2"/>
                      <a:stretch>
                        <a:fillRect/>
                      </a:stretch>
                    </p:blipFill>
                    <p:spPr>
                      <a:xfrm>
                        <a:off x="2843213" y="1268413"/>
                        <a:ext cx="2613025" cy="466725"/>
                      </a:xfrm>
                      <a:prstGeom prst="rect">
                        <a:avLst/>
                      </a:prstGeom>
                      <a:noFill/>
                      <a:ln w="38100">
                        <a:noFill/>
                        <a:miter/>
                      </a:ln>
                    </p:spPr>
                  </p:pic>
                </p:oleObj>
              </mc:Fallback>
            </mc:AlternateContent>
          </a:graphicData>
        </a:graphic>
      </p:graphicFrame>
      <p:sp>
        <p:nvSpPr>
          <p:cNvPr id="24585" name="矩形 136207"/>
          <p:cNvSpPr/>
          <p:nvPr/>
        </p:nvSpPr>
        <p:spPr>
          <a:xfrm>
            <a:off x="4281488" y="33194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4586" name="对象 136206"/>
          <p:cNvGraphicFramePr/>
          <p:nvPr/>
        </p:nvGraphicFramePr>
        <p:xfrm>
          <a:off x="6732588" y="1268413"/>
          <a:ext cx="1295400" cy="487362"/>
        </p:xfrm>
        <a:graphic>
          <a:graphicData uri="http://schemas.openxmlformats.org/presentationml/2006/ole">
            <mc:AlternateContent xmlns:mc="http://schemas.openxmlformats.org/markup-compatibility/2006">
              <mc:Choice xmlns:v="urn:schemas-microsoft-com:vml" Requires="v">
                <p:oleObj spid="_x0000_s16458" name="" r:id="rId3" imgW="583565" imgH="215900" progId="Equation.3">
                  <p:embed/>
                </p:oleObj>
              </mc:Choice>
              <mc:Fallback>
                <p:oleObj name="" r:id="rId3" imgW="583565" imgH="215900" progId="Equation.3">
                  <p:embed/>
                  <p:pic>
                    <p:nvPicPr>
                      <p:cNvPr id="0" name="图片 3099"/>
                      <p:cNvPicPr/>
                      <p:nvPr/>
                    </p:nvPicPr>
                    <p:blipFill>
                      <a:blip r:embed="rId4"/>
                      <a:stretch>
                        <a:fillRect/>
                      </a:stretch>
                    </p:blipFill>
                    <p:spPr>
                      <a:xfrm>
                        <a:off x="6732588" y="1268413"/>
                        <a:ext cx="1295400" cy="487362"/>
                      </a:xfrm>
                      <a:prstGeom prst="rect">
                        <a:avLst/>
                      </a:prstGeom>
                      <a:noFill/>
                      <a:ln w="38100">
                        <a:noFill/>
                        <a:miter/>
                      </a:ln>
                    </p:spPr>
                  </p:pic>
                </p:oleObj>
              </mc:Fallback>
            </mc:AlternateContent>
          </a:graphicData>
        </a:graphic>
      </p:graphicFrame>
      <p:sp>
        <p:nvSpPr>
          <p:cNvPr id="24587" name="矩形 136209"/>
          <p:cNvSpPr/>
          <p:nvPr/>
        </p:nvSpPr>
        <p:spPr>
          <a:xfrm>
            <a:off x="367665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4588" name="对象 136208"/>
          <p:cNvGraphicFramePr/>
          <p:nvPr/>
        </p:nvGraphicFramePr>
        <p:xfrm>
          <a:off x="2843213" y="1773238"/>
          <a:ext cx="3810000" cy="508000"/>
        </p:xfrm>
        <a:graphic>
          <a:graphicData uri="http://schemas.openxmlformats.org/presentationml/2006/ole">
            <mc:AlternateContent xmlns:mc="http://schemas.openxmlformats.org/markup-compatibility/2006">
              <mc:Choice xmlns:v="urn:schemas-microsoft-com:vml" Requires="v">
                <p:oleObj spid="_x0000_s16459" name="" r:id="rId5" imgW="1790700" imgH="241300" progId="Equation.3">
                  <p:embed/>
                </p:oleObj>
              </mc:Choice>
              <mc:Fallback>
                <p:oleObj name="" r:id="rId5" imgW="1790700" imgH="241300" progId="Equation.3">
                  <p:embed/>
                  <p:pic>
                    <p:nvPicPr>
                      <p:cNvPr id="0" name="图片 3103"/>
                      <p:cNvPicPr/>
                      <p:nvPr/>
                    </p:nvPicPr>
                    <p:blipFill>
                      <a:blip r:embed="rId6"/>
                      <a:stretch>
                        <a:fillRect/>
                      </a:stretch>
                    </p:blipFill>
                    <p:spPr>
                      <a:xfrm>
                        <a:off x="2843213" y="1773238"/>
                        <a:ext cx="3810000" cy="508000"/>
                      </a:xfrm>
                      <a:prstGeom prst="rect">
                        <a:avLst/>
                      </a:prstGeom>
                      <a:noFill/>
                      <a:ln w="38100">
                        <a:noFill/>
                        <a:miter/>
                      </a:ln>
                    </p:spPr>
                  </p:pic>
                </p:oleObj>
              </mc:Fallback>
            </mc:AlternateContent>
          </a:graphicData>
        </a:graphic>
      </p:graphicFrame>
      <p:graphicFrame>
        <p:nvGraphicFramePr>
          <p:cNvPr id="24589" name="对象 136210"/>
          <p:cNvGraphicFramePr/>
          <p:nvPr/>
        </p:nvGraphicFramePr>
        <p:xfrm>
          <a:off x="2051050" y="2349500"/>
          <a:ext cx="1524000" cy="384175"/>
        </p:xfrm>
        <a:graphic>
          <a:graphicData uri="http://schemas.openxmlformats.org/presentationml/2006/ole">
            <mc:AlternateContent xmlns:mc="http://schemas.openxmlformats.org/markup-compatibility/2006">
              <mc:Choice xmlns:v="urn:schemas-microsoft-com:vml" Requires="v">
                <p:oleObj spid="_x0000_s16460" name="" r:id="rId7" imgW="811530" imgH="177800" progId="Equation.3">
                  <p:embed/>
                </p:oleObj>
              </mc:Choice>
              <mc:Fallback>
                <p:oleObj name="" r:id="rId7" imgW="811530" imgH="177800" progId="Equation.3">
                  <p:embed/>
                  <p:pic>
                    <p:nvPicPr>
                      <p:cNvPr id="0" name="图片 3104"/>
                      <p:cNvPicPr/>
                      <p:nvPr/>
                    </p:nvPicPr>
                    <p:blipFill>
                      <a:blip r:embed="rId8"/>
                      <a:stretch>
                        <a:fillRect/>
                      </a:stretch>
                    </p:blipFill>
                    <p:spPr>
                      <a:xfrm>
                        <a:off x="2051050" y="2349500"/>
                        <a:ext cx="1524000" cy="384175"/>
                      </a:xfrm>
                      <a:prstGeom prst="rect">
                        <a:avLst/>
                      </a:prstGeom>
                      <a:noFill/>
                      <a:ln w="38100">
                        <a:noFill/>
                        <a:miter/>
                      </a:ln>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1" name="矩形 35843"/>
          <p:cNvSpPr/>
          <p:nvPr/>
        </p:nvSpPr>
        <p:spPr>
          <a:xfrm>
            <a:off x="390525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5602" name="矩形 35846"/>
          <p:cNvSpPr/>
          <p:nvPr/>
        </p:nvSpPr>
        <p:spPr>
          <a:xfrm>
            <a:off x="4281488" y="3319463"/>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5603" name="矩形 35850"/>
          <p:cNvSpPr/>
          <p:nvPr/>
        </p:nvSpPr>
        <p:spPr>
          <a:xfrm>
            <a:off x="3676650" y="3309938"/>
            <a:ext cx="9144000" cy="0"/>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5604" name="矩形 35864"/>
          <p:cNvSpPr/>
          <p:nvPr/>
        </p:nvSpPr>
        <p:spPr>
          <a:xfrm>
            <a:off x="1295400" y="838200"/>
            <a:ext cx="7162800" cy="946150"/>
          </a:xfrm>
          <a:prstGeom prst="rect">
            <a:avLst/>
          </a:prstGeom>
          <a:noFill/>
          <a:ln w="9525">
            <a:noFill/>
          </a:ln>
        </p:spPr>
        <p:txBody>
          <a:bodyPr anchor="t" anchorCtr="0">
            <a:spAutoFit/>
          </a:bodyPr>
          <a:lstStyle/>
          <a:p>
            <a:pPr>
              <a:spcBef>
                <a:spcPct val="50000"/>
              </a:spcBef>
            </a:pP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线性规划问题的以上几个解的关系，可用下图来描述：</a:t>
            </a:r>
            <a:endParaRPr lang="zh-CN" altLang="en-US" sz="2800" dirty="0">
              <a:latin typeface="Arial" panose="020B0604020202020204" pitchFamily="34" charset="0"/>
              <a:ea typeface="宋体" panose="02010600030101010101" pitchFamily="2" charset="-122"/>
            </a:endParaRPr>
          </a:p>
        </p:txBody>
      </p:sp>
      <p:pic>
        <p:nvPicPr>
          <p:cNvPr id="25605" name="图片 35868" descr="zp1140101"/>
          <p:cNvPicPr>
            <a:picLocks noChangeAspect="1"/>
          </p:cNvPicPr>
          <p:nvPr/>
        </p:nvPicPr>
        <p:blipFill>
          <a:blip r:embed="rId1"/>
          <a:stretch>
            <a:fillRect/>
          </a:stretch>
        </p:blipFill>
        <p:spPr>
          <a:xfrm>
            <a:off x="1524000" y="1752600"/>
            <a:ext cx="6869113" cy="4583113"/>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5" name="标题 36865"/>
          <p:cNvSpPr>
            <a:spLocks noGrp="1" noRot="1"/>
          </p:cNvSpPr>
          <p:nvPr>
            <p:ph type="title"/>
          </p:nvPr>
        </p:nvSpPr>
        <p:spPr>
          <a:xfrm>
            <a:off x="2195513" y="762000"/>
            <a:ext cx="6948487" cy="762000"/>
          </a:xfrm>
        </p:spPr>
        <p:txBody>
          <a:bodyPr anchor="ctr" anchorCtr="0"/>
          <a:lstStyle/>
          <a:p>
            <a:r>
              <a:rPr lang="en-US" altLang="zh-CN">
                <a:solidFill>
                  <a:schemeClr val="tx1"/>
                </a:solidFill>
                <a:latin typeface="Times New Roman" panose="02020603050405020304" pitchFamily="18" charset="0"/>
              </a:rPr>
              <a:t> </a:t>
            </a:r>
            <a:r>
              <a:rPr lang="en-US" altLang="zh-CN" b="1" dirty="0">
                <a:solidFill>
                  <a:schemeClr val="tx1"/>
                </a:solidFill>
                <a:latin typeface="Times New Roman" panose="02020603050405020304" pitchFamily="18" charset="0"/>
                <a:ea typeface="黑体" panose="02010609060101010101" pitchFamily="2" charset="-122"/>
              </a:rPr>
              <a:t>(</a:t>
            </a:r>
            <a:r>
              <a:rPr lang="zh-CN" altLang="en-US" b="1" dirty="0">
                <a:solidFill>
                  <a:schemeClr val="tx1"/>
                </a:solidFill>
                <a:latin typeface="Times New Roman" panose="02020603050405020304" pitchFamily="18" charset="0"/>
                <a:ea typeface="黑体" panose="02010609060101010101" pitchFamily="2" charset="-122"/>
              </a:rPr>
              <a:t>二</a:t>
            </a:r>
            <a:r>
              <a:rPr lang="en-US" altLang="zh-CN" b="1" dirty="0">
                <a:solidFill>
                  <a:schemeClr val="tx1"/>
                </a:solidFill>
                <a:latin typeface="Times New Roman" panose="02020603050405020304" pitchFamily="18" charset="0"/>
                <a:ea typeface="黑体" panose="02010609060101010101" pitchFamily="2" charset="-122"/>
              </a:rPr>
              <a:t>)</a:t>
            </a:r>
            <a:r>
              <a:rPr lang="zh-CN" altLang="en-US" b="1" dirty="0">
                <a:solidFill>
                  <a:schemeClr val="tx1"/>
                </a:solidFill>
                <a:latin typeface="Times New Roman" panose="02020603050405020304" pitchFamily="18" charset="0"/>
                <a:ea typeface="黑体" panose="02010609060101010101" pitchFamily="2" charset="-122"/>
              </a:rPr>
              <a:t>线性规划解的性质</a:t>
            </a:r>
            <a:r>
              <a:rPr lang="zh-CN" altLang="en-US" b="1" dirty="0">
                <a:solidFill>
                  <a:srgbClr val="0066FF"/>
                </a:solidFill>
                <a:latin typeface="Times New Roman" panose="02020603050405020304" pitchFamily="18" charset="0"/>
              </a:rPr>
              <a:t> </a:t>
            </a:r>
            <a:endParaRPr lang="zh-CN" altLang="en-US" b="1">
              <a:solidFill>
                <a:srgbClr val="0066FF"/>
              </a:solidFill>
              <a:latin typeface="Times New Roman" panose="02020603050405020304" pitchFamily="18" charset="0"/>
            </a:endParaRPr>
          </a:p>
        </p:txBody>
      </p:sp>
      <p:sp>
        <p:nvSpPr>
          <p:cNvPr id="26626" name="文本占位符 36866"/>
          <p:cNvSpPr>
            <a:spLocks noGrp="1" noRot="1"/>
          </p:cNvSpPr>
          <p:nvPr>
            <p:ph idx="1"/>
          </p:nvPr>
        </p:nvSpPr>
        <p:spPr>
          <a:xfrm>
            <a:off x="1371600" y="1828800"/>
            <a:ext cx="7772400" cy="4114800"/>
          </a:xfrm>
        </p:spPr>
        <p:txBody>
          <a:bodyPr anchor="t" anchorCtr="0"/>
          <a:lstStyle/>
          <a:p>
            <a:pPr marL="100330" indent="-100330">
              <a:lnSpc>
                <a:spcPct val="120000"/>
              </a:lnSpc>
              <a:buSzPct val="80000"/>
            </a:pPr>
            <a:r>
              <a:rPr lang="zh-CN" altLang="en-US" b="1" dirty="0">
                <a:latin typeface="Times New Roman" panose="02020603050405020304" pitchFamily="18" charset="0"/>
              </a:rPr>
              <a:t>凸集和顶点</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marL="100330" indent="-100330">
              <a:lnSpc>
                <a:spcPct val="120000"/>
              </a:lnSpc>
              <a:buSzPct val="150000"/>
              <a:buFont typeface="Wingdings" panose="05000000000000000000" pitchFamily="2" charset="2"/>
              <a:buChar char="§"/>
            </a:pPr>
            <a:r>
              <a:rPr lang="zh-CN" altLang="en-US" sz="2800" b="1" dirty="0">
                <a:solidFill>
                  <a:schemeClr val="hlink"/>
                </a:solidFill>
              </a:rPr>
              <a:t>          </a:t>
            </a:r>
            <a:r>
              <a:rPr lang="en-US" altLang="zh-CN" sz="2800" b="1">
                <a:solidFill>
                  <a:schemeClr val="hlink"/>
                </a:solidFill>
              </a:rPr>
              <a:t>①</a:t>
            </a:r>
            <a:r>
              <a:rPr lang="zh-CN" altLang="en-US" sz="2800" b="1" dirty="0">
                <a:latin typeface="Times New Roman" panose="02020603050405020304" pitchFamily="18" charset="0"/>
              </a:rPr>
              <a:t>凸集</a:t>
            </a:r>
            <a:r>
              <a:rPr lang="zh-CN" altLang="en-US" sz="2800" dirty="0">
                <a:latin typeface="Times New Roman" panose="02020603050405020304" pitchFamily="18" charset="0"/>
              </a:rPr>
              <a:t>：若连接</a:t>
            </a:r>
            <a:r>
              <a:rPr lang="en-US" altLang="zh-CN" sz="2800" i="1">
                <a:latin typeface="Times New Roman" panose="02020603050405020304" pitchFamily="18" charset="0"/>
              </a:rPr>
              <a:t>n</a:t>
            </a:r>
            <a:r>
              <a:rPr lang="zh-CN" altLang="en-US" sz="2800" dirty="0">
                <a:latin typeface="Times New Roman" panose="02020603050405020304" pitchFamily="18" charset="0"/>
              </a:rPr>
              <a:t>维点集</a:t>
            </a:r>
            <a:r>
              <a:rPr lang="en-US" altLang="zh-CN" sz="2800" i="1">
                <a:latin typeface="Times New Roman" panose="02020603050405020304" pitchFamily="18" charset="0"/>
              </a:rPr>
              <a:t>S</a:t>
            </a:r>
            <a:r>
              <a:rPr lang="zh-CN" altLang="en-US" sz="2800" dirty="0">
                <a:latin typeface="Times New Roman" panose="02020603050405020304" pitchFamily="18" charset="0"/>
              </a:rPr>
              <a:t>中的任意两点</a:t>
            </a:r>
            <a:r>
              <a:rPr lang="en-US" altLang="zh-CN" sz="2800" i="1">
                <a:latin typeface="Times New Roman" panose="02020603050405020304" pitchFamily="18" charset="0"/>
              </a:rPr>
              <a:t>X</a:t>
            </a:r>
            <a:r>
              <a:rPr lang="en-US" altLang="zh-CN" sz="2800" baseline="30000">
                <a:latin typeface="Times New Roman" panose="02020603050405020304" pitchFamily="18" charset="0"/>
              </a:rPr>
              <a:t>(1)</a:t>
            </a:r>
            <a:r>
              <a:rPr lang="zh-CN" altLang="en-US" sz="2800">
                <a:latin typeface="Times New Roman" panose="02020603050405020304" pitchFamily="18" charset="0"/>
              </a:rPr>
              <a:t>和</a:t>
            </a:r>
            <a:r>
              <a:rPr lang="en-US" altLang="zh-CN" sz="2800" i="1">
                <a:latin typeface="Times New Roman" panose="02020603050405020304" pitchFamily="18" charset="0"/>
              </a:rPr>
              <a:t>X</a:t>
            </a:r>
            <a:r>
              <a:rPr lang="en-US" altLang="zh-CN" sz="2800" baseline="30000">
                <a:latin typeface="Times New Roman" panose="02020603050405020304" pitchFamily="18" charset="0"/>
              </a:rPr>
              <a:t>(2)</a:t>
            </a:r>
            <a:r>
              <a:rPr lang="zh-CN" altLang="en-US" sz="2800" dirty="0">
                <a:latin typeface="Times New Roman" panose="02020603050405020304" pitchFamily="18" charset="0"/>
              </a:rPr>
              <a:t>之间的线段仍在</a:t>
            </a:r>
            <a:r>
              <a:rPr lang="en-US" altLang="zh-CN" sz="2800" i="1">
                <a:latin typeface="Times New Roman" panose="02020603050405020304" pitchFamily="18" charset="0"/>
              </a:rPr>
              <a:t>S</a:t>
            </a:r>
            <a:r>
              <a:rPr lang="zh-CN" altLang="en-US" sz="2800" dirty="0">
                <a:latin typeface="Times New Roman" panose="02020603050405020304" pitchFamily="18" charset="0"/>
              </a:rPr>
              <a:t>中，则</a:t>
            </a:r>
            <a:r>
              <a:rPr lang="en-US" altLang="zh-CN" sz="2800" i="1">
                <a:latin typeface="Times New Roman" panose="02020603050405020304" pitchFamily="18" charset="0"/>
              </a:rPr>
              <a:t>S</a:t>
            </a:r>
            <a:r>
              <a:rPr lang="zh-CN" altLang="en-US" sz="2800" dirty="0">
                <a:latin typeface="Times New Roman" panose="02020603050405020304" pitchFamily="18" charset="0"/>
              </a:rPr>
              <a:t>为凸集。 </a:t>
            </a:r>
            <a:endParaRPr lang="zh-CN" altLang="en-US" sz="2800" dirty="0">
              <a:latin typeface="Times New Roman" panose="02020603050405020304" pitchFamily="18" charset="0"/>
            </a:endParaRPr>
          </a:p>
          <a:p>
            <a:pPr marL="100330" indent="-100330">
              <a:lnSpc>
                <a:spcPct val="120000"/>
              </a:lnSpc>
              <a:buSzPct val="150000"/>
              <a:buFont typeface="Wingdings" panose="05000000000000000000" pitchFamily="2" charset="2"/>
              <a:buChar char="§"/>
            </a:pPr>
            <a:endParaRPr lang="zh-CN" altLang="en-US" sz="2800" dirty="0">
              <a:latin typeface="Times New Roman" panose="02020603050405020304" pitchFamily="18" charset="0"/>
            </a:endParaRPr>
          </a:p>
          <a:p>
            <a:pPr marL="100330" indent="-100330">
              <a:lnSpc>
                <a:spcPct val="120000"/>
              </a:lnSpc>
              <a:buSzPct val="150000"/>
              <a:buFont typeface="Wingdings" panose="05000000000000000000" pitchFamily="2" charset="2"/>
              <a:buChar char="§"/>
            </a:pPr>
            <a:r>
              <a:rPr lang="zh-CN" altLang="en-US" sz="2400" b="1" dirty="0">
                <a:solidFill>
                  <a:schemeClr val="hlink"/>
                </a:solidFill>
              </a:rPr>
              <a:t>          </a:t>
            </a:r>
            <a:r>
              <a:rPr lang="en-US" altLang="zh-CN" sz="2400" b="1">
                <a:solidFill>
                  <a:schemeClr val="hlink"/>
                </a:solidFill>
              </a:rPr>
              <a:t>②</a:t>
            </a:r>
            <a:r>
              <a:rPr lang="zh-CN" altLang="en-US" sz="2800" b="1" dirty="0">
                <a:latin typeface="Times New Roman" panose="02020603050405020304" pitchFamily="18" charset="0"/>
              </a:rPr>
              <a:t>顶点</a:t>
            </a:r>
            <a:r>
              <a:rPr lang="zh-CN" altLang="en-US" sz="2800" dirty="0">
                <a:latin typeface="Times New Roman" panose="02020603050405020304" pitchFamily="18" charset="0"/>
              </a:rPr>
              <a:t>：若凸集</a:t>
            </a:r>
            <a:r>
              <a:rPr lang="en-US" altLang="zh-CN" sz="2800" i="1">
                <a:latin typeface="Times New Roman" panose="02020603050405020304" pitchFamily="18" charset="0"/>
              </a:rPr>
              <a:t>S</a:t>
            </a:r>
            <a:r>
              <a:rPr lang="zh-CN" altLang="en-US" sz="2800" dirty="0">
                <a:latin typeface="Times New Roman" panose="02020603050405020304" pitchFamily="18" charset="0"/>
              </a:rPr>
              <a:t>中的</a:t>
            </a:r>
            <a:r>
              <a:rPr lang="zh-CN" altLang="en-US" sz="2800">
                <a:latin typeface="Times New Roman" panose="02020603050405020304" pitchFamily="18" charset="0"/>
              </a:rPr>
              <a:t>点</a:t>
            </a:r>
            <a:r>
              <a:rPr lang="en-US" altLang="zh-CN" sz="2800" i="1">
                <a:latin typeface="Times New Roman" panose="02020603050405020304" pitchFamily="18" charset="0"/>
              </a:rPr>
              <a:t>X</a:t>
            </a:r>
            <a:r>
              <a:rPr lang="en-US" altLang="zh-CN" sz="2800" baseline="30000">
                <a:latin typeface="Times New Roman" panose="02020603050405020304" pitchFamily="18" charset="0"/>
              </a:rPr>
              <a:t>(0)</a:t>
            </a:r>
            <a:r>
              <a:rPr lang="zh-CN" altLang="en-US" sz="2800" dirty="0">
                <a:latin typeface="Times New Roman" panose="02020603050405020304" pitchFamily="18" charset="0"/>
              </a:rPr>
              <a:t>不能成为</a:t>
            </a:r>
            <a:r>
              <a:rPr lang="en-US" altLang="zh-CN" sz="2800" i="1">
                <a:latin typeface="Times New Roman" panose="02020603050405020304" pitchFamily="18" charset="0"/>
              </a:rPr>
              <a:t>S</a:t>
            </a:r>
            <a:r>
              <a:rPr lang="zh-CN" altLang="en-US" sz="2800" dirty="0">
                <a:latin typeface="Times New Roman" panose="02020603050405020304" pitchFamily="18" charset="0"/>
              </a:rPr>
              <a:t>中任何线段的内点，则称</a:t>
            </a:r>
            <a:r>
              <a:rPr lang="en-US" altLang="zh-CN" sz="2800" i="1">
                <a:latin typeface="Times New Roman" panose="02020603050405020304" pitchFamily="18" charset="0"/>
              </a:rPr>
              <a:t>X</a:t>
            </a:r>
            <a:r>
              <a:rPr lang="en-US" altLang="zh-CN" sz="2800" baseline="30000">
                <a:latin typeface="Times New Roman" panose="02020603050405020304" pitchFamily="18" charset="0"/>
              </a:rPr>
              <a:t>(0)</a:t>
            </a:r>
            <a:r>
              <a:rPr lang="zh-CN" altLang="en-US" sz="2800">
                <a:latin typeface="Times New Roman" panose="02020603050405020304" pitchFamily="18" charset="0"/>
              </a:rPr>
              <a:t>为</a:t>
            </a:r>
            <a:r>
              <a:rPr lang="en-US" altLang="zh-CN" sz="2800" i="1">
                <a:latin typeface="Times New Roman" panose="02020603050405020304" pitchFamily="18" charset="0"/>
              </a:rPr>
              <a:t>S</a:t>
            </a:r>
            <a:r>
              <a:rPr lang="zh-CN" altLang="en-US" sz="2800" dirty="0">
                <a:latin typeface="Times New Roman" panose="02020603050405020304" pitchFamily="18" charset="0"/>
              </a:rPr>
              <a:t>的顶点或极点。</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UNIT_TABLE_BEAUTIFY" val="smartTable{1208b815-1bc7-4b62-a1d4-7a434e5004e6}"/>
</p:tagLst>
</file>

<file path=ppt/tags/tag2.xml><?xml version="1.0" encoding="utf-8"?>
<p:tagLst xmlns:p="http://schemas.openxmlformats.org/presentationml/2006/main">
  <p:tag name="KSO_WM_UNIT_TABLE_BEAUTIFY" val="smartTable{1208b815-1bc7-4b62-a1d4-7a434e5004e6}"/>
  <p:tag name="KSO_WM_BEAUTIFY_FLAG" val=""/>
</p:tagLst>
</file>

<file path=ppt/tags/tag3.xml><?xml version="1.0" encoding="utf-8"?>
<p:tagLst xmlns:p="http://schemas.openxmlformats.org/presentationml/2006/main">
  <p:tag name="KSO_WM_UNIT_TABLE_BEAUTIFY" val="smartTable{1208b815-1bc7-4b62-a1d4-7a434e5004e6}"/>
  <p:tag name="KSO_WM_BEAUTIFY_FLAG" val=""/>
</p:tagLst>
</file>

<file path=ppt/tags/tag4.xml><?xml version="1.0" encoding="utf-8"?>
<p:tagLst xmlns:p="http://schemas.openxmlformats.org/presentationml/2006/main">
  <p:tag name="KSO_WM_UNIT_TABLE_BEAUTIFY" val="smartTable{06795937-49ac-4cd2-b0af-264677cf30c1}"/>
</p:tagLst>
</file>

<file path=ppt/tags/tag5.xml><?xml version="1.0" encoding="utf-8"?>
<p:tagLst xmlns:p="http://schemas.openxmlformats.org/presentationml/2006/main">
  <p:tag name="KSO_WM_UNIT_TABLE_BEAUTIFY" val="smartTable{0ca54d1f-9dbc-4bc1-90a9-df8e9ce8b151}"/>
</p:tagLst>
</file>

<file path=ppt/tags/tag6.xml><?xml version="1.0" encoding="utf-8"?>
<p:tagLst xmlns:p="http://schemas.openxmlformats.org/presentationml/2006/main">
  <p:tag name="KSO_WM_UNIT_TABLE_BEAUTIFY" val="smartTable{5713566e-5f32-4bb7-bccc-fdad7c8f2235}"/>
  <p:tag name="TABLE_ENDDRAG_ORIGIN_RECT" val="546*182"/>
  <p:tag name="TABLE_ENDDRAG_RECT" val="77*229*546*182"/>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UNIT_TABLE_BEAUTIFY" val="smartTable{94752fc0-1a3f-4c9f-9c88-5c5854f76ce6}"/>
  <p:tag name="TABLE_ENDDRAG_ORIGIN_RECT" val="506*267"/>
  <p:tag name="TABLE_ENDDRAG_RECT" val="87*145*506*267"/>
</p:tagLst>
</file>

<file path=ppt/theme/theme1.xml><?xml version="1.0" encoding="utf-8"?>
<a:theme xmlns:a="http://schemas.openxmlformats.org/drawingml/2006/main" name="古瓶荷花">
  <a:themeElements>
    <a:clrScheme name="">
      <a:dk1>
        <a:srgbClr val="0033CC"/>
      </a:dk1>
      <a:lt1>
        <a:srgbClr val="FFFFFF"/>
      </a:lt1>
      <a:dk2>
        <a:srgbClr val="007572"/>
      </a:dk2>
      <a:lt2>
        <a:srgbClr val="C0C0C0"/>
      </a:lt2>
      <a:accent1>
        <a:srgbClr val="CCECFF"/>
      </a:accent1>
      <a:accent2>
        <a:srgbClr val="3399FF"/>
      </a:accent2>
      <a:accent3>
        <a:srgbClr val="FFFFFF"/>
      </a:accent3>
      <a:accent4>
        <a:srgbClr val="002AAF"/>
      </a:accent4>
      <a:accent5>
        <a:srgbClr val="E2F4FF"/>
      </a:accent5>
      <a:accent6>
        <a:srgbClr val="2D89E5"/>
      </a:accent6>
      <a:hlink>
        <a:srgbClr val="CC0066"/>
      </a:hlink>
      <a:folHlink>
        <a:srgbClr val="7D7DA9"/>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33CC"/>
        </a:dk1>
        <a:lt1>
          <a:srgbClr val="FFFFFF"/>
        </a:lt1>
        <a:dk2>
          <a:srgbClr val="007572"/>
        </a:dk2>
        <a:lt2>
          <a:srgbClr val="C0C0C0"/>
        </a:lt2>
        <a:accent1>
          <a:srgbClr val="CCECFF"/>
        </a:accent1>
        <a:accent2>
          <a:srgbClr val="3399FF"/>
        </a:accent2>
        <a:accent3>
          <a:srgbClr val="FFFFFF"/>
        </a:accent3>
        <a:accent4>
          <a:srgbClr val="002AAF"/>
        </a:accent4>
        <a:accent5>
          <a:srgbClr val="E2F4FF"/>
        </a:accent5>
        <a:accent6>
          <a:srgbClr val="2D89E5"/>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
        <a:dk1>
          <a:srgbClr val="007A77"/>
        </a:dk1>
        <a:lt1>
          <a:srgbClr val="EFF6EE"/>
        </a:lt1>
        <a:dk2>
          <a:srgbClr val="0066CC"/>
        </a:dk2>
        <a:lt2>
          <a:srgbClr val="C0C0C0"/>
        </a:lt2>
        <a:accent1>
          <a:srgbClr val="E7EEE6"/>
        </a:accent1>
        <a:accent2>
          <a:srgbClr val="FF9933"/>
        </a:accent2>
        <a:accent3>
          <a:srgbClr val="F5FAF5"/>
        </a:accent3>
        <a:accent4>
          <a:srgbClr val="006866"/>
        </a:accent4>
        <a:accent5>
          <a:srgbClr val="F1F5F0"/>
        </a:accent5>
        <a:accent6>
          <a:srgbClr val="E589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B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9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
        <a:dk1>
          <a:srgbClr val="636395"/>
        </a:dk1>
        <a:lt1>
          <a:srgbClr val="FFE2C5"/>
        </a:lt1>
        <a:dk2>
          <a:srgbClr val="000000"/>
        </a:dk2>
        <a:lt2>
          <a:srgbClr val="C0C0C0"/>
        </a:lt2>
        <a:accent1>
          <a:srgbClr val="FFE1E1"/>
        </a:accent1>
        <a:accent2>
          <a:srgbClr val="FF9933"/>
        </a:accent2>
        <a:accent3>
          <a:srgbClr val="FFEEDE"/>
        </a:accent3>
        <a:accent4>
          <a:srgbClr val="545480"/>
        </a:accent4>
        <a:accent5>
          <a:srgbClr val="FFEDED"/>
        </a:accent5>
        <a:accent6>
          <a:srgbClr val="E589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
        <a:dk1>
          <a:srgbClr val="626292"/>
        </a:dk1>
        <a:lt1>
          <a:srgbClr val="CCECFF"/>
        </a:lt1>
        <a:dk2>
          <a:srgbClr val="3333CC"/>
        </a:dk2>
        <a:lt2>
          <a:srgbClr val="C0C0C0"/>
        </a:lt2>
        <a:accent1>
          <a:srgbClr val="D9F1FF"/>
        </a:accent1>
        <a:accent2>
          <a:srgbClr val="FF9900"/>
        </a:accent2>
        <a:accent3>
          <a:srgbClr val="E2F4FF"/>
        </a:accent3>
        <a:accent4>
          <a:srgbClr val="53537D"/>
        </a:accent4>
        <a:accent5>
          <a:srgbClr val="E9F7FF"/>
        </a:accent5>
        <a:accent6>
          <a:srgbClr val="E589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
        <a:dk1>
          <a:srgbClr val="0066CC"/>
        </a:dk1>
        <a:lt1>
          <a:srgbClr val="FFE1E1"/>
        </a:lt1>
        <a:dk2>
          <a:srgbClr val="006600"/>
        </a:dk2>
        <a:lt2>
          <a:srgbClr val="C0C0C0"/>
        </a:lt2>
        <a:accent1>
          <a:srgbClr val="FFFFCC"/>
        </a:accent1>
        <a:accent2>
          <a:srgbClr val="009999"/>
        </a:accent2>
        <a:accent3>
          <a:srgbClr val="FFEDED"/>
        </a:accent3>
        <a:accent4>
          <a:srgbClr val="0057AF"/>
        </a:accent4>
        <a:accent5>
          <a:srgbClr val="FFFFE2"/>
        </a:accent5>
        <a:accent6>
          <a:srgbClr val="008989"/>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
        <a:dk1>
          <a:srgbClr val="292929"/>
        </a:dk1>
        <a:lt1>
          <a:srgbClr val="DDDDDD"/>
        </a:lt1>
        <a:dk2>
          <a:srgbClr val="0066CC"/>
        </a:dk2>
        <a:lt2>
          <a:srgbClr val="B2B2B2"/>
        </a:lt2>
        <a:accent1>
          <a:srgbClr val="CACADC"/>
        </a:accent1>
        <a:accent2>
          <a:srgbClr val="FFCC00"/>
        </a:accent2>
        <a:accent3>
          <a:srgbClr val="EBEBEB"/>
        </a:accent3>
        <a:accent4>
          <a:srgbClr val="222222"/>
        </a:accent4>
        <a:accent5>
          <a:srgbClr val="E1E1EA"/>
        </a:accent5>
        <a:accent6>
          <a:srgbClr val="E5B7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9199</Words>
  <Application>WPS 演示</Application>
  <PresentationFormat>全屏显示(4:3)</PresentationFormat>
  <Paragraphs>885</Paragraphs>
  <Slides>57</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51</vt:i4>
      </vt:variant>
      <vt:variant>
        <vt:lpstr>幻灯片标题</vt:lpstr>
      </vt:variant>
      <vt:variant>
        <vt:i4>57</vt:i4>
      </vt:variant>
    </vt:vector>
  </HeadingPairs>
  <TitlesOfParts>
    <vt:vector size="120" baseType="lpstr">
      <vt:lpstr>Arial</vt:lpstr>
      <vt:lpstr>宋体</vt:lpstr>
      <vt:lpstr>Wingdings</vt:lpstr>
      <vt:lpstr>Times New Roman</vt:lpstr>
      <vt:lpstr>黑体</vt:lpstr>
      <vt:lpstr>Wingdings</vt:lpstr>
      <vt:lpstr>微软雅黑</vt:lpstr>
      <vt:lpstr>Arial Unicode MS</vt:lpstr>
      <vt:lpstr>等线</vt:lpstr>
      <vt:lpstr>Cambria Math</vt:lpstr>
      <vt:lpstr>Calibri</vt:lpstr>
      <vt:lpstr>古瓶荷花</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第5章 线性规划方法</vt:lpstr>
      <vt:lpstr>第5章 线性规划方法 </vt:lpstr>
      <vt:lpstr>第1节 线性规划及其单纯形求解方法</vt:lpstr>
      <vt:lpstr>一、线性规划的数学模型 </vt:lpstr>
      <vt:lpstr>PowerPoint 演示文稿</vt:lpstr>
      <vt:lpstr>        设xij表示由产地i供给销地j 的物资数量，则上述问题可以表述为：         求一组实值变量xij(i=1，2，…，m；j=1，2，…，n)，使其满足</vt:lpstr>
      <vt:lpstr>资源利用问题 </vt:lpstr>
      <vt:lpstr>       设第j种产品的生产数量为xj(j=1，2，…，n)，则上述资源问题就是：</vt:lpstr>
      <vt:lpstr>合理下料问题 </vt:lpstr>
      <vt:lpstr>       设采用Bj方式下料的原材料数为xj，则上述问题可表示为：</vt:lpstr>
      <vt:lpstr>农场经营方案问题  </vt:lpstr>
      <vt:lpstr>农场经营方案问题 </vt:lpstr>
      <vt:lpstr>农场经营方案问题</vt:lpstr>
      <vt:lpstr>农场经营方案问题 </vt:lpstr>
      <vt:lpstr>农场经营方案问题 </vt:lpstr>
      <vt:lpstr>农场经营方案问题 </vt:lpstr>
      <vt:lpstr>农场经营方案问题 </vt:lpstr>
      <vt:lpstr>农场经营方案问题  </vt:lpstr>
      <vt:lpstr>农场经营方案问题 </vt:lpstr>
      <vt:lpstr>  农场种植计划模型 </vt:lpstr>
      <vt:lpstr>PowerPoint 演示文稿</vt:lpstr>
      <vt:lpstr>PowerPoint 演示文稿</vt:lpstr>
      <vt:lpstr>PowerPoint 演示文稿</vt:lpstr>
      <vt:lpstr>PowerPoint 演示文稿</vt:lpstr>
      <vt:lpstr>PowerPoint 演示文稿</vt:lpstr>
      <vt:lpstr>PowerPoint 演示文稿</vt:lpstr>
      <vt:lpstr>线性规划模型综合应用实例</vt:lpstr>
      <vt:lpstr>线性规划模型综合应用实例</vt:lpstr>
      <vt:lpstr>线性规划模型综合应用实例</vt:lpstr>
      <vt:lpstr>线性规划模型综合应用实例</vt:lpstr>
      <vt:lpstr>线性规划模型应用实例</vt:lpstr>
      <vt:lpstr>PowerPoint 演示文稿</vt:lpstr>
      <vt:lpstr>线性规划模型和回归综合应用实例</vt:lpstr>
      <vt:lpstr>PowerPoint 演示文稿</vt:lpstr>
      <vt:lpstr>PowerPoint 演示文稿</vt:lpstr>
      <vt:lpstr>（二）线性规划的数学模型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线性规划问题的单纯形算法例子 </vt:lpstr>
      <vt:lpstr>           二、线性规划的标准形式及方法 </vt:lpstr>
      <vt:lpstr>PowerPoint 演示文稿</vt:lpstr>
      <vt:lpstr>（二）化为标准形式的方法 </vt:lpstr>
      <vt:lpstr>PowerPoint 演示文稿</vt:lpstr>
      <vt:lpstr>三、线性规划的解及其性质 </vt:lpstr>
      <vt:lpstr>PowerPoint 演示文稿</vt:lpstr>
      <vt:lpstr>PowerPoint 演示文稿</vt:lpstr>
      <vt:lpstr>PowerPoint 演示文稿</vt:lpstr>
      <vt:lpstr>PowerPoint 演示文稿</vt:lpstr>
      <vt:lpstr> (二)线性规划解的性质 </vt:lpstr>
    </vt:vector>
  </TitlesOfParts>
  <Company>ecnu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  线性规划方法 </dc:title>
  <dc:creator>haha</dc:creator>
  <cp:lastModifiedBy>微信用户</cp:lastModifiedBy>
  <cp:revision>484</cp:revision>
  <dcterms:created xsi:type="dcterms:W3CDTF">2002-10-28T07:26:00Z</dcterms:created>
  <dcterms:modified xsi:type="dcterms:W3CDTF">2025-11-20T13:42:29Z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96AB9985AD76491B9B859BC0A3B40CB9_12</vt:lpwstr>
  </property>
</Properties>
</file>