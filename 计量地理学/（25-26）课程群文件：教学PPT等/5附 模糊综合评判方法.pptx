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6" r:id="rId23"/>
    <p:sldId id="327" r:id="rId24"/>
    <p:sldId id="328" r:id="rId25"/>
    <p:sldId id="329" r:id="rId26"/>
    <p:sldId id="330" r:id="rId2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00"/>
    <a:srgbClr val="FFFF00"/>
    <a:srgbClr val="CCFFCC"/>
    <a:srgbClr val="FFCCFF"/>
    <a:srgbClr val="67BA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5"/>
    <p:restoredTop sz="94601"/>
  </p:normalViewPr>
  <p:slideViewPr>
    <p:cSldViewPr showGuides="1">
      <p:cViewPr varScale="1">
        <p:scale>
          <a:sx n="73" d="100"/>
          <a:sy n="73" d="100"/>
        </p:scale>
        <p:origin x="-1284" y="-102"/>
      </p:cViewPr>
      <p:guideLst>
        <p:guide orient="horz" pos="2272"/>
        <p:guide pos="285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136194" name="标题 136193"/>
          <p:cNvSpPr>
            <a:spLocks noGrp="1" noRot="1"/>
          </p:cNvSpPr>
          <p:nvPr>
            <p:ph type="ctrTitle"/>
          </p:nvPr>
        </p:nvSpPr>
        <p:spPr>
          <a:xfrm>
            <a:off x="3962400" y="1066800"/>
            <a:ext cx="4648200" cy="1981200"/>
          </a:xfrm>
          <a:prstGeom prst="rect">
            <a:avLst/>
          </a:prstGeom>
          <a:noFill/>
          <a:ln w="9525">
            <a:noFill/>
          </a:ln>
        </p:spPr>
        <p:txBody>
          <a:bodyPr anchor="ctr"/>
          <a:lstStyle>
            <a:lvl1pPr lvl="0">
              <a:buClrTx/>
              <a:buSzTx/>
              <a:buFontTx/>
              <a:defRPr/>
            </a:lvl1pPr>
          </a:lstStyle>
          <a:p>
            <a:pPr lvl="0" fontAlgn="base"/>
            <a:r>
              <a:rPr lang="zh-CN" altLang="en-US" strike="noStrike" noProof="1" dirty="0"/>
              <a:t>单击此处编辑母版标题样式</a:t>
            </a:r>
            <a:endParaRPr lang="zh-CN" altLang="en-US" strike="noStrike" noProof="1" dirty="0"/>
          </a:p>
        </p:txBody>
      </p:sp>
      <p:sp>
        <p:nvSpPr>
          <p:cNvPr id="136195" name="副标题 136194"/>
          <p:cNvSpPr>
            <a:spLocks noGrp="1" noRot="1"/>
          </p:cNvSpPr>
          <p:nvPr>
            <p:ph type="subTitle" idx="1"/>
          </p:nvPr>
        </p:nvSpPr>
        <p:spPr>
          <a:xfrm>
            <a:off x="3962400" y="3657600"/>
            <a:ext cx="4572000" cy="1676400"/>
          </a:xfrm>
          <a:prstGeom prst="rect">
            <a:avLst/>
          </a:prstGeom>
          <a:noFill/>
          <a:ln w="9525">
            <a:noFill/>
          </a:ln>
        </p:spPr>
        <p:txBody>
          <a:bodyPr anchor="t"/>
          <a:lstStyle>
            <a:lvl1pPr marL="0" lvl="0" indent="0" algn="ctr">
              <a:buClr>
                <a:schemeClr val="hlink"/>
              </a:buClr>
              <a:buSzPct val="70000"/>
              <a:buFont typeface="Wingdings" panose="05000000000000000000" pitchFamily="2" charset="2"/>
              <a:buNone/>
              <a:defRPr/>
            </a:lvl1pPr>
            <a:lvl2pPr marL="457200" lvl="1" indent="0" algn="ctr">
              <a:buClr>
                <a:schemeClr val="accent2"/>
              </a:buClr>
              <a:buSzPct val="85000"/>
              <a:buFont typeface="Wingdings" panose="05000000000000000000" pitchFamily="2" charset="2"/>
              <a:buNone/>
              <a:defRPr/>
            </a:lvl2pPr>
            <a:lvl3pPr marL="914400" lvl="2" indent="0" algn="ctr">
              <a:buClr>
                <a:schemeClr val="hlink"/>
              </a:buClr>
              <a:buSzPct val="80000"/>
              <a:buFont typeface="Wingdings" panose="05000000000000000000" pitchFamily="2" charset="2"/>
              <a:buNone/>
              <a:defRPr/>
            </a:lvl3pPr>
            <a:lvl4pPr marL="1371600" lvl="3" indent="0" algn="ctr">
              <a:buClr>
                <a:schemeClr val="accent2"/>
              </a:buClr>
              <a:buSzPct val="90000"/>
              <a:buFont typeface="Wingdings" panose="05000000000000000000" pitchFamily="2" charset="2"/>
              <a:buNone/>
              <a:defRPr/>
            </a:lvl4pPr>
            <a:lvl5pPr marL="1828800" lvl="4" indent="0" algn="ctr">
              <a:buClr>
                <a:schemeClr val="hlink"/>
              </a:buClr>
              <a:buSzPct val="85000"/>
              <a:buFont typeface="Wingdings" panose="05000000000000000000" pitchFamily="2" charset="2"/>
              <a:buNone/>
              <a:defRPr/>
            </a:lvl5pPr>
          </a:lstStyle>
          <a:p>
            <a:pPr lvl="0" fontAlgn="base"/>
            <a:r>
              <a:rPr lang="zh-CN" altLang="en-US" strike="noStrike" noProof="1" dirty="0"/>
              <a:t>单击此处编辑母版副标题样式</a:t>
            </a:r>
            <a:endParaRPr lang="zh-CN" altLang="en-US" strike="noStrike" noProof="1" dirty="0"/>
          </a:p>
        </p:txBody>
      </p:sp>
      <p:sp>
        <p:nvSpPr>
          <p:cNvPr id="136196" name="日期占位符 136195"/>
          <p:cNvSpPr>
            <a:spLocks noGrp="1"/>
          </p:cNvSpPr>
          <p:nvPr>
            <p:ph type="dt" sz="half" idx="2"/>
          </p:nvPr>
        </p:nvSpPr>
        <p:spPr>
          <a:xfrm>
            <a:off x="301625" y="6076950"/>
            <a:ext cx="2289175" cy="476250"/>
          </a:xfrm>
          <a:prstGeom prst="rect">
            <a:avLst/>
          </a:prstGeom>
          <a:noFill/>
          <a:ln w="9525">
            <a:noFill/>
          </a:ln>
        </p:spPr>
        <p:txBody>
          <a:bodyPr anchor="t"/>
          <a:lstStyle>
            <a:lvl1pPr>
              <a:defRPr sz="1400">
                <a:latin typeface="Arial" panose="020B0604020202020204" pitchFamily="34" charset="0"/>
              </a:defRPr>
            </a:lvl1pPr>
          </a:lstStyle>
          <a:p>
            <a:pPr fontAlgn="base"/>
            <a:endParaRPr lang="zh-CN" altLang="en-US" strike="noStrike" noProof="1" dirty="0">
              <a:latin typeface="Times New Roman" panose="02020603050405020304" pitchFamily="18" charset="0"/>
            </a:endParaRPr>
          </a:p>
        </p:txBody>
      </p:sp>
      <p:sp>
        <p:nvSpPr>
          <p:cNvPr id="136197" name="页脚占位符 136196"/>
          <p:cNvSpPr>
            <a:spLocks noGrp="1"/>
          </p:cNvSpPr>
          <p:nvPr>
            <p:ph type="ftr" sz="quarter" idx="3"/>
          </p:nvPr>
        </p:nvSpPr>
        <p:spPr>
          <a:xfrm>
            <a:off x="3124200" y="6076950"/>
            <a:ext cx="2895600" cy="476250"/>
          </a:xfrm>
          <a:prstGeom prst="rect">
            <a:avLst/>
          </a:prstGeom>
          <a:noFill/>
          <a:ln w="9525">
            <a:noFill/>
          </a:ln>
        </p:spPr>
        <p:txBody>
          <a:bodyPr anchor="t"/>
          <a:lstStyle>
            <a:lvl1pPr algn="ctr">
              <a:defRPr sz="1400">
                <a:latin typeface="Arial" panose="020B0604020202020204" pitchFamily="34" charset="0"/>
              </a:defRPr>
            </a:lvl1pPr>
          </a:lstStyle>
          <a:p>
            <a:pPr fontAlgn="base"/>
            <a:endParaRPr lang="zh-CN" altLang="en-US" strike="noStrike" noProof="1" dirty="0"/>
          </a:p>
        </p:txBody>
      </p:sp>
      <p:sp>
        <p:nvSpPr>
          <p:cNvPr id="136198" name="灯片编号占位符 136197"/>
          <p:cNvSpPr>
            <a:spLocks noGrp="1"/>
          </p:cNvSpPr>
          <p:nvPr>
            <p:ph type="sldNum" sz="quarter" idx="4"/>
          </p:nvPr>
        </p:nvSpPr>
        <p:spPr>
          <a:xfrm>
            <a:off x="6553200" y="6076950"/>
            <a:ext cx="2289175" cy="476250"/>
          </a:xfrm>
          <a:prstGeom prst="rect">
            <a:avLst/>
          </a:prstGeom>
          <a:noFill/>
          <a:ln w="9525">
            <a:noFill/>
          </a:ln>
        </p:spPr>
        <p:txBody>
          <a:bodyPr anchor="t"/>
          <a:lstStyle>
            <a:lvl1pPr algn="r">
              <a:defRPr sz="1400">
                <a:latin typeface="Arial" panose="020B0604020202020204" pitchFamily="34" charset="0"/>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04800" y="1981200"/>
            <a:ext cx="4184968"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60583" y="1981200"/>
            <a:ext cx="4184968"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9569" y="685800"/>
            <a:ext cx="2135981" cy="5181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01625" y="685800"/>
            <a:ext cx="6284119" cy="5181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35169"/>
          <p:cNvSpPr>
            <a:spLocks noGrp="1" noRot="1"/>
          </p:cNvSpPr>
          <p:nvPr>
            <p:ph type="title"/>
          </p:nvPr>
        </p:nvSpPr>
        <p:spPr>
          <a:xfrm>
            <a:off x="301625" y="6858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35170"/>
          <p:cNvSpPr>
            <a:spLocks noGrp="1" noRot="1"/>
          </p:cNvSpPr>
          <p:nvPr>
            <p:ph type="body"/>
          </p:nvPr>
        </p:nvSpPr>
        <p:spPr>
          <a:xfrm>
            <a:off x="304800" y="1981200"/>
            <a:ext cx="854075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35172" name="日期占位符 135171"/>
          <p:cNvSpPr>
            <a:spLocks noGrp="1"/>
          </p:cNvSpPr>
          <p:nvPr>
            <p:ph type="dt" sz="half" idx="2"/>
          </p:nvPr>
        </p:nvSpPr>
        <p:spPr>
          <a:xfrm>
            <a:off x="301625" y="6019800"/>
            <a:ext cx="2289175" cy="476250"/>
          </a:xfrm>
          <a:prstGeom prst="rect">
            <a:avLst/>
          </a:prstGeom>
          <a:noFill/>
          <a:ln w="9525">
            <a:noFill/>
          </a:ln>
        </p:spPr>
        <p:txBody>
          <a:bodyPr/>
          <a:lstStyle>
            <a:lvl1pPr>
              <a:defRPr sz="1400">
                <a:latin typeface="Arial" panose="020B0604020202020204" pitchFamily="34" charset="0"/>
              </a:defRPr>
            </a:lvl1pPr>
          </a:lstStyle>
          <a:p>
            <a:pPr lvl="0" fontAlgn="base"/>
            <a:endParaRPr lang="zh-CN" altLang="en-US" strike="noStrike" noProof="1" dirty="0">
              <a:latin typeface="Times New Roman" panose="02020603050405020304" pitchFamily="18" charset="0"/>
            </a:endParaRPr>
          </a:p>
        </p:txBody>
      </p:sp>
      <p:sp>
        <p:nvSpPr>
          <p:cNvPr id="135173" name="页脚占位符 135172"/>
          <p:cNvSpPr>
            <a:spLocks noGrp="1"/>
          </p:cNvSpPr>
          <p:nvPr>
            <p:ph type="ftr" sz="quarter" idx="3"/>
          </p:nvPr>
        </p:nvSpPr>
        <p:spPr>
          <a:xfrm>
            <a:off x="3124200" y="6019800"/>
            <a:ext cx="2895600" cy="476250"/>
          </a:xfrm>
          <a:prstGeom prst="rect">
            <a:avLst/>
          </a:prstGeom>
          <a:noFill/>
          <a:ln w="9525">
            <a:noFill/>
          </a:ln>
        </p:spPr>
        <p:txBody>
          <a:bodyPr/>
          <a:lstStyle>
            <a:lvl1pPr algn="ctr">
              <a:defRPr sz="1400">
                <a:latin typeface="Arial" panose="020B0604020202020204" pitchFamily="34" charset="0"/>
              </a:defRPr>
            </a:lvl1pPr>
          </a:lstStyle>
          <a:p>
            <a:pPr lvl="0" fontAlgn="base"/>
            <a:endParaRPr lang="zh-CN" altLang="en-US" strike="noStrike" noProof="1" dirty="0"/>
          </a:p>
        </p:txBody>
      </p:sp>
      <p:sp>
        <p:nvSpPr>
          <p:cNvPr id="135174" name="灯片编号占位符 135173"/>
          <p:cNvSpPr>
            <a:spLocks noGrp="1"/>
          </p:cNvSpPr>
          <p:nvPr>
            <p:ph type="sldNum" sz="quarter" idx="4"/>
          </p:nvPr>
        </p:nvSpPr>
        <p:spPr>
          <a:xfrm>
            <a:off x="6553200" y="6019800"/>
            <a:ext cx="2289175" cy="476250"/>
          </a:xfrm>
          <a:prstGeom prst="rect">
            <a:avLst/>
          </a:prstGeom>
          <a:noFill/>
          <a:ln w="9525">
            <a:noFill/>
          </a:ln>
        </p:spPr>
        <p:txBody>
          <a:bodyPr/>
          <a:lstStyle>
            <a:lvl1pPr algn="r">
              <a:defRPr sz="1400">
                <a:latin typeface="Arial" panose="020B0604020202020204" pitchFamily="34" charset="0"/>
              </a:defRPr>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8.wmf"/><Relationship Id="rId7" Type="http://schemas.openxmlformats.org/officeDocument/2006/relationships/oleObject" Target="../embeddings/oleObject8.bin"/><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4" Type="http://schemas.openxmlformats.org/officeDocument/2006/relationships/vmlDrawing" Target="../drawings/vmlDrawing2.vml"/><Relationship Id="rId13" Type="http://schemas.openxmlformats.org/officeDocument/2006/relationships/slideLayout" Target="../slideLayouts/slideLayout2.xml"/><Relationship Id="rId12" Type="http://schemas.openxmlformats.org/officeDocument/2006/relationships/image" Target="../media/image10.wmf"/><Relationship Id="rId11" Type="http://schemas.openxmlformats.org/officeDocument/2006/relationships/oleObject" Target="../embeddings/oleObject10.bin"/><Relationship Id="rId10" Type="http://schemas.openxmlformats.org/officeDocument/2006/relationships/image" Target="../media/image9.wmf"/><Relationship Id="rId1"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oleObject" Target="../embeddings/oleObject14.bin"/><Relationship Id="rId4" Type="http://schemas.openxmlformats.org/officeDocument/2006/relationships/image" Target="../media/image13.wmf"/><Relationship Id="rId3" Type="http://schemas.openxmlformats.org/officeDocument/2006/relationships/oleObject" Target="../embeddings/oleObject13.bin"/><Relationship Id="rId2" Type="http://schemas.openxmlformats.org/officeDocument/2006/relationships/image" Target="../media/image12.wmf"/><Relationship Id="rId1"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5.bin"/></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oleObject" Target="../embeddings/oleObject19.bin"/><Relationship Id="rId6" Type="http://schemas.openxmlformats.org/officeDocument/2006/relationships/image" Target="../media/image17.wmf"/><Relationship Id="rId5" Type="http://schemas.openxmlformats.org/officeDocument/2006/relationships/oleObject" Target="../embeddings/oleObject18.bin"/><Relationship Id="rId4" Type="http://schemas.openxmlformats.org/officeDocument/2006/relationships/image" Target="../media/image16.wmf"/><Relationship Id="rId3" Type="http://schemas.openxmlformats.org/officeDocument/2006/relationships/oleObject" Target="../embeddings/oleObject17.bin"/><Relationship Id="rId2" Type="http://schemas.openxmlformats.org/officeDocument/2006/relationships/image" Target="../media/image15.wmf"/><Relationship Id="rId1" Type="http://schemas.openxmlformats.org/officeDocument/2006/relationships/oleObject" Target="../embeddings/oleObject1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oleObject" Target="../embeddings/oleObject24.bin"/><Relationship Id="rId2" Type="http://schemas.openxmlformats.org/officeDocument/2006/relationships/image" Target="../media/image4.wmf"/><Relationship Id="rId1" Type="http://schemas.openxmlformats.org/officeDocument/2006/relationships/oleObject" Target="../embeddings/oleObject23.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wmf"/><Relationship Id="rId7" Type="http://schemas.openxmlformats.org/officeDocument/2006/relationships/oleObject" Target="../embeddings/oleObject28.bin"/><Relationship Id="rId6" Type="http://schemas.openxmlformats.org/officeDocument/2006/relationships/image" Target="../media/image24.wmf"/><Relationship Id="rId5" Type="http://schemas.openxmlformats.org/officeDocument/2006/relationships/oleObject" Target="../embeddings/oleObject27.bin"/><Relationship Id="rId4" Type="http://schemas.openxmlformats.org/officeDocument/2006/relationships/image" Target="../media/image23.wmf"/><Relationship Id="rId3" Type="http://schemas.openxmlformats.org/officeDocument/2006/relationships/oleObject" Target="../embeddings/oleObject26.bin"/><Relationship Id="rId2" Type="http://schemas.openxmlformats.org/officeDocument/2006/relationships/image" Target="../media/image22.wmf"/><Relationship Id="rId10" Type="http://schemas.openxmlformats.org/officeDocument/2006/relationships/vmlDrawing" Target="../drawings/vmlDrawing11.vml"/><Relationship Id="rId1" Type="http://schemas.openxmlformats.org/officeDocument/2006/relationships/oleObject" Target="../embeddings/oleObject25.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27.wmf"/><Relationship Id="rId3" Type="http://schemas.openxmlformats.org/officeDocument/2006/relationships/oleObject" Target="../embeddings/oleObject30.bin"/><Relationship Id="rId2" Type="http://schemas.openxmlformats.org/officeDocument/2006/relationships/image" Target="../media/image26.wmf"/><Relationship Id="rId1" Type="http://schemas.openxmlformats.org/officeDocument/2006/relationships/oleObject" Target="../embeddings/oleObject29.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29.wmf"/><Relationship Id="rId3" Type="http://schemas.openxmlformats.org/officeDocument/2006/relationships/oleObject" Target="../embeddings/oleObject32.bin"/><Relationship Id="rId2" Type="http://schemas.openxmlformats.org/officeDocument/2006/relationships/image" Target="../media/image28.wmf"/><Relationship Id="rId1"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oleObject" Target="../embeddings/oleObject35.bin"/><Relationship Id="rId4" Type="http://schemas.openxmlformats.org/officeDocument/2006/relationships/image" Target="../media/image31.wmf"/><Relationship Id="rId3" Type="http://schemas.openxmlformats.org/officeDocument/2006/relationships/oleObject" Target="../embeddings/oleObject34.bin"/><Relationship Id="rId2" Type="http://schemas.openxmlformats.org/officeDocument/2006/relationships/image" Target="../media/image30.wmf"/><Relationship Id="rId1"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36.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3" name="标题 2049"/>
          <p:cNvSpPr>
            <a:spLocks noGrp="1" noRot="1"/>
          </p:cNvSpPr>
          <p:nvPr>
            <p:ph type="ctrTitle"/>
          </p:nvPr>
        </p:nvSpPr>
        <p:spPr>
          <a:xfrm>
            <a:off x="1066800" y="1989138"/>
            <a:ext cx="8077200" cy="1905000"/>
          </a:xfrm>
        </p:spPr>
        <p:txBody>
          <a:bodyPr anchor="ctr" anchorCtr="0"/>
          <a:p>
            <a:pPr marL="0" marR="0" indent="0" algn="ctr" defTabSz="914400" rtl="0" eaLnBrk="1" fontAlgn="base" latinLnBrk="0" hangingPunct="1">
              <a:lnSpc>
                <a:spcPct val="160000"/>
              </a:lnSpc>
              <a:spcBef>
                <a:spcPct val="0"/>
              </a:spcBef>
              <a:spcAft>
                <a:spcPct val="0"/>
              </a:spcAft>
              <a:buClrTx/>
              <a:buSzTx/>
              <a:buFontTx/>
              <a:buNone/>
            </a:pPr>
            <a:r>
              <a:rPr lang="zh-CN" altLang="en-US" sz="4800" kern="1200" baseline="0" dirty="0">
                <a:latin typeface="黑体" panose="02010609060101010101" pitchFamily="2" charset="-122"/>
                <a:ea typeface="黑体" panose="02010609060101010101" pitchFamily="2" charset="-122"/>
                <a:cs typeface="+mj-cs"/>
              </a:rPr>
              <a:t>模糊综合评判方法及其应用</a:t>
            </a:r>
            <a:br>
              <a:rPr lang="zh-CN" altLang="en-US" sz="4800" kern="1200" baseline="0" dirty="0">
                <a:latin typeface="黑体" panose="02010609060101010101" pitchFamily="2" charset="-122"/>
                <a:ea typeface="黑体" panose="02010609060101010101" pitchFamily="2" charset="-122"/>
                <a:cs typeface="+mj-cs"/>
              </a:rPr>
            </a:br>
            <a:endParaRPr kumimoji="0" lang="zh-CN" altLang="en-US" sz="4800" b="0" i="0" u="none" strike="noStrike" kern="1200" cap="none" spc="0" normalizeH="0" baseline="0" noProof="1" dirty="0">
              <a:solidFill>
                <a:schemeClr val="tx2"/>
              </a:solidFill>
              <a:latin typeface="黑体" panose="02010609060101010101" pitchFamily="2" charset="-122"/>
              <a:ea typeface="黑体" panose="02010609060101010101" pitchFamily="2"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7" name="标题 5121"/>
          <p:cNvSpPr>
            <a:spLocks noGrp="1" noRot="1"/>
          </p:cNvSpPr>
          <p:nvPr>
            <p:ph type="title"/>
          </p:nvPr>
        </p:nvSpPr>
        <p:spPr>
          <a:xfrm>
            <a:off x="1600200" y="685800"/>
            <a:ext cx="5191125" cy="1066800"/>
          </a:xfrm>
        </p:spPr>
        <p:txBody>
          <a:bodyPr anchor="ctr" anchorCtr="0"/>
          <a:p>
            <a:r>
              <a:rPr lang="zh-CN" altLang="en-US" sz="3600" dirty="0">
                <a:latin typeface="黑体" panose="02010609060101010101" pitchFamily="2" charset="-122"/>
                <a:ea typeface="黑体" panose="02010609060101010101" pitchFamily="2" charset="-122"/>
                <a:sym typeface="+mn-ea"/>
              </a:rPr>
              <a:t>模糊综合评判方法</a:t>
            </a:r>
            <a:endParaRPr lang="zh-CN" altLang="en-US" sz="3600" dirty="0">
              <a:latin typeface="黑体" panose="02010609060101010101" pitchFamily="2" charset="-122"/>
              <a:ea typeface="黑体" panose="02010609060101010101" pitchFamily="2" charset="-122"/>
            </a:endParaRPr>
          </a:p>
        </p:txBody>
      </p:sp>
      <p:sp>
        <p:nvSpPr>
          <p:cNvPr id="4098" name="文本占位符 5122"/>
          <p:cNvSpPr>
            <a:spLocks noGrp="1" noRot="1"/>
          </p:cNvSpPr>
          <p:nvPr>
            <p:ph idx="1"/>
          </p:nvPr>
        </p:nvSpPr>
        <p:spPr>
          <a:xfrm>
            <a:off x="0" y="1700213"/>
            <a:ext cx="9144000" cy="5157787"/>
          </a:xfrm>
        </p:spPr>
        <p:txBody>
          <a:bodyPr anchor="t" anchorCtr="0"/>
          <a:p>
            <a:pPr>
              <a:lnSpc>
                <a:spcPct val="80000"/>
              </a:lnSpc>
            </a:pPr>
            <a:endParaRPr lang="en-US" altLang="zh-CN" sz="2800"/>
          </a:p>
          <a:p>
            <a:pPr algn="just">
              <a:lnSpc>
                <a:spcPct val="120000"/>
              </a:lnSpc>
              <a:buFont typeface="Wingdings" panose="05000000000000000000" pitchFamily="2" charset="2"/>
              <a:buChar char="Ø"/>
            </a:pPr>
            <a:r>
              <a:rPr lang="zh-CN" altLang="en-US" sz="2400">
                <a:latin typeface="宋体" panose="02010600030101010101" pitchFamily="2" charset="-122"/>
              </a:rPr>
              <a:t>模糊综合评判方法，是一种运用模糊变换原理分析和评价模糊系统的方法。它是一种以模糊推理为主的定性和定量相结合、精确与非精确相统一的分析评判方法。</a:t>
            </a:r>
            <a:endParaRPr lang="zh-CN" altLang="en-US" sz="2400">
              <a:latin typeface="宋体" panose="02010600030101010101" pitchFamily="2" charset="-122"/>
            </a:endParaRPr>
          </a:p>
          <a:p>
            <a:pPr algn="just">
              <a:lnSpc>
                <a:spcPct val="120000"/>
              </a:lnSpc>
              <a:buFont typeface="Wingdings" panose="05000000000000000000" pitchFamily="2" charset="2"/>
              <a:buChar char="Ø"/>
            </a:pPr>
            <a:r>
              <a:rPr lang="zh-CN" altLang="en-US" sz="2400">
                <a:latin typeface="宋体" panose="02010600030101010101" pitchFamily="2" charset="-122"/>
              </a:rPr>
              <a:t>由于这种方法在处理各种难以用精确数学方法描述的复杂系统问题方面，表现出独特的优越性，所以它在各个学科领域中得到了越来越广泛应用。</a:t>
            </a:r>
            <a:endParaRPr lang="zh-CN" altLang="en-US" sz="2400">
              <a:latin typeface="宋体" panose="02010600030101010101" pitchFamily="2" charset="-122"/>
            </a:endParaRPr>
          </a:p>
          <a:p>
            <a:pPr algn="just">
              <a:lnSpc>
                <a:spcPct val="120000"/>
              </a:lnSpc>
              <a:buFont typeface="Wingdings" panose="05000000000000000000" pitchFamily="2" charset="2"/>
              <a:buChar char="Ø"/>
            </a:pPr>
            <a:r>
              <a:rPr lang="zh-CN" altLang="en-US" sz="2400">
                <a:latin typeface="宋体" panose="02010600030101010101" pitchFamily="2" charset="-122"/>
              </a:rPr>
              <a:t>在地理学中，模糊综合评判方法常被用于资源与环境条件评价、生态评价、区域可持续发展评价等各方面</a:t>
            </a:r>
            <a:endParaRPr lang="zh-CN" altLang="en-US" sz="2400">
              <a:latin typeface="宋体" panose="02010600030101010101" pitchFamily="2" charset="-122"/>
            </a:endParaRPr>
          </a:p>
          <a:p>
            <a:pPr algn="just">
              <a:lnSpc>
                <a:spcPct val="120000"/>
              </a:lnSpc>
              <a:buFont typeface="Wingdings" panose="05000000000000000000" pitchFamily="2" charset="2"/>
              <a:buChar char="Ø"/>
            </a:pPr>
            <a:r>
              <a:rPr lang="zh-CN" altLang="en-US" sz="2400">
                <a:latin typeface="宋体" panose="02010600030101010101" pitchFamily="2" charset="-122"/>
              </a:rPr>
              <a:t>本节将结合有关实例，介绍和探讨模糊综合评判方法在地理学中应用</a:t>
            </a:r>
            <a:endParaRPr lang="zh-CN" altLang="en-US" sz="2400">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标题 137217"/>
          <p:cNvSpPr>
            <a:spLocks noGrp="1" noRot="1"/>
          </p:cNvSpPr>
          <p:nvPr>
            <p:ph type="title"/>
          </p:nvPr>
        </p:nvSpPr>
        <p:spPr/>
        <p:txBody>
          <a:bodyPr anchor="ctr" anchorCtr="0"/>
          <a:p>
            <a:r>
              <a:rPr lang="zh-CN" altLang="en-US" dirty="0">
                <a:latin typeface="黑体" panose="02010609060101010101" pitchFamily="2" charset="-122"/>
                <a:ea typeface="黑体" panose="02010609060101010101" pitchFamily="2" charset="-122"/>
                <a:sym typeface="+mn-ea"/>
              </a:rPr>
              <a:t>模糊综合评判方法</a:t>
            </a:r>
            <a:br>
              <a:rPr lang="zh-CN" altLang="en-US" dirty="0">
                <a:latin typeface="黑体" panose="02010609060101010101" pitchFamily="2" charset="-122"/>
                <a:ea typeface="黑体" panose="02010609060101010101" pitchFamily="2" charset="-122"/>
              </a:rPr>
            </a:br>
            <a:endParaRPr lang="zh-CN" altLang="en-US" dirty="0"/>
          </a:p>
        </p:txBody>
      </p:sp>
      <p:sp>
        <p:nvSpPr>
          <p:cNvPr id="5122" name="文本占位符 137218"/>
          <p:cNvSpPr>
            <a:spLocks noGrp="1" noRot="1"/>
          </p:cNvSpPr>
          <p:nvPr>
            <p:ph idx="1"/>
          </p:nvPr>
        </p:nvSpPr>
        <p:spPr>
          <a:xfrm>
            <a:off x="-68262" y="1477963"/>
            <a:ext cx="9212262" cy="5380037"/>
          </a:xfrm>
        </p:spPr>
        <p:txBody>
          <a:bodyPr anchor="t" anchorCtr="0"/>
          <a:p>
            <a:pPr>
              <a:buNone/>
            </a:pPr>
            <a:r>
              <a:rPr lang="en-US" altLang="zh-CN"/>
              <a:t>1</a:t>
            </a:r>
            <a:r>
              <a:rPr lang="zh-CN" altLang="en-US"/>
              <a:t>、</a:t>
            </a:r>
            <a:r>
              <a:rPr lang="zh-CN" altLang="en-US" sz="2800"/>
              <a:t>模糊综合评判模型</a:t>
            </a:r>
            <a:endParaRPr lang="zh-CN" altLang="en-US" sz="2800"/>
          </a:p>
          <a:p>
            <a:pPr>
              <a:buNone/>
            </a:pPr>
            <a:r>
              <a:rPr lang="en-US" altLang="zh-CN" sz="2800"/>
              <a:t>1</a:t>
            </a:r>
            <a:r>
              <a:rPr lang="zh-CN" altLang="en-US" sz="2800"/>
              <a:t>）单层次模糊综合评判模型。给定两个有限论域</a:t>
            </a:r>
            <a:endParaRPr lang="zh-CN" altLang="en-US" sz="2800"/>
          </a:p>
          <a:p>
            <a:pPr>
              <a:buNone/>
            </a:pPr>
            <a:r>
              <a:rPr lang="zh-CN" altLang="en-US" sz="2800"/>
              <a:t>  </a:t>
            </a:r>
            <a:r>
              <a:rPr lang="en-US" altLang="zh-CN" sz="2800"/>
              <a:t>U={u</a:t>
            </a:r>
            <a:r>
              <a:rPr lang="en-US" altLang="zh-CN" sz="2800" baseline="-25000"/>
              <a:t>1</a:t>
            </a:r>
            <a:r>
              <a:rPr lang="en-US" altLang="zh-CN" sz="2800"/>
              <a:t>,u</a:t>
            </a:r>
            <a:r>
              <a:rPr lang="en-US" altLang="zh-CN" sz="2800" baseline="-25000"/>
              <a:t>2</a:t>
            </a:r>
            <a:r>
              <a:rPr lang="en-US" altLang="zh-CN" sz="2800"/>
              <a:t>,...u</a:t>
            </a:r>
            <a:r>
              <a:rPr lang="en-US" altLang="zh-CN" sz="2800" baseline="-25000"/>
              <a:t>m</a:t>
            </a:r>
            <a:r>
              <a:rPr lang="en-US" altLang="zh-CN" sz="2800"/>
              <a:t>}   </a:t>
            </a:r>
            <a:r>
              <a:rPr lang="zh-CN" altLang="en-US" sz="2800"/>
              <a:t>（</a:t>
            </a:r>
            <a:r>
              <a:rPr lang="en-US" altLang="zh-CN" sz="2800"/>
              <a:t>1.1)  </a:t>
            </a:r>
            <a:endParaRPr lang="en-US" altLang="zh-CN" sz="2800"/>
          </a:p>
          <a:p>
            <a:pPr>
              <a:buNone/>
            </a:pPr>
            <a:r>
              <a:rPr lang="en-US" altLang="zh-CN" sz="2800"/>
              <a:t>  V={v</a:t>
            </a:r>
            <a:r>
              <a:rPr lang="en-US" altLang="zh-CN" sz="2800" baseline="-25000"/>
              <a:t>1</a:t>
            </a:r>
            <a:r>
              <a:rPr lang="en-US" altLang="zh-CN" sz="2800"/>
              <a:t>,v</a:t>
            </a:r>
            <a:r>
              <a:rPr lang="en-US" altLang="zh-CN" sz="2800" baseline="-25000"/>
              <a:t>2</a:t>
            </a:r>
            <a:r>
              <a:rPr lang="en-US" altLang="zh-CN" sz="2800"/>
              <a:t>...v</a:t>
            </a:r>
            <a:r>
              <a:rPr lang="en-US" altLang="zh-CN" sz="2800" baseline="-25000"/>
              <a:t>n</a:t>
            </a:r>
            <a:r>
              <a:rPr lang="en-US" altLang="zh-CN" sz="2800"/>
              <a:t>}        (1.2)</a:t>
            </a:r>
            <a:endParaRPr lang="en-US" altLang="zh-CN" sz="2800"/>
          </a:p>
          <a:p>
            <a:pPr>
              <a:buNone/>
            </a:pPr>
            <a:r>
              <a:rPr lang="zh-CN" altLang="en-US" sz="2800"/>
              <a:t>在式</a:t>
            </a:r>
            <a:r>
              <a:rPr lang="en-US" altLang="zh-CN" sz="2800"/>
              <a:t>1.1</a:t>
            </a:r>
            <a:r>
              <a:rPr lang="zh-CN" altLang="en-US" sz="2800"/>
              <a:t>中，</a:t>
            </a:r>
            <a:r>
              <a:rPr lang="en-US" altLang="zh-CN" sz="2800"/>
              <a:t>U</a:t>
            </a:r>
            <a:r>
              <a:rPr lang="zh-CN" altLang="en-US" sz="2800"/>
              <a:t>为所有的评判因素所组成的集合，在式</a:t>
            </a:r>
            <a:r>
              <a:rPr lang="en-US" altLang="zh-CN" sz="2800"/>
              <a:t>1.2</a:t>
            </a:r>
            <a:r>
              <a:rPr lang="zh-CN" altLang="en-US" sz="2800"/>
              <a:t>中，</a:t>
            </a:r>
            <a:r>
              <a:rPr lang="en-US" altLang="zh-CN" sz="2800"/>
              <a:t>V</a:t>
            </a:r>
            <a:r>
              <a:rPr lang="zh-CN" altLang="en-US" sz="2800"/>
              <a:t>为所有的评语等级所组成的集合。</a:t>
            </a:r>
            <a:endParaRPr lang="zh-CN" altLang="en-US" sz="2800"/>
          </a:p>
          <a:p>
            <a:pPr>
              <a:buNone/>
            </a:pPr>
            <a:r>
              <a:rPr lang="zh-CN" altLang="en-US" sz="2800"/>
              <a:t>如果着眼于第</a:t>
            </a:r>
            <a:r>
              <a:rPr lang="en-US" altLang="zh-CN" sz="2800"/>
              <a:t>i(i=1,2,..,n)</a:t>
            </a:r>
            <a:r>
              <a:rPr lang="zh-CN" altLang="en-US" sz="2800"/>
              <a:t>个判别因素</a:t>
            </a:r>
            <a:r>
              <a:rPr lang="en-US" altLang="zh-CN" sz="2800"/>
              <a:t>u</a:t>
            </a:r>
            <a:r>
              <a:rPr lang="en-US" altLang="zh-CN" sz="2800" baseline="-25000"/>
              <a:t>i,</a:t>
            </a:r>
            <a:r>
              <a:rPr lang="zh-CN" altLang="en-US" sz="2800"/>
              <a:t>其单因素判别结果为</a:t>
            </a:r>
            <a:r>
              <a:rPr lang="en-US" altLang="zh-CN" sz="2800"/>
              <a:t>R</a:t>
            </a:r>
            <a:r>
              <a:rPr lang="en-US" altLang="zh-CN" sz="2800" baseline="-25000"/>
              <a:t>i</a:t>
            </a:r>
            <a:r>
              <a:rPr lang="en-US" altLang="zh-CN" sz="2800"/>
              <a:t>=[r</a:t>
            </a:r>
            <a:r>
              <a:rPr lang="en-US" altLang="zh-CN" sz="2800" baseline="-25000"/>
              <a:t>i1,</a:t>
            </a:r>
            <a:r>
              <a:rPr lang="en-US" altLang="zh-CN" sz="2800">
                <a:sym typeface="+mn-ea"/>
              </a:rPr>
              <a:t>r</a:t>
            </a:r>
            <a:r>
              <a:rPr lang="en-US" altLang="zh-CN" sz="2800" baseline="-25000">
                <a:sym typeface="+mn-ea"/>
              </a:rPr>
              <a:t>i2,...,</a:t>
            </a:r>
            <a:r>
              <a:rPr lang="en-US" altLang="zh-CN" sz="2800">
                <a:sym typeface="+mn-ea"/>
              </a:rPr>
              <a:t>r</a:t>
            </a:r>
            <a:r>
              <a:rPr lang="en-US" altLang="zh-CN" sz="2800" baseline="-25000">
                <a:sym typeface="+mn-ea"/>
              </a:rPr>
              <a:t>in</a:t>
            </a:r>
            <a:r>
              <a:rPr lang="en-US" altLang="zh-CN" sz="2800">
                <a:sym typeface="+mn-ea"/>
              </a:rPr>
              <a:t>],</a:t>
            </a:r>
            <a:r>
              <a:rPr lang="zh-CN" altLang="en-US" sz="2800">
                <a:sym typeface="+mn-ea"/>
              </a:rPr>
              <a:t>则各个判别因素的判别决策</a:t>
            </a:r>
            <a:r>
              <a:rPr lang="zh-CN" altLang="en-US" sz="2800"/>
              <a:t>矩阵为</a:t>
            </a:r>
            <a:endParaRPr lang="en-US" altLang="zh-CN"/>
          </a:p>
          <a:p>
            <a:pPr>
              <a:buNone/>
            </a:pPr>
            <a:endParaRPr lang="zh-CN" altLang="en-US"/>
          </a:p>
          <a:p>
            <a:pPr>
              <a:buNone/>
            </a:pPr>
            <a:r>
              <a:rPr lang="zh-CN" altLang="en-US"/>
              <a:t>               </a:t>
            </a:r>
            <a:endParaRPr lang="zh-CN" altLang="en-US"/>
          </a:p>
          <a:p>
            <a:pPr>
              <a:buNone/>
            </a:pPr>
            <a:endParaRPr lang="zh-CN" altLang="en-US"/>
          </a:p>
          <a:p>
            <a:pPr>
              <a:buNone/>
            </a:pPr>
            <a:r>
              <a:rPr lang="en-US" altLang="zh-CN"/>
              <a:t>            </a:t>
            </a:r>
            <a:endParaRPr lang="en-US" altLang="zh-CN"/>
          </a:p>
        </p:txBody>
      </p:sp>
      <p:graphicFrame>
        <p:nvGraphicFramePr>
          <p:cNvPr id="3" name="对象 2">
            <a:hlinkClick r:id="" action="ppaction://ole?verb="/>
          </p:cNvPr>
          <p:cNvGraphicFramePr>
            <a:graphicFrameLocks noChangeAspect="1"/>
          </p:cNvGraphicFramePr>
          <p:nvPr/>
        </p:nvGraphicFramePr>
        <p:xfrm>
          <a:off x="4514850" y="3213100"/>
          <a:ext cx="114300" cy="431800"/>
        </p:xfrm>
        <a:graphic>
          <a:graphicData uri="http://schemas.openxmlformats.org/presentationml/2006/ole">
            <mc:AlternateContent xmlns:mc="http://schemas.openxmlformats.org/markup-compatibility/2006">
              <mc:Choice xmlns:v="urn:schemas-microsoft-com:vml" Requires="v">
                <p:oleObj spid="_x0000_s1026" name="" r:id="rId1" imgW="114300" imgH="431800" progId="Equation.KSEE3">
                  <p:embed/>
                </p:oleObj>
              </mc:Choice>
              <mc:Fallback>
                <p:oleObj name="" r:id="rId1" imgW="114300" imgH="431800" progId="Equation.KSEE3">
                  <p:embed/>
                  <p:pic>
                    <p:nvPicPr>
                      <p:cNvPr id="0" name="图片 1025"/>
                      <p:cNvPicPr/>
                      <p:nvPr/>
                    </p:nvPicPr>
                    <p:blipFill>
                      <a:blip r:embed="rId2"/>
                      <a:stretch>
                        <a:fillRect/>
                      </a:stretch>
                    </p:blipFill>
                    <p:spPr>
                      <a:xfrm>
                        <a:off x="4514850" y="3213100"/>
                        <a:ext cx="114300" cy="43180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8" name="" r:id="rId3" imgW="914400" imgH="215900" progId="Equation.KSEE3">
                  <p:embed/>
                </p:oleObj>
              </mc:Choice>
              <mc:Fallback>
                <p:oleObj name="" r:id="rId3" imgW="914400" imgH="215900" progId="Equation.KSEE3">
                  <p:embed/>
                  <p:pic>
                    <p:nvPicPr>
                      <p:cNvPr id="0" name="图片 1027"/>
                      <p:cNvPicPr/>
                      <p:nvPr/>
                    </p:nvPicPr>
                    <p:blipFill>
                      <a:blip r:embed="rId4"/>
                      <a:stretch>
                        <a:fillRect/>
                      </a:stretch>
                    </p:blipFill>
                    <p:spPr>
                      <a:xfrm>
                        <a:off x="4114800" y="3321050"/>
                        <a:ext cx="914400" cy="21590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9" name="" r:id="rId5" imgW="914400" imgH="215900" progId="Equation.KSEE3">
                  <p:embed/>
                </p:oleObj>
              </mc:Choice>
              <mc:Fallback>
                <p:oleObj name="" r:id="rId5" imgW="914400" imgH="215900" progId="Equation.KSEE3">
                  <p:embed/>
                  <p:pic>
                    <p:nvPicPr>
                      <p:cNvPr id="0" name="图片 1028"/>
                      <p:cNvPicPr/>
                      <p:nvPr/>
                    </p:nvPicPr>
                    <p:blipFill>
                      <a:blip r:embed="rId4"/>
                      <a:stretch>
                        <a:fillRect/>
                      </a:stretch>
                    </p:blipFill>
                    <p:spPr>
                      <a:xfrm>
                        <a:off x="4114800" y="3321050"/>
                        <a:ext cx="914400" cy="21590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7" name="" r:id="rId6" imgW="914400" imgH="215900" progId="Equation.KSEE3">
                  <p:embed/>
                </p:oleObj>
              </mc:Choice>
              <mc:Fallback>
                <p:oleObj name="" r:id="rId6" imgW="914400" imgH="215900" progId="Equation.KSEE3">
                  <p:embed/>
                  <p:pic>
                    <p:nvPicPr>
                      <p:cNvPr id="0" name="图片 1026"/>
                      <p:cNvPicPr/>
                      <p:nvPr/>
                    </p:nvPicPr>
                    <p:blipFill>
                      <a:blip r:embed="rId4"/>
                      <a:stretch>
                        <a:fillRect/>
                      </a:stretch>
                    </p:blipFill>
                    <p:spPr>
                      <a:xfrm>
                        <a:off x="4114800" y="3321050"/>
                        <a:ext cx="914400" cy="21590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标题 138241"/>
          <p:cNvSpPr>
            <a:spLocks noGrp="1" noRot="1"/>
          </p:cNvSpPr>
          <p:nvPr>
            <p:ph type="title"/>
          </p:nvPr>
        </p:nvSpPr>
        <p:spPr>
          <a:xfrm>
            <a:off x="301625" y="685800"/>
            <a:ext cx="8540750" cy="669290"/>
          </a:xfrm>
        </p:spPr>
        <p:txBody>
          <a:bodyPr anchor="ctr" anchorCtr="0"/>
          <a:p>
            <a:r>
              <a:rPr lang="zh-CN" altLang="en-US" dirty="0">
                <a:latin typeface="黑体" panose="02010609060101010101" pitchFamily="2" charset="-122"/>
                <a:ea typeface="黑体" panose="02010609060101010101" pitchFamily="2" charset="-122"/>
                <a:sym typeface="+mn-ea"/>
              </a:rPr>
              <a:t>模糊综合评判方法</a:t>
            </a:r>
            <a:br>
              <a:rPr lang="zh-CN" altLang="en-US" dirty="0">
                <a:latin typeface="黑体" panose="02010609060101010101" pitchFamily="2" charset="-122"/>
                <a:ea typeface="黑体" panose="02010609060101010101" pitchFamily="2" charset="-122"/>
              </a:rPr>
            </a:br>
            <a:endParaRPr lang="zh-CN" altLang="en-US" dirty="0"/>
          </a:p>
        </p:txBody>
      </p:sp>
      <p:sp>
        <p:nvSpPr>
          <p:cNvPr id="6146" name="文本占位符 138242"/>
          <p:cNvSpPr>
            <a:spLocks noGrp="1" noRot="1"/>
          </p:cNvSpPr>
          <p:nvPr>
            <p:ph idx="1"/>
          </p:nvPr>
        </p:nvSpPr>
        <p:spPr>
          <a:xfrm>
            <a:off x="0" y="1844675"/>
            <a:ext cx="8964613" cy="4679950"/>
          </a:xfrm>
        </p:spPr>
        <p:txBody>
          <a:bodyPr anchor="t" anchorCtr="0"/>
          <a:p>
            <a:endParaRPr lang="zh-CN" altLang="en-US" dirty="0"/>
          </a:p>
          <a:p>
            <a:r>
              <a:rPr lang="en-US" altLang="zh-CN" sz="2000" dirty="0">
                <a:gradFill>
                  <a:gsLst>
                    <a:gs pos="21000">
                      <a:srgbClr val="53575C"/>
                    </a:gs>
                    <a:gs pos="88000">
                      <a:srgbClr val="C5C7CA"/>
                    </a:gs>
                  </a:gsLst>
                  <a:lin ang="5400000"/>
                </a:gradFill>
                <a:effectLst/>
              </a:rPr>
              <a:t>R =               =                          1.3</a:t>
            </a:r>
            <a:endParaRPr lang="en-US" altLang="zh-CN" sz="2000" dirty="0">
              <a:gradFill>
                <a:gsLst>
                  <a:gs pos="21000">
                    <a:srgbClr val="53575C"/>
                  </a:gs>
                  <a:gs pos="88000">
                    <a:srgbClr val="C5C7CA"/>
                  </a:gs>
                </a:gsLst>
                <a:lin ang="5400000"/>
              </a:gradFill>
              <a:effectLst/>
            </a:endParaRPr>
          </a:p>
          <a:p>
            <a:endParaRPr lang="en-US" altLang="zh-CN" sz="2000" dirty="0">
              <a:gradFill>
                <a:gsLst>
                  <a:gs pos="21000">
                    <a:srgbClr val="53575C"/>
                  </a:gs>
                  <a:gs pos="88000">
                    <a:srgbClr val="C5C7CA"/>
                  </a:gs>
                </a:gsLst>
                <a:lin ang="5400000"/>
              </a:gradFill>
              <a:effectLst/>
            </a:endParaRPr>
          </a:p>
          <a:p>
            <a:endParaRPr lang="en-US" altLang="zh-CN" sz="2000" dirty="0">
              <a:gradFill>
                <a:gsLst>
                  <a:gs pos="21000">
                    <a:srgbClr val="53575C"/>
                  </a:gs>
                  <a:gs pos="88000">
                    <a:srgbClr val="C5C7CA"/>
                  </a:gs>
                </a:gsLst>
                <a:lin ang="5400000"/>
              </a:gradFill>
              <a:effectLst/>
            </a:endParaRPr>
          </a:p>
          <a:p>
            <a:endParaRPr lang="en-US" altLang="zh-CN" sz="2000" dirty="0">
              <a:gradFill>
                <a:gsLst>
                  <a:gs pos="21000">
                    <a:srgbClr val="53575C"/>
                  </a:gs>
                  <a:gs pos="88000">
                    <a:srgbClr val="C5C7CA"/>
                  </a:gs>
                </a:gsLst>
                <a:lin ang="5400000"/>
              </a:gradFill>
              <a:effectLst/>
            </a:endParaRPr>
          </a:p>
          <a:p>
            <a:pPr marL="0" indent="0">
              <a:buNone/>
            </a:pPr>
            <a:r>
              <a:rPr lang="zh-CN" altLang="en-US" sz="2000" dirty="0">
                <a:solidFill>
                  <a:schemeClr val="tx1"/>
                </a:solidFill>
                <a:effectLst>
                  <a:outerShdw blurRad="38100" dist="19050" dir="2700000" algn="tl" rotWithShape="0">
                    <a:schemeClr val="dk1">
                      <a:alpha val="40000"/>
                    </a:schemeClr>
                  </a:outerShdw>
                </a:effectLst>
              </a:rPr>
              <a:t>就定义了</a:t>
            </a:r>
            <a:r>
              <a:rPr lang="en-US" altLang="zh-CN" sz="2000" dirty="0">
                <a:solidFill>
                  <a:schemeClr val="tx1"/>
                </a:solidFill>
                <a:effectLst>
                  <a:outerShdw blurRad="38100" dist="19050" dir="2700000" algn="tl" rotWithShape="0">
                    <a:schemeClr val="dk1">
                      <a:alpha val="40000"/>
                    </a:schemeClr>
                  </a:outerShdw>
                </a:effectLst>
              </a:rPr>
              <a:t>U</a:t>
            </a:r>
            <a:r>
              <a:rPr lang="zh-CN" altLang="en-US" sz="2000" dirty="0">
                <a:solidFill>
                  <a:schemeClr val="tx1"/>
                </a:solidFill>
                <a:effectLst>
                  <a:outerShdw blurRad="38100" dist="19050" dir="2700000" algn="tl" rotWithShape="0">
                    <a:schemeClr val="dk1">
                      <a:alpha val="40000"/>
                    </a:schemeClr>
                  </a:outerShdw>
                </a:effectLst>
              </a:rPr>
              <a:t>到</a:t>
            </a:r>
            <a:r>
              <a:rPr lang="en-US" altLang="zh-CN" sz="2000" dirty="0">
                <a:solidFill>
                  <a:schemeClr val="tx1"/>
                </a:solidFill>
                <a:effectLst>
                  <a:outerShdw blurRad="38100" dist="19050" dir="2700000" algn="tl" rotWithShape="0">
                    <a:schemeClr val="dk1">
                      <a:alpha val="40000"/>
                    </a:schemeClr>
                  </a:outerShdw>
                </a:effectLst>
              </a:rPr>
              <a:t>V</a:t>
            </a:r>
            <a:r>
              <a:rPr lang="zh-CN" altLang="en-US" sz="2000" dirty="0">
                <a:solidFill>
                  <a:schemeClr val="tx1"/>
                </a:solidFill>
                <a:effectLst>
                  <a:outerShdw blurRad="38100" dist="19050" dir="2700000" algn="tl" rotWithShape="0">
                    <a:schemeClr val="dk1">
                      <a:alpha val="40000"/>
                    </a:schemeClr>
                  </a:outerShdw>
                </a:effectLst>
              </a:rPr>
              <a:t>上的一个模糊关系。</a:t>
            </a:r>
            <a:endParaRPr lang="zh-CN" altLang="en-US" sz="2000" dirty="0">
              <a:solidFill>
                <a:schemeClr val="tx1"/>
              </a:solidFill>
              <a:effectLst>
                <a:outerShdw blurRad="38100" dist="19050" dir="2700000" algn="tl" rotWithShape="0">
                  <a:schemeClr val="dk1">
                    <a:alpha val="40000"/>
                  </a:schemeClr>
                </a:outerShdw>
              </a:effectLst>
            </a:endParaRPr>
          </a:p>
          <a:p>
            <a:pPr marL="0" indent="0">
              <a:buNone/>
            </a:pPr>
            <a:r>
              <a:rPr lang="zh-CN" altLang="en-US" sz="2000" dirty="0">
                <a:solidFill>
                  <a:schemeClr val="tx1"/>
                </a:solidFill>
                <a:effectLst>
                  <a:outerShdw blurRad="38100" dist="19050" dir="2700000" algn="tl" rotWithShape="0">
                    <a:schemeClr val="dk1">
                      <a:alpha val="40000"/>
                    </a:schemeClr>
                  </a:outerShdw>
                </a:effectLst>
              </a:rPr>
              <a:t>如果各判定因素的权重分配为：                   ，（显然    是论域</a:t>
            </a:r>
            <a:r>
              <a:rPr lang="en-US" altLang="zh-CN" sz="2000" dirty="0">
                <a:solidFill>
                  <a:schemeClr val="tx1"/>
                </a:solidFill>
                <a:effectLst>
                  <a:outerShdw blurRad="38100" dist="19050" dir="2700000" algn="tl" rotWithShape="0">
                    <a:schemeClr val="dk1">
                      <a:alpha val="40000"/>
                    </a:schemeClr>
                  </a:outerShdw>
                </a:effectLst>
              </a:rPr>
              <a:t>U</a:t>
            </a:r>
            <a:r>
              <a:rPr lang="zh-CN" altLang="en-US" sz="2000" dirty="0">
                <a:solidFill>
                  <a:schemeClr val="tx1"/>
                </a:solidFill>
                <a:effectLst>
                  <a:outerShdw blurRad="38100" dist="19050" dir="2700000" algn="tl" rotWithShape="0">
                    <a:schemeClr val="dk1">
                      <a:alpha val="40000"/>
                    </a:schemeClr>
                  </a:outerShdw>
                </a:effectLst>
              </a:rPr>
              <a:t>上的一个模糊子集，且</a:t>
            </a:r>
            <a:r>
              <a:rPr lang="en-US" altLang="zh-CN" sz="2000" dirty="0">
                <a:solidFill>
                  <a:schemeClr val="tx1"/>
                </a:solidFill>
                <a:effectLst>
                  <a:outerShdw blurRad="38100" dist="19050" dir="2700000" algn="tl" rotWithShape="0">
                    <a:schemeClr val="dk1">
                      <a:alpha val="40000"/>
                    </a:schemeClr>
                  </a:outerShdw>
                </a:effectLst>
              </a:rPr>
              <a:t>0&lt;=a</a:t>
            </a:r>
            <a:r>
              <a:rPr lang="en-US" altLang="zh-CN" sz="2000" baseline="-25000" dirty="0">
                <a:solidFill>
                  <a:schemeClr val="tx1"/>
                </a:solidFill>
                <a:effectLst>
                  <a:outerShdw blurRad="38100" dist="19050" dir="2700000" algn="tl" rotWithShape="0">
                    <a:schemeClr val="dk1">
                      <a:alpha val="40000"/>
                    </a:schemeClr>
                  </a:outerShdw>
                </a:effectLst>
              </a:rPr>
              <a:t>i</a:t>
            </a:r>
            <a:r>
              <a:rPr lang="en-US" altLang="zh-CN" sz="2000" dirty="0">
                <a:solidFill>
                  <a:schemeClr val="tx1"/>
                </a:solidFill>
                <a:effectLst>
                  <a:outerShdw blurRad="38100" dist="19050" dir="2700000" algn="tl" rotWithShape="0">
                    <a:schemeClr val="dk1">
                      <a:alpha val="40000"/>
                    </a:schemeClr>
                  </a:outerShdw>
                </a:effectLst>
              </a:rPr>
              <a:t>&lt;=1,          ),</a:t>
            </a:r>
            <a:r>
              <a:rPr lang="zh-CN" altLang="en-US" sz="2000" dirty="0">
                <a:solidFill>
                  <a:schemeClr val="tx1"/>
                </a:solidFill>
                <a:effectLst>
                  <a:outerShdw blurRad="38100" dist="19050" dir="2700000" algn="tl" rotWithShape="0">
                    <a:schemeClr val="dk1">
                      <a:alpha val="40000"/>
                    </a:schemeClr>
                  </a:outerShdw>
                </a:effectLst>
              </a:rPr>
              <a:t>则通过模糊变换，可以得到论域</a:t>
            </a:r>
            <a:r>
              <a:rPr lang="en-US" altLang="zh-CN" sz="2000" dirty="0">
                <a:solidFill>
                  <a:schemeClr val="tx1"/>
                </a:solidFill>
                <a:effectLst>
                  <a:outerShdw blurRad="38100" dist="19050" dir="2700000" algn="tl" rotWithShape="0">
                    <a:schemeClr val="dk1">
                      <a:alpha val="40000"/>
                    </a:schemeClr>
                  </a:outerShdw>
                </a:effectLst>
              </a:rPr>
              <a:t>V</a:t>
            </a:r>
            <a:r>
              <a:rPr lang="zh-CN" altLang="en-US" sz="2000" dirty="0">
                <a:solidFill>
                  <a:schemeClr val="tx1"/>
                </a:solidFill>
                <a:effectLst>
                  <a:outerShdw blurRad="38100" dist="19050" dir="2700000" algn="tl" rotWithShape="0">
                    <a:schemeClr val="dk1">
                      <a:alpha val="40000"/>
                    </a:schemeClr>
                  </a:outerShdw>
                </a:effectLst>
              </a:rPr>
              <a:t>上的一个模糊子集，即综合评判结果</a:t>
            </a:r>
            <a:endParaRPr lang="zh-CN" altLang="en-US" sz="2000" dirty="0">
              <a:solidFill>
                <a:schemeClr val="tx1"/>
              </a:solidFill>
              <a:effectLst>
                <a:outerShdw blurRad="38100" dist="19050" dir="2700000" algn="tl" rotWithShape="0">
                  <a:schemeClr val="dk1">
                    <a:alpha val="40000"/>
                  </a:schemeClr>
                </a:outerShdw>
              </a:effectLst>
            </a:endParaRPr>
          </a:p>
          <a:p>
            <a:pPr marL="0" indent="0">
              <a:buNone/>
            </a:pPr>
            <a:r>
              <a:rPr lang="zh-CN" altLang="en-US" sz="2000" dirty="0">
                <a:solidFill>
                  <a:schemeClr val="tx1"/>
                </a:solidFill>
                <a:effectLst>
                  <a:outerShdw blurRad="38100" dist="19050" dir="2700000" algn="tl" rotWithShape="0">
                    <a:schemeClr val="dk1">
                      <a:alpha val="40000"/>
                    </a:schemeClr>
                  </a:outerShdw>
                </a:effectLst>
              </a:rPr>
              <a:t>                                                      </a:t>
            </a:r>
            <a:r>
              <a:rPr lang="zh-CN" altLang="en-US" sz="2000" dirty="0">
                <a:gradFill>
                  <a:gsLst>
                    <a:gs pos="21000">
                      <a:srgbClr val="53575C"/>
                    </a:gs>
                    <a:gs pos="88000">
                      <a:srgbClr val="C5C7CA"/>
                    </a:gs>
                  </a:gsLst>
                  <a:lin ang="5400000"/>
                </a:gradFill>
                <a:effectLst/>
              </a:rPr>
              <a:t> </a:t>
            </a:r>
            <a:r>
              <a:rPr lang="en-US" altLang="zh-CN" sz="2000" dirty="0">
                <a:gradFill>
                  <a:gsLst>
                    <a:gs pos="21000">
                      <a:srgbClr val="53575C"/>
                    </a:gs>
                    <a:gs pos="88000">
                      <a:srgbClr val="C5C7CA"/>
                    </a:gs>
                  </a:gsLst>
                  <a:lin ang="5400000"/>
                </a:gradFill>
                <a:effectLst/>
              </a:rPr>
              <a:t>1.4</a:t>
            </a:r>
            <a:endParaRPr lang="en-US" altLang="zh-CN" sz="2000" dirty="0">
              <a:gradFill>
                <a:gsLst>
                  <a:gs pos="21000">
                    <a:srgbClr val="53575C"/>
                  </a:gs>
                  <a:gs pos="88000">
                    <a:srgbClr val="C5C7CA"/>
                  </a:gs>
                </a:gsLst>
                <a:lin ang="5400000"/>
              </a:gradFill>
              <a:effectLst/>
            </a:endParaRPr>
          </a:p>
          <a:p>
            <a:pPr marL="0" indent="0">
              <a:buNone/>
            </a:pPr>
            <a:endParaRPr lang="zh-CN" altLang="en-US" sz="2000" dirty="0">
              <a:gradFill>
                <a:gsLst>
                  <a:gs pos="21000">
                    <a:srgbClr val="53575C"/>
                  </a:gs>
                  <a:gs pos="88000">
                    <a:srgbClr val="C5C7CA"/>
                  </a:gs>
                </a:gsLst>
                <a:lin ang="5400000"/>
              </a:gradFill>
              <a:effectLst/>
            </a:endParaRPr>
          </a:p>
          <a:p>
            <a:pPr marL="0" indent="0">
              <a:buNone/>
            </a:pPr>
            <a:r>
              <a:rPr lang="zh-CN" altLang="en-US" sz="2000" dirty="0">
                <a:solidFill>
                  <a:schemeClr val="tx1"/>
                </a:solidFill>
                <a:effectLst>
                  <a:outerShdw blurRad="38100" dist="19050" dir="2700000" algn="tl" rotWithShape="0">
                    <a:schemeClr val="dk1">
                      <a:alpha val="40000"/>
                    </a:schemeClr>
                  </a:outerShdw>
                </a:effectLst>
              </a:rPr>
              <a:t>                                                   </a:t>
            </a:r>
            <a:endParaRPr lang="zh-CN" altLang="en-US" sz="2000" dirty="0">
              <a:solidFill>
                <a:schemeClr val="tx1"/>
              </a:solidFill>
              <a:effectLst>
                <a:outerShdw blurRad="38100" dist="19050" dir="2700000" algn="tl" rotWithShape="0">
                  <a:schemeClr val="dk1">
                    <a:alpha val="40000"/>
                  </a:schemeClr>
                </a:outerShdw>
              </a:effectLst>
            </a:endParaRPr>
          </a:p>
          <a:p>
            <a:pPr marL="0" indent="0">
              <a:buNone/>
            </a:pPr>
            <a:endParaRPr lang="zh-CN" altLang="en-US" sz="2000" dirty="0">
              <a:solidFill>
                <a:schemeClr val="tx1"/>
              </a:solidFill>
              <a:effectLst>
                <a:outerShdw blurRad="38100" dist="19050" dir="2700000" algn="tl" rotWithShape="0">
                  <a:schemeClr val="dk1">
                    <a:alpha val="40000"/>
                  </a:schemeClr>
                </a:outerShdw>
              </a:effectLst>
            </a:endParaRPr>
          </a:p>
          <a:p>
            <a:pPr marL="0" indent="0">
              <a:buNone/>
            </a:pPr>
            <a:endParaRPr lang="zh-CN" altLang="en-US" sz="2000" dirty="0">
              <a:solidFill>
                <a:schemeClr val="tx1"/>
              </a:solidFill>
              <a:effectLst>
                <a:outerShdw blurRad="38100" dist="19050" dir="2700000" algn="tl" rotWithShape="0">
                  <a:schemeClr val="dk1">
                    <a:alpha val="40000"/>
                  </a:schemeClr>
                </a:outerShdw>
              </a:effectLst>
            </a:endParaRPr>
          </a:p>
        </p:txBody>
      </p:sp>
      <p:graphicFrame>
        <p:nvGraphicFramePr>
          <p:cNvPr id="2" name="对象 1">
            <a:hlinkClick r:id="" action="ppaction://ole?verb="/>
          </p:cNvPr>
          <p:cNvGraphicFramePr>
            <a:graphicFrameLocks noChangeAspect="1"/>
          </p:cNvGraphicFramePr>
          <p:nvPr/>
        </p:nvGraphicFramePr>
        <p:xfrm>
          <a:off x="918528" y="1918970"/>
          <a:ext cx="833120" cy="1921510"/>
        </p:xfrm>
        <a:graphic>
          <a:graphicData uri="http://schemas.openxmlformats.org/presentationml/2006/ole">
            <mc:AlternateContent xmlns:mc="http://schemas.openxmlformats.org/markup-compatibility/2006">
              <mc:Choice xmlns:v="urn:schemas-microsoft-com:vml" Requires="v">
                <p:oleObj spid="_x0000_s1025" name="" r:id="rId1" imgW="393700" imgH="1397000" progId="Equation.KSEE3">
                  <p:embed/>
                </p:oleObj>
              </mc:Choice>
              <mc:Fallback>
                <p:oleObj name="" r:id="rId1" imgW="393700" imgH="1397000" progId="Equation.KSEE3">
                  <p:embed/>
                  <p:pic>
                    <p:nvPicPr>
                      <p:cNvPr id="0" name="图片 1024"/>
                      <p:cNvPicPr/>
                      <p:nvPr/>
                    </p:nvPicPr>
                    <p:blipFill>
                      <a:blip r:embed="rId2"/>
                      <a:stretch>
                        <a:fillRect/>
                      </a:stretch>
                    </p:blipFill>
                    <p:spPr>
                      <a:xfrm>
                        <a:off x="918528" y="1918970"/>
                        <a:ext cx="833120" cy="192151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216785" y="1844675"/>
          <a:ext cx="1327150" cy="2287905"/>
        </p:xfrm>
        <a:graphic>
          <a:graphicData uri="http://schemas.openxmlformats.org/presentationml/2006/ole">
            <mc:AlternateContent xmlns:mc="http://schemas.openxmlformats.org/markup-compatibility/2006">
              <mc:Choice xmlns:v="urn:schemas-microsoft-com:vml" Requires="v">
                <p:oleObj spid="_x0000_s1030" name="" r:id="rId3" imgW="736600" imgH="1270000" progId="Equation.KSEE3">
                  <p:embed/>
                </p:oleObj>
              </mc:Choice>
              <mc:Fallback>
                <p:oleObj name="" r:id="rId3" imgW="736600" imgH="1270000" progId="Equation.KSEE3">
                  <p:embed/>
                  <p:pic>
                    <p:nvPicPr>
                      <p:cNvPr id="0" name="图片 1029"/>
                      <p:cNvPicPr/>
                      <p:nvPr/>
                    </p:nvPicPr>
                    <p:blipFill>
                      <a:blip r:embed="rId4"/>
                      <a:stretch>
                        <a:fillRect/>
                      </a:stretch>
                    </p:blipFill>
                    <p:spPr>
                      <a:xfrm>
                        <a:off x="2216785" y="1844675"/>
                        <a:ext cx="1327150" cy="228790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3620770" y="4233545"/>
          <a:ext cx="1350645" cy="359410"/>
        </p:xfrm>
        <a:graphic>
          <a:graphicData uri="http://schemas.openxmlformats.org/presentationml/2006/ole">
            <mc:AlternateContent xmlns:mc="http://schemas.openxmlformats.org/markup-compatibility/2006">
              <mc:Choice xmlns:v="urn:schemas-microsoft-com:vml" Requires="v">
                <p:oleObj spid="_x0000_s1027" name="" r:id="rId5" imgW="1002665" imgH="266700" progId="Equation.KSEE3">
                  <p:embed/>
                </p:oleObj>
              </mc:Choice>
              <mc:Fallback>
                <p:oleObj name="" r:id="rId5" imgW="1002665" imgH="266700" progId="Equation.KSEE3">
                  <p:embed/>
                  <p:pic>
                    <p:nvPicPr>
                      <p:cNvPr id="0" name="图片 1026"/>
                      <p:cNvPicPr/>
                      <p:nvPr/>
                    </p:nvPicPr>
                    <p:blipFill>
                      <a:blip r:embed="rId6"/>
                      <a:stretch>
                        <a:fillRect/>
                      </a:stretch>
                    </p:blipFill>
                    <p:spPr>
                      <a:xfrm>
                        <a:off x="3620770" y="4233545"/>
                        <a:ext cx="1350645" cy="35941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6044565" y="4233545"/>
          <a:ext cx="268605" cy="359410"/>
        </p:xfrm>
        <a:graphic>
          <a:graphicData uri="http://schemas.openxmlformats.org/presentationml/2006/ole">
            <mc:AlternateContent xmlns:mc="http://schemas.openxmlformats.org/markup-compatibility/2006">
              <mc:Choice xmlns:v="urn:schemas-microsoft-com:vml" Requires="v">
                <p:oleObj spid="_x0000_s1028" name="" r:id="rId7" imgW="152400" imgH="203200" progId="Equation.KSEE3">
                  <p:embed/>
                </p:oleObj>
              </mc:Choice>
              <mc:Fallback>
                <p:oleObj name="" r:id="rId7" imgW="152400" imgH="203200" progId="Equation.KSEE3">
                  <p:embed/>
                  <p:pic>
                    <p:nvPicPr>
                      <p:cNvPr id="0" name="图片 1027"/>
                      <p:cNvPicPr/>
                      <p:nvPr/>
                    </p:nvPicPr>
                    <p:blipFill>
                      <a:blip r:embed="rId8"/>
                      <a:stretch>
                        <a:fillRect/>
                      </a:stretch>
                    </p:blipFill>
                    <p:spPr>
                      <a:xfrm>
                        <a:off x="6044565" y="4233545"/>
                        <a:ext cx="268605" cy="35941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2354263" y="4592955"/>
          <a:ext cx="545465" cy="431800"/>
        </p:xfrm>
        <a:graphic>
          <a:graphicData uri="http://schemas.openxmlformats.org/presentationml/2006/ole">
            <mc:AlternateContent xmlns:mc="http://schemas.openxmlformats.org/markup-compatibility/2006">
              <mc:Choice xmlns:v="urn:schemas-microsoft-com:vml" Requires="v">
                <p:oleObj spid="_x0000_s1029" name="" r:id="rId9" imgW="545465" imgH="431800" progId="Equation.KSEE3">
                  <p:embed/>
                </p:oleObj>
              </mc:Choice>
              <mc:Fallback>
                <p:oleObj name="" r:id="rId9" imgW="545465" imgH="431800" progId="Equation.KSEE3">
                  <p:embed/>
                  <p:pic>
                    <p:nvPicPr>
                      <p:cNvPr id="0" name="图片 1028"/>
                      <p:cNvPicPr/>
                      <p:nvPr/>
                    </p:nvPicPr>
                    <p:blipFill>
                      <a:blip r:embed="rId10"/>
                      <a:stretch>
                        <a:fillRect/>
                      </a:stretch>
                    </p:blipFill>
                    <p:spPr>
                      <a:xfrm>
                        <a:off x="2354263" y="4592955"/>
                        <a:ext cx="545465" cy="43180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238125" y="5238115"/>
          <a:ext cx="3037205" cy="578485"/>
        </p:xfrm>
        <a:graphic>
          <a:graphicData uri="http://schemas.openxmlformats.org/presentationml/2006/ole">
            <mc:AlternateContent xmlns:mc="http://schemas.openxmlformats.org/markup-compatibility/2006">
              <mc:Choice xmlns:v="urn:schemas-microsoft-com:vml" Requires="v">
                <p:oleObj spid="_x0000_s1031" name="" r:id="rId11" imgW="1333500" imgH="254000" progId="Equation.KSEE3">
                  <p:embed/>
                </p:oleObj>
              </mc:Choice>
              <mc:Fallback>
                <p:oleObj name="" r:id="rId11" imgW="1333500" imgH="254000" progId="Equation.KSEE3">
                  <p:embed/>
                  <p:pic>
                    <p:nvPicPr>
                      <p:cNvPr id="0" name="图片 1030"/>
                      <p:cNvPicPr/>
                      <p:nvPr/>
                    </p:nvPicPr>
                    <p:blipFill>
                      <a:blip r:embed="rId12"/>
                      <a:stretch>
                        <a:fillRect/>
                      </a:stretch>
                    </p:blipFill>
                    <p:spPr>
                      <a:xfrm>
                        <a:off x="238125" y="5238115"/>
                        <a:ext cx="3037205" cy="578485"/>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39265"/>
          <p:cNvSpPr>
            <a:spLocks noGrp="1" noRot="1"/>
          </p:cNvSpPr>
          <p:nvPr>
            <p:ph type="title"/>
          </p:nvPr>
        </p:nvSpPr>
        <p:spPr>
          <a:xfrm>
            <a:off x="323850" y="404813"/>
            <a:ext cx="8540750" cy="727075"/>
          </a:xfrm>
        </p:spPr>
        <p:txBody>
          <a:bodyPr anchor="ctr" anchorCtr="0"/>
          <a:p>
            <a:r>
              <a:rPr lang="zh-CN" altLang="en-US" sz="4000" dirty="0">
                <a:latin typeface="黑体" panose="02010609060101010101" pitchFamily="2" charset="-122"/>
                <a:ea typeface="黑体" panose="02010609060101010101" pitchFamily="2" charset="-122"/>
                <a:sym typeface="+mn-ea"/>
              </a:rPr>
              <a:t>模糊综合评判方法</a:t>
            </a:r>
            <a:endParaRPr lang="zh-CN" altLang="zh-CN" sz="4000" dirty="0"/>
          </a:p>
        </p:txBody>
      </p:sp>
      <p:sp>
        <p:nvSpPr>
          <p:cNvPr id="7170" name="文本占位符 139266"/>
          <p:cNvSpPr>
            <a:spLocks noGrp="1" noRot="1"/>
          </p:cNvSpPr>
          <p:nvPr>
            <p:ph idx="1"/>
          </p:nvPr>
        </p:nvSpPr>
        <p:spPr>
          <a:xfrm>
            <a:off x="179388" y="1341438"/>
            <a:ext cx="8964612" cy="5183187"/>
          </a:xfrm>
        </p:spPr>
        <p:txBody>
          <a:bodyPr anchor="t" anchorCtr="0"/>
          <a:p>
            <a:r>
              <a:rPr lang="en-US" altLang="zh-CN"/>
              <a:t>2</a:t>
            </a:r>
            <a:r>
              <a:rPr lang="zh-CN" altLang="en-US"/>
              <a:t>）多层次模糊综合评判模型。在复杂的大系统中，需要考虑的因素往往是很多，而且因素之间还存在着不同的层次。这时，应用单层次模糊综合评判的模型就很难得出正确的评判结果。</a:t>
            </a:r>
            <a:endParaRPr lang="zh-CN" altLang="en-US"/>
          </a:p>
          <a:p>
            <a:r>
              <a:rPr lang="zh-CN" altLang="en-US"/>
              <a:t>就需要将评判因素集合按照某种属性分成几类，先对每一类进行综合评判，然后再对各类评判结果进行类之间的高层次综合评判。这样产生多层次模糊综合评判问题。</a:t>
            </a:r>
            <a:endParaRPr lang="zh-CN" altLang="en-US"/>
          </a:p>
          <a:p>
            <a:r>
              <a:rPr lang="zh-CN" altLang="en-US"/>
              <a:t>多层次模糊综合评判模型的建立，具体步骤：</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noRot="1"/>
          </p:cNvSpPr>
          <p:nvPr>
            <p:ph type="title"/>
          </p:nvPr>
        </p:nvSpPr>
        <p:spPr/>
        <p:txBody>
          <a:bodyPr anchor="ctr" anchorCtr="0"/>
          <a:p>
            <a:r>
              <a:rPr lang="zh-CN" altLang="en-US" dirty="0">
                <a:latin typeface="黑体" panose="02010609060101010101" pitchFamily="2" charset="-122"/>
                <a:ea typeface="黑体" panose="02010609060101010101" pitchFamily="2" charset="-122"/>
                <a:sym typeface="+mn-ea"/>
              </a:rPr>
              <a:t>模糊综合评判方法</a:t>
            </a:r>
            <a:endParaRPr lang="zh-CN" altLang="en-US"/>
          </a:p>
        </p:txBody>
      </p:sp>
      <p:sp>
        <p:nvSpPr>
          <p:cNvPr id="8194" name="内容占位符 2"/>
          <p:cNvSpPr>
            <a:spLocks noGrp="1" noRot="1"/>
          </p:cNvSpPr>
          <p:nvPr>
            <p:ph idx="1"/>
          </p:nvPr>
        </p:nvSpPr>
        <p:spPr>
          <a:xfrm>
            <a:off x="304800" y="1981200"/>
            <a:ext cx="8540750" cy="4224020"/>
          </a:xfrm>
        </p:spPr>
        <p:txBody>
          <a:bodyPr anchor="t" anchorCtr="0"/>
          <a:p>
            <a:pPr marL="514350" indent="-514350">
              <a:buFont typeface="+mj-ea"/>
              <a:buAutoNum type="circleNumDbPlain"/>
            </a:pPr>
            <a:r>
              <a:rPr lang="zh-CN" altLang="en-US"/>
              <a:t>对于评判因素集合</a:t>
            </a:r>
            <a:r>
              <a:rPr lang="en-US" altLang="zh-CN"/>
              <a:t>U,</a:t>
            </a:r>
            <a:r>
              <a:rPr lang="zh-CN" altLang="en-US"/>
              <a:t>按某各属性</a:t>
            </a:r>
            <a:r>
              <a:rPr lang="en-US" altLang="zh-CN"/>
              <a:t>c</a:t>
            </a:r>
            <a:r>
              <a:rPr lang="zh-CN" altLang="en-US"/>
              <a:t>，将其划分成</a:t>
            </a:r>
            <a:r>
              <a:rPr lang="en-US" altLang="zh-CN"/>
              <a:t>m</a:t>
            </a:r>
            <a:r>
              <a:rPr lang="zh-CN" altLang="en-US"/>
              <a:t>个子集，使它们满足</a:t>
            </a:r>
            <a:endParaRPr lang="zh-CN" altLang="en-US"/>
          </a:p>
          <a:p>
            <a:pPr marL="0" indent="0">
              <a:buFont typeface="+mj-ea"/>
              <a:buNone/>
            </a:pPr>
            <a:r>
              <a:rPr lang="zh-CN" altLang="en-US"/>
              <a:t>                           </a:t>
            </a:r>
            <a:r>
              <a:rPr lang="en-US" altLang="zh-CN" sz="1800"/>
              <a:t>1-5</a:t>
            </a:r>
            <a:endParaRPr lang="en-US" altLang="zh-CN" sz="1800"/>
          </a:p>
          <a:p>
            <a:pPr marL="0" indent="0">
              <a:buFont typeface="+mj-ea"/>
              <a:buNone/>
            </a:pPr>
            <a:endParaRPr lang="en-US" altLang="zh-CN" sz="1800"/>
          </a:p>
          <a:p>
            <a:pPr marL="0" indent="0">
              <a:buFont typeface="+mj-ea"/>
              <a:buNone/>
            </a:pPr>
            <a:r>
              <a:rPr lang="zh-CN" altLang="en-US" sz="2800"/>
              <a:t>这样，就得到了第二级评判因素集合</a:t>
            </a:r>
            <a:endParaRPr lang="zh-CN" altLang="en-US" sz="2800"/>
          </a:p>
          <a:p>
            <a:pPr marL="0" indent="0">
              <a:buFont typeface="+mj-ea"/>
              <a:buNone/>
            </a:pPr>
            <a:r>
              <a:rPr lang="en-US" altLang="zh-CN" sz="2800"/>
              <a:t>U/</a:t>
            </a:r>
            <a:r>
              <a:rPr lang="en-US" altLang="zh-CN" sz="2800" baseline="-25000"/>
              <a:t>c</a:t>
            </a:r>
            <a:r>
              <a:rPr lang="en-US" altLang="zh-CN" sz="2800"/>
              <a:t>={</a:t>
            </a:r>
            <a:r>
              <a:rPr lang="en-US" altLang="zh-CN"/>
              <a:t>u</a:t>
            </a:r>
            <a:r>
              <a:rPr lang="en-US" altLang="zh-CN" baseline="-25000"/>
              <a:t>1,</a:t>
            </a:r>
            <a:r>
              <a:rPr lang="en-US" altLang="zh-CN"/>
              <a:t>u</a:t>
            </a:r>
            <a:r>
              <a:rPr lang="en-US" altLang="zh-CN" baseline="-25000"/>
              <a:t>2,..</a:t>
            </a:r>
            <a:r>
              <a:rPr lang="en-US" altLang="zh-CN" sz="2800" baseline="-25000"/>
              <a:t>.</a:t>
            </a:r>
            <a:r>
              <a:rPr lang="en-US" altLang="zh-CN" sz="2800">
                <a:sym typeface="+mn-ea"/>
              </a:rPr>
              <a:t>u</a:t>
            </a:r>
            <a:r>
              <a:rPr lang="en-US" altLang="zh-CN" sz="2800" baseline="-25000">
                <a:sym typeface="+mn-ea"/>
              </a:rPr>
              <a:t>m</a:t>
            </a:r>
            <a:r>
              <a:rPr lang="en-US" altLang="zh-CN" sz="2800">
                <a:sym typeface="+mn-ea"/>
              </a:rPr>
              <a:t>}     </a:t>
            </a:r>
            <a:r>
              <a:rPr lang="en-US" altLang="zh-CN" sz="2000">
                <a:sym typeface="+mn-ea"/>
              </a:rPr>
              <a:t>1-6</a:t>
            </a:r>
            <a:endParaRPr lang="en-US" altLang="zh-CN" sz="2000">
              <a:sym typeface="+mn-ea"/>
            </a:endParaRPr>
          </a:p>
          <a:p>
            <a:pPr marL="0" indent="0">
              <a:buFont typeface="+mj-ea"/>
              <a:buNone/>
            </a:pPr>
            <a:r>
              <a:rPr lang="zh-CN" altLang="en-US" sz="2000"/>
              <a:t>在式</a:t>
            </a:r>
            <a:r>
              <a:rPr lang="en-US" altLang="zh-CN" sz="2000"/>
              <a:t>1-6</a:t>
            </a:r>
            <a:r>
              <a:rPr lang="zh-CN" altLang="en-US" sz="2000"/>
              <a:t>中，</a:t>
            </a:r>
            <a:r>
              <a:rPr lang="en-US" altLang="zh-CN" sz="2000"/>
              <a:t>U</a:t>
            </a:r>
            <a:r>
              <a:rPr lang="en-US" altLang="zh-CN" sz="2000" baseline="-25000"/>
              <a:t>i</a:t>
            </a:r>
            <a:r>
              <a:rPr lang="en-US" altLang="zh-CN" sz="2000"/>
              <a:t>={u</a:t>
            </a:r>
            <a:r>
              <a:rPr lang="en-US" altLang="zh-CN" sz="2000" baseline="-25000"/>
              <a:t>ik</a:t>
            </a:r>
            <a:r>
              <a:rPr lang="en-US" altLang="zh-CN" sz="2000"/>
              <a:t>}(i=1,2,...m;k=1,2,...n</a:t>
            </a:r>
            <a:r>
              <a:rPr lang="en-US" altLang="zh-CN" sz="2000" baseline="-25000"/>
              <a:t>k</a:t>
            </a:r>
            <a:r>
              <a:rPr lang="en-US" altLang="zh-CN" sz="2000"/>
              <a:t>)</a:t>
            </a:r>
            <a:r>
              <a:rPr lang="zh-CN" altLang="en-US" sz="2000"/>
              <a:t>表示子集</a:t>
            </a:r>
            <a:r>
              <a:rPr lang="en-US" altLang="zh-CN" sz="2000">
                <a:sym typeface="+mn-ea"/>
              </a:rPr>
              <a:t>U</a:t>
            </a:r>
            <a:r>
              <a:rPr lang="en-US" altLang="zh-CN" sz="2000" baseline="-25000">
                <a:sym typeface="+mn-ea"/>
              </a:rPr>
              <a:t>i</a:t>
            </a:r>
            <a:r>
              <a:rPr lang="zh-CN" altLang="en-US" sz="2000">
                <a:sym typeface="+mn-ea"/>
              </a:rPr>
              <a:t>中含有</a:t>
            </a:r>
            <a:r>
              <a:rPr lang="en-US" altLang="zh-CN" sz="2000">
                <a:sym typeface="+mn-ea"/>
              </a:rPr>
              <a:t>n</a:t>
            </a:r>
            <a:r>
              <a:rPr lang="en-US" altLang="zh-CN" sz="2000" baseline="-25000">
                <a:sym typeface="+mn-ea"/>
              </a:rPr>
              <a:t>k</a:t>
            </a:r>
            <a:r>
              <a:rPr lang="zh-CN" altLang="en-US" sz="2000">
                <a:sym typeface="+mn-ea"/>
              </a:rPr>
              <a:t>个评判因素。</a:t>
            </a:r>
            <a:endParaRPr lang="zh-CN" altLang="en-US" sz="1800" baseline="-25000"/>
          </a:p>
          <a:p>
            <a:pPr marL="0" indent="0">
              <a:buFont typeface="+mj-ea"/>
              <a:buNone/>
            </a:pPr>
            <a:endParaRPr lang="zh-CN" altLang="en-US" sz="1800" baseline="-25000"/>
          </a:p>
        </p:txBody>
      </p:sp>
      <p:graphicFrame>
        <p:nvGraphicFramePr>
          <p:cNvPr id="2" name="对象 1">
            <a:hlinkClick r:id="" action="ppaction://ole?verb="/>
          </p:cNvPr>
          <p:cNvGraphicFramePr>
            <a:graphicFrameLocks noChangeAspect="1"/>
          </p:cNvGraphicFramePr>
          <p:nvPr/>
        </p:nvGraphicFramePr>
        <p:xfrm>
          <a:off x="1410335" y="2995295"/>
          <a:ext cx="1513840" cy="967105"/>
        </p:xfrm>
        <a:graphic>
          <a:graphicData uri="http://schemas.openxmlformats.org/presentationml/2006/ole">
            <mc:AlternateContent xmlns:mc="http://schemas.openxmlformats.org/markup-compatibility/2006">
              <mc:Choice xmlns:v="urn:schemas-microsoft-com:vml" Requires="v">
                <p:oleObj spid="_x0000_s1025" name="" r:id="rId1" imgW="1066800" imgH="685800" progId="Equation.KSEE3">
                  <p:embed/>
                </p:oleObj>
              </mc:Choice>
              <mc:Fallback>
                <p:oleObj name="" r:id="rId1" imgW="1066800" imgH="685800" progId="Equation.KSEE3">
                  <p:embed/>
                  <p:pic>
                    <p:nvPicPr>
                      <p:cNvPr id="0" name="图片 1024"/>
                      <p:cNvPicPr/>
                      <p:nvPr/>
                    </p:nvPicPr>
                    <p:blipFill>
                      <a:blip r:embed="rId2"/>
                      <a:stretch>
                        <a:fillRect/>
                      </a:stretch>
                    </p:blipFill>
                    <p:spPr>
                      <a:xfrm>
                        <a:off x="1410335" y="2995295"/>
                        <a:ext cx="1513840" cy="967105"/>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noRot="1"/>
          </p:cNvSpPr>
          <p:nvPr>
            <p:ph type="title"/>
          </p:nvPr>
        </p:nvSpPr>
        <p:spPr>
          <a:xfrm>
            <a:off x="301625" y="685800"/>
            <a:ext cx="8540750" cy="754380"/>
          </a:xfrm>
        </p:spPr>
        <p:txBody>
          <a:bodyPr anchor="ctr" anchorCtr="0"/>
          <a:p>
            <a:r>
              <a:rPr lang="zh-CN" altLang="en-US" dirty="0">
                <a:latin typeface="黑体" panose="02010609060101010101" pitchFamily="2" charset="-122"/>
                <a:ea typeface="黑体" panose="02010609060101010101" pitchFamily="2" charset="-122"/>
                <a:sym typeface="+mn-ea"/>
              </a:rPr>
              <a:t>模糊综合评判方法</a:t>
            </a:r>
            <a:br>
              <a:rPr lang="zh-CN" altLang="en-US"/>
            </a:br>
            <a:endParaRPr lang="zh-CN" altLang="en-US"/>
          </a:p>
        </p:txBody>
      </p:sp>
      <p:sp>
        <p:nvSpPr>
          <p:cNvPr id="9218" name="内容占位符 2"/>
          <p:cNvSpPr>
            <a:spLocks noGrp="1" noRot="1"/>
          </p:cNvSpPr>
          <p:nvPr>
            <p:ph idx="1"/>
          </p:nvPr>
        </p:nvSpPr>
        <p:spPr>
          <a:xfrm>
            <a:off x="0" y="1292225"/>
            <a:ext cx="8990013" cy="5421313"/>
          </a:xfrm>
        </p:spPr>
        <p:txBody>
          <a:bodyPr anchor="t" anchorCtr="0"/>
          <a:p>
            <a:pPr marL="0" indent="0">
              <a:buFont typeface="+mj-ea"/>
              <a:buNone/>
            </a:pPr>
            <a:r>
              <a:rPr lang="zh-CN" altLang="en-US" sz="2800">
                <a:latin typeface="Calibri" panose="020F0502020204030204" charset="0"/>
              </a:rPr>
              <a:t>② 对于每一个子集</a:t>
            </a:r>
            <a:r>
              <a:rPr lang="en-US" altLang="zh-CN" sz="2800">
                <a:latin typeface="Calibri" panose="020F0502020204030204" charset="0"/>
              </a:rPr>
              <a:t>U</a:t>
            </a:r>
            <a:r>
              <a:rPr lang="en-US" altLang="zh-CN" sz="2800" baseline="-25000">
                <a:latin typeface="Calibri" panose="020F0502020204030204" charset="0"/>
              </a:rPr>
              <a:t>i</a:t>
            </a:r>
            <a:r>
              <a:rPr lang="zh-CN" altLang="en-US" sz="2800">
                <a:latin typeface="Calibri" panose="020F0502020204030204" charset="0"/>
              </a:rPr>
              <a:t>中的</a:t>
            </a:r>
            <a:r>
              <a:rPr lang="en-US" altLang="zh-CN" sz="2800">
                <a:sym typeface="+mn-ea"/>
              </a:rPr>
              <a:t>n</a:t>
            </a:r>
            <a:r>
              <a:rPr lang="en-US" altLang="zh-CN" sz="2800" baseline="-25000">
                <a:sym typeface="+mn-ea"/>
              </a:rPr>
              <a:t>k</a:t>
            </a:r>
            <a:r>
              <a:rPr lang="zh-CN" altLang="en-US" sz="2800">
                <a:sym typeface="+mn-ea"/>
              </a:rPr>
              <a:t>个评判因素，按照单层次模糊综合评判模型进行评判。如果</a:t>
            </a:r>
            <a:r>
              <a:rPr lang="en-US" altLang="zh-CN" sz="2800">
                <a:latin typeface="Calibri" panose="020F0502020204030204" charset="0"/>
                <a:sym typeface="+mn-ea"/>
              </a:rPr>
              <a:t>U</a:t>
            </a:r>
            <a:r>
              <a:rPr lang="en-US" altLang="zh-CN" sz="2800" baseline="-25000">
                <a:latin typeface="Calibri" panose="020F0502020204030204" charset="0"/>
                <a:sym typeface="+mn-ea"/>
              </a:rPr>
              <a:t>i</a:t>
            </a:r>
            <a:r>
              <a:rPr lang="zh-CN" altLang="en-US" sz="2800">
                <a:latin typeface="Calibri" panose="020F0502020204030204" charset="0"/>
                <a:sym typeface="+mn-ea"/>
              </a:rPr>
              <a:t>中的</a:t>
            </a:r>
            <a:r>
              <a:rPr lang="en-US" altLang="zh-CN" sz="2800">
                <a:sym typeface="+mn-ea"/>
              </a:rPr>
              <a:t>n</a:t>
            </a:r>
            <a:r>
              <a:rPr lang="en-US" altLang="zh-CN" sz="2800" baseline="-25000">
                <a:sym typeface="+mn-ea"/>
              </a:rPr>
              <a:t>k</a:t>
            </a:r>
            <a:r>
              <a:rPr lang="zh-CN" altLang="en-US" sz="2800">
                <a:sym typeface="+mn-ea"/>
              </a:rPr>
              <a:t>个评判因素，按照单层次模糊综合评判模型进行评判。如果</a:t>
            </a:r>
            <a:r>
              <a:rPr lang="en-US" altLang="zh-CN" sz="2800">
                <a:latin typeface="Calibri" panose="020F0502020204030204" charset="0"/>
                <a:sym typeface="+mn-ea"/>
              </a:rPr>
              <a:t>U</a:t>
            </a:r>
            <a:r>
              <a:rPr lang="en-US" altLang="zh-CN" sz="2800" baseline="-25000">
                <a:latin typeface="Calibri" panose="020F0502020204030204" charset="0"/>
                <a:sym typeface="+mn-ea"/>
              </a:rPr>
              <a:t>i</a:t>
            </a:r>
            <a:r>
              <a:rPr lang="zh-CN" altLang="en-US" sz="2800">
                <a:latin typeface="Calibri" panose="020F0502020204030204" charset="0"/>
                <a:sym typeface="+mn-ea"/>
              </a:rPr>
              <a:t>中诸因素的权数分配为    ，其评判决策矩阵为</a:t>
            </a:r>
            <a:r>
              <a:rPr lang="en-US" altLang="zh-CN" sz="2800">
                <a:latin typeface="Calibri" panose="020F0502020204030204" charset="0"/>
                <a:sym typeface="+mn-ea"/>
              </a:rPr>
              <a:t>R</a:t>
            </a:r>
            <a:r>
              <a:rPr lang="en-US" altLang="zh-CN" sz="2800" baseline="-25000">
                <a:latin typeface="Calibri" panose="020F0502020204030204" charset="0"/>
                <a:sym typeface="+mn-ea"/>
              </a:rPr>
              <a:t>i</a:t>
            </a:r>
            <a:r>
              <a:rPr lang="zh-CN" altLang="en-US" sz="2800" baseline="-25000">
                <a:latin typeface="Calibri" panose="020F0502020204030204" charset="0"/>
                <a:sym typeface="+mn-ea"/>
              </a:rPr>
              <a:t>，</a:t>
            </a:r>
            <a:r>
              <a:rPr lang="zh-CN" altLang="en-US" sz="2800">
                <a:latin typeface="Calibri" panose="020F0502020204030204" charset="0"/>
                <a:sym typeface="+mn-ea"/>
              </a:rPr>
              <a:t>则得到第</a:t>
            </a:r>
            <a:r>
              <a:rPr lang="en-US" altLang="zh-CN" sz="2800">
                <a:latin typeface="Calibri" panose="020F0502020204030204" charset="0"/>
                <a:sym typeface="+mn-ea"/>
              </a:rPr>
              <a:t>i</a:t>
            </a:r>
            <a:r>
              <a:rPr lang="zh-CN" altLang="en-US" sz="2800">
                <a:latin typeface="Calibri" panose="020F0502020204030204" charset="0"/>
                <a:sym typeface="+mn-ea"/>
              </a:rPr>
              <a:t>个子集</a:t>
            </a:r>
            <a:r>
              <a:rPr lang="en-US" altLang="zh-CN" sz="2800">
                <a:latin typeface="Calibri" panose="020F0502020204030204" charset="0"/>
                <a:sym typeface="+mn-ea"/>
              </a:rPr>
              <a:t>U</a:t>
            </a:r>
            <a:r>
              <a:rPr lang="en-US" altLang="zh-CN" sz="2800" baseline="-25000">
                <a:latin typeface="Calibri" panose="020F0502020204030204" charset="0"/>
                <a:sym typeface="+mn-ea"/>
              </a:rPr>
              <a:t>i</a:t>
            </a:r>
            <a:r>
              <a:rPr lang="zh-CN" altLang="en-US" sz="2800">
                <a:latin typeface="Calibri" panose="020F0502020204030204" charset="0"/>
                <a:sym typeface="+mn-ea"/>
              </a:rPr>
              <a:t>的综合评判结果</a:t>
            </a:r>
            <a:endParaRPr lang="zh-CN" altLang="en-US" sz="2800">
              <a:latin typeface="Calibri" panose="020F0502020204030204" charset="0"/>
              <a:sym typeface="+mn-ea"/>
            </a:endParaRPr>
          </a:p>
          <a:p>
            <a:pPr marL="0" indent="0">
              <a:buFont typeface="+mj-ea"/>
              <a:buNone/>
            </a:pPr>
            <a:r>
              <a:rPr lang="zh-CN" altLang="en-US" sz="2800">
                <a:latin typeface="Calibri" panose="020F0502020204030204" charset="0"/>
                <a:sym typeface="+mn-ea"/>
              </a:rPr>
              <a:t>                                               </a:t>
            </a:r>
            <a:endParaRPr lang="en-US" altLang="zh-CN" sz="2800">
              <a:latin typeface="Calibri" panose="020F0502020204030204" charset="0"/>
              <a:sym typeface="+mn-ea"/>
            </a:endParaRPr>
          </a:p>
          <a:p>
            <a:pPr marL="0" indent="0">
              <a:buFont typeface="+mj-ea"/>
              <a:buNone/>
            </a:pPr>
            <a:r>
              <a:rPr lang="en-US" altLang="zh-CN" sz="2800">
                <a:latin typeface="Calibri" panose="020F0502020204030204" charset="0"/>
                <a:sym typeface="+mn-ea"/>
              </a:rPr>
              <a:t>                                              1-7</a:t>
            </a:r>
            <a:r>
              <a:rPr lang="zh-CN" altLang="en-US" sz="2800">
                <a:latin typeface="Calibri" panose="020F0502020204030204" charset="0"/>
                <a:sym typeface="+mn-ea"/>
              </a:rPr>
              <a:t>（</a:t>
            </a:r>
            <a:r>
              <a:rPr lang="en-US" altLang="zh-CN" sz="2800">
                <a:latin typeface="Calibri" panose="020F0502020204030204" charset="0"/>
                <a:sym typeface="+mn-ea"/>
              </a:rPr>
              <a:t> i=1,2,...m    </a:t>
            </a:r>
            <a:r>
              <a:rPr lang="zh-CN" altLang="en-US" sz="2800">
                <a:latin typeface="Calibri" panose="020F0502020204030204" charset="0"/>
                <a:sym typeface="+mn-ea"/>
              </a:rPr>
              <a:t>，      是行向量，一行</a:t>
            </a:r>
            <a:r>
              <a:rPr lang="en-US" altLang="zh-CN" sz="2800">
                <a:sym typeface="+mn-ea"/>
              </a:rPr>
              <a:t>n</a:t>
            </a:r>
            <a:r>
              <a:rPr lang="en-US" altLang="zh-CN" sz="2800" baseline="-25000">
                <a:sym typeface="+mn-ea"/>
              </a:rPr>
              <a:t>k</a:t>
            </a:r>
            <a:r>
              <a:rPr lang="zh-CN" altLang="en-US" sz="2800">
                <a:sym typeface="+mn-ea"/>
              </a:rPr>
              <a:t>列，</a:t>
            </a:r>
            <a:r>
              <a:rPr lang="en-US" altLang="zh-CN" sz="2800">
                <a:sym typeface="+mn-ea"/>
              </a:rPr>
              <a:t>R</a:t>
            </a:r>
            <a:r>
              <a:rPr lang="en-US" altLang="zh-CN" sz="2800" baseline="-25000">
                <a:sym typeface="+mn-ea"/>
              </a:rPr>
              <a:t>i</a:t>
            </a:r>
            <a:r>
              <a:rPr lang="zh-CN" altLang="en-US" sz="2800">
                <a:sym typeface="+mn-ea"/>
              </a:rPr>
              <a:t>是</a:t>
            </a:r>
            <a:r>
              <a:rPr lang="en-US" altLang="zh-CN" sz="2800">
                <a:sym typeface="+mn-ea"/>
              </a:rPr>
              <a:t>n</a:t>
            </a:r>
            <a:r>
              <a:rPr lang="en-US" altLang="zh-CN" sz="2800" baseline="-25000">
                <a:sym typeface="+mn-ea"/>
              </a:rPr>
              <a:t>k</a:t>
            </a:r>
            <a:r>
              <a:rPr lang="zh-CN" altLang="en-US" sz="2800">
                <a:sym typeface="+mn-ea"/>
              </a:rPr>
              <a:t>行</a:t>
            </a:r>
            <a:r>
              <a:rPr lang="en-US" altLang="zh-CN" sz="2800">
                <a:sym typeface="+mn-ea"/>
              </a:rPr>
              <a:t>n</a:t>
            </a:r>
            <a:r>
              <a:rPr lang="zh-CN" altLang="en-US" sz="2800">
                <a:sym typeface="+mn-ea"/>
              </a:rPr>
              <a:t>列）</a:t>
            </a:r>
            <a:endParaRPr lang="en-US" altLang="zh-CN" sz="2800">
              <a:latin typeface="Calibri" panose="020F0502020204030204" charset="0"/>
              <a:sym typeface="+mn-ea"/>
            </a:endParaRPr>
          </a:p>
          <a:p>
            <a:pPr marL="0" indent="0">
              <a:buFont typeface="+mj-ea"/>
              <a:buNone/>
            </a:pPr>
            <a:r>
              <a:rPr lang="en-US" altLang="zh-CN" sz="2800">
                <a:latin typeface="Calibri" panose="020F0502020204030204" charset="0"/>
                <a:sym typeface="+mn-ea"/>
              </a:rPr>
              <a:t>③</a:t>
            </a:r>
            <a:r>
              <a:rPr lang="zh-CN" altLang="en-US" sz="2800">
                <a:latin typeface="Calibri" panose="020F0502020204030204" charset="0"/>
                <a:sym typeface="+mn-ea"/>
              </a:rPr>
              <a:t>对</a:t>
            </a:r>
            <a:r>
              <a:rPr lang="en-US" altLang="zh-CN" sz="2800">
                <a:latin typeface="Calibri" panose="020F0502020204030204" charset="0"/>
                <a:sym typeface="+mn-ea"/>
              </a:rPr>
              <a:t>U/c</a:t>
            </a:r>
            <a:r>
              <a:rPr lang="zh-CN" altLang="en-US" sz="2800">
                <a:latin typeface="Calibri" panose="020F0502020204030204" charset="0"/>
                <a:sym typeface="+mn-ea"/>
              </a:rPr>
              <a:t>中的</a:t>
            </a:r>
            <a:r>
              <a:rPr lang="en-US" altLang="zh-CN" sz="2800">
                <a:latin typeface="Calibri" panose="020F0502020204030204" charset="0"/>
                <a:sym typeface="+mn-ea"/>
              </a:rPr>
              <a:t>m</a:t>
            </a:r>
            <a:r>
              <a:rPr lang="zh-CN" altLang="en-US" sz="2800">
                <a:latin typeface="Calibri" panose="020F0502020204030204" charset="0"/>
                <a:sym typeface="+mn-ea"/>
              </a:rPr>
              <a:t>个评判因素子集</a:t>
            </a:r>
            <a:r>
              <a:rPr lang="en-US" altLang="zh-CN" sz="2800">
                <a:latin typeface="Calibri" panose="020F0502020204030204" charset="0"/>
                <a:sym typeface="+mn-ea"/>
              </a:rPr>
              <a:t>U</a:t>
            </a:r>
            <a:r>
              <a:rPr lang="en-US" altLang="zh-CN" sz="2800" baseline="-25000">
                <a:latin typeface="Calibri" panose="020F0502020204030204" charset="0"/>
                <a:sym typeface="+mn-ea"/>
              </a:rPr>
              <a:t>i</a:t>
            </a:r>
            <a:r>
              <a:rPr lang="zh-CN" altLang="en-US" sz="2800">
                <a:latin typeface="Calibri" panose="020F0502020204030204" charset="0"/>
                <a:sym typeface="+mn-ea"/>
              </a:rPr>
              <a:t>（</a:t>
            </a:r>
            <a:r>
              <a:rPr lang="en-US" altLang="zh-CN" sz="2800">
                <a:latin typeface="Calibri" panose="020F0502020204030204" charset="0"/>
                <a:sym typeface="+mn-ea"/>
              </a:rPr>
              <a:t>i=1,2,...m),</a:t>
            </a:r>
            <a:r>
              <a:rPr lang="zh-CN" altLang="en-US" sz="2800">
                <a:latin typeface="Calibri" panose="020F0502020204030204" charset="0"/>
                <a:sym typeface="+mn-ea"/>
              </a:rPr>
              <a:t>进行综合评判，其评判决策矩阵为：</a:t>
            </a:r>
            <a:endParaRPr lang="zh-CN" altLang="en-US" sz="2800">
              <a:latin typeface="Calibri" panose="020F0502020204030204" charset="0"/>
              <a:sym typeface="+mn-ea"/>
            </a:endParaRPr>
          </a:p>
        </p:txBody>
      </p:sp>
      <p:graphicFrame>
        <p:nvGraphicFramePr>
          <p:cNvPr id="2" name="对象 1">
            <a:hlinkClick r:id="" action="ppaction://ole?verb="/>
          </p:cNvPr>
          <p:cNvGraphicFramePr>
            <a:graphicFrameLocks noChangeAspect="1"/>
          </p:cNvGraphicFramePr>
          <p:nvPr/>
        </p:nvGraphicFramePr>
        <p:xfrm>
          <a:off x="2256790" y="2614295"/>
          <a:ext cx="290830" cy="424815"/>
        </p:xfrm>
        <a:graphic>
          <a:graphicData uri="http://schemas.openxmlformats.org/presentationml/2006/ole">
            <mc:AlternateContent xmlns:mc="http://schemas.openxmlformats.org/markup-compatibility/2006">
              <mc:Choice xmlns:v="urn:schemas-microsoft-com:vml" Requires="v">
                <p:oleObj spid="_x0000_s1025" name="" r:id="rId1" imgW="165100" imgH="241300" progId="Equation.KSEE3">
                  <p:embed/>
                </p:oleObj>
              </mc:Choice>
              <mc:Fallback>
                <p:oleObj name="" r:id="rId1" imgW="165100" imgH="241300" progId="Equation.KSEE3">
                  <p:embed/>
                  <p:pic>
                    <p:nvPicPr>
                      <p:cNvPr id="0" name="图片 1024"/>
                      <p:cNvPicPr/>
                      <p:nvPr/>
                    </p:nvPicPr>
                    <p:blipFill>
                      <a:blip r:embed="rId2"/>
                      <a:stretch>
                        <a:fillRect/>
                      </a:stretch>
                    </p:blipFill>
                    <p:spPr>
                      <a:xfrm>
                        <a:off x="2256790" y="2614295"/>
                        <a:ext cx="290830" cy="42481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114935" y="3938270"/>
          <a:ext cx="3542030" cy="646430"/>
        </p:xfrm>
        <a:graphic>
          <a:graphicData uri="http://schemas.openxmlformats.org/presentationml/2006/ole">
            <mc:AlternateContent xmlns:mc="http://schemas.openxmlformats.org/markup-compatibility/2006">
              <mc:Choice xmlns:v="urn:schemas-microsoft-com:vml" Requires="v">
                <p:oleObj spid="_x0000_s1027" name="" r:id="rId3" imgW="1625600" imgH="266700" progId="Equation.KSEE3">
                  <p:embed/>
                </p:oleObj>
              </mc:Choice>
              <mc:Fallback>
                <p:oleObj name="" r:id="rId3" imgW="1625600" imgH="266700" progId="Equation.KSEE3">
                  <p:embed/>
                  <p:pic>
                    <p:nvPicPr>
                      <p:cNvPr id="0" name="图片 1026"/>
                      <p:cNvPicPr/>
                      <p:nvPr/>
                    </p:nvPicPr>
                    <p:blipFill>
                      <a:blip r:embed="rId4"/>
                      <a:stretch>
                        <a:fillRect/>
                      </a:stretch>
                    </p:blipFill>
                    <p:spPr>
                      <a:xfrm>
                        <a:off x="114935" y="3938270"/>
                        <a:ext cx="3542030" cy="64643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6790055" y="4048760"/>
          <a:ext cx="290830" cy="424815"/>
        </p:xfrm>
        <a:graphic>
          <a:graphicData uri="http://schemas.openxmlformats.org/presentationml/2006/ole">
            <mc:AlternateContent xmlns:mc="http://schemas.openxmlformats.org/markup-compatibility/2006">
              <mc:Choice xmlns:v="urn:schemas-microsoft-com:vml" Requires="v">
                <p:oleObj spid="_x0000_s5" name="" r:id="rId5" imgW="165100" imgH="241300" progId="Equation.KSEE3">
                  <p:embed/>
                </p:oleObj>
              </mc:Choice>
              <mc:Fallback>
                <p:oleObj name="" r:id="rId5" imgW="165100" imgH="241300" progId="Equation.KSEE3">
                  <p:embed/>
                  <p:pic>
                    <p:nvPicPr>
                      <p:cNvPr id="0" name="图片 1024"/>
                      <p:cNvPicPr/>
                      <p:nvPr/>
                    </p:nvPicPr>
                    <p:blipFill>
                      <a:blip r:embed="rId2"/>
                      <a:stretch>
                        <a:fillRect/>
                      </a:stretch>
                    </p:blipFill>
                    <p:spPr>
                      <a:xfrm>
                        <a:off x="6790055" y="4048760"/>
                        <a:ext cx="290830" cy="42481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1"/>
          <p:cNvSpPr>
            <a:spLocks noGrp="1" noRot="1"/>
          </p:cNvSpPr>
          <p:nvPr>
            <p:ph type="title"/>
          </p:nvPr>
        </p:nvSpPr>
        <p:spPr/>
        <p:txBody>
          <a:bodyPr anchor="ctr" anchorCtr="0"/>
          <a:p>
            <a:r>
              <a:rPr lang="en-US" altLang="zh-CN"/>
              <a:t>  </a:t>
            </a:r>
            <a:endParaRPr lang="en-US" altLang="zh-CN"/>
          </a:p>
        </p:txBody>
      </p:sp>
      <p:graphicFrame>
        <p:nvGraphicFramePr>
          <p:cNvPr id="3" name="内容占位符 2">
            <a:hlinkClick r:id="" action="ppaction://ole?verb="/>
          </p:cNvPr>
          <p:cNvGraphicFramePr>
            <a:graphicFrameLocks noChangeAspect="1"/>
          </p:cNvGraphicFramePr>
          <p:nvPr>
            <p:ph idx="1"/>
          </p:nvPr>
        </p:nvGraphicFramePr>
        <p:xfrm>
          <a:off x="723583" y="1543685"/>
          <a:ext cx="3230245" cy="2187575"/>
        </p:xfrm>
        <a:graphic>
          <a:graphicData uri="http://schemas.openxmlformats.org/presentationml/2006/ole">
            <mc:AlternateContent xmlns:mc="http://schemas.openxmlformats.org/markup-compatibility/2006">
              <mc:Choice xmlns:v="urn:schemas-microsoft-com:vml" Requires="v">
                <p:oleObj spid="_x0000_s1026" name="" r:id="rId1" imgW="1587500" imgH="1346200" progId="Equation.KSEE3">
                  <p:embed/>
                </p:oleObj>
              </mc:Choice>
              <mc:Fallback>
                <p:oleObj name="" r:id="rId1" imgW="1587500" imgH="1346200" progId="Equation.KSEE3">
                  <p:embed/>
                  <p:pic>
                    <p:nvPicPr>
                      <p:cNvPr id="0" name="图片 1025"/>
                      <p:cNvPicPr/>
                      <p:nvPr/>
                    </p:nvPicPr>
                    <p:blipFill>
                      <a:blip r:embed="rId2"/>
                      <a:stretch>
                        <a:fillRect/>
                      </a:stretch>
                    </p:blipFill>
                    <p:spPr>
                      <a:xfrm>
                        <a:off x="723583" y="1543685"/>
                        <a:ext cx="3230245" cy="2187575"/>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
          <p:cNvSpPr>
            <a:spLocks noGrp="1" noRot="1"/>
          </p:cNvSpPr>
          <p:nvPr>
            <p:ph type="title"/>
          </p:nvPr>
        </p:nvSpPr>
        <p:spPr/>
        <p:txBody>
          <a:bodyPr anchor="ctr" anchorCtr="0"/>
          <a:p>
            <a:endParaRPr lang="zh-CN" altLang="en-US"/>
          </a:p>
        </p:txBody>
      </p:sp>
      <p:sp>
        <p:nvSpPr>
          <p:cNvPr id="11266" name="内容占位符 2"/>
          <p:cNvSpPr>
            <a:spLocks noGrp="1" noRot="1"/>
          </p:cNvSpPr>
          <p:nvPr>
            <p:ph idx="1"/>
          </p:nvPr>
        </p:nvSpPr>
        <p:spPr/>
        <p:txBody>
          <a:bodyPr anchor="t" anchorCtr="0"/>
          <a:p>
            <a:r>
              <a:rPr lang="zh-CN" altLang="en-US" sz="2800"/>
              <a:t>如果</a:t>
            </a:r>
            <a:r>
              <a:rPr lang="en-US" altLang="zh-CN" sz="2800"/>
              <a:t>U/c</a:t>
            </a:r>
            <a:r>
              <a:rPr lang="zh-CN" altLang="en-US" sz="2800"/>
              <a:t>中的各评判因素子集的权重分配为   ，则可得综合评判结果             </a:t>
            </a:r>
            <a:r>
              <a:rPr lang="en-US" altLang="zh-CN" sz="1800"/>
              <a:t>1-9</a:t>
            </a:r>
            <a:r>
              <a:rPr lang="zh-CN" altLang="en-US" sz="1800"/>
              <a:t>（    是一行</a:t>
            </a:r>
            <a:r>
              <a:rPr lang="en-US" altLang="zh-CN" sz="1800"/>
              <a:t>m</a:t>
            </a:r>
            <a:r>
              <a:rPr lang="zh-CN" altLang="en-US" sz="1800"/>
              <a:t>列，结果是一行</a:t>
            </a:r>
            <a:r>
              <a:rPr lang="en-US" altLang="zh-CN" sz="1800"/>
              <a:t>n</a:t>
            </a:r>
            <a:r>
              <a:rPr lang="zh-CN" altLang="en-US" sz="1800"/>
              <a:t>列）</a:t>
            </a:r>
            <a:endParaRPr lang="en-US" altLang="zh-CN" sz="1800"/>
          </a:p>
          <a:p>
            <a:r>
              <a:rPr lang="zh-CN" altLang="en-US" sz="2800"/>
              <a:t>在式</a:t>
            </a:r>
            <a:r>
              <a:rPr lang="en-US" altLang="zh-CN" sz="2800"/>
              <a:t>1-9</a:t>
            </a:r>
            <a:r>
              <a:rPr lang="zh-CN" altLang="en-US" sz="2800"/>
              <a:t>中</a:t>
            </a:r>
            <a:r>
              <a:rPr lang="en-US" altLang="zh-CN" sz="2800"/>
              <a:t>   </a:t>
            </a:r>
            <a:r>
              <a:rPr lang="zh-CN" altLang="en-US" sz="2800"/>
              <a:t> 既是对</a:t>
            </a:r>
            <a:r>
              <a:rPr lang="en-US" altLang="zh-CN" sz="2800"/>
              <a:t>u/c</a:t>
            </a:r>
            <a:r>
              <a:rPr lang="zh-CN" altLang="en-US" sz="2800"/>
              <a:t>的综合评判结果，也是对</a:t>
            </a:r>
            <a:r>
              <a:rPr lang="en-US" altLang="zh-CN" sz="2800"/>
              <a:t>U</a:t>
            </a:r>
            <a:r>
              <a:rPr lang="zh-CN" altLang="en-US" sz="2800"/>
              <a:t>中所有评判因素的综合评判结果。</a:t>
            </a:r>
            <a:endParaRPr lang="zh-CN" altLang="en-US" sz="2800"/>
          </a:p>
          <a:p>
            <a:r>
              <a:rPr lang="zh-CN" altLang="en-US" sz="2800"/>
              <a:t>若</a:t>
            </a:r>
            <a:r>
              <a:rPr lang="en-US" altLang="zh-CN" sz="2800">
                <a:sym typeface="+mn-ea"/>
              </a:rPr>
              <a:t>u/c</a:t>
            </a:r>
            <a:r>
              <a:rPr lang="zh-CN" altLang="en-US" sz="2800">
                <a:sym typeface="+mn-ea"/>
              </a:rPr>
              <a:t>中仍含有很多因素，则可以对它再进行划分，得到三级以至更多层的模糊综合评判模型。多层次的模糊综合评判模型，不仅可以反映评判因素的不同层次，而且避免了由于因素过多而难于分配权重的</a:t>
            </a:r>
            <a:endParaRPr lang="zh-CN" altLang="en-US" sz="2800">
              <a:sym typeface="+mn-ea"/>
            </a:endParaRPr>
          </a:p>
        </p:txBody>
      </p:sp>
      <p:graphicFrame>
        <p:nvGraphicFramePr>
          <p:cNvPr id="2" name="对象 1">
            <a:hlinkClick r:id="" action="ppaction://ole?verb="/>
          </p:cNvPr>
          <p:cNvGraphicFramePr>
            <a:graphicFrameLocks noChangeAspect="1"/>
          </p:cNvGraphicFramePr>
          <p:nvPr/>
        </p:nvGraphicFramePr>
        <p:xfrm>
          <a:off x="7334250" y="2038350"/>
          <a:ext cx="234950" cy="313055"/>
        </p:xfrm>
        <a:graphic>
          <a:graphicData uri="http://schemas.openxmlformats.org/presentationml/2006/ole">
            <mc:AlternateContent xmlns:mc="http://schemas.openxmlformats.org/markup-compatibility/2006">
              <mc:Choice xmlns:v="urn:schemas-microsoft-com:vml" Requires="v">
                <p:oleObj spid="_x0000_s2049" name="" r:id="rId1" imgW="152400" imgH="203200" progId="Equation.KSEE3">
                  <p:embed/>
                </p:oleObj>
              </mc:Choice>
              <mc:Fallback>
                <p:oleObj name="" r:id="rId1" imgW="152400" imgH="203200" progId="Equation.KSEE3">
                  <p:embed/>
                  <p:pic>
                    <p:nvPicPr>
                      <p:cNvPr id="0" name="图片 2048"/>
                      <p:cNvPicPr/>
                      <p:nvPr/>
                    </p:nvPicPr>
                    <p:blipFill>
                      <a:blip r:embed="rId2"/>
                      <a:stretch>
                        <a:fillRect/>
                      </a:stretch>
                    </p:blipFill>
                    <p:spPr>
                      <a:xfrm>
                        <a:off x="7334250" y="2038350"/>
                        <a:ext cx="234950" cy="31305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3410585" y="2529205"/>
          <a:ext cx="919480" cy="363855"/>
        </p:xfrm>
        <a:graphic>
          <a:graphicData uri="http://schemas.openxmlformats.org/presentationml/2006/ole">
            <mc:AlternateContent xmlns:mc="http://schemas.openxmlformats.org/markup-compatibility/2006">
              <mc:Choice xmlns:v="urn:schemas-microsoft-com:vml" Requires="v">
                <p:oleObj spid="_x0000_s2050" name="" r:id="rId3" imgW="545465" imgH="215900" progId="Equation.KSEE3">
                  <p:embed/>
                </p:oleObj>
              </mc:Choice>
              <mc:Fallback>
                <p:oleObj name="" r:id="rId3" imgW="545465" imgH="215900" progId="Equation.KSEE3">
                  <p:embed/>
                  <p:pic>
                    <p:nvPicPr>
                      <p:cNvPr id="0" name="图片 2049"/>
                      <p:cNvPicPr/>
                      <p:nvPr/>
                    </p:nvPicPr>
                    <p:blipFill>
                      <a:blip r:embed="rId4"/>
                      <a:stretch>
                        <a:fillRect/>
                      </a:stretch>
                    </p:blipFill>
                    <p:spPr>
                      <a:xfrm>
                        <a:off x="3410585" y="2529205"/>
                        <a:ext cx="919480" cy="36385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2241550" y="2959100"/>
          <a:ext cx="516255" cy="393700"/>
        </p:xfrm>
        <a:graphic>
          <a:graphicData uri="http://schemas.openxmlformats.org/presentationml/2006/ole">
            <mc:AlternateContent xmlns:mc="http://schemas.openxmlformats.org/markup-compatibility/2006">
              <mc:Choice xmlns:v="urn:schemas-microsoft-com:vml" Requires="v">
                <p:oleObj spid="_x0000_s2051" name="" r:id="rId5" imgW="152400" imgH="203200" progId="Equation.KSEE3">
                  <p:embed/>
                </p:oleObj>
              </mc:Choice>
              <mc:Fallback>
                <p:oleObj name="" r:id="rId5" imgW="152400" imgH="203200" progId="Equation.KSEE3">
                  <p:embed/>
                  <p:pic>
                    <p:nvPicPr>
                      <p:cNvPr id="0" name="图片 2050"/>
                      <p:cNvPicPr/>
                      <p:nvPr/>
                    </p:nvPicPr>
                    <p:blipFill>
                      <a:blip r:embed="rId6"/>
                      <a:stretch>
                        <a:fillRect/>
                      </a:stretch>
                    </p:blipFill>
                    <p:spPr>
                      <a:xfrm>
                        <a:off x="2241550" y="2959100"/>
                        <a:ext cx="516255" cy="39370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101590" y="2569845"/>
          <a:ext cx="234950" cy="313055"/>
        </p:xfrm>
        <a:graphic>
          <a:graphicData uri="http://schemas.openxmlformats.org/presentationml/2006/ole">
            <mc:AlternateContent xmlns:mc="http://schemas.openxmlformats.org/markup-compatibility/2006">
              <mc:Choice xmlns:v="urn:schemas-microsoft-com:vml" Requires="v">
                <p:oleObj spid="_x0000_s6" name="" r:id="rId7" imgW="152400" imgH="203200" progId="Equation.KSEE3">
                  <p:embed/>
                </p:oleObj>
              </mc:Choice>
              <mc:Fallback>
                <p:oleObj name="" r:id="rId7" imgW="152400" imgH="203200" progId="Equation.KSEE3">
                  <p:embed/>
                  <p:pic>
                    <p:nvPicPr>
                      <p:cNvPr id="0" name="图片 2048"/>
                      <p:cNvPicPr/>
                      <p:nvPr/>
                    </p:nvPicPr>
                    <p:blipFill>
                      <a:blip r:embed="rId2"/>
                      <a:stretch>
                        <a:fillRect/>
                      </a:stretch>
                    </p:blipFill>
                    <p:spPr>
                      <a:xfrm>
                        <a:off x="5101590" y="2569845"/>
                        <a:ext cx="234950" cy="313055"/>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0375" y="483235"/>
            <a:ext cx="8324850" cy="857250"/>
          </a:xfrm>
        </p:spPr>
        <p:txBody>
          <a:bodyPr/>
          <a:p>
            <a:r>
              <a:rPr lang="zh-CN" altLang="en-US" sz="2800">
                <a:sym typeface="+mn-ea"/>
              </a:rPr>
              <a:t>模糊综合评判应用实例</a:t>
            </a:r>
            <a:br>
              <a:rPr lang="zh-CN" altLang="en-US" sz="2800">
                <a:sym typeface="+mn-ea"/>
              </a:rPr>
            </a:br>
            <a:r>
              <a:rPr lang="en-US" altLang="zh-CN" sz="2800">
                <a:sym typeface="+mn-ea"/>
              </a:rPr>
              <a:t>----</a:t>
            </a:r>
            <a:r>
              <a:rPr lang="zh-CN" altLang="en-US" sz="2400">
                <a:solidFill>
                  <a:schemeClr val="tx1"/>
                </a:solidFill>
                <a:effectLst>
                  <a:outerShdw blurRad="38100" dist="19050" dir="2700000" algn="tl" rotWithShape="0">
                    <a:schemeClr val="dk1">
                      <a:alpha val="40000"/>
                    </a:schemeClr>
                  </a:outerShdw>
                </a:effectLst>
                <a:sym typeface="+mn-ea"/>
              </a:rPr>
              <a:t>农业生态经济系统功能综合评价模型</a:t>
            </a:r>
            <a:br>
              <a:rPr lang="zh-CN" altLang="en-US" sz="2400">
                <a:solidFill>
                  <a:schemeClr val="tx1"/>
                </a:solidFill>
                <a:effectLst>
                  <a:outerShdw blurRad="38100" dist="19050" dir="2700000" algn="tl" rotWithShape="0">
                    <a:schemeClr val="dk1">
                      <a:alpha val="40000"/>
                    </a:schemeClr>
                  </a:outerShdw>
                </a:effectLst>
              </a:rPr>
            </a:br>
            <a:endParaRPr lang="zh-CN" altLang="en-US" sz="2400">
              <a:solidFill>
                <a:schemeClr val="tx1"/>
              </a:solidFill>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292100" y="1219200"/>
            <a:ext cx="8553450" cy="4648200"/>
          </a:xfrm>
        </p:spPr>
        <p:txBody>
          <a:bodyPr/>
          <a:p>
            <a:r>
              <a:rPr lang="zh-CN" altLang="en-US" sz="2800"/>
              <a:t>农业生态经济系统，是一类多要素的复杂系统，其内部诸要素之间的相互作用关系及各要素对系统功能的影响的程度在量上是难以精确衡量的，即系统具有</a:t>
            </a:r>
            <a:r>
              <a:rPr lang="en-US" altLang="zh-CN" sz="2800"/>
              <a:t>“</a:t>
            </a:r>
            <a:r>
              <a:rPr lang="zh-CN" altLang="en-US" sz="2800"/>
              <a:t>模糊性</a:t>
            </a:r>
            <a:r>
              <a:rPr lang="en-US" altLang="zh-CN" sz="2800"/>
              <a:t>”</a:t>
            </a:r>
            <a:r>
              <a:rPr lang="zh-CN" altLang="en-US" sz="2800"/>
              <a:t>特征；其次，农业生态经济系统是一个包含着若干不同层次（或若干子系统）的复合系统，其系统功能从整体上来说是一种综合功能，具有</a:t>
            </a:r>
            <a:r>
              <a:rPr lang="en-US" altLang="zh-CN" sz="2800"/>
              <a:t>“</a:t>
            </a:r>
            <a:r>
              <a:rPr lang="zh-CN" altLang="en-US" sz="2800"/>
              <a:t>多属性</a:t>
            </a:r>
            <a:r>
              <a:rPr lang="en-US" altLang="zh-CN" sz="2800"/>
              <a:t>”</a:t>
            </a:r>
            <a:r>
              <a:rPr lang="zh-CN" altLang="en-US" sz="2800"/>
              <a:t>的特点。因此，农业生态经济系统功能评价是一种多属性或多准则评价问题。这就要求我们必须根据评价问题的性质、目标、要求等选择适宜的评价模型和方法。</a:t>
            </a:r>
            <a:endParaRPr lang="zh-CN" altLang="en-US" sz="2800"/>
          </a:p>
          <a:p>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800"/>
              <a:t>模糊综合评判为我们提供了一种有效的方法。</a:t>
            </a:r>
            <a:endParaRPr lang="zh-CN" altLang="en-US" sz="2800"/>
          </a:p>
          <a:p>
            <a:pPr marL="0" indent="0">
              <a:buNone/>
            </a:pPr>
            <a:r>
              <a:rPr lang="en-US" altLang="zh-CN"/>
              <a:t>1</a:t>
            </a:r>
            <a:r>
              <a:rPr lang="zh-CN" altLang="en-US"/>
              <a:t>）</a:t>
            </a:r>
            <a:endParaRPr lang="zh-CN" altLang="en-US" sz="2800"/>
          </a:p>
          <a:p>
            <a:r>
              <a:rPr lang="zh-CN" altLang="en-US" sz="2800"/>
              <a:t>评价要素指标体系的设置。评价要素指标体系的设置，是对农业生态经济系统功能进行综合评价的前提和基础。</a:t>
            </a:r>
            <a:endParaRPr lang="zh-CN" altLang="en-US" sz="2800"/>
          </a:p>
          <a:p>
            <a:r>
              <a:rPr lang="zh-CN" altLang="en-US" sz="2800"/>
              <a:t>指标体系设置得是否合理和准确，直接影响评价结果的科学性、可靠性和准确性。</a:t>
            </a:r>
            <a:endParaRPr lang="zh-CN" altLang="en-US" sz="2800"/>
          </a:p>
          <a:p>
            <a:r>
              <a:rPr lang="zh-CN" altLang="en-US" sz="2800"/>
              <a:t>农业生态经济系统功能综合评价的首要任务就是根</a:t>
            </a:r>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52475" y="-38100"/>
            <a:ext cx="8540750" cy="1143000"/>
          </a:xfrm>
        </p:spPr>
        <p:txBody>
          <a:bodyPr/>
          <a:p>
            <a:endParaRPr lang="zh-CN" altLang="en-US"/>
          </a:p>
        </p:txBody>
      </p:sp>
      <p:sp>
        <p:nvSpPr>
          <p:cNvPr id="3" name="内容占位符 2"/>
          <p:cNvSpPr>
            <a:spLocks noGrp="1"/>
          </p:cNvSpPr>
          <p:nvPr>
            <p:ph idx="1"/>
          </p:nvPr>
        </p:nvSpPr>
        <p:spPr>
          <a:xfrm>
            <a:off x="234950" y="1238250"/>
            <a:ext cx="8540750" cy="3886200"/>
          </a:xfrm>
        </p:spPr>
        <p:txBody>
          <a:bodyPr/>
          <a:p>
            <a:r>
              <a:rPr lang="zh-CN" altLang="en-US" sz="2800"/>
              <a:t>据评价对象的性质、评价目标以及评价决策要求等，建立能够全面、准确反映评价问题全貌的综合评价要素指标体系。</a:t>
            </a:r>
            <a:endParaRPr lang="zh-CN" altLang="en-US" sz="2800"/>
          </a:p>
          <a:p>
            <a:r>
              <a:rPr lang="zh-CN" altLang="en-US" sz="2800"/>
              <a:t>农业生态经济系统功能，主要由经济效益、生态效益和社会效益三方面来反映。而这三方面的效益又是由不同的要素来体现，每种要素都有表征其属性特征的指标。这些要素组合构成农业生态经济系统功能综合评价的指标体系（图</a:t>
            </a:r>
            <a:r>
              <a:rPr lang="en-US" altLang="zh-CN" sz="2800"/>
              <a:t>1.1</a:t>
            </a:r>
            <a:r>
              <a:rPr lang="zh-CN" altLang="en-US" sz="2800"/>
              <a:t>）</a:t>
            </a:r>
            <a:endParaRPr lang="zh-CN" alt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457200" lvl="1" indent="0">
              <a:buNone/>
            </a:pPr>
            <a:endParaRPr lang="zh-CN" altLang="en-US"/>
          </a:p>
        </p:txBody>
      </p:sp>
      <p:sp>
        <p:nvSpPr>
          <p:cNvPr id="4" name="矩形 3"/>
          <p:cNvSpPr/>
          <p:nvPr/>
        </p:nvSpPr>
        <p:spPr>
          <a:xfrm>
            <a:off x="1907540" y="2708910"/>
            <a:ext cx="4392930" cy="43180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农业生态经济系统功能综合评价</a:t>
            </a:r>
            <a:endParaRPr lang="zh-CN" altLang="en-US"/>
          </a:p>
        </p:txBody>
      </p:sp>
      <p:sp>
        <p:nvSpPr>
          <p:cNvPr id="5" name="矩形 4"/>
          <p:cNvSpPr/>
          <p:nvPr/>
        </p:nvSpPr>
        <p:spPr>
          <a:xfrm>
            <a:off x="905510" y="3644900"/>
            <a:ext cx="1860550" cy="3606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t>经济效益要素</a:t>
            </a:r>
            <a:r>
              <a:rPr lang="en-US" altLang="zh-CN" sz="1600"/>
              <a:t>U</a:t>
            </a:r>
            <a:r>
              <a:rPr lang="en-US" altLang="zh-CN" sz="1600" baseline="-25000"/>
              <a:t>1</a:t>
            </a:r>
            <a:endParaRPr lang="en-US" altLang="zh-CN" sz="1600" baseline="-25000"/>
          </a:p>
        </p:txBody>
      </p:sp>
      <p:sp>
        <p:nvSpPr>
          <p:cNvPr id="6" name="矩形 5"/>
          <p:cNvSpPr/>
          <p:nvPr/>
        </p:nvSpPr>
        <p:spPr>
          <a:xfrm>
            <a:off x="3143250" y="3644900"/>
            <a:ext cx="1860550" cy="35496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t>生态效益要素</a:t>
            </a:r>
            <a:r>
              <a:rPr lang="en-US" altLang="zh-CN" sz="1600"/>
              <a:t>U</a:t>
            </a:r>
            <a:r>
              <a:rPr lang="en-US" altLang="zh-CN" sz="1600" baseline="-25000"/>
              <a:t>2</a:t>
            </a:r>
            <a:endParaRPr lang="en-US" altLang="zh-CN" sz="1600" baseline="-25000"/>
          </a:p>
        </p:txBody>
      </p:sp>
      <p:sp>
        <p:nvSpPr>
          <p:cNvPr id="7" name="矩形 6"/>
          <p:cNvSpPr/>
          <p:nvPr/>
        </p:nvSpPr>
        <p:spPr>
          <a:xfrm>
            <a:off x="5588000" y="3644900"/>
            <a:ext cx="1860550" cy="35496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a:t>社会效益要素</a:t>
            </a:r>
            <a:r>
              <a:rPr lang="en-US" altLang="zh-CN" sz="1600"/>
              <a:t>U</a:t>
            </a:r>
            <a:r>
              <a:rPr lang="en-US" altLang="zh-CN" sz="1600" baseline="-25000"/>
              <a:t>3</a:t>
            </a:r>
            <a:endParaRPr lang="en-US" altLang="zh-CN" sz="1600" baseline="-25000"/>
          </a:p>
        </p:txBody>
      </p:sp>
      <p:sp>
        <p:nvSpPr>
          <p:cNvPr id="8" name="矩形 7"/>
          <p:cNvSpPr/>
          <p:nvPr/>
        </p:nvSpPr>
        <p:spPr>
          <a:xfrm>
            <a:off x="627380" y="4509135"/>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劳</a:t>
            </a:r>
            <a:endParaRPr lang="zh-CN" altLang="en-US" sz="1400"/>
          </a:p>
          <a:p>
            <a:pPr algn="ctr"/>
            <a:r>
              <a:rPr lang="zh-CN" altLang="en-US" sz="1400"/>
              <a:t>动</a:t>
            </a:r>
            <a:endParaRPr lang="zh-CN" altLang="en-US" sz="1400"/>
          </a:p>
          <a:p>
            <a:pPr algn="ctr"/>
            <a:r>
              <a:rPr lang="zh-CN" altLang="en-US" sz="1400"/>
              <a:t>生</a:t>
            </a:r>
            <a:endParaRPr lang="zh-CN" altLang="en-US" sz="1400"/>
          </a:p>
          <a:p>
            <a:pPr algn="ctr"/>
            <a:r>
              <a:rPr lang="zh-CN" altLang="en-US" sz="1400"/>
              <a:t>产</a:t>
            </a:r>
            <a:endParaRPr lang="zh-CN" altLang="en-US" sz="1400"/>
          </a:p>
          <a:p>
            <a:pPr algn="ctr"/>
            <a:r>
              <a:rPr lang="zh-CN" altLang="en-US" sz="1400"/>
              <a:t>率</a:t>
            </a:r>
            <a:endParaRPr lang="zh-CN" altLang="en-US" sz="1400"/>
          </a:p>
          <a:p>
            <a:pPr algn="ctr"/>
            <a:r>
              <a:rPr lang="en-US" altLang="zh-CN" sz="1000"/>
              <a:t>U</a:t>
            </a:r>
            <a:r>
              <a:rPr lang="en-US" altLang="zh-CN" sz="1000" baseline="-25000"/>
              <a:t>11</a:t>
            </a:r>
            <a:endParaRPr lang="en-US" altLang="zh-CN" sz="1000" baseline="-25000"/>
          </a:p>
        </p:txBody>
      </p:sp>
      <p:sp>
        <p:nvSpPr>
          <p:cNvPr id="9" name="矩形 8"/>
          <p:cNvSpPr/>
          <p:nvPr/>
        </p:nvSpPr>
        <p:spPr>
          <a:xfrm>
            <a:off x="1062355" y="4509135"/>
            <a:ext cx="457200" cy="151066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sym typeface="+mn-ea"/>
              </a:rPr>
              <a:t>资金产出率</a:t>
            </a:r>
            <a:r>
              <a:rPr lang="en-US" altLang="zh-CN" sz="1000">
                <a:sym typeface="+mn-ea"/>
              </a:rPr>
              <a:t>U</a:t>
            </a:r>
            <a:r>
              <a:rPr lang="en-US" altLang="zh-CN" sz="1000" baseline="-25000">
                <a:sym typeface="+mn-ea"/>
              </a:rPr>
              <a:t>12</a:t>
            </a:r>
            <a:endParaRPr lang="en-US" altLang="zh-CN" sz="1000" baseline="-25000">
              <a:sym typeface="+mn-ea"/>
            </a:endParaRPr>
          </a:p>
        </p:txBody>
      </p:sp>
      <p:cxnSp>
        <p:nvCxnSpPr>
          <p:cNvPr id="23" name="直接连接符 22"/>
          <p:cNvCxnSpPr/>
          <p:nvPr/>
        </p:nvCxnSpPr>
        <p:spPr>
          <a:xfrm flipH="1">
            <a:off x="1403350" y="3140710"/>
            <a:ext cx="2448560" cy="504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851910" y="3140710"/>
            <a:ext cx="0" cy="504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7" idx="0"/>
          </p:cNvCxnSpPr>
          <p:nvPr/>
        </p:nvCxnSpPr>
        <p:spPr>
          <a:xfrm>
            <a:off x="3892550" y="3127375"/>
            <a:ext cx="2625725" cy="517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619885" y="4004945"/>
            <a:ext cx="215900" cy="504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691640" y="4004945"/>
            <a:ext cx="848360" cy="50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11" idx="0"/>
          </p:cNvCxnSpPr>
          <p:nvPr/>
        </p:nvCxnSpPr>
        <p:spPr>
          <a:xfrm>
            <a:off x="1691640" y="4004945"/>
            <a:ext cx="484505" cy="50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455420" y="4004945"/>
            <a:ext cx="164465" cy="50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8" idx="0"/>
          </p:cNvCxnSpPr>
          <p:nvPr/>
        </p:nvCxnSpPr>
        <p:spPr>
          <a:xfrm flipH="1">
            <a:off x="845185" y="3999230"/>
            <a:ext cx="673100" cy="50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6" idx="2"/>
            <a:endCxn id="13" idx="0"/>
          </p:cNvCxnSpPr>
          <p:nvPr/>
        </p:nvCxnSpPr>
        <p:spPr>
          <a:xfrm flipH="1">
            <a:off x="3349625" y="3999865"/>
            <a:ext cx="723900" cy="553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4" idx="0"/>
          </p:cNvCxnSpPr>
          <p:nvPr/>
        </p:nvCxnSpPr>
        <p:spPr>
          <a:xfrm flipH="1">
            <a:off x="3711575" y="4004945"/>
            <a:ext cx="356235" cy="548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16" idx="0"/>
          </p:cNvCxnSpPr>
          <p:nvPr/>
        </p:nvCxnSpPr>
        <p:spPr>
          <a:xfrm>
            <a:off x="4073525" y="3999865"/>
            <a:ext cx="361950" cy="553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4067810" y="3999865"/>
            <a:ext cx="5715" cy="509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7" idx="0"/>
          </p:cNvCxnSpPr>
          <p:nvPr/>
        </p:nvCxnSpPr>
        <p:spPr>
          <a:xfrm>
            <a:off x="4073525" y="3999865"/>
            <a:ext cx="723900" cy="553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7" idx="2"/>
            <a:endCxn id="18" idx="0"/>
          </p:cNvCxnSpPr>
          <p:nvPr/>
        </p:nvCxnSpPr>
        <p:spPr>
          <a:xfrm flipH="1">
            <a:off x="5768975" y="3999865"/>
            <a:ext cx="749300" cy="514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endCxn id="19" idx="0"/>
          </p:cNvCxnSpPr>
          <p:nvPr/>
        </p:nvCxnSpPr>
        <p:spPr>
          <a:xfrm flipH="1">
            <a:off x="6130925" y="4004945"/>
            <a:ext cx="385445" cy="509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7" idx="2"/>
            <a:endCxn id="20" idx="0"/>
          </p:cNvCxnSpPr>
          <p:nvPr/>
        </p:nvCxnSpPr>
        <p:spPr>
          <a:xfrm flipH="1">
            <a:off x="6492875" y="3999865"/>
            <a:ext cx="25400" cy="514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7" idx="2"/>
            <a:endCxn id="21" idx="0"/>
          </p:cNvCxnSpPr>
          <p:nvPr/>
        </p:nvCxnSpPr>
        <p:spPr>
          <a:xfrm>
            <a:off x="6518275" y="3999865"/>
            <a:ext cx="336550" cy="514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88125" y="4004945"/>
            <a:ext cx="575945" cy="504190"/>
          </a:xfrm>
          <a:prstGeom prst="line">
            <a:avLst/>
          </a:prstGeom>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519555" y="450342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土地产出率</a:t>
            </a:r>
            <a:endParaRPr lang="zh-CN" altLang="en-US" sz="1400"/>
          </a:p>
          <a:p>
            <a:pPr algn="ctr"/>
            <a:r>
              <a:rPr lang="en-US" altLang="zh-CN" sz="1000"/>
              <a:t>U</a:t>
            </a:r>
            <a:r>
              <a:rPr lang="en-US" altLang="zh-CN" sz="1000" baseline="-25000"/>
              <a:t>13</a:t>
            </a:r>
            <a:endParaRPr lang="en-US" altLang="zh-CN" sz="1000" baseline="-25000"/>
          </a:p>
        </p:txBody>
      </p:sp>
      <p:sp>
        <p:nvSpPr>
          <p:cNvPr id="44" name="矩形 43"/>
          <p:cNvSpPr/>
          <p:nvPr/>
        </p:nvSpPr>
        <p:spPr>
          <a:xfrm>
            <a:off x="1954530" y="450342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投入</a:t>
            </a:r>
            <a:endParaRPr lang="zh-CN" altLang="en-US" sz="1400"/>
          </a:p>
          <a:p>
            <a:pPr algn="ctr"/>
            <a:r>
              <a:rPr lang="zh-CN" altLang="en-US" sz="1400"/>
              <a:t>产出</a:t>
            </a:r>
            <a:endParaRPr lang="zh-CN" altLang="en-US" sz="1400"/>
          </a:p>
          <a:p>
            <a:pPr algn="ctr"/>
            <a:r>
              <a:rPr lang="zh-CN" altLang="en-US" sz="1400"/>
              <a:t>比</a:t>
            </a:r>
            <a:endParaRPr lang="zh-CN" altLang="en-US" sz="1400"/>
          </a:p>
          <a:p>
            <a:pPr algn="ctr"/>
            <a:r>
              <a:rPr lang="en-US" altLang="zh-CN" sz="1000"/>
              <a:t>U</a:t>
            </a:r>
            <a:r>
              <a:rPr lang="en-US" altLang="zh-CN" sz="1000" baseline="-25000"/>
              <a:t>14</a:t>
            </a:r>
            <a:endParaRPr lang="en-US" altLang="zh-CN" sz="1000" baseline="-25000"/>
          </a:p>
        </p:txBody>
      </p:sp>
      <p:sp>
        <p:nvSpPr>
          <p:cNvPr id="45" name="矩形 44"/>
          <p:cNvSpPr/>
          <p:nvPr/>
        </p:nvSpPr>
        <p:spPr>
          <a:xfrm>
            <a:off x="2389505" y="451485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农业综合生产</a:t>
            </a:r>
            <a:endParaRPr lang="zh-CN" altLang="en-US" sz="1400"/>
          </a:p>
          <a:p>
            <a:pPr algn="ctr"/>
            <a:r>
              <a:rPr lang="zh-CN" altLang="en-US" sz="1400"/>
              <a:t>率</a:t>
            </a:r>
            <a:endParaRPr lang="zh-CN" altLang="en-US" sz="1400"/>
          </a:p>
          <a:p>
            <a:pPr algn="ctr"/>
            <a:r>
              <a:rPr lang="en-US" altLang="zh-CN" sz="1000"/>
              <a:t>U</a:t>
            </a:r>
            <a:r>
              <a:rPr lang="en-US" altLang="zh-CN" sz="1000" baseline="-25000"/>
              <a:t>15</a:t>
            </a:r>
            <a:endParaRPr lang="en-US" altLang="zh-CN" sz="1000" baseline="-25000"/>
          </a:p>
        </p:txBody>
      </p:sp>
      <p:sp>
        <p:nvSpPr>
          <p:cNvPr id="46" name="矩形 45"/>
          <p:cNvSpPr/>
          <p:nvPr/>
        </p:nvSpPr>
        <p:spPr>
          <a:xfrm>
            <a:off x="3050540" y="451485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系统稳定性</a:t>
            </a:r>
            <a:endParaRPr lang="zh-CN" altLang="en-US" sz="1400"/>
          </a:p>
          <a:p>
            <a:pPr algn="ctr"/>
            <a:r>
              <a:rPr lang="en-US" altLang="zh-CN" sz="1000"/>
              <a:t>U</a:t>
            </a:r>
            <a:r>
              <a:rPr lang="en-US" altLang="zh-CN" sz="1000" baseline="-25000"/>
              <a:t>21</a:t>
            </a:r>
            <a:endParaRPr lang="en-US" altLang="zh-CN" sz="1000" baseline="-25000"/>
          </a:p>
        </p:txBody>
      </p:sp>
      <p:sp>
        <p:nvSpPr>
          <p:cNvPr id="47" name="矩形 46"/>
          <p:cNvSpPr/>
          <p:nvPr/>
        </p:nvSpPr>
        <p:spPr>
          <a:xfrm>
            <a:off x="3485515" y="4509135"/>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水土流失状况</a:t>
            </a:r>
            <a:endParaRPr lang="zh-CN" altLang="en-US" sz="1400"/>
          </a:p>
          <a:p>
            <a:pPr algn="ctr"/>
            <a:r>
              <a:rPr lang="en-US" altLang="zh-CN" sz="1000"/>
              <a:t>U</a:t>
            </a:r>
            <a:r>
              <a:rPr lang="en-US" altLang="zh-CN" sz="1000" baseline="-25000"/>
              <a:t>22</a:t>
            </a:r>
            <a:endParaRPr lang="en-US" altLang="zh-CN" sz="1000" baseline="-25000"/>
          </a:p>
        </p:txBody>
      </p:sp>
      <p:sp>
        <p:nvSpPr>
          <p:cNvPr id="48" name="矩形 47"/>
          <p:cNvSpPr/>
          <p:nvPr/>
        </p:nvSpPr>
        <p:spPr>
          <a:xfrm>
            <a:off x="3920490" y="450342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200"/>
              <a:t>土壤肥料力状况</a:t>
            </a:r>
            <a:r>
              <a:rPr lang="en-US" altLang="zh-CN" sz="1000"/>
              <a:t>U</a:t>
            </a:r>
            <a:r>
              <a:rPr lang="en-US" altLang="zh-CN" sz="1000" baseline="-25000"/>
              <a:t>23</a:t>
            </a:r>
            <a:endParaRPr lang="en-US" altLang="zh-CN" sz="1000" baseline="-25000"/>
          </a:p>
        </p:txBody>
      </p:sp>
      <p:sp>
        <p:nvSpPr>
          <p:cNvPr id="49" name="矩形 48"/>
          <p:cNvSpPr/>
          <p:nvPr/>
        </p:nvSpPr>
        <p:spPr>
          <a:xfrm>
            <a:off x="4354195" y="4509135"/>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200">
                <a:sym typeface="+mn-ea"/>
              </a:rPr>
              <a:t>自然灾害发生率</a:t>
            </a:r>
            <a:r>
              <a:rPr lang="en-US" altLang="zh-CN" sz="1000"/>
              <a:t>U</a:t>
            </a:r>
            <a:r>
              <a:rPr lang="en-US" altLang="zh-CN" sz="1000" baseline="-25000"/>
              <a:t>24</a:t>
            </a:r>
            <a:endParaRPr lang="en-US" altLang="zh-CN" sz="1000" baseline="-25000"/>
          </a:p>
        </p:txBody>
      </p:sp>
      <p:sp>
        <p:nvSpPr>
          <p:cNvPr id="50" name="矩形 49"/>
          <p:cNvSpPr/>
          <p:nvPr/>
        </p:nvSpPr>
        <p:spPr>
          <a:xfrm>
            <a:off x="4797425" y="451485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200"/>
              <a:t>生态资源动态指数</a:t>
            </a:r>
            <a:endParaRPr lang="zh-CN" altLang="en-US" sz="1400"/>
          </a:p>
          <a:p>
            <a:pPr algn="ctr"/>
            <a:r>
              <a:rPr lang="en-US" altLang="zh-CN" sz="1000"/>
              <a:t>U</a:t>
            </a:r>
            <a:r>
              <a:rPr lang="en-US" altLang="zh-CN" sz="1000" baseline="-25000"/>
              <a:t>25</a:t>
            </a:r>
            <a:endParaRPr lang="en-US" altLang="zh-CN" sz="1000"/>
          </a:p>
        </p:txBody>
      </p:sp>
      <p:sp>
        <p:nvSpPr>
          <p:cNvPr id="51" name="矩形 50"/>
          <p:cNvSpPr/>
          <p:nvPr/>
        </p:nvSpPr>
        <p:spPr>
          <a:xfrm>
            <a:off x="5334000" y="4509135"/>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农产品商品率</a:t>
            </a:r>
            <a:r>
              <a:rPr lang="en-US" altLang="zh-CN" sz="1000"/>
              <a:t>U</a:t>
            </a:r>
            <a:r>
              <a:rPr lang="en-US" altLang="zh-CN" sz="1000" baseline="-25000"/>
              <a:t>31</a:t>
            </a:r>
            <a:endParaRPr lang="en-US" altLang="zh-CN" sz="1000" baseline="-25000"/>
          </a:p>
        </p:txBody>
      </p:sp>
      <p:sp>
        <p:nvSpPr>
          <p:cNvPr id="52" name="矩形 51"/>
          <p:cNvSpPr/>
          <p:nvPr/>
        </p:nvSpPr>
        <p:spPr>
          <a:xfrm>
            <a:off x="5768975" y="451485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sym typeface="+mn-ea"/>
              </a:rPr>
              <a:t>畜产品商品率</a:t>
            </a:r>
            <a:endParaRPr lang="zh-CN" altLang="en-US" sz="1400"/>
          </a:p>
          <a:p>
            <a:pPr algn="ctr"/>
            <a:r>
              <a:rPr lang="en-US" altLang="zh-CN" sz="1000"/>
              <a:t>U</a:t>
            </a:r>
            <a:r>
              <a:rPr lang="en-US" altLang="zh-CN" sz="1000" baseline="-25000"/>
              <a:t>32</a:t>
            </a:r>
            <a:endParaRPr lang="en-US" altLang="zh-CN" sz="1000" baseline="-25000"/>
          </a:p>
        </p:txBody>
      </p:sp>
      <p:sp>
        <p:nvSpPr>
          <p:cNvPr id="53" name="矩形 52"/>
          <p:cNvSpPr/>
          <p:nvPr/>
        </p:nvSpPr>
        <p:spPr>
          <a:xfrm>
            <a:off x="6203950" y="4503420"/>
            <a:ext cx="434975" cy="1516380"/>
          </a:xfrm>
          <a:prstGeom prst="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p>
            <a:pPr algn="ctr"/>
            <a:r>
              <a:rPr lang="zh-CN" altLang="en-US" sz="1200"/>
              <a:t>人均粮食占有量</a:t>
            </a:r>
            <a:r>
              <a:rPr lang="en-US" altLang="zh-CN" sz="1000"/>
              <a:t>U</a:t>
            </a:r>
            <a:r>
              <a:rPr lang="en-US" altLang="zh-CN" sz="1000" baseline="-25000"/>
              <a:t>33</a:t>
            </a:r>
            <a:endParaRPr lang="en-US" altLang="zh-CN" sz="1000" baseline="-25000"/>
          </a:p>
        </p:txBody>
      </p:sp>
      <p:sp>
        <p:nvSpPr>
          <p:cNvPr id="54" name="矩形 53"/>
          <p:cNvSpPr/>
          <p:nvPr/>
        </p:nvSpPr>
        <p:spPr>
          <a:xfrm>
            <a:off x="6658610" y="450342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000">
                <a:sym typeface="+mn-ea"/>
              </a:rPr>
              <a:t>人均畜产品占有量</a:t>
            </a:r>
            <a:r>
              <a:rPr lang="en-US" altLang="zh-CN" sz="1000"/>
              <a:t>U</a:t>
            </a:r>
            <a:r>
              <a:rPr lang="en-US" altLang="zh-CN" sz="1000" baseline="-25000"/>
              <a:t>34</a:t>
            </a:r>
            <a:endParaRPr lang="en-US" altLang="zh-CN" sz="1000" baseline="-25000"/>
          </a:p>
        </p:txBody>
      </p:sp>
      <p:sp>
        <p:nvSpPr>
          <p:cNvPr id="55" name="矩形 54"/>
          <p:cNvSpPr/>
          <p:nvPr/>
        </p:nvSpPr>
        <p:spPr>
          <a:xfrm>
            <a:off x="7073900" y="4503420"/>
            <a:ext cx="434975" cy="15163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1400"/>
              <a:t>农村人均纯收入</a:t>
            </a:r>
            <a:endParaRPr lang="zh-CN" altLang="en-US" sz="1400"/>
          </a:p>
          <a:p>
            <a:pPr algn="ctr"/>
            <a:r>
              <a:rPr lang="en-US" altLang="zh-CN" sz="1000"/>
              <a:t>U</a:t>
            </a:r>
            <a:r>
              <a:rPr lang="en-US" altLang="zh-CN" sz="1000" baseline="-25000"/>
              <a:t>35</a:t>
            </a:r>
            <a:endParaRPr lang="en-US" altLang="zh-CN" sz="1000" baseline="-25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400"/>
              <a:t>由图</a:t>
            </a:r>
            <a:r>
              <a:rPr lang="en-US" altLang="zh-CN" sz="2400"/>
              <a:t>1-1</a:t>
            </a:r>
            <a:r>
              <a:rPr lang="zh-CN" altLang="en-US" sz="2400"/>
              <a:t>可知，评价要素集合为</a:t>
            </a:r>
            <a:endParaRPr lang="zh-CN" altLang="en-US" sz="2400"/>
          </a:p>
          <a:p>
            <a:r>
              <a:rPr lang="en-US" altLang="zh-CN" sz="2400"/>
              <a:t>U={U</a:t>
            </a:r>
            <a:r>
              <a:rPr lang="en-US" altLang="zh-CN" sz="2400" baseline="-25000"/>
              <a:t>1</a:t>
            </a:r>
            <a:r>
              <a:rPr lang="en-US" altLang="zh-CN" sz="2400"/>
              <a:t>,U</a:t>
            </a:r>
            <a:r>
              <a:rPr lang="en-US" altLang="zh-CN" sz="2400" baseline="-25000"/>
              <a:t>2</a:t>
            </a:r>
            <a:r>
              <a:rPr lang="en-US" altLang="zh-CN" sz="2400"/>
              <a:t>,U</a:t>
            </a:r>
            <a:r>
              <a:rPr lang="en-US" altLang="zh-CN" sz="2400" baseline="-25000"/>
              <a:t>3</a:t>
            </a:r>
            <a:r>
              <a:rPr lang="en-US" altLang="zh-CN" sz="2400"/>
              <a:t>} </a:t>
            </a:r>
            <a:r>
              <a:rPr lang="zh-CN" altLang="en-US" sz="2400"/>
              <a:t>其中，各单要素子集</a:t>
            </a:r>
            <a:r>
              <a:rPr lang="en-US" altLang="zh-CN" sz="2400"/>
              <a:t>U</a:t>
            </a:r>
            <a:r>
              <a:rPr lang="en-US" altLang="zh-CN" sz="2400" baseline="-25000"/>
              <a:t>i</a:t>
            </a:r>
            <a:r>
              <a:rPr lang="en-US" altLang="zh-CN" sz="2400"/>
              <a:t>(i=1</a:t>
            </a:r>
            <a:r>
              <a:rPr lang="zh-CN" altLang="en-US" sz="2400"/>
              <a:t>，</a:t>
            </a:r>
            <a:r>
              <a:rPr lang="en-US" altLang="zh-CN" sz="2400"/>
              <a:t>2</a:t>
            </a:r>
            <a:r>
              <a:rPr lang="zh-CN" altLang="en-US" sz="2400"/>
              <a:t>，</a:t>
            </a:r>
            <a:r>
              <a:rPr lang="en-US" altLang="zh-CN" sz="2400"/>
              <a:t>3</a:t>
            </a:r>
            <a:r>
              <a:rPr lang="zh-CN" altLang="en-US" sz="2400"/>
              <a:t>）分别为</a:t>
            </a:r>
            <a:endParaRPr lang="zh-CN" altLang="en-US" sz="2400"/>
          </a:p>
          <a:p>
            <a:r>
              <a:rPr lang="en-US" altLang="zh-CN" sz="2400"/>
              <a:t>U</a:t>
            </a:r>
            <a:r>
              <a:rPr lang="en-US" altLang="zh-CN" sz="2400" baseline="-25000"/>
              <a:t>1</a:t>
            </a:r>
            <a:r>
              <a:rPr lang="en-US" altLang="zh-CN" sz="2400"/>
              <a:t>={u</a:t>
            </a:r>
            <a:r>
              <a:rPr lang="en-US" altLang="zh-CN" sz="2400" baseline="-25000"/>
              <a:t>11,</a:t>
            </a:r>
            <a:r>
              <a:rPr lang="en-US" altLang="zh-CN" sz="2400">
                <a:sym typeface="+mn-ea"/>
              </a:rPr>
              <a:t>u</a:t>
            </a:r>
            <a:r>
              <a:rPr lang="en-US" altLang="zh-CN" sz="2400" baseline="-25000">
                <a:sym typeface="+mn-ea"/>
              </a:rPr>
              <a:t>12,</a:t>
            </a:r>
            <a:r>
              <a:rPr lang="en-US" altLang="zh-CN" sz="2400">
                <a:sym typeface="+mn-ea"/>
              </a:rPr>
              <a:t>u</a:t>
            </a:r>
            <a:r>
              <a:rPr lang="en-US" altLang="zh-CN" sz="2400" baseline="-25000">
                <a:sym typeface="+mn-ea"/>
              </a:rPr>
              <a:t>13,</a:t>
            </a:r>
            <a:r>
              <a:rPr lang="en-US" altLang="zh-CN" sz="2400">
                <a:sym typeface="+mn-ea"/>
              </a:rPr>
              <a:t>u</a:t>
            </a:r>
            <a:r>
              <a:rPr lang="en-US" altLang="zh-CN" sz="2400" baseline="-25000">
                <a:sym typeface="+mn-ea"/>
              </a:rPr>
              <a:t>14,</a:t>
            </a:r>
            <a:r>
              <a:rPr lang="en-US" altLang="zh-CN" sz="2400">
                <a:sym typeface="+mn-ea"/>
              </a:rPr>
              <a:t>u</a:t>
            </a:r>
            <a:r>
              <a:rPr lang="en-US" altLang="zh-CN" sz="2400" baseline="-25000">
                <a:sym typeface="+mn-ea"/>
              </a:rPr>
              <a:t>15</a:t>
            </a:r>
            <a:r>
              <a:rPr lang="en-US" altLang="zh-CN" sz="2400">
                <a:sym typeface="+mn-ea"/>
              </a:rPr>
              <a:t>} </a:t>
            </a:r>
            <a:endParaRPr lang="en-US" altLang="zh-CN" sz="2400">
              <a:sym typeface="+mn-ea"/>
            </a:endParaRPr>
          </a:p>
          <a:p>
            <a:r>
              <a:rPr lang="en-US" altLang="zh-CN" sz="2400">
                <a:sym typeface="+mn-ea"/>
              </a:rPr>
              <a:t>U</a:t>
            </a:r>
            <a:r>
              <a:rPr lang="en-US" altLang="zh-CN" sz="2400" baseline="-25000">
                <a:sym typeface="+mn-ea"/>
              </a:rPr>
              <a:t>2</a:t>
            </a:r>
            <a:r>
              <a:rPr lang="en-US" altLang="zh-CN" sz="2400">
                <a:sym typeface="+mn-ea"/>
              </a:rPr>
              <a:t>={u</a:t>
            </a:r>
            <a:r>
              <a:rPr lang="en-US" altLang="zh-CN" sz="2400" baseline="-25000">
                <a:sym typeface="+mn-ea"/>
              </a:rPr>
              <a:t>21,</a:t>
            </a:r>
            <a:r>
              <a:rPr lang="en-US" altLang="zh-CN" sz="2400">
                <a:sym typeface="+mn-ea"/>
              </a:rPr>
              <a:t>u</a:t>
            </a:r>
            <a:r>
              <a:rPr lang="en-US" altLang="zh-CN" sz="2400" baseline="-25000">
                <a:sym typeface="+mn-ea"/>
              </a:rPr>
              <a:t>22,</a:t>
            </a:r>
            <a:r>
              <a:rPr lang="en-US" altLang="zh-CN" sz="2400">
                <a:sym typeface="+mn-ea"/>
              </a:rPr>
              <a:t>u</a:t>
            </a:r>
            <a:r>
              <a:rPr lang="en-US" altLang="zh-CN" sz="2400" baseline="-25000">
                <a:sym typeface="+mn-ea"/>
              </a:rPr>
              <a:t>23,</a:t>
            </a:r>
            <a:r>
              <a:rPr lang="en-US" altLang="zh-CN" sz="2400">
                <a:sym typeface="+mn-ea"/>
              </a:rPr>
              <a:t>u</a:t>
            </a:r>
            <a:r>
              <a:rPr lang="en-US" altLang="zh-CN" sz="2400" baseline="-25000">
                <a:sym typeface="+mn-ea"/>
              </a:rPr>
              <a:t>24,</a:t>
            </a:r>
            <a:r>
              <a:rPr lang="en-US" altLang="zh-CN" sz="2400">
                <a:sym typeface="+mn-ea"/>
              </a:rPr>
              <a:t>u</a:t>
            </a:r>
            <a:r>
              <a:rPr lang="en-US" altLang="zh-CN" sz="2400" baseline="-25000">
                <a:sym typeface="+mn-ea"/>
              </a:rPr>
              <a:t>25</a:t>
            </a:r>
            <a:r>
              <a:rPr lang="en-US" altLang="zh-CN" sz="2400">
                <a:sym typeface="+mn-ea"/>
              </a:rPr>
              <a:t>}  </a:t>
            </a:r>
            <a:endParaRPr lang="en-US" altLang="zh-CN" sz="2400"/>
          </a:p>
          <a:p>
            <a:r>
              <a:rPr lang="en-US" altLang="zh-CN" sz="2400">
                <a:sym typeface="+mn-ea"/>
              </a:rPr>
              <a:t>U</a:t>
            </a:r>
            <a:r>
              <a:rPr lang="en-US" altLang="zh-CN" sz="2400" baseline="-25000">
                <a:sym typeface="+mn-ea"/>
              </a:rPr>
              <a:t>3</a:t>
            </a:r>
            <a:r>
              <a:rPr lang="en-US" altLang="zh-CN" sz="2400">
                <a:sym typeface="+mn-ea"/>
              </a:rPr>
              <a:t>={u</a:t>
            </a:r>
            <a:r>
              <a:rPr lang="en-US" altLang="zh-CN" sz="2400" baseline="-25000">
                <a:sym typeface="+mn-ea"/>
              </a:rPr>
              <a:t>31,</a:t>
            </a:r>
            <a:r>
              <a:rPr lang="en-US" altLang="zh-CN" sz="2400">
                <a:sym typeface="+mn-ea"/>
              </a:rPr>
              <a:t>u</a:t>
            </a:r>
            <a:r>
              <a:rPr lang="en-US" altLang="zh-CN" sz="2400" baseline="-25000">
                <a:sym typeface="+mn-ea"/>
              </a:rPr>
              <a:t>32,</a:t>
            </a:r>
            <a:r>
              <a:rPr lang="en-US" altLang="zh-CN" sz="2400">
                <a:sym typeface="+mn-ea"/>
              </a:rPr>
              <a:t>u</a:t>
            </a:r>
            <a:r>
              <a:rPr lang="en-US" altLang="zh-CN" sz="2400" baseline="-25000">
                <a:sym typeface="+mn-ea"/>
              </a:rPr>
              <a:t>33,</a:t>
            </a:r>
            <a:r>
              <a:rPr lang="en-US" altLang="zh-CN" sz="2400">
                <a:sym typeface="+mn-ea"/>
              </a:rPr>
              <a:t>u</a:t>
            </a:r>
            <a:r>
              <a:rPr lang="en-US" altLang="zh-CN" sz="2400" baseline="-25000">
                <a:sym typeface="+mn-ea"/>
              </a:rPr>
              <a:t>34,</a:t>
            </a:r>
            <a:r>
              <a:rPr lang="en-US" altLang="zh-CN" sz="2400">
                <a:sym typeface="+mn-ea"/>
              </a:rPr>
              <a:t>u</a:t>
            </a:r>
            <a:r>
              <a:rPr lang="en-US" altLang="zh-CN" sz="2400" baseline="-25000">
                <a:sym typeface="+mn-ea"/>
              </a:rPr>
              <a:t>35</a:t>
            </a:r>
            <a:r>
              <a:rPr lang="en-US" altLang="zh-CN" sz="2400">
                <a:sym typeface="+mn-ea"/>
              </a:rPr>
              <a:t>}   </a:t>
            </a:r>
            <a:endParaRPr lang="en-US" altLang="zh-CN" sz="2400">
              <a:sym typeface="+mn-ea"/>
            </a:endParaRPr>
          </a:p>
          <a:p>
            <a:pPr marL="0" indent="0">
              <a:buNone/>
            </a:pPr>
            <a:r>
              <a:rPr lang="en-US" altLang="zh-CN"/>
              <a:t>2)</a:t>
            </a:r>
            <a:r>
              <a:rPr lang="zh-CN" altLang="en-US" sz="2400"/>
              <a:t>评语集合的确定。根据评价决策的实际需要，将评判等级标准分为</a:t>
            </a:r>
            <a:r>
              <a:rPr lang="en-US" altLang="zh-CN" sz="2400"/>
              <a:t>“</a:t>
            </a:r>
            <a:r>
              <a:rPr lang="zh-CN" altLang="en-US" sz="2400"/>
              <a:t>好</a:t>
            </a:r>
            <a:r>
              <a:rPr lang="en-US" altLang="zh-CN" sz="2400"/>
              <a:t>”</a:t>
            </a:r>
            <a:r>
              <a:rPr lang="zh-CN" altLang="en-US" sz="2400"/>
              <a:t>、</a:t>
            </a:r>
            <a:r>
              <a:rPr lang="en-US" altLang="zh-CN" sz="2400"/>
              <a:t>“</a:t>
            </a:r>
            <a:r>
              <a:rPr lang="zh-CN" altLang="en-US" sz="2400"/>
              <a:t>较好</a:t>
            </a:r>
            <a:r>
              <a:rPr lang="en-US" altLang="zh-CN" sz="2400"/>
              <a:t>”</a:t>
            </a:r>
            <a:r>
              <a:rPr lang="zh-CN" altLang="en-US" sz="2400"/>
              <a:t>、</a:t>
            </a:r>
            <a:r>
              <a:rPr lang="en-US" altLang="zh-CN" sz="2400"/>
              <a:t>“</a:t>
            </a:r>
            <a:r>
              <a:rPr lang="zh-CN" altLang="en-US" sz="2400"/>
              <a:t>一般</a:t>
            </a:r>
            <a:r>
              <a:rPr lang="en-US" altLang="zh-CN" sz="2400"/>
              <a:t>”</a:t>
            </a:r>
            <a:r>
              <a:rPr lang="zh-CN" altLang="en-US" sz="2400"/>
              <a:t>、</a:t>
            </a:r>
            <a:r>
              <a:rPr lang="en-US" altLang="zh-CN" sz="2400"/>
              <a:t>“</a:t>
            </a:r>
            <a:r>
              <a:rPr lang="zh-CN" altLang="en-US" sz="2400"/>
              <a:t>较差</a:t>
            </a:r>
            <a:r>
              <a:rPr lang="en-US" altLang="zh-CN" sz="2400"/>
              <a:t>”</a:t>
            </a:r>
            <a:r>
              <a:rPr lang="zh-CN" altLang="en-US" sz="2400"/>
              <a:t>和</a:t>
            </a:r>
            <a:r>
              <a:rPr lang="en-US" altLang="zh-CN" sz="2400"/>
              <a:t>“</a:t>
            </a:r>
            <a:r>
              <a:rPr lang="zh-CN" altLang="en-US" sz="2400"/>
              <a:t>差</a:t>
            </a:r>
            <a:r>
              <a:rPr lang="en-US" altLang="zh-CN" sz="2400"/>
              <a:t>”</a:t>
            </a:r>
            <a:r>
              <a:rPr lang="zh-CN" altLang="en-US" sz="2400"/>
              <a:t>五个等级。即评语集合为：</a:t>
            </a:r>
            <a:r>
              <a:rPr lang="en-US" altLang="zh-CN" sz="2400"/>
              <a:t>V={v1,v2,v3,v4,v5}={</a:t>
            </a:r>
            <a:r>
              <a:rPr lang="zh-CN" altLang="en-US" sz="2400"/>
              <a:t>好，较好，一般，较差，差</a:t>
            </a:r>
            <a:r>
              <a:rPr lang="en-US" altLang="zh-CN" sz="2400"/>
              <a:t>}</a:t>
            </a:r>
            <a:endParaRPr lang="en-US" altLang="zh-CN" sz="2400"/>
          </a:p>
          <a:p>
            <a:pPr marL="0" indent="0">
              <a:buNone/>
            </a:pPr>
            <a:endParaRPr lang="en-US" altLang="zh-CN" sz="2400" baseline="-25000"/>
          </a:p>
          <a:p>
            <a:endParaRPr lang="en-US" altLang="zh-CN" sz="2400" baseline="-25000"/>
          </a:p>
          <a:p>
            <a:pPr marL="0" indent="0">
              <a:buNone/>
            </a:pPr>
            <a:endParaRPr lang="en-US" altLang="zh-CN" sz="2400" baseline="-25000"/>
          </a:p>
          <a:p>
            <a:endParaRPr lang="en-US" altLang="zh-CN" sz="2400" baseline="-25000"/>
          </a:p>
          <a:p>
            <a:endParaRPr lang="en-US" altLang="zh-CN" sz="2400" baseline="-25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3</a:t>
            </a:r>
            <a:r>
              <a:rPr lang="zh-CN" altLang="en-US"/>
              <a:t>）</a:t>
            </a:r>
            <a:r>
              <a:rPr lang="zh-CN" altLang="en-US" sz="2800"/>
              <a:t>评价要素权重子集的确定。在农业生态经济系统功能综合评价指标体系中，由于下层指标对上层某一指标的相对重要程度并非一样，即一些指标的影响程度要大于或超过另一些指标。因此为了衡量下层各指标对上层指标的重要性，需要确定评价指标的权重系数。常见的权重系数方法有：</a:t>
            </a:r>
            <a:endParaRPr lang="zh-CN" altLang="en-US" sz="2800"/>
          </a:p>
          <a:p>
            <a:pPr>
              <a:buFont typeface="Wingdings" panose="05000000000000000000" charset="0"/>
              <a:buChar char="u"/>
            </a:pPr>
            <a:r>
              <a:rPr lang="zh-CN" altLang="en-US" sz="2800"/>
              <a:t>主观经验判断法</a:t>
            </a:r>
            <a:endParaRPr lang="zh-CN" altLang="en-US" sz="2800"/>
          </a:p>
          <a:p>
            <a:pPr>
              <a:buFont typeface="Wingdings" panose="05000000000000000000" charset="0"/>
              <a:buChar char="u"/>
            </a:pPr>
            <a:r>
              <a:rPr lang="zh-CN" altLang="en-US" sz="2800"/>
              <a:t>专家调查法或者专家征询法</a:t>
            </a:r>
            <a:endParaRPr lang="zh-CN" altLang="en-US" sz="2800"/>
          </a:p>
          <a:p>
            <a:pPr>
              <a:buFont typeface="Wingdings" panose="05000000000000000000" charset="0"/>
              <a:buChar char="u"/>
            </a:pPr>
            <a:endParaRPr lang="zh-CN" altLang="en-US" sz="2800"/>
          </a:p>
          <a:p>
            <a:pPr>
              <a:buFont typeface="Wingdings" panose="05000000000000000000" charset="0"/>
              <a:buChar char="u"/>
            </a:pPr>
            <a:endParaRPr lang="zh-CN" altLang="en-US" sz="2800"/>
          </a:p>
          <a:p>
            <a:endParaRPr lang="zh-CN"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a:buFont typeface="Wingdings" panose="05000000000000000000" charset="0"/>
              <a:buChar char="u"/>
            </a:pPr>
            <a:r>
              <a:rPr lang="zh-CN" altLang="en-US" sz="2800"/>
              <a:t>评判专家小组集体讨论表决法</a:t>
            </a:r>
            <a:endParaRPr lang="zh-CN" altLang="en-US" sz="2800"/>
          </a:p>
          <a:p>
            <a:pPr>
              <a:buFont typeface="Wingdings" panose="05000000000000000000" charset="0"/>
              <a:buChar char="u"/>
            </a:pPr>
            <a:r>
              <a:rPr lang="zh-CN" altLang="en-US" sz="2800"/>
              <a:t>层次分析法。为了保证确定权重系数的客观性、公正性和科学性，常常可将上述几种方法结合起来使用。以下采用主观经验判断法和专家征询相结合的方法确定各级评价要素指标体系的权重系数子集。</a:t>
            </a:r>
            <a:endParaRPr lang="zh-CN" altLang="en-US" sz="2800"/>
          </a:p>
          <a:p>
            <a:pPr>
              <a:buFont typeface="Wingdings" panose="05000000000000000000" charset="0"/>
              <a:buChar char="u"/>
            </a:pPr>
            <a:r>
              <a:rPr lang="zh-CN" altLang="en-US" sz="2800"/>
              <a:t>各子集权重（一级权重）为</a:t>
            </a:r>
            <a:endParaRPr lang="zh-CN" altLang="en-US" sz="2800"/>
          </a:p>
          <a:p>
            <a:pPr>
              <a:buFont typeface="Wingdings" panose="05000000000000000000" charset="0"/>
              <a:buChar char="u"/>
            </a:pPr>
            <a:r>
              <a:rPr lang="zh-CN" altLang="en-US" sz="2800"/>
              <a:t>各子集中</a:t>
            </a:r>
            <a:r>
              <a:rPr lang="en-US" altLang="zh-CN" sz="2800"/>
              <a:t>U</a:t>
            </a:r>
            <a:r>
              <a:rPr lang="en-US" altLang="zh-CN" sz="2800" baseline="-25000"/>
              <a:t>i</a:t>
            </a:r>
            <a:r>
              <a:rPr lang="en-US" altLang="zh-CN" sz="2800"/>
              <a:t>(i=1,2,3)</a:t>
            </a:r>
            <a:r>
              <a:rPr lang="zh-CN" altLang="en-US" sz="2800"/>
              <a:t>诸要素的权重（二级权重）分别为</a:t>
            </a:r>
            <a:endParaRPr lang="zh-CN" altLang="en-US" sz="2800"/>
          </a:p>
        </p:txBody>
      </p:sp>
      <p:graphicFrame>
        <p:nvGraphicFramePr>
          <p:cNvPr id="4" name="对象 3">
            <a:hlinkClick r:id="" action="ppaction://ole?verb="/>
          </p:cNvPr>
          <p:cNvGraphicFramePr>
            <a:graphicFrameLocks noChangeAspect="1"/>
          </p:cNvGraphicFramePr>
          <p:nvPr/>
        </p:nvGraphicFramePr>
        <p:xfrm>
          <a:off x="5103495" y="4291965"/>
          <a:ext cx="1500505" cy="422910"/>
        </p:xfrm>
        <a:graphic>
          <a:graphicData uri="http://schemas.openxmlformats.org/presentationml/2006/ole">
            <mc:AlternateContent xmlns:mc="http://schemas.openxmlformats.org/markup-compatibility/2006">
              <mc:Choice xmlns:v="urn:schemas-microsoft-com:vml" Requires="v">
                <p:oleObj spid="_x0000_s1025" name="" r:id="rId1" imgW="901700" imgH="254000" progId="Equation.KSEE3">
                  <p:embed/>
                </p:oleObj>
              </mc:Choice>
              <mc:Fallback>
                <p:oleObj name="" r:id="rId1" imgW="901700" imgH="254000" progId="Equation.KSEE3">
                  <p:embed/>
                  <p:pic>
                    <p:nvPicPr>
                      <p:cNvPr id="0" name="图片 1024"/>
                      <p:cNvPicPr/>
                      <p:nvPr/>
                    </p:nvPicPr>
                    <p:blipFill>
                      <a:blip r:embed="rId2"/>
                      <a:stretch>
                        <a:fillRect/>
                      </a:stretch>
                    </p:blipFill>
                    <p:spPr>
                      <a:xfrm>
                        <a:off x="5103495" y="4291965"/>
                        <a:ext cx="1500505" cy="42291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1625" y="685800"/>
            <a:ext cx="8540750" cy="737870"/>
          </a:xfrm>
        </p:spPr>
        <p:txBody>
          <a:bodyPr/>
          <a:p>
            <a:endParaRPr lang="zh-CN" altLang="en-US"/>
          </a:p>
        </p:txBody>
      </p:sp>
      <p:graphicFrame>
        <p:nvGraphicFramePr>
          <p:cNvPr id="4" name="内容占位符 3">
            <a:hlinkClick r:id="" action="ppaction://ole?verb="/>
          </p:cNvPr>
          <p:cNvGraphicFramePr>
            <a:graphicFrameLocks noChangeAspect="1"/>
          </p:cNvGraphicFramePr>
          <p:nvPr>
            <p:ph idx="1"/>
          </p:nvPr>
        </p:nvGraphicFramePr>
        <p:xfrm>
          <a:off x="502920" y="1423670"/>
          <a:ext cx="4260850" cy="2078990"/>
        </p:xfrm>
        <a:graphic>
          <a:graphicData uri="http://schemas.openxmlformats.org/presentationml/2006/ole">
            <mc:AlternateContent xmlns:mc="http://schemas.openxmlformats.org/markup-compatibility/2006">
              <mc:Choice xmlns:v="urn:schemas-microsoft-com:vml" Requires="v">
                <p:oleObj spid="_x0000_s2049" name="" r:id="rId1" imgW="1562100" imgH="762000" progId="Equation.KSEE3">
                  <p:embed/>
                </p:oleObj>
              </mc:Choice>
              <mc:Fallback>
                <p:oleObj name="" r:id="rId1" imgW="1562100" imgH="762000" progId="Equation.KSEE3">
                  <p:embed/>
                  <p:pic>
                    <p:nvPicPr>
                      <p:cNvPr id="0" name="图片 2048"/>
                      <p:cNvPicPr/>
                      <p:nvPr/>
                    </p:nvPicPr>
                    <p:blipFill>
                      <a:blip r:embed="rId2"/>
                      <a:stretch>
                        <a:fillRect/>
                      </a:stretch>
                    </p:blipFill>
                    <p:spPr>
                      <a:xfrm>
                        <a:off x="502920" y="1423670"/>
                        <a:ext cx="4260850" cy="2078990"/>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4</a:t>
            </a:r>
            <a:r>
              <a:rPr lang="zh-CN" altLang="en-US"/>
              <a:t>）</a:t>
            </a:r>
            <a:r>
              <a:rPr lang="zh-CN" altLang="en-US" sz="2800"/>
              <a:t>评语的实施。就是根据对评判对象</a:t>
            </a:r>
            <a:r>
              <a:rPr lang="en-US" altLang="zh-CN" sz="2800"/>
              <a:t>---</a:t>
            </a:r>
            <a:r>
              <a:rPr lang="zh-CN" altLang="en-US" sz="2800"/>
              <a:t>农业生态经济系统的各种实际调查访问材料、各种试验与研究数据，采用模糊数学和精确数学方法对各个评价指标进行定量估算，然后由评判专家小组每一个成员根据已确定的评价等级标准依次对各个指标进行评价。假定评判专家小组有</a:t>
            </a:r>
            <a:r>
              <a:rPr lang="en-US" altLang="zh-CN" sz="2800"/>
              <a:t>20</a:t>
            </a:r>
            <a:r>
              <a:rPr lang="zh-CN" altLang="en-US" sz="2800"/>
              <a:t>名成员，其中有</a:t>
            </a:r>
            <a:r>
              <a:rPr lang="en-US" altLang="zh-CN" sz="2800"/>
              <a:t>7</a:t>
            </a:r>
            <a:r>
              <a:rPr lang="zh-CN" altLang="en-US" sz="2800"/>
              <a:t>名对系统生态效益功能的评价指标之一</a:t>
            </a:r>
            <a:r>
              <a:rPr lang="en-US" altLang="zh-CN" sz="2800"/>
              <a:t>“</a:t>
            </a:r>
            <a:r>
              <a:rPr lang="zh-CN" altLang="en-US" sz="2800"/>
              <a:t>水土流失</a:t>
            </a:r>
            <a:r>
              <a:rPr lang="en-US" altLang="zh-CN" sz="2800"/>
              <a:t>u</a:t>
            </a:r>
            <a:r>
              <a:rPr lang="en-US" altLang="zh-CN" sz="2800" baseline="-25000"/>
              <a:t>22</a:t>
            </a:r>
            <a:r>
              <a:rPr lang="en-US" altLang="zh-CN" sz="2800"/>
              <a:t>”</a:t>
            </a:r>
            <a:r>
              <a:rPr lang="zh-CN" altLang="en-US" sz="2800"/>
              <a:t>同意较好（</a:t>
            </a:r>
            <a:r>
              <a:rPr lang="en-US" altLang="zh-CN" sz="2800"/>
              <a:t>v</a:t>
            </a:r>
            <a:r>
              <a:rPr lang="en-US" altLang="zh-CN" sz="2800" baseline="-25000"/>
              <a:t>2</a:t>
            </a:r>
            <a:r>
              <a:rPr lang="en-US" altLang="zh-CN" sz="2800"/>
              <a:t>)”</a:t>
            </a:r>
            <a:r>
              <a:rPr lang="zh-CN" altLang="en-US" sz="2800"/>
              <a:t>的评价等级，即持同意意见的专家占专家小组总人数的</a:t>
            </a:r>
            <a:r>
              <a:rPr lang="en-US" altLang="zh-CN" sz="2800"/>
              <a:t>7/20</a:t>
            </a:r>
            <a:r>
              <a:rPr lang="zh-CN" altLang="en-US" sz="2800"/>
              <a:t>，因此该指标的评价值就是</a:t>
            </a:r>
            <a:endParaRPr lang="zh-CN" alt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46735" y="685800"/>
            <a:ext cx="8295640" cy="721360"/>
          </a:xfrm>
        </p:spPr>
        <p:txBody>
          <a:bodyPr/>
          <a:p>
            <a:endParaRPr lang="zh-CN" altLang="en-US"/>
          </a:p>
        </p:txBody>
      </p:sp>
      <p:sp>
        <p:nvSpPr>
          <p:cNvPr id="3" name="内容占位符 2"/>
          <p:cNvSpPr>
            <a:spLocks noGrp="1"/>
          </p:cNvSpPr>
          <p:nvPr>
            <p:ph idx="1"/>
          </p:nvPr>
        </p:nvSpPr>
        <p:spPr>
          <a:xfrm>
            <a:off x="245745" y="1651635"/>
            <a:ext cx="8599805" cy="4215765"/>
          </a:xfrm>
        </p:spPr>
        <p:txBody>
          <a:bodyPr/>
          <a:p>
            <a:r>
              <a:rPr lang="en-US" altLang="zh-CN" sz="2800"/>
              <a:t>0.35.</a:t>
            </a:r>
            <a:r>
              <a:rPr lang="zh-CN" altLang="en-US" sz="2800"/>
              <a:t>以此类推，可分别得出各子集</a:t>
            </a:r>
            <a:r>
              <a:rPr lang="en-US" altLang="zh-CN" sz="2800"/>
              <a:t>U</a:t>
            </a:r>
            <a:r>
              <a:rPr lang="en-US" altLang="zh-CN" sz="2800" baseline="-25000"/>
              <a:t>i</a:t>
            </a:r>
            <a:r>
              <a:rPr lang="en-US" altLang="zh-CN" sz="2800"/>
              <a:t>(i=1,2,3)</a:t>
            </a:r>
            <a:r>
              <a:rPr lang="zh-CN" altLang="en-US" sz="2800"/>
              <a:t>中单要素的评价决策矩阵</a:t>
            </a:r>
            <a:r>
              <a:rPr lang="en-US" altLang="zh-CN" sz="2800"/>
              <a:t>R</a:t>
            </a:r>
            <a:r>
              <a:rPr lang="en-US" altLang="zh-CN" sz="2800" baseline="-25000"/>
              <a:t>i</a:t>
            </a:r>
            <a:r>
              <a:rPr lang="en-US" altLang="zh-CN" sz="2800"/>
              <a:t>(i=1,2,3)</a:t>
            </a:r>
            <a:r>
              <a:rPr lang="zh-CN" altLang="en-US" sz="2800"/>
              <a:t>为</a:t>
            </a:r>
            <a:endParaRPr lang="zh-CN" altLang="en-US" sz="2800"/>
          </a:p>
        </p:txBody>
      </p:sp>
      <p:graphicFrame>
        <p:nvGraphicFramePr>
          <p:cNvPr id="4" name="对象 3">
            <a:hlinkClick r:id="" action="ppaction://ole?verb="/>
          </p:cNvPr>
          <p:cNvGraphicFramePr>
            <a:graphicFrameLocks noChangeAspect="1"/>
          </p:cNvGraphicFramePr>
          <p:nvPr/>
        </p:nvGraphicFramePr>
        <p:xfrm>
          <a:off x="1900555" y="2844800"/>
          <a:ext cx="5123180" cy="2755265"/>
        </p:xfrm>
        <a:graphic>
          <a:graphicData uri="http://schemas.openxmlformats.org/presentationml/2006/ole">
            <mc:AlternateContent xmlns:mc="http://schemas.openxmlformats.org/markup-compatibility/2006">
              <mc:Choice xmlns:v="urn:schemas-microsoft-com:vml" Requires="v">
                <p:oleObj spid="_x0000_s3073" name="" r:id="rId1" imgW="1943100" imgH="1168400" progId="Equation.KSEE3">
                  <p:embed/>
                </p:oleObj>
              </mc:Choice>
              <mc:Fallback>
                <p:oleObj name="" r:id="rId1" imgW="1943100" imgH="1168400" progId="Equation.KSEE3">
                  <p:embed/>
                  <p:pic>
                    <p:nvPicPr>
                      <p:cNvPr id="0" name="图片 3072"/>
                      <p:cNvPicPr/>
                      <p:nvPr/>
                    </p:nvPicPr>
                    <p:blipFill>
                      <a:blip r:embed="rId2"/>
                      <a:stretch>
                        <a:fillRect/>
                      </a:stretch>
                    </p:blipFill>
                    <p:spPr>
                      <a:xfrm>
                        <a:off x="1900555" y="2844800"/>
                        <a:ext cx="5123180" cy="2755265"/>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graphicFrame>
        <p:nvGraphicFramePr>
          <p:cNvPr id="6" name="内容占位符 5">
            <a:hlinkClick r:id="" action="ppaction://ole?verb="/>
          </p:cNvPr>
          <p:cNvGraphicFramePr>
            <a:graphicFrameLocks noChangeAspect="1"/>
          </p:cNvGraphicFramePr>
          <p:nvPr>
            <p:ph idx="1"/>
          </p:nvPr>
        </p:nvGraphicFramePr>
        <p:xfrm>
          <a:off x="4117340" y="3815715"/>
          <a:ext cx="914400" cy="215900"/>
        </p:xfrm>
        <a:graphic>
          <a:graphicData uri="http://schemas.openxmlformats.org/presentationml/2006/ole">
            <mc:AlternateContent xmlns:mc="http://schemas.openxmlformats.org/markup-compatibility/2006">
              <mc:Choice xmlns:v="urn:schemas-microsoft-com:vml" Requires="v">
                <p:oleObj spid="_x0000_s4098" name="" r:id="rId1" imgW="914400" imgH="215900" progId="Equation.KSEE3">
                  <p:embed/>
                </p:oleObj>
              </mc:Choice>
              <mc:Fallback>
                <p:oleObj name="" r:id="rId1" imgW="914400" imgH="215900" progId="Equation.KSEE3">
                  <p:embed/>
                  <p:pic>
                    <p:nvPicPr>
                      <p:cNvPr id="0" name="图片 4097"/>
                      <p:cNvPicPr/>
                      <p:nvPr/>
                    </p:nvPicPr>
                    <p:blipFill>
                      <a:blip r:embed="rId2"/>
                      <a:stretch>
                        <a:fillRect/>
                      </a:stretch>
                    </p:blipFill>
                    <p:spPr>
                      <a:xfrm>
                        <a:off x="4117340" y="3815715"/>
                        <a:ext cx="914400" cy="215900"/>
                      </a:xfrm>
                      <a:prstGeom prst="rect">
                        <a:avLst/>
                      </a:prstGeom>
                    </p:spPr>
                  </p:pic>
                </p:oleObj>
              </mc:Fallback>
            </mc:AlternateContent>
          </a:graphicData>
        </a:graphic>
      </p:graphicFrame>
      <p:graphicFrame>
        <p:nvGraphicFramePr>
          <p:cNvPr id="7" name="对象 6"/>
          <p:cNvGraphicFramePr/>
          <p:nvPr/>
        </p:nvGraphicFramePr>
        <p:xfrm>
          <a:off x="301625" y="2142490"/>
          <a:ext cx="7995285" cy="2839720"/>
        </p:xfrm>
        <a:graphic>
          <a:graphicData uri="http://schemas.openxmlformats.org/presentationml/2006/ole">
            <mc:AlternateContent xmlns:mc="http://schemas.openxmlformats.org/markup-compatibility/2006">
              <mc:Choice xmlns:v="urn:schemas-microsoft-com:vml" Requires="v">
                <p:oleObj spid="_x0000_s8" name="" r:id="rId3" imgW="4680585" imgH="2213610" progId="Equation.KSEE3">
                  <p:embed/>
                </p:oleObj>
              </mc:Choice>
              <mc:Fallback>
                <p:oleObj name="" r:id="rId3" imgW="4680585" imgH="2213610" progId="Equation.KSEE3">
                  <p:embed/>
                  <p:pic>
                    <p:nvPicPr>
                      <p:cNvPr id="0" name="图片 7"/>
                      <p:cNvPicPr/>
                      <p:nvPr/>
                    </p:nvPicPr>
                    <p:blipFill>
                      <a:blip r:embed="rId4"/>
                      <a:stretch>
                        <a:fillRect/>
                      </a:stretch>
                    </p:blipFill>
                    <p:spPr>
                      <a:xfrm>
                        <a:off x="301625" y="2142490"/>
                        <a:ext cx="7995285" cy="2839720"/>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04800" y="1981200"/>
            <a:ext cx="8540750" cy="4540250"/>
          </a:xfrm>
        </p:spPr>
        <p:txBody>
          <a:bodyPr/>
          <a:p>
            <a:r>
              <a:rPr lang="zh-CN" altLang="en-US" sz="2800"/>
              <a:t>由各单要素的权重系数向量    和评价决策矩阵</a:t>
            </a:r>
            <a:r>
              <a:rPr lang="en-US" altLang="zh-CN" sz="2800"/>
              <a:t>R</a:t>
            </a:r>
            <a:r>
              <a:rPr lang="en-US" altLang="zh-CN" sz="2800" baseline="-25000"/>
              <a:t>i</a:t>
            </a:r>
            <a:r>
              <a:rPr lang="zh-CN" altLang="en-US" sz="2800" baseline="-25000"/>
              <a:t>，</a:t>
            </a:r>
            <a:r>
              <a:rPr lang="zh-CN" altLang="en-US" sz="2800"/>
              <a:t>经过合成运算即可得到：</a:t>
            </a:r>
            <a:endParaRPr lang="zh-CN" altLang="en-US" sz="2800"/>
          </a:p>
          <a:p>
            <a:endParaRPr lang="zh-CN" altLang="en-US" sz="2800"/>
          </a:p>
          <a:p>
            <a:pPr marL="0" indent="0">
              <a:buNone/>
            </a:pPr>
            <a:r>
              <a:rPr lang="zh-CN" altLang="en-US" sz="2800"/>
              <a:t>基于单要素模糊综合评判结果，可以得到</a:t>
            </a:r>
            <a:r>
              <a:rPr lang="en-US" altLang="zh-CN" sz="2800"/>
              <a:t>U</a:t>
            </a:r>
            <a:r>
              <a:rPr lang="zh-CN" altLang="en-US" sz="2800"/>
              <a:t>中各子集得综合评价决策矩阵</a:t>
            </a:r>
            <a:endParaRPr lang="zh-CN" altLang="en-US" sz="2800"/>
          </a:p>
          <a:p>
            <a:pPr marL="0" indent="0">
              <a:buNone/>
            </a:pPr>
            <a:r>
              <a:rPr lang="zh-CN" altLang="en-US" sz="2800"/>
              <a:t>                                         </a:t>
            </a:r>
            <a:endParaRPr lang="zh-CN" altLang="en-US" sz="2800"/>
          </a:p>
          <a:p>
            <a:pPr marL="0" indent="0">
              <a:buNone/>
            </a:pPr>
            <a:r>
              <a:rPr lang="zh-CN" altLang="en-US" sz="2800"/>
              <a:t>再由</a:t>
            </a:r>
            <a:r>
              <a:rPr lang="en-US" altLang="zh-CN" sz="2800"/>
              <a:t>U</a:t>
            </a:r>
            <a:r>
              <a:rPr lang="zh-CN" altLang="en-US" sz="2800"/>
              <a:t>的各子集的权重系数向量   和综合评价决策矩阵</a:t>
            </a:r>
            <a:r>
              <a:rPr lang="en-US" altLang="zh-CN" sz="2800"/>
              <a:t>R</a:t>
            </a:r>
            <a:r>
              <a:rPr lang="zh-CN" altLang="en-US" sz="2800"/>
              <a:t>，经过合成运算，即得出对农业生态经济系统功能的模糊综合评价结果</a:t>
            </a:r>
            <a:endParaRPr lang="zh-CN" altLang="en-US" sz="2800"/>
          </a:p>
        </p:txBody>
      </p:sp>
      <p:graphicFrame>
        <p:nvGraphicFramePr>
          <p:cNvPr id="4" name="对象 3">
            <a:hlinkClick r:id="" action="ppaction://ole?verb="/>
          </p:cNvPr>
          <p:cNvGraphicFramePr>
            <a:graphicFrameLocks noChangeAspect="1"/>
          </p:cNvGraphicFramePr>
          <p:nvPr/>
        </p:nvGraphicFramePr>
        <p:xfrm>
          <a:off x="5125720" y="2063750"/>
          <a:ext cx="207010" cy="318770"/>
        </p:xfrm>
        <a:graphic>
          <a:graphicData uri="http://schemas.openxmlformats.org/presentationml/2006/ole">
            <mc:AlternateContent xmlns:mc="http://schemas.openxmlformats.org/markup-compatibility/2006">
              <mc:Choice xmlns:v="urn:schemas-microsoft-com:vml" Requires="v">
                <p:oleObj spid="_x0000_s5121" name="" r:id="rId1" imgW="165100" imgH="254000" progId="Equation.KSEE3">
                  <p:embed/>
                </p:oleObj>
              </mc:Choice>
              <mc:Fallback>
                <p:oleObj name="" r:id="rId1" imgW="165100" imgH="254000" progId="Equation.KSEE3">
                  <p:embed/>
                  <p:pic>
                    <p:nvPicPr>
                      <p:cNvPr id="0" name="图片 5120"/>
                      <p:cNvPicPr/>
                      <p:nvPr/>
                    </p:nvPicPr>
                    <p:blipFill>
                      <a:blip r:embed="rId2"/>
                      <a:stretch>
                        <a:fillRect/>
                      </a:stretch>
                    </p:blipFill>
                    <p:spPr>
                      <a:xfrm>
                        <a:off x="5125720" y="2063750"/>
                        <a:ext cx="207010" cy="31877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842645" y="2974340"/>
          <a:ext cx="2171700" cy="254000"/>
        </p:xfrm>
        <a:graphic>
          <a:graphicData uri="http://schemas.openxmlformats.org/presentationml/2006/ole">
            <mc:AlternateContent xmlns:mc="http://schemas.openxmlformats.org/markup-compatibility/2006">
              <mc:Choice xmlns:v="urn:schemas-microsoft-com:vml" Requires="v">
                <p:oleObj spid="_x0000_s5122" name="" r:id="rId3" imgW="2171700" imgH="254000" progId="Equation.KSEE3">
                  <p:embed/>
                </p:oleObj>
              </mc:Choice>
              <mc:Fallback>
                <p:oleObj name="" r:id="rId3" imgW="2171700" imgH="254000" progId="Equation.KSEE3">
                  <p:embed/>
                  <p:pic>
                    <p:nvPicPr>
                      <p:cNvPr id="0" name="图片 5121"/>
                      <p:cNvPicPr/>
                      <p:nvPr/>
                    </p:nvPicPr>
                    <p:blipFill>
                      <a:blip r:embed="rId4"/>
                      <a:stretch>
                        <a:fillRect/>
                      </a:stretch>
                    </p:blipFill>
                    <p:spPr>
                      <a:xfrm>
                        <a:off x="842645" y="2974340"/>
                        <a:ext cx="2171700" cy="25400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3750945" y="3997325"/>
          <a:ext cx="2955925" cy="1124585"/>
        </p:xfrm>
        <a:graphic>
          <a:graphicData uri="http://schemas.openxmlformats.org/presentationml/2006/ole">
            <mc:AlternateContent xmlns:mc="http://schemas.openxmlformats.org/markup-compatibility/2006">
              <mc:Choice xmlns:v="urn:schemas-microsoft-com:vml" Requires="v">
                <p:oleObj spid="_x0000_s5124" name="" r:id="rId5" imgW="1688465" imgH="1041400" progId="Equation.KSEE3">
                  <p:embed/>
                </p:oleObj>
              </mc:Choice>
              <mc:Fallback>
                <p:oleObj name="" r:id="rId5" imgW="1688465" imgH="1041400" progId="Equation.KSEE3">
                  <p:embed/>
                  <p:pic>
                    <p:nvPicPr>
                      <p:cNvPr id="0" name="图片 5123"/>
                      <p:cNvPicPr/>
                      <p:nvPr/>
                    </p:nvPicPr>
                    <p:blipFill>
                      <a:blip r:embed="rId6"/>
                      <a:stretch>
                        <a:fillRect/>
                      </a:stretch>
                    </p:blipFill>
                    <p:spPr>
                      <a:xfrm>
                        <a:off x="3750945" y="3997325"/>
                        <a:ext cx="2955925" cy="112458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5332730" y="5041900"/>
          <a:ext cx="200025" cy="266700"/>
        </p:xfrm>
        <a:graphic>
          <a:graphicData uri="http://schemas.openxmlformats.org/presentationml/2006/ole">
            <mc:AlternateContent xmlns:mc="http://schemas.openxmlformats.org/markup-compatibility/2006">
              <mc:Choice xmlns:v="urn:schemas-microsoft-com:vml" Requires="v">
                <p:oleObj spid="_x0000_s5125" name="" r:id="rId7" imgW="152400" imgH="203200" progId="Equation.KSEE3">
                  <p:embed/>
                </p:oleObj>
              </mc:Choice>
              <mc:Fallback>
                <p:oleObj name="" r:id="rId7" imgW="152400" imgH="203200" progId="Equation.KSEE3">
                  <p:embed/>
                  <p:pic>
                    <p:nvPicPr>
                      <p:cNvPr id="0" name="图片 5124"/>
                      <p:cNvPicPr/>
                      <p:nvPr/>
                    </p:nvPicPr>
                    <p:blipFill>
                      <a:blip r:embed="rId8"/>
                      <a:stretch>
                        <a:fillRect/>
                      </a:stretch>
                    </p:blipFill>
                    <p:spPr>
                      <a:xfrm>
                        <a:off x="5332730" y="5041900"/>
                        <a:ext cx="200025" cy="26670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1625" y="685800"/>
            <a:ext cx="8540750" cy="506095"/>
          </a:xfrm>
        </p:spPr>
        <p:txBody>
          <a:bodyPr/>
          <a:p>
            <a:pPr algn="l"/>
            <a:br>
              <a:rPr lang="zh-CN" altLang="en-US"/>
            </a:br>
            <a:br>
              <a:rPr lang="zh-CN" altLang="en-US"/>
            </a:br>
            <a:br>
              <a:rPr lang="zh-CN" altLang="en-US"/>
            </a:br>
            <a:br>
              <a:rPr lang="zh-CN" altLang="en-US"/>
            </a:br>
            <a:br>
              <a:rPr lang="zh-CN" altLang="en-US"/>
            </a:br>
            <a:br>
              <a:rPr lang="zh-CN" altLang="en-US"/>
            </a:br>
            <a:br>
              <a:rPr lang="zh-CN" altLang="en-US"/>
            </a:br>
            <a:r>
              <a:rPr lang="en-US" altLang="zh-CN" sz="2800"/>
              <a:t>5</a:t>
            </a:r>
            <a:r>
              <a:rPr lang="zh-CN" altLang="en-US" sz="2800"/>
              <a:t>）评价实例计算。对于某农业生态经济系统，经评判专家小组测评结果，分别得各子集</a:t>
            </a:r>
            <a:r>
              <a:rPr lang="en-US" altLang="zh-CN" sz="2800"/>
              <a:t>U</a:t>
            </a:r>
            <a:r>
              <a:rPr lang="en-US" altLang="zh-CN" sz="2800" baseline="-25000"/>
              <a:t>i</a:t>
            </a:r>
            <a:r>
              <a:rPr lang="zh-CN" altLang="en-US" sz="2800"/>
              <a:t>（</a:t>
            </a:r>
            <a:r>
              <a:rPr lang="en-US" altLang="zh-CN" sz="2800"/>
              <a:t>i=1</a:t>
            </a:r>
            <a:r>
              <a:rPr lang="zh-CN" altLang="en-US" sz="2800"/>
              <a:t>，</a:t>
            </a:r>
            <a:r>
              <a:rPr lang="en-US" altLang="zh-CN" sz="2800"/>
              <a:t>2</a:t>
            </a:r>
            <a:r>
              <a:rPr lang="zh-CN" altLang="en-US" sz="2800"/>
              <a:t>，</a:t>
            </a:r>
            <a:r>
              <a:rPr lang="en-US" altLang="zh-CN" sz="2800"/>
              <a:t>3</a:t>
            </a:r>
            <a:r>
              <a:rPr lang="zh-CN" altLang="en-US" sz="2800"/>
              <a:t>）</a:t>
            </a:r>
            <a:br>
              <a:rPr lang="zh-CN" altLang="en-US" sz="2800"/>
            </a:br>
            <a:r>
              <a:rPr lang="zh-CN" altLang="en-US" sz="2800"/>
              <a:t>中诸要素的评价决策矩阵</a:t>
            </a:r>
            <a:br>
              <a:rPr lang="zh-CN" altLang="en-US" sz="2800"/>
            </a:br>
            <a:br>
              <a:rPr lang="zh-CN" altLang="en-US"/>
            </a:br>
            <a:br>
              <a:rPr lang="zh-CN" altLang="en-US"/>
            </a:br>
            <a:endParaRPr lang="zh-CN" altLang="en-US"/>
          </a:p>
        </p:txBody>
      </p:sp>
      <p:graphicFrame>
        <p:nvGraphicFramePr>
          <p:cNvPr id="5" name="内容占位符 4">
            <a:hlinkClick r:id="" action="ppaction://ole?verb="/>
          </p:cNvPr>
          <p:cNvGraphicFramePr>
            <a:graphicFrameLocks noChangeAspect="1"/>
          </p:cNvGraphicFramePr>
          <p:nvPr>
            <p:ph idx="1"/>
          </p:nvPr>
        </p:nvGraphicFramePr>
        <p:xfrm>
          <a:off x="1033145" y="554355"/>
          <a:ext cx="4170045" cy="1139825"/>
        </p:xfrm>
        <a:graphic>
          <a:graphicData uri="http://schemas.openxmlformats.org/presentationml/2006/ole">
            <mc:AlternateContent xmlns:mc="http://schemas.openxmlformats.org/markup-compatibility/2006">
              <mc:Choice xmlns:v="urn:schemas-microsoft-com:vml" Requires="v">
                <p:oleObj spid="_x0000_s6146" name="" r:id="rId1" imgW="2667000" imgH="812800" progId="Equation.KSEE3">
                  <p:embed/>
                </p:oleObj>
              </mc:Choice>
              <mc:Fallback>
                <p:oleObj name="" r:id="rId1" imgW="2667000" imgH="812800" progId="Equation.KSEE3">
                  <p:embed/>
                  <p:pic>
                    <p:nvPicPr>
                      <p:cNvPr id="0" name="图片 6145"/>
                      <p:cNvPicPr/>
                      <p:nvPr/>
                    </p:nvPicPr>
                    <p:blipFill>
                      <a:blip r:embed="rId2"/>
                      <a:stretch>
                        <a:fillRect/>
                      </a:stretch>
                    </p:blipFill>
                    <p:spPr>
                      <a:xfrm>
                        <a:off x="1033145" y="554355"/>
                        <a:ext cx="4170045" cy="1139825"/>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2488565" y="3470910"/>
          <a:ext cx="4622165" cy="2281555"/>
        </p:xfrm>
        <a:graphic>
          <a:graphicData uri="http://schemas.openxmlformats.org/presentationml/2006/ole">
            <mc:AlternateContent xmlns:mc="http://schemas.openxmlformats.org/markup-compatibility/2006">
              <mc:Choice xmlns:v="urn:schemas-microsoft-com:vml" Requires="v">
                <p:oleObj spid="_x0000_s7170" name="" r:id="rId3" imgW="1803400" imgH="1168400" progId="Equation.KSEE3">
                  <p:embed/>
                </p:oleObj>
              </mc:Choice>
              <mc:Fallback>
                <p:oleObj name="" r:id="rId3" imgW="1803400" imgH="1168400" progId="Equation.KSEE3">
                  <p:embed/>
                  <p:pic>
                    <p:nvPicPr>
                      <p:cNvPr id="0" name="图片 7169"/>
                      <p:cNvPicPr/>
                      <p:nvPr/>
                    </p:nvPicPr>
                    <p:blipFill>
                      <a:blip r:embed="rId4"/>
                      <a:stretch>
                        <a:fillRect/>
                      </a:stretch>
                    </p:blipFill>
                    <p:spPr>
                      <a:xfrm>
                        <a:off x="2488565" y="3470910"/>
                        <a:ext cx="4622165" cy="2281555"/>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17220" y="483870"/>
            <a:ext cx="8225155" cy="469265"/>
          </a:xfrm>
        </p:spPr>
        <p:txBody>
          <a:bodyPr/>
          <a:p>
            <a:pPr algn="l"/>
            <a:br>
              <a:rPr lang="zh-CN" altLang="en-US"/>
            </a:br>
            <a:br>
              <a:rPr lang="zh-CN" altLang="en-US"/>
            </a:br>
            <a:br>
              <a:rPr lang="zh-CN" altLang="en-US"/>
            </a:br>
            <a:br>
              <a:rPr lang="zh-CN" altLang="en-US"/>
            </a:br>
            <a:br>
              <a:rPr lang="zh-CN" altLang="en-US"/>
            </a:br>
            <a:br>
              <a:rPr lang="zh-CN" altLang="en-US"/>
            </a:br>
            <a:br>
              <a:rPr lang="zh-CN" altLang="en-US"/>
            </a:br>
            <a:br>
              <a:rPr lang="zh-CN" altLang="en-US"/>
            </a:br>
            <a:br>
              <a:rPr lang="zh-CN" altLang="en-US"/>
            </a:br>
            <a:br>
              <a:rPr lang="zh-CN" altLang="en-US"/>
            </a:br>
            <a:br>
              <a:rPr lang="zh-CN" altLang="en-US"/>
            </a:br>
            <a:r>
              <a:rPr lang="zh-CN" altLang="en-US" sz="2800"/>
              <a:t>采用主观经验判断法和专家征询法相结合，可得</a:t>
            </a:r>
            <a:br>
              <a:rPr lang="zh-CN" altLang="en-US" sz="2800"/>
            </a:br>
            <a:br>
              <a:rPr lang="zh-CN" altLang="en-US" sz="2800"/>
            </a:br>
            <a:endParaRPr lang="zh-CN" altLang="en-US" sz="2800"/>
          </a:p>
        </p:txBody>
      </p:sp>
      <p:graphicFrame>
        <p:nvGraphicFramePr>
          <p:cNvPr id="8" name="内容占位符 7">
            <a:hlinkClick r:id="" action="ppaction://ole?verb="/>
          </p:cNvPr>
          <p:cNvGraphicFramePr>
            <a:graphicFrameLocks noChangeAspect="1"/>
          </p:cNvGraphicFramePr>
          <p:nvPr>
            <p:ph idx="1"/>
          </p:nvPr>
        </p:nvGraphicFramePr>
        <p:xfrm>
          <a:off x="1258570" y="1019810"/>
          <a:ext cx="3851910" cy="2378075"/>
        </p:xfrm>
        <a:graphic>
          <a:graphicData uri="http://schemas.openxmlformats.org/presentationml/2006/ole">
            <mc:AlternateContent xmlns:mc="http://schemas.openxmlformats.org/markup-compatibility/2006">
              <mc:Choice xmlns:v="urn:schemas-microsoft-com:vml" Requires="v">
                <p:oleObj spid="_x0000_s7171" name="" r:id="rId1" imgW="1816100" imgH="2336800" progId="Equation.KSEE3">
                  <p:embed/>
                </p:oleObj>
              </mc:Choice>
              <mc:Fallback>
                <p:oleObj name="" r:id="rId1" imgW="1816100" imgH="2336800" progId="Equation.KSEE3">
                  <p:embed/>
                  <p:pic>
                    <p:nvPicPr>
                      <p:cNvPr id="0" name="图片 7170"/>
                      <p:cNvPicPr/>
                      <p:nvPr/>
                    </p:nvPicPr>
                    <p:blipFill>
                      <a:blip r:embed="rId2"/>
                      <a:stretch>
                        <a:fillRect/>
                      </a:stretch>
                    </p:blipFill>
                    <p:spPr>
                      <a:xfrm>
                        <a:off x="1258570" y="1019810"/>
                        <a:ext cx="3851910" cy="237807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945515" y="4420870"/>
          <a:ext cx="2562225" cy="1188085"/>
        </p:xfrm>
        <a:graphic>
          <a:graphicData uri="http://schemas.openxmlformats.org/presentationml/2006/ole">
            <mc:AlternateContent xmlns:mc="http://schemas.openxmlformats.org/markup-compatibility/2006">
              <mc:Choice xmlns:v="urn:schemas-microsoft-com:vml" Requires="v">
                <p:oleObj spid="_x0000_s7172" name="" r:id="rId3" imgW="1752600" imgH="1016000" progId="Equation.KSEE3">
                  <p:embed/>
                </p:oleObj>
              </mc:Choice>
              <mc:Fallback>
                <p:oleObj name="" r:id="rId3" imgW="1752600" imgH="1016000" progId="Equation.KSEE3">
                  <p:embed/>
                  <p:pic>
                    <p:nvPicPr>
                      <p:cNvPr id="0" name="图片 7171"/>
                      <p:cNvPicPr/>
                      <p:nvPr/>
                    </p:nvPicPr>
                    <p:blipFill>
                      <a:blip r:embed="rId4"/>
                      <a:stretch>
                        <a:fillRect/>
                      </a:stretch>
                    </p:blipFill>
                    <p:spPr>
                      <a:xfrm>
                        <a:off x="945515" y="4420870"/>
                        <a:ext cx="2562225" cy="1188085"/>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1625" y="685800"/>
            <a:ext cx="8540750" cy="321945"/>
          </a:xfrm>
        </p:spPr>
        <p:txBody>
          <a:bodyPr/>
          <a:p>
            <a:endParaRPr lang="zh-CN" altLang="en-US"/>
          </a:p>
        </p:txBody>
      </p:sp>
      <p:sp>
        <p:nvSpPr>
          <p:cNvPr id="3" name="内容占位符 2"/>
          <p:cNvSpPr>
            <a:spLocks noGrp="1"/>
          </p:cNvSpPr>
          <p:nvPr>
            <p:ph idx="1"/>
          </p:nvPr>
        </p:nvSpPr>
        <p:spPr>
          <a:xfrm>
            <a:off x="203200" y="1057910"/>
            <a:ext cx="8642350" cy="4809490"/>
          </a:xfrm>
        </p:spPr>
        <p:txBody>
          <a:bodyPr/>
          <a:p>
            <a:r>
              <a:rPr lang="zh-CN" altLang="en-US" sz="2800"/>
              <a:t>采用普通矩阵乘法，经过合成运算，得各子集</a:t>
            </a:r>
            <a:r>
              <a:rPr lang="en-US" altLang="zh-CN" sz="2800"/>
              <a:t>U</a:t>
            </a:r>
            <a:r>
              <a:rPr lang="en-US" altLang="zh-CN" sz="2800" baseline="-25000"/>
              <a:t>i</a:t>
            </a:r>
            <a:r>
              <a:rPr lang="zh-CN" altLang="en-US" sz="2800"/>
              <a:t>（</a:t>
            </a:r>
            <a:r>
              <a:rPr lang="en-US" altLang="zh-CN" sz="2800"/>
              <a:t>i</a:t>
            </a:r>
            <a:r>
              <a:rPr lang="zh-CN" altLang="en-US" sz="2800"/>
              <a:t>，</a:t>
            </a:r>
            <a:r>
              <a:rPr lang="en-US" altLang="zh-CN" sz="2800"/>
              <a:t>2</a:t>
            </a:r>
            <a:r>
              <a:rPr lang="zh-CN" altLang="en-US" sz="2800"/>
              <a:t>，</a:t>
            </a:r>
            <a:r>
              <a:rPr lang="en-US" altLang="zh-CN" sz="2800"/>
              <a:t>3</a:t>
            </a:r>
            <a:r>
              <a:rPr lang="zh-CN" altLang="en-US" sz="2800"/>
              <a:t>）的综合评判结果分别为</a:t>
            </a:r>
            <a:endParaRPr lang="zh-CN" altLang="en-US" sz="2800"/>
          </a:p>
          <a:p>
            <a:endParaRPr lang="zh-CN" altLang="en-US" sz="2800"/>
          </a:p>
          <a:p>
            <a:endParaRPr lang="zh-CN" altLang="en-US" sz="2800"/>
          </a:p>
          <a:p>
            <a:r>
              <a:rPr lang="zh-CN" altLang="en-US" sz="2800"/>
              <a:t>因此，</a:t>
            </a:r>
            <a:r>
              <a:rPr lang="en-US" altLang="zh-CN" sz="2800"/>
              <a:t>U</a:t>
            </a:r>
            <a:r>
              <a:rPr lang="zh-CN" altLang="en-US" sz="2800"/>
              <a:t>中各子集的综合评价决策矩阵为</a:t>
            </a:r>
            <a:endParaRPr lang="zh-CN" altLang="en-US" sz="2800"/>
          </a:p>
          <a:p>
            <a:endParaRPr lang="zh-CN" altLang="en-US" sz="2800"/>
          </a:p>
          <a:p>
            <a:endParaRPr lang="zh-CN" altLang="en-US" sz="2800"/>
          </a:p>
          <a:p>
            <a:r>
              <a:rPr lang="zh-CN" altLang="en-US" sz="2800"/>
              <a:t>所以，该农业生态系统功能模糊综合评价结果为</a:t>
            </a:r>
            <a:endParaRPr lang="zh-CN" altLang="en-US" sz="2800"/>
          </a:p>
          <a:p>
            <a:endParaRPr lang="zh-CN" altLang="en-US" sz="2800"/>
          </a:p>
        </p:txBody>
      </p:sp>
      <p:graphicFrame>
        <p:nvGraphicFramePr>
          <p:cNvPr id="5" name="对象 4">
            <a:hlinkClick r:id="" action="ppaction://ole?verb="/>
          </p:cNvPr>
          <p:cNvGraphicFramePr>
            <a:graphicFrameLocks noChangeAspect="1"/>
          </p:cNvGraphicFramePr>
          <p:nvPr/>
        </p:nvGraphicFramePr>
        <p:xfrm>
          <a:off x="854710" y="2005965"/>
          <a:ext cx="3326130" cy="857250"/>
        </p:xfrm>
        <a:graphic>
          <a:graphicData uri="http://schemas.openxmlformats.org/presentationml/2006/ole">
            <mc:AlternateContent xmlns:mc="http://schemas.openxmlformats.org/markup-compatibility/2006">
              <mc:Choice xmlns:v="urn:schemas-microsoft-com:vml" Requires="v">
                <p:oleObj spid="_x0000_s8194" name="" r:id="rId1" imgW="2362200" imgH="762000" progId="Equation.KSEE3">
                  <p:embed/>
                </p:oleObj>
              </mc:Choice>
              <mc:Fallback>
                <p:oleObj name="" r:id="rId1" imgW="2362200" imgH="762000" progId="Equation.KSEE3">
                  <p:embed/>
                  <p:pic>
                    <p:nvPicPr>
                      <p:cNvPr id="0" name="图片 8193"/>
                      <p:cNvPicPr/>
                      <p:nvPr/>
                    </p:nvPicPr>
                    <p:blipFill>
                      <a:blip r:embed="rId2"/>
                      <a:stretch>
                        <a:fillRect/>
                      </a:stretch>
                    </p:blipFill>
                    <p:spPr>
                      <a:xfrm>
                        <a:off x="854710" y="2005965"/>
                        <a:ext cx="3326130" cy="85725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854710" y="3659505"/>
          <a:ext cx="3364865" cy="1031875"/>
        </p:xfrm>
        <a:graphic>
          <a:graphicData uri="http://schemas.openxmlformats.org/presentationml/2006/ole">
            <mc:AlternateContent xmlns:mc="http://schemas.openxmlformats.org/markup-compatibility/2006">
              <mc:Choice xmlns:v="urn:schemas-microsoft-com:vml" Requires="v">
                <p:oleObj spid="_x0000_s8195" name="" r:id="rId3" imgW="2209800" imgH="812800" progId="Equation.KSEE3">
                  <p:embed/>
                </p:oleObj>
              </mc:Choice>
              <mc:Fallback>
                <p:oleObj name="" r:id="rId3" imgW="2209800" imgH="812800" progId="Equation.KSEE3">
                  <p:embed/>
                  <p:pic>
                    <p:nvPicPr>
                      <p:cNvPr id="0" name="图片 8194"/>
                      <p:cNvPicPr/>
                      <p:nvPr/>
                    </p:nvPicPr>
                    <p:blipFill>
                      <a:blip r:embed="rId4"/>
                      <a:stretch>
                        <a:fillRect/>
                      </a:stretch>
                    </p:blipFill>
                    <p:spPr>
                      <a:xfrm>
                        <a:off x="854710" y="3659505"/>
                        <a:ext cx="3364865" cy="103187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854710" y="5153660"/>
          <a:ext cx="3561080" cy="353695"/>
        </p:xfrm>
        <a:graphic>
          <a:graphicData uri="http://schemas.openxmlformats.org/presentationml/2006/ole">
            <mc:AlternateContent xmlns:mc="http://schemas.openxmlformats.org/markup-compatibility/2006">
              <mc:Choice xmlns:v="urn:schemas-microsoft-com:vml" Requires="v">
                <p:oleObj spid="_x0000_s8196" name="" r:id="rId5" imgW="2108200" imgH="241300" progId="Equation.KSEE3">
                  <p:embed/>
                </p:oleObj>
              </mc:Choice>
              <mc:Fallback>
                <p:oleObj name="" r:id="rId5" imgW="2108200" imgH="241300" progId="Equation.KSEE3">
                  <p:embed/>
                  <p:pic>
                    <p:nvPicPr>
                      <p:cNvPr id="0" name="图片 8195"/>
                      <p:cNvPicPr/>
                      <p:nvPr/>
                    </p:nvPicPr>
                    <p:blipFill>
                      <a:blip r:embed="rId6"/>
                      <a:stretch>
                        <a:fillRect/>
                      </a:stretch>
                    </p:blipFill>
                    <p:spPr>
                      <a:xfrm>
                        <a:off x="854710" y="5153660"/>
                        <a:ext cx="3561080" cy="353695"/>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800"/>
              <a:t>将其归一化得</a:t>
            </a:r>
            <a:endParaRPr lang="zh-CN" altLang="en-US" sz="2800"/>
          </a:p>
          <a:p>
            <a:endParaRPr lang="zh-CN" altLang="en-US" sz="2800"/>
          </a:p>
          <a:p>
            <a:pPr marL="0" indent="0">
              <a:buNone/>
            </a:pPr>
            <a:r>
              <a:rPr lang="zh-CN" altLang="en-US" sz="2800"/>
              <a:t>上述评价结果表明，该农业生态经济系统功能还是较好的</a:t>
            </a:r>
            <a:endParaRPr lang="zh-CN" altLang="en-US" sz="2800"/>
          </a:p>
          <a:p>
            <a:endParaRPr lang="zh-CN" altLang="en-US" sz="2800"/>
          </a:p>
        </p:txBody>
      </p:sp>
      <p:graphicFrame>
        <p:nvGraphicFramePr>
          <p:cNvPr id="4" name="对象 3">
            <a:hlinkClick r:id="" action="ppaction://ole?verb="/>
          </p:cNvPr>
          <p:cNvGraphicFramePr>
            <a:graphicFrameLocks noChangeAspect="1"/>
          </p:cNvGraphicFramePr>
          <p:nvPr/>
        </p:nvGraphicFramePr>
        <p:xfrm>
          <a:off x="525780" y="2546350"/>
          <a:ext cx="4104005" cy="443230"/>
        </p:xfrm>
        <a:graphic>
          <a:graphicData uri="http://schemas.openxmlformats.org/presentationml/2006/ole">
            <mc:AlternateContent xmlns:mc="http://schemas.openxmlformats.org/markup-compatibility/2006">
              <mc:Choice xmlns:v="urn:schemas-microsoft-com:vml" Requires="v">
                <p:oleObj spid="_x0000_s9217" name="" r:id="rId1" imgW="2234565" imgH="241300" progId="Equation.KSEE3">
                  <p:embed/>
                </p:oleObj>
              </mc:Choice>
              <mc:Fallback>
                <p:oleObj name="" r:id="rId1" imgW="2234565" imgH="241300" progId="Equation.KSEE3">
                  <p:embed/>
                  <p:pic>
                    <p:nvPicPr>
                      <p:cNvPr id="0" name="图片 9216"/>
                      <p:cNvPicPr/>
                      <p:nvPr/>
                    </p:nvPicPr>
                    <p:blipFill>
                      <a:blip r:embed="rId2"/>
                      <a:stretch>
                        <a:fillRect/>
                      </a:stretch>
                    </p:blipFill>
                    <p:spPr>
                      <a:xfrm>
                        <a:off x="525780" y="2546350"/>
                        <a:ext cx="4104005" cy="443230"/>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古瓶荷花">
  <a:themeElements>
    <a:clrScheme name="">
      <a:dk1>
        <a:srgbClr val="0033CC"/>
      </a:dk1>
      <a:lt1>
        <a:srgbClr val="FFFFFF"/>
      </a:lt1>
      <a:dk2>
        <a:srgbClr val="007572"/>
      </a:dk2>
      <a:lt2>
        <a:srgbClr val="C0C0C0"/>
      </a:lt2>
      <a:accent1>
        <a:srgbClr val="CCECFF"/>
      </a:accent1>
      <a:accent2>
        <a:srgbClr val="3399FF"/>
      </a:accent2>
      <a:accent3>
        <a:srgbClr val="FFFFFF"/>
      </a:accent3>
      <a:accent4>
        <a:srgbClr val="002AAF"/>
      </a:accent4>
      <a:accent5>
        <a:srgbClr val="E2F4FF"/>
      </a:accent5>
      <a:accent6>
        <a:srgbClr val="2D89E5"/>
      </a:accent6>
      <a:hlink>
        <a:srgbClr val="CC0066"/>
      </a:hlink>
      <a:folHlink>
        <a:srgbClr val="7D7DA9"/>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33CC"/>
        </a:dk1>
        <a:lt1>
          <a:srgbClr val="FFFFFF"/>
        </a:lt1>
        <a:dk2>
          <a:srgbClr val="007572"/>
        </a:dk2>
        <a:lt2>
          <a:srgbClr val="C0C0C0"/>
        </a:lt2>
        <a:accent1>
          <a:srgbClr val="CCECFF"/>
        </a:accent1>
        <a:accent2>
          <a:srgbClr val="3399FF"/>
        </a:accent2>
        <a:accent3>
          <a:srgbClr val="FFFFFF"/>
        </a:accent3>
        <a:accent4>
          <a:srgbClr val="002AAF"/>
        </a:accent4>
        <a:accent5>
          <a:srgbClr val="E2F4FF"/>
        </a:accent5>
        <a:accent6>
          <a:srgbClr val="2D89E5"/>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
        <a:dk1>
          <a:srgbClr val="007A77"/>
        </a:dk1>
        <a:lt1>
          <a:srgbClr val="EFF6EE"/>
        </a:lt1>
        <a:dk2>
          <a:srgbClr val="0066CC"/>
        </a:dk2>
        <a:lt2>
          <a:srgbClr val="C0C0C0"/>
        </a:lt2>
        <a:accent1>
          <a:srgbClr val="E7EEE6"/>
        </a:accent1>
        <a:accent2>
          <a:srgbClr val="FF9933"/>
        </a:accent2>
        <a:accent3>
          <a:srgbClr val="F5FAF5"/>
        </a:accent3>
        <a:accent4>
          <a:srgbClr val="006866"/>
        </a:accent4>
        <a:accent5>
          <a:srgbClr val="F1F5F0"/>
        </a:accent5>
        <a:accent6>
          <a:srgbClr val="E589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B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9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
        <a:dk1>
          <a:srgbClr val="636395"/>
        </a:dk1>
        <a:lt1>
          <a:srgbClr val="FFE2C5"/>
        </a:lt1>
        <a:dk2>
          <a:srgbClr val="000000"/>
        </a:dk2>
        <a:lt2>
          <a:srgbClr val="C0C0C0"/>
        </a:lt2>
        <a:accent1>
          <a:srgbClr val="FFE1E1"/>
        </a:accent1>
        <a:accent2>
          <a:srgbClr val="FF9933"/>
        </a:accent2>
        <a:accent3>
          <a:srgbClr val="FFEEDE"/>
        </a:accent3>
        <a:accent4>
          <a:srgbClr val="545480"/>
        </a:accent4>
        <a:accent5>
          <a:srgbClr val="FFEDED"/>
        </a:accent5>
        <a:accent6>
          <a:srgbClr val="E589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
        <a:dk1>
          <a:srgbClr val="626292"/>
        </a:dk1>
        <a:lt1>
          <a:srgbClr val="CCECFF"/>
        </a:lt1>
        <a:dk2>
          <a:srgbClr val="3333CC"/>
        </a:dk2>
        <a:lt2>
          <a:srgbClr val="C0C0C0"/>
        </a:lt2>
        <a:accent1>
          <a:srgbClr val="D9F1FF"/>
        </a:accent1>
        <a:accent2>
          <a:srgbClr val="FF9900"/>
        </a:accent2>
        <a:accent3>
          <a:srgbClr val="E2F4FF"/>
        </a:accent3>
        <a:accent4>
          <a:srgbClr val="53537D"/>
        </a:accent4>
        <a:accent5>
          <a:srgbClr val="E9F7FF"/>
        </a:accent5>
        <a:accent6>
          <a:srgbClr val="E589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
        <a:dk1>
          <a:srgbClr val="0066CC"/>
        </a:dk1>
        <a:lt1>
          <a:srgbClr val="FFE1E1"/>
        </a:lt1>
        <a:dk2>
          <a:srgbClr val="006600"/>
        </a:dk2>
        <a:lt2>
          <a:srgbClr val="C0C0C0"/>
        </a:lt2>
        <a:accent1>
          <a:srgbClr val="FFFFCC"/>
        </a:accent1>
        <a:accent2>
          <a:srgbClr val="009999"/>
        </a:accent2>
        <a:accent3>
          <a:srgbClr val="FFEDED"/>
        </a:accent3>
        <a:accent4>
          <a:srgbClr val="0057AF"/>
        </a:accent4>
        <a:accent5>
          <a:srgbClr val="FFFFE2"/>
        </a:accent5>
        <a:accent6>
          <a:srgbClr val="008989"/>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
        <a:dk1>
          <a:srgbClr val="292929"/>
        </a:dk1>
        <a:lt1>
          <a:srgbClr val="DDDDDD"/>
        </a:lt1>
        <a:dk2>
          <a:srgbClr val="0066CC"/>
        </a:dk2>
        <a:lt2>
          <a:srgbClr val="B2B2B2"/>
        </a:lt2>
        <a:accent1>
          <a:srgbClr val="CACADC"/>
        </a:accent1>
        <a:accent2>
          <a:srgbClr val="FFCC00"/>
        </a:accent2>
        <a:accent3>
          <a:srgbClr val="EBEBEB"/>
        </a:accent3>
        <a:accent4>
          <a:srgbClr val="222222"/>
        </a:accent4>
        <a:accent5>
          <a:srgbClr val="E1E1EA"/>
        </a:accent5>
        <a:accent6>
          <a:srgbClr val="E5B7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3497</Words>
  <Application>WPS 演示</Application>
  <PresentationFormat>在屏幕上显示</PresentationFormat>
  <Paragraphs>185</Paragraphs>
  <Slides>25</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36</vt:i4>
      </vt:variant>
      <vt:variant>
        <vt:lpstr>幻灯片标题</vt:lpstr>
      </vt:variant>
      <vt:variant>
        <vt:i4>25</vt:i4>
      </vt:variant>
    </vt:vector>
  </HeadingPairs>
  <TitlesOfParts>
    <vt:vector size="71" baseType="lpstr">
      <vt:lpstr>Arial</vt:lpstr>
      <vt:lpstr>宋体</vt:lpstr>
      <vt:lpstr>Wingdings</vt:lpstr>
      <vt:lpstr>Times New Roman</vt:lpstr>
      <vt:lpstr>黑体</vt:lpstr>
      <vt:lpstr>Calibri</vt:lpstr>
      <vt:lpstr>微软雅黑</vt:lpstr>
      <vt:lpstr>Arial Unicode MS</vt:lpstr>
      <vt:lpstr>Wingdings</vt:lpstr>
      <vt:lpstr>古瓶荷花</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模糊综合评判方法及其应用 </vt:lpstr>
      <vt:lpstr>模糊综合评判方法</vt:lpstr>
      <vt:lpstr>模糊综合评判方法 </vt:lpstr>
      <vt:lpstr>模糊综合评判方法 </vt:lpstr>
      <vt:lpstr>模糊综合评判方法</vt:lpstr>
      <vt:lpstr>模糊综合评判方法</vt:lpstr>
      <vt:lpstr>模糊综合评判方法 </vt:lpstr>
      <vt:lpstr>  </vt:lpstr>
      <vt:lpstr>PowerPoint 演示文稿</vt:lpstr>
      <vt:lpstr>模糊综合评判应用实例 ----农业生态经济系统功能综合评价模型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5）评价实例计算。对于某农业生态经济系统，经评判专家小组测评结果，分别得各子集Ui（i=1，2，3） 中诸要素的评价决策矩阵   </vt:lpstr>
      <vt:lpstr>           采用主观经验判断法和专家征询法相结合，可得  </vt:lpstr>
      <vt:lpstr>PowerPoint 演示文稿</vt:lpstr>
      <vt:lpstr>PowerPoint 演示文稿</vt:lpstr>
    </vt:vector>
  </TitlesOfParts>
  <Company>ECNU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地理数据及其采集与处理 </dc:title>
  <dc:creator>Stone</dc:creator>
  <cp:lastModifiedBy>yy</cp:lastModifiedBy>
  <cp:revision>373</cp:revision>
  <dcterms:created xsi:type="dcterms:W3CDTF">2002-10-29T07:37:00Z</dcterms:created>
  <dcterms:modified xsi:type="dcterms:W3CDTF">2025-04-27T04:29:23Z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2052-11.8.2.8411</vt:lpwstr>
  </property>
</Properties>
</file>