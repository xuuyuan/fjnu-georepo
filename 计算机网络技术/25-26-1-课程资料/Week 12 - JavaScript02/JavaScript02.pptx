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5"/>
  </p:notesMasterIdLst>
  <p:sldIdLst>
    <p:sldId id="280" r:id="rId2"/>
    <p:sldId id="407" r:id="rId3"/>
    <p:sldId id="435" r:id="rId4"/>
    <p:sldId id="440" r:id="rId5"/>
    <p:sldId id="469" r:id="rId6"/>
    <p:sldId id="441" r:id="rId7"/>
    <p:sldId id="408" r:id="rId8"/>
    <p:sldId id="442" r:id="rId9"/>
    <p:sldId id="443" r:id="rId10"/>
    <p:sldId id="444" r:id="rId11"/>
    <p:sldId id="445" r:id="rId12"/>
    <p:sldId id="446" r:id="rId13"/>
    <p:sldId id="454" r:id="rId14"/>
    <p:sldId id="447" r:id="rId15"/>
    <p:sldId id="448" r:id="rId16"/>
    <p:sldId id="449" r:id="rId17"/>
    <p:sldId id="455" r:id="rId18"/>
    <p:sldId id="456" r:id="rId19"/>
    <p:sldId id="458" r:id="rId20"/>
    <p:sldId id="464" r:id="rId21"/>
    <p:sldId id="457" r:id="rId22"/>
    <p:sldId id="450" r:id="rId23"/>
    <p:sldId id="451" r:id="rId24"/>
    <p:sldId id="452" r:id="rId25"/>
    <p:sldId id="453" r:id="rId26"/>
    <p:sldId id="459" r:id="rId27"/>
    <p:sldId id="460" r:id="rId28"/>
    <p:sldId id="461" r:id="rId29"/>
    <p:sldId id="462" r:id="rId30"/>
    <p:sldId id="463" r:id="rId31"/>
    <p:sldId id="465" r:id="rId32"/>
    <p:sldId id="468" r:id="rId33"/>
    <p:sldId id="467" r:id="rId3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9FB9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92" autoAdjust="0"/>
  </p:normalViewPr>
  <p:slideViewPr>
    <p:cSldViewPr>
      <p:cViewPr varScale="1">
        <p:scale>
          <a:sx n="127" d="100"/>
          <a:sy n="127" d="100"/>
        </p:scale>
        <p:origin x="1003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355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 smtClean="0"/>
              <a:t>单击此处编辑母版文本样式</a:t>
            </a:r>
          </a:p>
          <a:p>
            <a:pPr lvl="1"/>
            <a:r>
              <a:rPr lang="zh-CN" noProof="0" smtClean="0"/>
              <a:t>第二级</a:t>
            </a:r>
          </a:p>
          <a:p>
            <a:pPr lvl="2"/>
            <a:r>
              <a:rPr lang="zh-CN" noProof="0" smtClean="0"/>
              <a:t>第三级</a:t>
            </a:r>
          </a:p>
          <a:p>
            <a:pPr lvl="3"/>
            <a:r>
              <a:rPr lang="zh-CN" noProof="0" smtClean="0"/>
              <a:t>第四级</a:t>
            </a:r>
          </a:p>
          <a:p>
            <a:pPr lvl="4"/>
            <a:r>
              <a:rPr lang="zh-CN" noProof="0" smtClean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E61D4258-F4E5-4400-82DB-EDAAEB0B6E34}" type="slidenum">
              <a:rPr lang="zh-CN" altLang="zh-CN"/>
              <a:p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2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45985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6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67414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8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07735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18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80003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20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03458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22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293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24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99169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29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95403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D4258-F4E5-4400-82DB-EDAAEB0B6E34}" type="slidenum">
              <a:rPr lang="zh-CN" altLang="zh-CN" smtClean="0"/>
              <a:pPr/>
              <a:t>30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72639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0" y="0"/>
            <a:chExt cx="5763" cy="4316"/>
          </a:xfrm>
        </p:grpSpPr>
        <p:sp>
          <p:nvSpPr>
            <p:cNvPr id="5" name="未知"/>
            <p:cNvSpPr>
              <a:spLocks/>
            </p:cNvSpPr>
            <p:nvPr/>
          </p:nvSpPr>
          <p:spPr bwMode="auto">
            <a:xfrm>
              <a:off x="5044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未知"/>
            <p:cNvSpPr>
              <a:spLocks/>
            </p:cNvSpPr>
            <p:nvPr/>
          </p:nvSpPr>
          <p:spPr bwMode="auto">
            <a:xfrm>
              <a:off x="5385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5679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7" y="0"/>
              <a:ext cx="5098" cy="4316"/>
              <a:chOff x="0" y="0"/>
              <a:chExt cx="5098" cy="4316"/>
            </a:xfrm>
          </p:grpSpPr>
          <p:sp>
            <p:nvSpPr>
              <p:cNvPr id="28" name="未知"/>
              <p:cNvSpPr>
                <a:spLocks/>
              </p:cNvSpPr>
              <p:nvPr userDrawn="1"/>
            </p:nvSpPr>
            <p:spPr bwMode="auto">
              <a:xfrm>
                <a:off x="2501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未知"/>
              <p:cNvSpPr>
                <a:spLocks/>
              </p:cNvSpPr>
              <p:nvPr userDrawn="1"/>
            </p:nvSpPr>
            <p:spPr bwMode="auto">
              <a:xfrm>
                <a:off x="2801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未知"/>
              <p:cNvSpPr>
                <a:spLocks/>
              </p:cNvSpPr>
              <p:nvPr userDrawn="1"/>
            </p:nvSpPr>
            <p:spPr bwMode="auto">
              <a:xfrm>
                <a:off x="3070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未知"/>
              <p:cNvSpPr>
                <a:spLocks/>
              </p:cNvSpPr>
              <p:nvPr userDrawn="1"/>
            </p:nvSpPr>
            <p:spPr bwMode="auto">
              <a:xfrm>
                <a:off x="3388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未知"/>
              <p:cNvSpPr>
                <a:spLocks/>
              </p:cNvSpPr>
              <p:nvPr userDrawn="1"/>
            </p:nvSpPr>
            <p:spPr bwMode="auto">
              <a:xfrm>
                <a:off x="3658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未知"/>
              <p:cNvSpPr>
                <a:spLocks/>
              </p:cNvSpPr>
              <p:nvPr userDrawn="1"/>
            </p:nvSpPr>
            <p:spPr bwMode="auto">
              <a:xfrm>
                <a:off x="3958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未知"/>
              <p:cNvSpPr>
                <a:spLocks/>
              </p:cNvSpPr>
              <p:nvPr userDrawn="1"/>
            </p:nvSpPr>
            <p:spPr bwMode="auto">
              <a:xfrm>
                <a:off x="4234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未知"/>
              <p:cNvSpPr>
                <a:spLocks/>
              </p:cNvSpPr>
              <p:nvPr userDrawn="1"/>
            </p:nvSpPr>
            <p:spPr bwMode="auto">
              <a:xfrm>
                <a:off x="2111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未知"/>
              <p:cNvSpPr>
                <a:spLocks/>
              </p:cNvSpPr>
              <p:nvPr userDrawn="1"/>
            </p:nvSpPr>
            <p:spPr bwMode="auto">
              <a:xfrm>
                <a:off x="1679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未知"/>
              <p:cNvSpPr>
                <a:spLocks/>
              </p:cNvSpPr>
              <p:nvPr userDrawn="1"/>
            </p:nvSpPr>
            <p:spPr bwMode="auto">
              <a:xfrm>
                <a:off x="1278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未知"/>
              <p:cNvSpPr>
                <a:spLocks/>
              </p:cNvSpPr>
              <p:nvPr userDrawn="1"/>
            </p:nvSpPr>
            <p:spPr bwMode="auto">
              <a:xfrm>
                <a:off x="840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未知"/>
              <p:cNvSpPr>
                <a:spLocks/>
              </p:cNvSpPr>
              <p:nvPr userDrawn="1"/>
            </p:nvSpPr>
            <p:spPr bwMode="auto">
              <a:xfrm>
                <a:off x="414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5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未知"/>
            <p:cNvSpPr>
              <a:spLocks/>
            </p:cNvSpPr>
            <p:nvPr/>
          </p:nvSpPr>
          <p:spPr bwMode="auto">
            <a:xfrm>
              <a:off x="5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未知"/>
            <p:cNvSpPr>
              <a:spLocks/>
            </p:cNvSpPr>
            <p:nvPr/>
          </p:nvSpPr>
          <p:spPr bwMode="auto">
            <a:xfrm>
              <a:off x="4775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未知"/>
            <p:cNvSpPr>
              <a:spLocks/>
            </p:cNvSpPr>
            <p:nvPr/>
          </p:nvSpPr>
          <p:spPr bwMode="auto">
            <a:xfrm>
              <a:off x="5040" y="0"/>
              <a:ext cx="719" cy="845"/>
            </a:xfrm>
            <a:custGeom>
              <a:avLst/>
              <a:gdLst>
                <a:gd name="T0" fmla="*/ 721 w 717"/>
                <a:gd name="T1" fmla="*/ 845 h 845"/>
                <a:gd name="T2" fmla="*/ 721 w 717"/>
                <a:gd name="T3" fmla="*/ 821 h 845"/>
                <a:gd name="T4" fmla="*/ 578 w 717"/>
                <a:gd name="T5" fmla="*/ 605 h 845"/>
                <a:gd name="T6" fmla="*/ 408 w 717"/>
                <a:gd name="T7" fmla="*/ 396 h 845"/>
                <a:gd name="T8" fmla="*/ 223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1 w 717"/>
                <a:gd name="T15" fmla="*/ 198 h 845"/>
                <a:gd name="T16" fmla="*/ 402 w 717"/>
                <a:gd name="T17" fmla="*/ 408 h 845"/>
                <a:gd name="T18" fmla="*/ 572 w 717"/>
                <a:gd name="T19" fmla="*/ 623 h 845"/>
                <a:gd name="T20" fmla="*/ 721 w 717"/>
                <a:gd name="T21" fmla="*/ 845 h 845"/>
                <a:gd name="T22" fmla="*/ 72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/>
            <p:cNvSpPr>
              <a:spLocks/>
            </p:cNvSpPr>
            <p:nvPr/>
          </p:nvSpPr>
          <p:spPr bwMode="auto">
            <a:xfrm>
              <a:off x="5351" y="0"/>
              <a:ext cx="408" cy="414"/>
            </a:xfrm>
            <a:custGeom>
              <a:avLst/>
              <a:gdLst>
                <a:gd name="T0" fmla="*/ 409 w 407"/>
                <a:gd name="T1" fmla="*/ 414 h 414"/>
                <a:gd name="T2" fmla="*/ 409 w 407"/>
                <a:gd name="T3" fmla="*/ 396 h 414"/>
                <a:gd name="T4" fmla="*/ 224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8 w 407"/>
                <a:gd name="T13" fmla="*/ 204 h 414"/>
                <a:gd name="T14" fmla="*/ 409 w 407"/>
                <a:gd name="T15" fmla="*/ 414 h 414"/>
                <a:gd name="T16" fmla="*/ 409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未知"/>
            <p:cNvSpPr>
              <a:spLocks/>
            </p:cNvSpPr>
            <p:nvPr/>
          </p:nvSpPr>
          <p:spPr bwMode="auto">
            <a:xfrm>
              <a:off x="5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未知"/>
            <p:cNvSpPr>
              <a:spLocks/>
            </p:cNvSpPr>
            <p:nvPr/>
          </p:nvSpPr>
          <p:spPr bwMode="auto">
            <a:xfrm>
              <a:off x="5" y="0"/>
              <a:ext cx="588" cy="599"/>
            </a:xfrm>
            <a:custGeom>
              <a:avLst/>
              <a:gdLst>
                <a:gd name="T0" fmla="*/ 590 w 586"/>
                <a:gd name="T1" fmla="*/ 0 h 599"/>
                <a:gd name="T2" fmla="*/ 572 w 586"/>
                <a:gd name="T3" fmla="*/ 0 h 599"/>
                <a:gd name="T4" fmla="*/ 409 w 586"/>
                <a:gd name="T5" fmla="*/ 132 h 599"/>
                <a:gd name="T6" fmla="*/ 259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9 w 586"/>
                <a:gd name="T17" fmla="*/ 282 h 599"/>
                <a:gd name="T18" fmla="*/ 415 w 586"/>
                <a:gd name="T19" fmla="*/ 138 h 599"/>
                <a:gd name="T20" fmla="*/ 590 w 586"/>
                <a:gd name="T21" fmla="*/ 0 h 599"/>
                <a:gd name="T22" fmla="*/ 590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/>
            <p:cNvSpPr>
              <a:spLocks/>
            </p:cNvSpPr>
            <p:nvPr/>
          </p:nvSpPr>
          <p:spPr bwMode="auto">
            <a:xfrm>
              <a:off x="5" y="0"/>
              <a:ext cx="270" cy="252"/>
            </a:xfrm>
            <a:custGeom>
              <a:avLst/>
              <a:gdLst>
                <a:gd name="T0" fmla="*/ 271 w 269"/>
                <a:gd name="T1" fmla="*/ 0 h 252"/>
                <a:gd name="T2" fmla="*/ 253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1 w 269"/>
                <a:gd name="T15" fmla="*/ 0 h 252"/>
                <a:gd name="T16" fmla="*/ 271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>
              <a:off x="0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>
              <a:off x="0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0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0" y="392"/>
              <a:ext cx="5758" cy="1571"/>
              <a:chOff x="0" y="0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auto">
              <a:xfrm>
                <a:off x="0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auto">
              <a:xfrm>
                <a:off x="0" y="1571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auto">
              <a:xfrm>
                <a:off x="0" y="1178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auto">
              <a:xfrm>
                <a:off x="0" y="785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auto">
              <a:xfrm>
                <a:off x="0" y="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auto">
            <a:xfrm>
              <a:off x="0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auto">
            <a:xfrm>
              <a:off x="0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" name="Rectangle 44"/>
          <p:cNvSpPr>
            <a:spLocks noChangeArrowheads="1"/>
          </p:cNvSpPr>
          <p:nvPr userDrawn="1"/>
        </p:nvSpPr>
        <p:spPr bwMode="auto">
          <a:xfrm>
            <a:off x="1219200" y="11430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" name="Rectangle 45"/>
          <p:cNvSpPr>
            <a:spLocks noChangeArrowheads="1"/>
          </p:cNvSpPr>
          <p:nvPr userDrawn="1"/>
        </p:nvSpPr>
        <p:spPr bwMode="auto">
          <a:xfrm>
            <a:off x="1676400" y="1905000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87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noProof="0" smtClean="0"/>
              <a:t>单击此处编辑母版标题样式</a:t>
            </a:r>
          </a:p>
        </p:txBody>
      </p:sp>
      <p:sp>
        <p:nvSpPr>
          <p:cNvPr id="2088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 smtClean="0"/>
              <a:t>单击此处编辑母版副标题样式</a:t>
            </a:r>
          </a:p>
        </p:txBody>
      </p:sp>
      <p:sp>
        <p:nvSpPr>
          <p:cNvPr id="43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4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5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4AA595-D6AD-4D82-96BD-70C2BD87719F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5465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7200C5-4C21-41B4-9289-26C9BF4DD2F3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9960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067FBA-2DAF-46AD-A724-529CBBA800A8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7911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D3ABC9-2A00-4873-A9C9-F52029C35E88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6499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446258-3BC5-416A-AF3F-635E626B1447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8889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759810-DFF5-40F1-967E-C26DCCED38C6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24104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20EC4-3CD4-4BEB-ABEE-2A7141AF9AD1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0206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A85B89-B096-4987-8D84-B7E8DCCDC072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20439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F52A6E-0D96-421F-A2EE-D6EE0944CAC7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2337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8D31D2-7B4E-41F0-8A42-66A2C2A99B7B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074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875183-B046-422D-AFC1-C8B6DAA892CB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36041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90BD75-CFCB-43D8-B076-44067FDF78F8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743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chemeClr val="bg1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0" y="0"/>
            <a:chExt cx="5763" cy="4316"/>
          </a:xfrm>
        </p:grpSpPr>
        <p:sp>
          <p:nvSpPr>
            <p:cNvPr id="1027" name="未知"/>
            <p:cNvSpPr>
              <a:spLocks/>
            </p:cNvSpPr>
            <p:nvPr/>
          </p:nvSpPr>
          <p:spPr bwMode="auto">
            <a:xfrm>
              <a:off x="5044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8" name="未知"/>
            <p:cNvSpPr>
              <a:spLocks/>
            </p:cNvSpPr>
            <p:nvPr/>
          </p:nvSpPr>
          <p:spPr bwMode="auto">
            <a:xfrm>
              <a:off x="5385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" name="未知"/>
            <p:cNvSpPr>
              <a:spLocks/>
            </p:cNvSpPr>
            <p:nvPr/>
          </p:nvSpPr>
          <p:spPr bwMode="auto">
            <a:xfrm>
              <a:off x="5679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7" name="Group 6"/>
            <p:cNvGrpSpPr>
              <a:grpSpLocks/>
            </p:cNvGrpSpPr>
            <p:nvPr/>
          </p:nvGrpSpPr>
          <p:grpSpPr bwMode="auto">
            <a:xfrm>
              <a:off x="287" y="0"/>
              <a:ext cx="5098" cy="4316"/>
              <a:chOff x="0" y="0"/>
              <a:chExt cx="5098" cy="4316"/>
            </a:xfrm>
          </p:grpSpPr>
          <p:sp>
            <p:nvSpPr>
              <p:cNvPr id="1031" name="未知"/>
              <p:cNvSpPr>
                <a:spLocks/>
              </p:cNvSpPr>
              <p:nvPr userDrawn="1"/>
            </p:nvSpPr>
            <p:spPr bwMode="auto">
              <a:xfrm>
                <a:off x="2501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" name="未知"/>
              <p:cNvSpPr>
                <a:spLocks/>
              </p:cNvSpPr>
              <p:nvPr userDrawn="1"/>
            </p:nvSpPr>
            <p:spPr bwMode="auto">
              <a:xfrm>
                <a:off x="2801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" name="未知"/>
              <p:cNvSpPr>
                <a:spLocks/>
              </p:cNvSpPr>
              <p:nvPr userDrawn="1"/>
            </p:nvSpPr>
            <p:spPr bwMode="auto">
              <a:xfrm>
                <a:off x="3070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34" name="未知"/>
              <p:cNvSpPr>
                <a:spLocks/>
              </p:cNvSpPr>
              <p:nvPr userDrawn="1"/>
            </p:nvSpPr>
            <p:spPr bwMode="auto">
              <a:xfrm>
                <a:off x="3388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35" name="未知"/>
              <p:cNvSpPr>
                <a:spLocks/>
              </p:cNvSpPr>
              <p:nvPr userDrawn="1"/>
            </p:nvSpPr>
            <p:spPr bwMode="auto">
              <a:xfrm>
                <a:off x="3658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36" name="未知"/>
              <p:cNvSpPr>
                <a:spLocks/>
              </p:cNvSpPr>
              <p:nvPr userDrawn="1"/>
            </p:nvSpPr>
            <p:spPr bwMode="auto">
              <a:xfrm>
                <a:off x="3958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" name="未知"/>
              <p:cNvSpPr>
                <a:spLocks/>
              </p:cNvSpPr>
              <p:nvPr userDrawn="1"/>
            </p:nvSpPr>
            <p:spPr bwMode="auto">
              <a:xfrm>
                <a:off x="4234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38" name="未知"/>
              <p:cNvSpPr>
                <a:spLocks/>
              </p:cNvSpPr>
              <p:nvPr userDrawn="1"/>
            </p:nvSpPr>
            <p:spPr bwMode="auto">
              <a:xfrm>
                <a:off x="2111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39" name="未知"/>
              <p:cNvSpPr>
                <a:spLocks/>
              </p:cNvSpPr>
              <p:nvPr userDrawn="1"/>
            </p:nvSpPr>
            <p:spPr bwMode="auto">
              <a:xfrm>
                <a:off x="1679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40" name="未知"/>
              <p:cNvSpPr>
                <a:spLocks/>
              </p:cNvSpPr>
              <p:nvPr userDrawn="1"/>
            </p:nvSpPr>
            <p:spPr bwMode="auto">
              <a:xfrm>
                <a:off x="1278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" name="未知"/>
              <p:cNvSpPr>
                <a:spLocks/>
              </p:cNvSpPr>
              <p:nvPr userDrawn="1"/>
            </p:nvSpPr>
            <p:spPr bwMode="auto">
              <a:xfrm>
                <a:off x="840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6" name="未知"/>
              <p:cNvSpPr>
                <a:spLocks/>
              </p:cNvSpPr>
              <p:nvPr userDrawn="1"/>
            </p:nvSpPr>
            <p:spPr bwMode="auto">
              <a:xfrm>
                <a:off x="414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43" name="未知"/>
              <p:cNvSpPr>
                <a:spLocks/>
              </p:cNvSpPr>
              <p:nvPr userDrawn="1"/>
            </p:nvSpPr>
            <p:spPr bwMode="auto">
              <a:xfrm>
                <a:off x="0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044" name="未知"/>
            <p:cNvSpPr>
              <a:spLocks/>
            </p:cNvSpPr>
            <p:nvPr/>
          </p:nvSpPr>
          <p:spPr bwMode="auto">
            <a:xfrm>
              <a:off x="5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5" name="未知"/>
            <p:cNvSpPr>
              <a:spLocks/>
            </p:cNvSpPr>
            <p:nvPr/>
          </p:nvSpPr>
          <p:spPr bwMode="auto">
            <a:xfrm>
              <a:off x="5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6" name="未知"/>
            <p:cNvSpPr>
              <a:spLocks/>
            </p:cNvSpPr>
            <p:nvPr/>
          </p:nvSpPr>
          <p:spPr bwMode="auto">
            <a:xfrm>
              <a:off x="4775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1" name="未知"/>
            <p:cNvSpPr>
              <a:spLocks/>
            </p:cNvSpPr>
            <p:nvPr/>
          </p:nvSpPr>
          <p:spPr bwMode="auto">
            <a:xfrm>
              <a:off x="5040" y="0"/>
              <a:ext cx="719" cy="845"/>
            </a:xfrm>
            <a:custGeom>
              <a:avLst/>
              <a:gdLst>
                <a:gd name="T0" fmla="*/ 721 w 717"/>
                <a:gd name="T1" fmla="*/ 845 h 845"/>
                <a:gd name="T2" fmla="*/ 721 w 717"/>
                <a:gd name="T3" fmla="*/ 821 h 845"/>
                <a:gd name="T4" fmla="*/ 578 w 717"/>
                <a:gd name="T5" fmla="*/ 605 h 845"/>
                <a:gd name="T6" fmla="*/ 408 w 717"/>
                <a:gd name="T7" fmla="*/ 396 h 845"/>
                <a:gd name="T8" fmla="*/ 223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1 w 717"/>
                <a:gd name="T15" fmla="*/ 198 h 845"/>
                <a:gd name="T16" fmla="*/ 402 w 717"/>
                <a:gd name="T17" fmla="*/ 408 h 845"/>
                <a:gd name="T18" fmla="*/ 572 w 717"/>
                <a:gd name="T19" fmla="*/ 623 h 845"/>
                <a:gd name="T20" fmla="*/ 721 w 717"/>
                <a:gd name="T21" fmla="*/ 845 h 845"/>
                <a:gd name="T22" fmla="*/ 72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" name="未知"/>
            <p:cNvSpPr>
              <a:spLocks/>
            </p:cNvSpPr>
            <p:nvPr/>
          </p:nvSpPr>
          <p:spPr bwMode="auto">
            <a:xfrm>
              <a:off x="5351" y="0"/>
              <a:ext cx="408" cy="414"/>
            </a:xfrm>
            <a:custGeom>
              <a:avLst/>
              <a:gdLst>
                <a:gd name="T0" fmla="*/ 409 w 407"/>
                <a:gd name="T1" fmla="*/ 414 h 414"/>
                <a:gd name="T2" fmla="*/ 409 w 407"/>
                <a:gd name="T3" fmla="*/ 396 h 414"/>
                <a:gd name="T4" fmla="*/ 224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8 w 407"/>
                <a:gd name="T13" fmla="*/ 204 h 414"/>
                <a:gd name="T14" fmla="*/ 409 w 407"/>
                <a:gd name="T15" fmla="*/ 414 h 414"/>
                <a:gd name="T16" fmla="*/ 409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未知"/>
            <p:cNvSpPr>
              <a:spLocks/>
            </p:cNvSpPr>
            <p:nvPr/>
          </p:nvSpPr>
          <p:spPr bwMode="auto">
            <a:xfrm>
              <a:off x="5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5" y="0"/>
              <a:ext cx="588" cy="599"/>
            </a:xfrm>
            <a:custGeom>
              <a:avLst/>
              <a:gdLst>
                <a:gd name="T0" fmla="*/ 590 w 586"/>
                <a:gd name="T1" fmla="*/ 0 h 599"/>
                <a:gd name="T2" fmla="*/ 572 w 586"/>
                <a:gd name="T3" fmla="*/ 0 h 599"/>
                <a:gd name="T4" fmla="*/ 409 w 586"/>
                <a:gd name="T5" fmla="*/ 132 h 599"/>
                <a:gd name="T6" fmla="*/ 259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9 w 586"/>
                <a:gd name="T17" fmla="*/ 282 h 599"/>
                <a:gd name="T18" fmla="*/ 415 w 586"/>
                <a:gd name="T19" fmla="*/ 138 h 599"/>
                <a:gd name="T20" fmla="*/ 590 w 586"/>
                <a:gd name="T21" fmla="*/ 0 h 599"/>
                <a:gd name="T22" fmla="*/ 590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未知"/>
            <p:cNvSpPr>
              <a:spLocks/>
            </p:cNvSpPr>
            <p:nvPr/>
          </p:nvSpPr>
          <p:spPr bwMode="auto">
            <a:xfrm>
              <a:off x="5" y="0"/>
              <a:ext cx="270" cy="252"/>
            </a:xfrm>
            <a:custGeom>
              <a:avLst/>
              <a:gdLst>
                <a:gd name="T0" fmla="*/ 271 w 269"/>
                <a:gd name="T1" fmla="*/ 0 h 252"/>
                <a:gd name="T2" fmla="*/ 253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1 w 269"/>
                <a:gd name="T15" fmla="*/ 0 h 252"/>
                <a:gd name="T16" fmla="*/ 271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28"/>
            <p:cNvSpPr>
              <a:spLocks noChangeShapeType="1"/>
            </p:cNvSpPr>
            <p:nvPr/>
          </p:nvSpPr>
          <p:spPr bwMode="auto">
            <a:xfrm>
              <a:off x="0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Line 29"/>
            <p:cNvSpPr>
              <a:spLocks noChangeShapeType="1"/>
            </p:cNvSpPr>
            <p:nvPr/>
          </p:nvSpPr>
          <p:spPr bwMode="auto">
            <a:xfrm>
              <a:off x="0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Line 30"/>
            <p:cNvSpPr>
              <a:spLocks noChangeShapeType="1"/>
            </p:cNvSpPr>
            <p:nvPr/>
          </p:nvSpPr>
          <p:spPr bwMode="auto">
            <a:xfrm>
              <a:off x="0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31"/>
            <p:cNvGrpSpPr>
              <a:grpSpLocks/>
            </p:cNvGrpSpPr>
            <p:nvPr/>
          </p:nvGrpSpPr>
          <p:grpSpPr bwMode="auto">
            <a:xfrm>
              <a:off x="0" y="392"/>
              <a:ext cx="5758" cy="1571"/>
              <a:chOff x="0" y="0"/>
              <a:chExt cx="5758" cy="1571"/>
            </a:xfrm>
          </p:grpSpPr>
          <p:sp>
            <p:nvSpPr>
              <p:cNvPr id="1052" name="Line 32"/>
              <p:cNvSpPr>
                <a:spLocks noChangeShapeType="1"/>
              </p:cNvSpPr>
              <p:nvPr userDrawn="1"/>
            </p:nvSpPr>
            <p:spPr bwMode="auto">
              <a:xfrm>
                <a:off x="0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3"/>
              <p:cNvSpPr>
                <a:spLocks noChangeShapeType="1"/>
              </p:cNvSpPr>
              <p:nvPr userDrawn="1"/>
            </p:nvSpPr>
            <p:spPr bwMode="auto">
              <a:xfrm>
                <a:off x="0" y="1571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4"/>
              <p:cNvSpPr>
                <a:spLocks noChangeShapeType="1"/>
              </p:cNvSpPr>
              <p:nvPr userDrawn="1"/>
            </p:nvSpPr>
            <p:spPr bwMode="auto">
              <a:xfrm>
                <a:off x="0" y="1178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" name="Line 35"/>
              <p:cNvSpPr>
                <a:spLocks noChangeShapeType="1"/>
              </p:cNvSpPr>
              <p:nvPr userDrawn="1"/>
            </p:nvSpPr>
            <p:spPr bwMode="auto">
              <a:xfrm>
                <a:off x="0" y="785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6" name="Line 36"/>
              <p:cNvSpPr>
                <a:spLocks noChangeShapeType="1"/>
              </p:cNvSpPr>
              <p:nvPr userDrawn="1"/>
            </p:nvSpPr>
            <p:spPr bwMode="auto">
              <a:xfrm>
                <a:off x="0" y="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50" name="Line 37"/>
            <p:cNvSpPr>
              <a:spLocks noChangeShapeType="1"/>
            </p:cNvSpPr>
            <p:nvPr/>
          </p:nvSpPr>
          <p:spPr bwMode="auto">
            <a:xfrm>
              <a:off x="0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Line 38"/>
            <p:cNvSpPr>
              <a:spLocks noChangeShapeType="1"/>
            </p:cNvSpPr>
            <p:nvPr/>
          </p:nvSpPr>
          <p:spPr bwMode="auto">
            <a:xfrm>
              <a:off x="0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3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1064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65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Font typeface="Arial" pitchFamily="34" charset="0"/>
              <a:buNone/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53419291-8948-4525-AF1B-9F6A6E1D6546}" type="slidenum">
              <a:rPr lang="zh-CN" altLang="zh-CN"/>
              <a:pPr/>
              <a:t>‹#›</a:t>
            </a:fld>
            <a:endParaRPr lang="zh-CN" altLang="zh-CN"/>
          </a:p>
        </p:txBody>
      </p:sp>
      <p:sp>
        <p:nvSpPr>
          <p:cNvPr id="106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1032" name="Rectangle 44"/>
          <p:cNvSpPr>
            <a:spLocks noChangeArrowheads="1"/>
          </p:cNvSpPr>
          <p:nvPr userDrawn="1"/>
        </p:nvSpPr>
        <p:spPr bwMode="auto">
          <a:xfrm>
            <a:off x="1219200" y="11430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33" name="Rectangle 45"/>
          <p:cNvSpPr>
            <a:spLocks noChangeArrowheads="1"/>
          </p:cNvSpPr>
          <p:nvPr userDrawn="1"/>
        </p:nvSpPr>
        <p:spPr bwMode="auto">
          <a:xfrm>
            <a:off x="1676400" y="1905000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runoob.com/jquery/jquery-ajax-intro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js/js-promise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844824"/>
            <a:ext cx="7245424" cy="150304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zh-CN" sz="5400" dirty="0" smtClean="0"/>
              <a:t>J</a:t>
            </a:r>
            <a:r>
              <a:rPr lang="en-US" altLang="zh-CN" sz="5400" dirty="0" err="1" smtClean="0"/>
              <a:t>avaScript</a:t>
            </a:r>
            <a:r>
              <a:rPr lang="en-US" altLang="zh-CN" sz="5400" dirty="0" smtClean="0"/>
              <a:t> </a:t>
            </a:r>
            <a:r>
              <a:rPr lang="zh-CN" altLang="en-US" sz="5400" dirty="0" smtClean="0"/>
              <a:t>第二讲</a:t>
            </a:r>
            <a:r>
              <a:rPr lang="en-US" altLang="zh-CN" sz="5400" dirty="0" smtClean="0"/>
              <a:t/>
            </a:r>
            <a:br>
              <a:rPr lang="en-US" altLang="zh-CN" sz="5400" dirty="0" smtClean="0"/>
            </a:br>
            <a:r>
              <a:rPr lang="en-US" altLang="zh-CN" sz="4000" dirty="0" smtClean="0"/>
              <a:t>JavaScript</a:t>
            </a:r>
            <a:r>
              <a:rPr lang="zh-CN" altLang="en-US" sz="4000" dirty="0" smtClean="0"/>
              <a:t>异步编程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smtClean="0"/>
              <a:t>JavaScript</a:t>
            </a:r>
            <a:r>
              <a:rPr lang="zh-CN" altLang="en-US" dirty="0" smtClean="0"/>
              <a:t>异步编程</a:t>
            </a:r>
            <a:endParaRPr lang="en-US" altLang="zh-CN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smtClean="0"/>
              <a:t>Ajax</a:t>
            </a:r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XmlHttpRequest</a:t>
            </a:r>
            <a:endParaRPr lang="en-US" altLang="zh-CN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Jquery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ajax</a:t>
            </a:r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Promise,Fetch,Axios</a:t>
            </a:r>
            <a:endParaRPr lang="en-US" altLang="zh-CN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async</a:t>
            </a:r>
            <a:r>
              <a:rPr lang="en-US" altLang="zh-CN" dirty="0" smtClean="0"/>
              <a:t>/await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2973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301208"/>
            <a:ext cx="8229600" cy="1486093"/>
          </a:xfrm>
        </p:spPr>
        <p:txBody>
          <a:bodyPr/>
          <a:lstStyle/>
          <a:p>
            <a:r>
              <a:rPr lang="zh-CN" altLang="en-US" sz="2400" dirty="0" smtClean="0"/>
              <a:t>同步（</a:t>
            </a:r>
            <a:r>
              <a:rPr lang="en-US" altLang="zh-CN" sz="2400" dirty="0" err="1" smtClean="0"/>
              <a:t>synchromous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：按代码顺序执行</a:t>
            </a:r>
            <a:endParaRPr lang="en-US" altLang="zh-CN" sz="2400" dirty="0" smtClean="0"/>
          </a:p>
          <a:p>
            <a:r>
              <a:rPr lang="zh-CN" altLang="en-US" sz="2400" dirty="0" smtClean="0"/>
              <a:t>异步</a:t>
            </a:r>
            <a:r>
              <a:rPr lang="en-US" altLang="zh-CN" sz="2400" dirty="0" smtClean="0"/>
              <a:t>(Asynchronous)</a:t>
            </a:r>
            <a:r>
              <a:rPr lang="zh-CN" altLang="en-US" sz="2400" dirty="0"/>
              <a:t>：异步代码允许程序在等待某个操作完成时继续执行其他任务，而不是停下来等待</a:t>
            </a:r>
          </a:p>
        </p:txBody>
      </p:sp>
      <p:pic>
        <p:nvPicPr>
          <p:cNvPr id="1026" name="Picture 2" descr="https://www.runoob.com/wp-content/uploads/2020/07/async-syn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01" y="1844824"/>
            <a:ext cx="5248582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-blog.csdnimg.cn/blog_migrate/5449ced3abc91d6670e983c58b56163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427" y="1715188"/>
            <a:ext cx="2866849" cy="149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6876256" y="1172324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同步</a:t>
            </a:r>
          </a:p>
        </p:txBody>
      </p:sp>
      <p:pic>
        <p:nvPicPr>
          <p:cNvPr id="1030" name="Picture 6" descr="https://i-blog.csdnimg.cn/blog_migrate/47cffc53ba2db730561651f376b978e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405" y="3611024"/>
            <a:ext cx="2866851" cy="162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6735281" y="312113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异步</a:t>
            </a:r>
            <a:endParaRPr lang="zh-CN" altLang="en-US" sz="2800" dirty="0"/>
          </a:p>
        </p:txBody>
      </p:sp>
      <p:sp>
        <p:nvSpPr>
          <p:cNvPr id="11" name="Rectangle 2"/>
          <p:cNvSpPr>
            <a:spLocks noGrp="1" noChangeArrowheads="1"/>
          </p:cNvSpPr>
          <p:nvPr/>
        </p:nvSpPr>
        <p:spPr bwMode="auto">
          <a:xfrm>
            <a:off x="179512" y="127084"/>
            <a:ext cx="8001000" cy="819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ctr">
              <a:defRPr/>
            </a:pPr>
            <a:r>
              <a:rPr lang="en-US" altLang="zh-CN" sz="4400" dirty="0" smtClean="0"/>
              <a:t>JavaScript </a:t>
            </a:r>
            <a:r>
              <a:rPr lang="zh-CN" altLang="en-US" sz="4400" dirty="0" smtClean="0"/>
              <a:t>异步编程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34841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4530725"/>
          </a:xfrm>
        </p:spPr>
        <p:txBody>
          <a:bodyPr/>
          <a:lstStyle/>
          <a:p>
            <a:r>
              <a:rPr lang="zh-CN" altLang="en-US" dirty="0" smtClean="0"/>
              <a:t>同步与异步演示范例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916832"/>
            <a:ext cx="4137556" cy="27363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358" y="1916832"/>
            <a:ext cx="4483129" cy="266429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00645" y="5373216"/>
            <a:ext cx="6819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setTimeout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function,delay</a:t>
            </a:r>
            <a:r>
              <a:rPr lang="en-US" altLang="zh-CN" dirty="0" smtClean="0"/>
              <a:t>,[…]):</a:t>
            </a:r>
            <a:r>
              <a:rPr lang="zh-CN" altLang="en-US" dirty="0" smtClean="0"/>
              <a:t>在指定</a:t>
            </a:r>
            <a:r>
              <a:rPr lang="en-US" altLang="zh-CN" dirty="0" smtClean="0"/>
              <a:t>delay</a:t>
            </a:r>
            <a:r>
              <a:rPr lang="zh-CN" altLang="en-US" dirty="0" smtClean="0"/>
              <a:t>毫秒</a:t>
            </a:r>
            <a:r>
              <a:rPr lang="zh-CN" altLang="en-US" dirty="0"/>
              <a:t>数后</a:t>
            </a:r>
            <a:r>
              <a:rPr lang="zh-CN" altLang="en-US" dirty="0" smtClean="0"/>
              <a:t>执行</a:t>
            </a:r>
            <a:r>
              <a:rPr lang="en-US" altLang="zh-CN" dirty="0" smtClean="0"/>
              <a:t>function</a:t>
            </a:r>
            <a:r>
              <a:rPr lang="zh-CN" altLang="en-US" dirty="0" smtClean="0"/>
              <a:t>代码</a:t>
            </a:r>
            <a:r>
              <a:rPr lang="zh-CN" altLang="en-US" dirty="0"/>
              <a:t>的函数，常用于延迟执行或定时任务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195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8273" y="1268760"/>
            <a:ext cx="2818656" cy="4530725"/>
          </a:xfrm>
        </p:spPr>
        <p:txBody>
          <a:bodyPr/>
          <a:lstStyle/>
          <a:p>
            <a:r>
              <a:rPr lang="zh-CN" altLang="en-US" dirty="0" smtClean="0"/>
              <a:t>同步范例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异步范例：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277813"/>
            <a:ext cx="5087213" cy="273630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3196679"/>
            <a:ext cx="5040560" cy="34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8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48680"/>
            <a:ext cx="8229600" cy="4530725"/>
          </a:xfrm>
        </p:spPr>
        <p:txBody>
          <a:bodyPr/>
          <a:lstStyle/>
          <a:p>
            <a:r>
              <a:rPr lang="en-US" altLang="zh-CN" dirty="0" smtClean="0"/>
              <a:t>Ajax (asynchronous JavaScript and XML):</a:t>
            </a:r>
            <a:r>
              <a:rPr lang="zh-CN" altLang="en-US" dirty="0" smtClean="0"/>
              <a:t>异步</a:t>
            </a:r>
            <a:r>
              <a:rPr lang="en-US" altLang="zh-CN" dirty="0" err="1" smtClean="0"/>
              <a:t>javascript</a:t>
            </a:r>
            <a:r>
              <a:rPr lang="zh-CN" altLang="en-US" dirty="0"/>
              <a:t> </a:t>
            </a:r>
            <a:r>
              <a:rPr lang="zh-CN" altLang="en-US" dirty="0" smtClean="0"/>
              <a:t>和</a:t>
            </a:r>
            <a:r>
              <a:rPr lang="en-US" altLang="zh-CN" dirty="0" smtClean="0"/>
              <a:t>xml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smtClean="0"/>
              <a:t> </a:t>
            </a:r>
            <a:r>
              <a:rPr lang="zh-CN" altLang="en-US" dirty="0" smtClean="0"/>
              <a:t>采用异步传输方式，能够允许用户在不更新整个页面的情况下，只针对用户需要更新的部分进行更新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是几种相关技术组合使用的结果：</a:t>
            </a:r>
            <a:r>
              <a:rPr lang="en-US" altLang="zh-CN" dirty="0" smtClean="0"/>
              <a:t>XHTML, Dom, XML</a:t>
            </a:r>
            <a:r>
              <a:rPr lang="zh-CN" altLang="en-US" dirty="0" smtClean="0"/>
              <a:t>和</a:t>
            </a:r>
            <a:r>
              <a:rPr lang="en-US" altLang="zh-CN" dirty="0" smtClean="0"/>
              <a:t>XSLT, </a:t>
            </a:r>
            <a:r>
              <a:rPr lang="en-US" altLang="zh-CN" dirty="0" err="1" smtClean="0"/>
              <a:t>XMLHttpRequest</a:t>
            </a:r>
            <a:r>
              <a:rPr lang="zh-CN" altLang="en-US" dirty="0" smtClean="0"/>
              <a:t>对象</a:t>
            </a:r>
            <a:r>
              <a:rPr lang="en-US" altLang="zh-CN" dirty="0" smtClean="0"/>
              <a:t>,JavaScript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smtClean="0"/>
              <a:t>Ajax </a:t>
            </a:r>
            <a:r>
              <a:rPr lang="zh-CN" altLang="en-US" dirty="0" smtClean="0"/>
              <a:t>实施方案：</a:t>
            </a:r>
            <a:endParaRPr lang="en-US" altLang="zh-CN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XmlHttpRequest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：最基础方法</a:t>
            </a:r>
            <a:endParaRPr lang="en-US" altLang="zh-CN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Jquery</a:t>
            </a:r>
            <a:r>
              <a:rPr lang="en-US" altLang="zh-CN" dirty="0" smtClean="0"/>
              <a:t> </a:t>
            </a:r>
            <a:r>
              <a:rPr lang="zh-CN" altLang="en-US" dirty="0" smtClean="0"/>
              <a:t>结合</a:t>
            </a:r>
            <a:r>
              <a:rPr lang="en-US" altLang="zh-CN" dirty="0" smtClean="0"/>
              <a:t>get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smtClean="0"/>
              <a:t>Promise </a:t>
            </a:r>
            <a:r>
              <a:rPr lang="zh-CN" altLang="en-US" dirty="0" smtClean="0"/>
              <a:t>： </a:t>
            </a:r>
            <a:r>
              <a:rPr lang="en-US" altLang="zh-CN" dirty="0" smtClean="0"/>
              <a:t>es2015</a:t>
            </a:r>
            <a:r>
              <a:rPr lang="zh-CN" altLang="en-US" dirty="0"/>
              <a:t>支持</a:t>
            </a:r>
          </a:p>
        </p:txBody>
      </p:sp>
    </p:spTree>
    <p:extLst>
      <p:ext uri="{BB962C8B-B14F-4D97-AF65-F5344CB8AC3E}">
        <p14:creationId xmlns:p14="http://schemas.microsoft.com/office/powerpoint/2010/main" val="312249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332656"/>
            <a:ext cx="8229600" cy="4530725"/>
          </a:xfrm>
        </p:spPr>
        <p:txBody>
          <a:bodyPr/>
          <a:lstStyle/>
          <a:p>
            <a:r>
              <a:rPr lang="en-US" altLang="zh-CN" dirty="0" err="1"/>
              <a:t>xmlHttpRequest</a:t>
            </a:r>
            <a:r>
              <a:rPr lang="zh-CN" altLang="en-US" dirty="0" smtClean="0"/>
              <a:t>示例：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84784"/>
            <a:ext cx="6366821" cy="498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2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4530725"/>
          </a:xfrm>
        </p:spPr>
        <p:txBody>
          <a:bodyPr/>
          <a:lstStyle/>
          <a:p>
            <a:r>
              <a:rPr lang="en-US" altLang="zh-CN" dirty="0" err="1" smtClean="0"/>
              <a:t>xmlHttpRequest</a:t>
            </a:r>
            <a:r>
              <a:rPr lang="zh-CN" altLang="en-US" dirty="0" smtClean="0"/>
              <a:t>代码范例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19" y="1124744"/>
            <a:ext cx="7488233" cy="559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5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260648"/>
            <a:ext cx="8229600" cy="4530725"/>
          </a:xfrm>
        </p:spPr>
        <p:txBody>
          <a:bodyPr/>
          <a:lstStyle/>
          <a:p>
            <a:r>
              <a:rPr lang="en-US" altLang="zh-CN" dirty="0" err="1" smtClean="0"/>
              <a:t>Jquery</a:t>
            </a:r>
            <a:r>
              <a:rPr lang="en-US" altLang="zh-CN" dirty="0" smtClean="0"/>
              <a:t> ajax</a:t>
            </a:r>
            <a:r>
              <a:rPr lang="zh-CN" altLang="en-US" dirty="0" smtClean="0"/>
              <a:t>范例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412776"/>
            <a:ext cx="6281057" cy="490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1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6048672"/>
          </a:xfrm>
        </p:spPr>
        <p:txBody>
          <a:bodyPr/>
          <a:lstStyle/>
          <a:p>
            <a:r>
              <a:rPr lang="en-US" altLang="zh-CN" dirty="0" err="1" smtClean="0"/>
              <a:t>Jquery</a:t>
            </a:r>
            <a:r>
              <a:rPr lang="en-US" altLang="zh-CN" dirty="0" smtClean="0"/>
              <a:t> ajax</a:t>
            </a:r>
            <a:r>
              <a:rPr lang="zh-CN" altLang="en-US" dirty="0" smtClean="0"/>
              <a:t>范例</a:t>
            </a:r>
            <a:endParaRPr lang="en-US" altLang="zh-CN" dirty="0" smtClean="0"/>
          </a:p>
          <a:p>
            <a:r>
              <a:rPr lang="zh-CN" altLang="en-US" sz="2400" dirty="0" smtClean="0"/>
              <a:t>参看：</a:t>
            </a:r>
            <a:r>
              <a:rPr lang="en-US" altLang="zh-CN" sz="2400" dirty="0">
                <a:hlinkClick r:id="rId2"/>
              </a:rPr>
              <a:t>https://</a:t>
            </a:r>
            <a:r>
              <a:rPr lang="en-US" altLang="zh-CN" sz="2400" dirty="0" smtClean="0">
                <a:hlinkClick r:id="rId2"/>
              </a:rPr>
              <a:t>www.runoob.com/jquery/jquery-ajax-intro.html</a:t>
            </a:r>
            <a:endParaRPr lang="en-US" altLang="zh-CN" sz="2400" dirty="0" smtClean="0"/>
          </a:p>
          <a:p>
            <a:r>
              <a:rPr lang="zh-CN" altLang="en-US" sz="2400" dirty="0" smtClean="0"/>
              <a:t>方法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：直接组件加载数据，采用</a:t>
            </a:r>
            <a:r>
              <a:rPr lang="en-US" altLang="zh-CN" sz="2400" dirty="0" smtClean="0"/>
              <a:t>load</a:t>
            </a:r>
            <a:r>
              <a:rPr lang="zh-CN" altLang="en-US" sz="2400" dirty="0" smtClean="0"/>
              <a:t>方法。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r>
              <a:rPr lang="en-US" altLang="zh-CN" sz="2400" dirty="0" smtClean="0"/>
              <a:t>$(“#demo”)</a:t>
            </a:r>
            <a:r>
              <a:rPr lang="zh-CN" altLang="en-US" sz="2400" dirty="0" smtClean="0"/>
              <a:t>：获得页面中</a:t>
            </a:r>
            <a:r>
              <a:rPr lang="en-US" altLang="zh-CN" sz="2400" dirty="0" smtClean="0"/>
              <a:t>Id</a:t>
            </a:r>
            <a:r>
              <a:rPr lang="zh-CN" altLang="en-US" sz="2400" dirty="0" smtClean="0"/>
              <a:t>号为</a:t>
            </a:r>
            <a:r>
              <a:rPr lang="en-US" altLang="zh-CN" sz="2400" dirty="0" smtClean="0"/>
              <a:t>demo</a:t>
            </a:r>
            <a:r>
              <a:rPr lang="zh-CN" altLang="en-US" sz="2400" dirty="0" smtClean="0"/>
              <a:t>的组件。</a:t>
            </a:r>
            <a:endParaRPr lang="en-US" altLang="zh-CN" sz="2400" dirty="0"/>
          </a:p>
          <a:p>
            <a:r>
              <a:rPr lang="en-US" altLang="zh-CN" sz="2400" dirty="0">
                <a:effectLst/>
              </a:rPr>
              <a:t>$(document).ready(function(){...})</a:t>
            </a:r>
            <a:r>
              <a:rPr lang="zh-CN" altLang="en-US" sz="2400" dirty="0">
                <a:effectLst/>
              </a:rPr>
              <a:t>：表示等页面准备好后，再运行函数</a:t>
            </a:r>
            <a:r>
              <a:rPr lang="en-US" altLang="zh-CN" sz="2400" dirty="0">
                <a:effectLst/>
              </a:rPr>
              <a:t>function().</a:t>
            </a:r>
          </a:p>
          <a:p>
            <a:endParaRPr lang="en-US" altLang="zh-CN" sz="2400" dirty="0" smtClean="0"/>
          </a:p>
          <a:p>
            <a:endParaRPr lang="en-US" altLang="zh-CN" sz="2400" dirty="0" smtClean="0"/>
          </a:p>
          <a:p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348880"/>
            <a:ext cx="8625136" cy="3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31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476672"/>
            <a:ext cx="8229600" cy="4530725"/>
          </a:xfrm>
        </p:spPr>
        <p:txBody>
          <a:bodyPr/>
          <a:lstStyle/>
          <a:p>
            <a:r>
              <a:rPr lang="zh-CN" altLang="en-US" dirty="0" smtClean="0"/>
              <a:t>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：比较完整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052736"/>
            <a:ext cx="6697422" cy="551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02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476672"/>
            <a:ext cx="8229600" cy="4530725"/>
          </a:xfrm>
        </p:spPr>
        <p:txBody>
          <a:bodyPr/>
          <a:lstStyle/>
          <a:p>
            <a:r>
              <a:rPr lang="zh-CN" altLang="en-US" dirty="0" smtClean="0"/>
              <a:t>方法</a:t>
            </a:r>
            <a:r>
              <a:rPr lang="en-US" altLang="zh-CN" dirty="0"/>
              <a:t>3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79" y="1628800"/>
            <a:ext cx="7885714" cy="3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9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常用新型</a:t>
            </a:r>
            <a:r>
              <a:rPr lang="en-US" altLang="zh-CN" dirty="0" smtClean="0"/>
              <a:t>ajax</a:t>
            </a:r>
            <a:r>
              <a:rPr lang="zh-CN" altLang="en-US" dirty="0" smtClean="0"/>
              <a:t>调用框架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Promise </a:t>
            </a:r>
            <a:r>
              <a:rPr lang="zh-CN" altLang="en-US" dirty="0" smtClean="0"/>
              <a:t>：异步操作函数</a:t>
            </a:r>
            <a:endParaRPr lang="en-US" altLang="zh-CN" dirty="0" smtClean="0"/>
          </a:p>
          <a:p>
            <a:r>
              <a:rPr lang="en-US" altLang="zh-CN" dirty="0" smtClean="0"/>
              <a:t>fetch </a:t>
            </a:r>
            <a:r>
              <a:rPr lang="zh-CN" altLang="en-US" dirty="0" smtClean="0"/>
              <a:t>：基于</a:t>
            </a:r>
            <a:r>
              <a:rPr lang="en-US" altLang="zh-CN" dirty="0" smtClean="0"/>
              <a:t>Promise</a:t>
            </a:r>
            <a:r>
              <a:rPr lang="zh-CN" altLang="en-US" dirty="0" smtClean="0"/>
              <a:t>的网络请求工具</a:t>
            </a:r>
            <a:endParaRPr lang="en-US" altLang="zh-CN" dirty="0" smtClean="0"/>
          </a:p>
          <a:p>
            <a:r>
              <a:rPr lang="en-US" altLang="zh-CN" dirty="0" err="1" smtClean="0"/>
              <a:t>axios</a:t>
            </a:r>
            <a:r>
              <a:rPr lang="en-US" altLang="zh-CN" dirty="0" smtClean="0"/>
              <a:t> : node.js</a:t>
            </a:r>
            <a:r>
              <a:rPr lang="zh-CN" altLang="en-US" dirty="0" smtClean="0"/>
              <a:t>中常用的网络请求库</a:t>
            </a:r>
            <a:endParaRPr lang="en-US" altLang="zh-CN" dirty="0" smtClean="0"/>
          </a:p>
          <a:p>
            <a:r>
              <a:rPr lang="en-US" altLang="zh-CN" dirty="0" err="1" smtClean="0"/>
              <a:t>async</a:t>
            </a:r>
            <a:r>
              <a:rPr lang="en-US" altLang="zh-CN" dirty="0" smtClean="0"/>
              <a:t>/await </a:t>
            </a:r>
            <a:r>
              <a:rPr lang="zh-CN" altLang="en-US" dirty="0" smtClean="0"/>
              <a:t>：同步方式写异步代码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265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88640"/>
            <a:ext cx="8712968" cy="4530725"/>
          </a:xfrm>
        </p:spPr>
        <p:txBody>
          <a:bodyPr/>
          <a:lstStyle/>
          <a:p>
            <a:r>
              <a:rPr lang="en-US" altLang="zh-CN" sz="2200" dirty="0" smtClean="0"/>
              <a:t>Promise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200" dirty="0" smtClean="0"/>
              <a:t> ES2015</a:t>
            </a:r>
            <a:r>
              <a:rPr lang="zh-CN" altLang="en-US" sz="2200" dirty="0" smtClean="0"/>
              <a:t>标准采用的，用于处理异步操作的对象，代表一个异步操作的最终完成及其结果值。</a:t>
            </a:r>
            <a:endParaRPr lang="en-US" altLang="zh-CN" sz="22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目的：让异步代码变得更有序，解决回调地狱问题。</a:t>
            </a:r>
            <a:endParaRPr lang="en-US" altLang="zh-CN" sz="22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200" dirty="0"/>
              <a:t>Promise </a:t>
            </a:r>
            <a:r>
              <a:rPr lang="zh-CN" altLang="en-US" sz="2200" dirty="0"/>
              <a:t>有三种状态</a:t>
            </a:r>
            <a:r>
              <a:rPr lang="zh-CN" altLang="en-US" sz="2200" dirty="0" smtClean="0"/>
              <a:t>：</a:t>
            </a:r>
            <a:endParaRPr lang="en-US" altLang="zh-CN" sz="2200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sz="2200" dirty="0" smtClean="0"/>
              <a:t>Pending</a:t>
            </a:r>
            <a:r>
              <a:rPr lang="zh-CN" altLang="en-US" sz="2200" dirty="0" smtClean="0"/>
              <a:t>待定：</a:t>
            </a:r>
            <a:r>
              <a:rPr lang="zh-CN" altLang="en-US" sz="2200" dirty="0"/>
              <a:t>初始状态，既不是成功，也不是失败</a:t>
            </a:r>
            <a:r>
              <a:rPr lang="zh-CN" altLang="en-US" sz="2200" dirty="0" smtClean="0"/>
              <a:t>状态</a:t>
            </a:r>
            <a:endParaRPr lang="en-US" altLang="zh-CN" sz="2200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sz="2200" dirty="0" smtClean="0"/>
              <a:t>Fulfilled</a:t>
            </a:r>
            <a:r>
              <a:rPr lang="zh-CN" altLang="en-US" sz="2200" dirty="0" smtClean="0"/>
              <a:t>已兑现：</a:t>
            </a:r>
            <a:r>
              <a:rPr lang="zh-CN" altLang="en-US" sz="2200" dirty="0"/>
              <a:t>意味着操作成功</a:t>
            </a:r>
            <a:r>
              <a:rPr lang="zh-CN" altLang="en-US" sz="2200" dirty="0" smtClean="0"/>
              <a:t>完成</a:t>
            </a:r>
            <a:endParaRPr lang="en-US" altLang="zh-CN" sz="2200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sz="2200" dirty="0" smtClean="0"/>
              <a:t>Rejected</a:t>
            </a:r>
            <a:r>
              <a:rPr lang="zh-CN" altLang="en-US" sz="2200" dirty="0" smtClean="0"/>
              <a:t>已拒绝：</a:t>
            </a:r>
            <a:r>
              <a:rPr lang="zh-CN" altLang="en-US" sz="2200" dirty="0"/>
              <a:t>意味着操作失败</a:t>
            </a:r>
            <a:endParaRPr lang="en-US" altLang="zh-CN" sz="2200" dirty="0" smtClean="0"/>
          </a:p>
          <a:p>
            <a:pPr lvl="1">
              <a:buFont typeface="Wingdings" panose="05000000000000000000" pitchFamily="2" charset="2"/>
              <a:buChar char="l"/>
            </a:pPr>
            <a:endParaRPr lang="zh-CN" altLang="en-US" sz="2200" dirty="0"/>
          </a:p>
        </p:txBody>
      </p:sp>
      <p:pic>
        <p:nvPicPr>
          <p:cNvPr id="1030" name="Picture 6" descr="promises.png (801×297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33" y="3304902"/>
            <a:ext cx="7629525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721233" y="6165304"/>
            <a:ext cx="806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参看：</a:t>
            </a:r>
            <a:r>
              <a:rPr lang="en-US" altLang="zh-CN" sz="1600" dirty="0"/>
              <a:t>https://developer.mozilla.org/zh-CN/docs/Web/JavaScript/Guide/Using_promises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65309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88640"/>
            <a:ext cx="8640960" cy="6192688"/>
          </a:xfrm>
        </p:spPr>
        <p:txBody>
          <a:bodyPr/>
          <a:lstStyle/>
          <a:p>
            <a:r>
              <a:rPr lang="en-US" altLang="zh-CN" sz="2800" dirty="0" smtClean="0"/>
              <a:t>Promise</a:t>
            </a:r>
            <a:r>
              <a:rPr lang="zh-CN" altLang="en-US" sz="2800" dirty="0" smtClean="0"/>
              <a:t>的调用框架</a:t>
            </a:r>
            <a:endParaRPr lang="en-US" altLang="zh-CN" sz="2800" dirty="0" smtClean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sz="2800" dirty="0" smtClean="0"/>
              <a:t>调用方法：</a:t>
            </a:r>
            <a:r>
              <a:rPr lang="en-US" altLang="zh-CN" sz="2800" dirty="0"/>
              <a:t>Promise</a:t>
            </a:r>
            <a:r>
              <a:rPr lang="zh-CN" altLang="en-US" sz="2800" dirty="0"/>
              <a:t>实例生成以后，使用</a:t>
            </a:r>
            <a:r>
              <a:rPr lang="en-US" altLang="zh-CN" sz="2800" dirty="0"/>
              <a:t>then</a:t>
            </a:r>
            <a:r>
              <a:rPr lang="zh-CN" altLang="en-US" sz="2800" dirty="0"/>
              <a:t>方法分别指定</a:t>
            </a:r>
            <a:r>
              <a:rPr lang="en-US" altLang="zh-CN" sz="2800" dirty="0"/>
              <a:t>fulfilled</a:t>
            </a:r>
            <a:r>
              <a:rPr lang="zh-CN" altLang="en-US" sz="2800" dirty="0"/>
              <a:t>状态和</a:t>
            </a:r>
            <a:r>
              <a:rPr lang="en-US" altLang="zh-CN" sz="2800" dirty="0"/>
              <a:t>rejected</a:t>
            </a:r>
            <a:r>
              <a:rPr lang="zh-CN" altLang="en-US" sz="2800" dirty="0"/>
              <a:t>状态的回调函数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000" dirty="0" err="1" smtClean="0"/>
              <a:t>successCallback</a:t>
            </a:r>
            <a:r>
              <a:rPr lang="zh-CN" altLang="en-US" sz="2000" dirty="0" smtClean="0"/>
              <a:t>：操作成功时需要调用的函数</a:t>
            </a:r>
            <a:endParaRPr lang="en-US" altLang="zh-CN" sz="20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000" dirty="0" err="1" smtClean="0"/>
              <a:t>failureCallback</a:t>
            </a:r>
            <a:r>
              <a:rPr lang="en-US" altLang="zh-CN" sz="2000" dirty="0" smtClean="0"/>
              <a:t>: </a:t>
            </a:r>
            <a:r>
              <a:rPr lang="zh-CN" altLang="en-US" sz="2000" dirty="0" smtClean="0"/>
              <a:t>操作失败时需要调用的函数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729995" y="764704"/>
            <a:ext cx="7666217" cy="258532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myPromise</a:t>
            </a:r>
            <a:r>
              <a:rPr lang="en-US" altLang="zh-CN" dirty="0"/>
              <a:t> = new Promise((resolve, reject) =&gt; {</a:t>
            </a:r>
          </a:p>
          <a:p>
            <a:r>
              <a:rPr lang="en-US" altLang="zh-CN" dirty="0"/>
              <a:t>  // </a:t>
            </a:r>
            <a:r>
              <a:rPr lang="zh-CN" altLang="en-US" dirty="0"/>
              <a:t>异步操作代码</a:t>
            </a:r>
          </a:p>
          <a:p>
            <a:r>
              <a:rPr lang="zh-CN" altLang="en-US" dirty="0"/>
              <a:t>  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if (/* </a:t>
            </a:r>
            <a:r>
              <a:rPr lang="zh-CN" altLang="en-US" dirty="0"/>
              <a:t>操作成功 *</a:t>
            </a:r>
            <a:r>
              <a:rPr lang="en-US" altLang="zh-CN" dirty="0"/>
              <a:t>/) {</a:t>
            </a:r>
          </a:p>
          <a:p>
            <a:r>
              <a:rPr lang="en-US" altLang="zh-CN" dirty="0"/>
              <a:t>    resolve('</a:t>
            </a:r>
            <a:r>
              <a:rPr lang="zh-CN" altLang="en-US" dirty="0"/>
              <a:t>成功的结果</a:t>
            </a:r>
            <a:r>
              <a:rPr lang="en-US" altLang="zh-CN" dirty="0"/>
              <a:t>'); // </a:t>
            </a:r>
            <a:r>
              <a:rPr lang="zh-CN" altLang="en-US" dirty="0"/>
              <a:t>将 </a:t>
            </a:r>
            <a:r>
              <a:rPr lang="en-US" altLang="zh-CN" dirty="0"/>
              <a:t>Promise </a:t>
            </a:r>
            <a:r>
              <a:rPr lang="zh-CN" altLang="en-US" dirty="0"/>
              <a:t>状态改为 </a:t>
            </a:r>
            <a:r>
              <a:rPr lang="en-US" altLang="zh-CN" dirty="0"/>
              <a:t>fulfilled</a:t>
            </a:r>
          </a:p>
          <a:p>
            <a:r>
              <a:rPr lang="en-US" altLang="zh-CN" dirty="0"/>
              <a:t>  } else {</a:t>
            </a:r>
          </a:p>
          <a:p>
            <a:r>
              <a:rPr lang="en-US" altLang="zh-CN" dirty="0"/>
              <a:t>    reject('</a:t>
            </a:r>
            <a:r>
              <a:rPr lang="zh-CN" altLang="en-US" dirty="0"/>
              <a:t>失败的原因</a:t>
            </a:r>
            <a:r>
              <a:rPr lang="en-US" altLang="zh-CN" dirty="0"/>
              <a:t>'); // </a:t>
            </a:r>
            <a:r>
              <a:rPr lang="zh-CN" altLang="en-US" dirty="0"/>
              <a:t>将 </a:t>
            </a:r>
            <a:r>
              <a:rPr lang="en-US" altLang="zh-CN" dirty="0"/>
              <a:t>Promise </a:t>
            </a:r>
            <a:r>
              <a:rPr lang="zh-CN" altLang="en-US" dirty="0"/>
              <a:t>状态改为 </a:t>
            </a:r>
            <a:r>
              <a:rPr lang="en-US" altLang="zh-CN" dirty="0"/>
              <a:t>rejected</a:t>
            </a:r>
          </a:p>
          <a:p>
            <a:r>
              <a:rPr lang="en-US" altLang="zh-CN" dirty="0"/>
              <a:t>  }</a:t>
            </a:r>
          </a:p>
          <a:p>
            <a:r>
              <a:rPr lang="en-US" altLang="zh-CN" dirty="0"/>
              <a:t>});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29995" y="4725144"/>
            <a:ext cx="7666217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 err="1" smtClean="0"/>
              <a:t>Promise.then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successCallback,failureCallback</a:t>
            </a:r>
            <a:r>
              <a:rPr lang="en-US" altLang="zh-CN" sz="2000" dirty="0" smtClean="0"/>
              <a:t>)</a:t>
            </a:r>
          </a:p>
          <a:p>
            <a:r>
              <a:rPr lang="en-US" altLang="zh-CN" sz="2000" dirty="0" err="1" smtClean="0"/>
              <a:t>Promise.then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successCallback</a:t>
            </a:r>
            <a:r>
              <a:rPr lang="en-US" altLang="zh-CN" sz="2000" dirty="0"/>
              <a:t>).catch(</a:t>
            </a:r>
            <a:r>
              <a:rPr lang="en-US" altLang="zh-CN" sz="2000" dirty="0" err="1"/>
              <a:t>failureCallback</a:t>
            </a:r>
            <a:r>
              <a:rPr lang="en-US" altLang="zh-CN" sz="2000" dirty="0" smtClean="0"/>
              <a:t>)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1363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6"/>
            <a:ext cx="8229600" cy="4530725"/>
          </a:xfrm>
        </p:spPr>
        <p:txBody>
          <a:bodyPr/>
          <a:lstStyle/>
          <a:p>
            <a:r>
              <a:rPr lang="en-US" altLang="zh-CN" dirty="0" smtClean="0"/>
              <a:t>Promise</a:t>
            </a:r>
            <a:r>
              <a:rPr lang="zh-CN" altLang="en-US" dirty="0" smtClean="0"/>
              <a:t>调用范例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3778618" cy="29523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831" y="1412776"/>
            <a:ext cx="3641020" cy="285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88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6"/>
            <a:ext cx="8229600" cy="4530725"/>
          </a:xfrm>
        </p:spPr>
        <p:txBody>
          <a:bodyPr/>
          <a:lstStyle/>
          <a:p>
            <a:r>
              <a:rPr lang="en-US" altLang="zh-CN" dirty="0" smtClean="0"/>
              <a:t>Promise</a:t>
            </a:r>
            <a:r>
              <a:rPr lang="zh-CN" altLang="en-US" dirty="0" smtClean="0"/>
              <a:t>调用代码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86" y="1400428"/>
            <a:ext cx="7171428" cy="4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23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6"/>
            <a:ext cx="8229600" cy="4530725"/>
          </a:xfrm>
        </p:spPr>
        <p:txBody>
          <a:bodyPr/>
          <a:lstStyle/>
          <a:p>
            <a:r>
              <a:rPr lang="en-US" altLang="zh-CN" dirty="0" smtClean="0"/>
              <a:t>Promise</a:t>
            </a:r>
            <a:r>
              <a:rPr lang="zh-CN" altLang="en-US" dirty="0" smtClean="0"/>
              <a:t>调用代码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15" y="980728"/>
            <a:ext cx="6908768" cy="23762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388368"/>
            <a:ext cx="7256687" cy="230425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78529" y="5789193"/>
            <a:ext cx="707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箭头函数</a:t>
            </a:r>
            <a:r>
              <a:rPr lang="zh-CN" altLang="en-US" dirty="0" smtClean="0"/>
              <a:t>表达式：参数</a:t>
            </a:r>
            <a:r>
              <a:rPr lang="en-US" altLang="zh-CN" dirty="0" smtClean="0"/>
              <a:t>=&gt;</a:t>
            </a:r>
            <a:r>
              <a:rPr lang="zh-CN" altLang="en-US" dirty="0" smtClean="0"/>
              <a:t>函数体</a:t>
            </a:r>
            <a:endParaRPr lang="en-US" altLang="zh-CN" dirty="0" smtClean="0"/>
          </a:p>
          <a:p>
            <a:r>
              <a:rPr lang="es-ES" altLang="zh-CN" dirty="0"/>
              <a:t> (x, y) =&gt; x * </a:t>
            </a:r>
            <a:r>
              <a:rPr lang="es-ES" altLang="zh-CN" dirty="0" smtClean="0"/>
              <a:t>y </a:t>
            </a:r>
            <a:r>
              <a:rPr lang="zh-CN" altLang="en-US" dirty="0" smtClean="0"/>
              <a:t>等同于：</a:t>
            </a:r>
            <a:r>
              <a:rPr lang="es-ES" altLang="zh-CN" dirty="0"/>
              <a:t> function(x, y) { return x * y;}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8940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88640"/>
            <a:ext cx="8784976" cy="4530725"/>
          </a:xfrm>
        </p:spPr>
        <p:txBody>
          <a:bodyPr/>
          <a:lstStyle/>
          <a:p>
            <a:r>
              <a:rPr lang="en-US" altLang="zh-CN" dirty="0"/>
              <a:t>Promise</a:t>
            </a:r>
            <a:r>
              <a:rPr lang="zh-CN" altLang="en-US" dirty="0"/>
              <a:t>的链式</a:t>
            </a:r>
            <a:r>
              <a:rPr lang="zh-CN" altLang="en-US" dirty="0" smtClean="0"/>
              <a:t>调用</a:t>
            </a:r>
            <a:endParaRPr lang="en-US" altLang="zh-CN" dirty="0" smtClean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 smtClean="0"/>
              <a:t> then()</a:t>
            </a:r>
            <a:r>
              <a:rPr lang="zh-CN" altLang="en-US" sz="2400" dirty="0" smtClean="0"/>
              <a:t>返回一个和原来不同的新的</a:t>
            </a:r>
            <a:r>
              <a:rPr lang="en-US" altLang="zh-CN" sz="2400" dirty="0" smtClean="0"/>
              <a:t>Promise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/>
              <a:t>使用场景：多个函数过程，前一个函数运行结果作为后一个函数输入，每个函数还需要进行错误处理。</a:t>
            </a:r>
            <a:endParaRPr lang="en-US" altLang="zh-CN" sz="2000" dirty="0"/>
          </a:p>
          <a:p>
            <a:pPr lvl="2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en-US" altLang="zh-CN" sz="2200" dirty="0" err="1" smtClean="0"/>
              <a:t>doSomething</a:t>
            </a:r>
            <a:r>
              <a:rPr lang="en-US" altLang="zh-CN" sz="2200" dirty="0" smtClean="0"/>
              <a:t> -&gt; </a:t>
            </a:r>
            <a:r>
              <a:rPr lang="en-US" altLang="zh-CN" sz="2200" dirty="0" err="1" smtClean="0"/>
              <a:t>doSomethingElse</a:t>
            </a:r>
            <a:r>
              <a:rPr lang="en-US" altLang="zh-CN" sz="2200" dirty="0" smtClean="0"/>
              <a:t>-&gt;</a:t>
            </a:r>
            <a:r>
              <a:rPr lang="en-US" altLang="zh-CN" sz="2200" dirty="0" err="1" smtClean="0"/>
              <a:t>doThirdThing</a:t>
            </a:r>
            <a:endParaRPr lang="en-US" altLang="zh-CN" sz="2200" dirty="0" smtClean="0"/>
          </a:p>
          <a:p>
            <a:pPr lvl="2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 smtClean="0"/>
              <a:t>旧式回调方法</a:t>
            </a:r>
            <a:endParaRPr lang="en-US" altLang="zh-CN" dirty="0" smtClean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212976"/>
            <a:ext cx="5976664" cy="204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81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76672"/>
            <a:ext cx="8229600" cy="453072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then </a:t>
            </a:r>
            <a:r>
              <a:rPr lang="zh-CN" altLang="en-US" dirty="0"/>
              <a:t>调用方法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err="1"/>
              <a:t>doSomethingElse</a:t>
            </a:r>
            <a:r>
              <a:rPr lang="zh-CN" altLang="en-US" dirty="0" smtClean="0"/>
              <a:t>函数运行结果，产生</a:t>
            </a:r>
            <a:r>
              <a:rPr lang="en-US" altLang="zh-CN" dirty="0" err="1" smtClean="0"/>
              <a:t>newresult</a:t>
            </a:r>
            <a:endParaRPr lang="en-US" altLang="zh-CN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doThirdThing</a:t>
            </a:r>
            <a:r>
              <a:rPr lang="zh-CN" altLang="en-US" dirty="0" smtClean="0"/>
              <a:t>函数运行结果，产生</a:t>
            </a:r>
            <a:r>
              <a:rPr lang="en-US" altLang="zh-CN" dirty="0" err="1" smtClean="0"/>
              <a:t>finalResult</a:t>
            </a:r>
            <a:endParaRPr lang="en-US" altLang="zh-CN" dirty="0" smtClean="0"/>
          </a:p>
          <a:p>
            <a:pPr lvl="2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lvl="2">
              <a:buFont typeface="Wingdings" panose="05000000000000000000" pitchFamily="2" charset="2"/>
              <a:buChar char="l"/>
            </a:pPr>
            <a:r>
              <a:rPr lang="zh-CN" altLang="en-US" dirty="0" smtClean="0"/>
              <a:t>具体范例见后面</a:t>
            </a:r>
            <a:r>
              <a:rPr lang="en-US" altLang="zh-CN" dirty="0" smtClean="0"/>
              <a:t>fetch</a:t>
            </a:r>
            <a:r>
              <a:rPr lang="zh-CN" altLang="en-US" dirty="0" smtClean="0"/>
              <a:t>相关案例</a:t>
            </a:r>
            <a:endParaRPr lang="zh-CN" altLang="en-US" dirty="0"/>
          </a:p>
          <a:p>
            <a:pPr lvl="2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052736"/>
            <a:ext cx="5821876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56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Promise.all</a:t>
            </a:r>
            <a:r>
              <a:rPr lang="en-US" altLang="zh-CN" dirty="0" smtClean="0"/>
              <a:t>()</a:t>
            </a:r>
          </a:p>
          <a:p>
            <a:r>
              <a:rPr lang="en-US" altLang="zh-CN" dirty="0" err="1" smtClean="0"/>
              <a:t>Promise.finally</a:t>
            </a:r>
            <a:r>
              <a:rPr lang="en-US" altLang="zh-CN" dirty="0" smtClean="0"/>
              <a:t>()</a:t>
            </a:r>
          </a:p>
          <a:p>
            <a:pPr marL="0" indent="0">
              <a:buNone/>
            </a:pPr>
            <a:r>
              <a:rPr lang="zh-CN" altLang="en-US" dirty="0" smtClean="0"/>
              <a:t>参看：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dirty="0" smtClean="0">
                <a:hlinkClick r:id="rId2"/>
              </a:rPr>
              <a:t>https</a:t>
            </a:r>
            <a:r>
              <a:rPr lang="en-US" altLang="zh-CN" sz="2000" dirty="0">
                <a:hlinkClick r:id="rId2"/>
              </a:rPr>
              <a:t>://</a:t>
            </a:r>
            <a:r>
              <a:rPr lang="en-US" altLang="zh-CN" sz="2000" dirty="0" smtClean="0">
                <a:hlinkClick r:id="rId2"/>
              </a:rPr>
              <a:t>www.runoob.com/js/js-promise.html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https://zhuanlan.zhihu.com/p/423708358</a:t>
            </a:r>
            <a:endParaRPr lang="en-US" altLang="zh-CN" sz="2000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6932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260648"/>
            <a:ext cx="8568952" cy="4530725"/>
          </a:xfrm>
        </p:spPr>
        <p:txBody>
          <a:bodyPr/>
          <a:lstStyle/>
          <a:p>
            <a:r>
              <a:rPr lang="en-US" altLang="zh-CN" dirty="0" smtClean="0"/>
              <a:t>Fetch API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基于</a:t>
            </a:r>
            <a:r>
              <a:rPr lang="en-US" altLang="zh-CN" dirty="0" smtClean="0"/>
              <a:t>Promise </a:t>
            </a:r>
            <a:r>
              <a:rPr lang="zh-CN" altLang="en-US" dirty="0" smtClean="0"/>
              <a:t>设计</a:t>
            </a:r>
            <a:r>
              <a:rPr lang="en-US" altLang="zh-CN" dirty="0" smtClean="0"/>
              <a:t>,</a:t>
            </a:r>
            <a:r>
              <a:rPr lang="zh-CN" altLang="en-US" dirty="0" smtClean="0">
                <a:effectLst/>
              </a:rPr>
              <a:t>简洁</a:t>
            </a:r>
            <a:r>
              <a:rPr lang="zh-CN" altLang="en-US" dirty="0">
                <a:effectLst/>
              </a:rPr>
              <a:t>地发起 </a:t>
            </a:r>
            <a:r>
              <a:rPr lang="en-US" altLang="zh-CN" dirty="0">
                <a:effectLst/>
              </a:rPr>
              <a:t>HTTP </a:t>
            </a:r>
            <a:r>
              <a:rPr lang="zh-CN" altLang="en-US" dirty="0">
                <a:effectLst/>
              </a:rPr>
              <a:t>请求，并处理服务器的响应。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提供</a:t>
            </a:r>
            <a:r>
              <a:rPr lang="zh-CN" altLang="en-US" dirty="0"/>
              <a:t>了一个全局 </a:t>
            </a:r>
            <a:r>
              <a:rPr lang="en-US" altLang="zh-CN" dirty="0"/>
              <a:t>fetch() </a:t>
            </a:r>
            <a:r>
              <a:rPr lang="zh-CN" altLang="en-US" dirty="0"/>
              <a:t>方法，该方法提供了一种简单，合理的方式来跨网络异步获取资源。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99592" y="2996952"/>
            <a:ext cx="7666217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fetch(</a:t>
            </a:r>
            <a:r>
              <a:rPr lang="en-US" altLang="zh-CN" dirty="0" err="1" smtClean="0"/>
              <a:t>url,options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r>
              <a:rPr lang="en-US" altLang="zh-CN" dirty="0"/>
              <a:t>  .then(response =&gt; </a:t>
            </a:r>
            <a:r>
              <a:rPr lang="en-US" altLang="zh-CN" dirty="0" err="1"/>
              <a:t>response.json</a:t>
            </a:r>
            <a:r>
              <a:rPr lang="en-US" altLang="zh-CN" dirty="0"/>
              <a:t>()) // </a:t>
            </a:r>
            <a:r>
              <a:rPr lang="zh-CN" altLang="en-US" dirty="0" smtClean="0"/>
              <a:t>常用于解析 </a:t>
            </a:r>
            <a:r>
              <a:rPr lang="en-US" altLang="zh-CN" dirty="0"/>
              <a:t>JSON </a:t>
            </a:r>
            <a:r>
              <a:rPr lang="zh-CN" altLang="en-US" dirty="0" smtClean="0"/>
              <a:t>数据，如果是文件数据，则使用</a:t>
            </a:r>
            <a:r>
              <a:rPr lang="en-US" altLang="zh-CN" dirty="0" err="1" smtClean="0"/>
              <a:t>response.text</a:t>
            </a:r>
            <a:r>
              <a:rPr lang="en-US" altLang="zh-CN" dirty="0" smtClean="0"/>
              <a:t>()</a:t>
            </a:r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.then(data =&gt; console.log(data))   // </a:t>
            </a:r>
            <a:r>
              <a:rPr lang="zh-CN" altLang="en-US" dirty="0"/>
              <a:t>处理数据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.catch(error =&gt; </a:t>
            </a:r>
            <a:r>
              <a:rPr lang="en-US" altLang="zh-CN" dirty="0" err="1"/>
              <a:t>console.error</a:t>
            </a:r>
            <a:r>
              <a:rPr lang="en-US" altLang="zh-CN" dirty="0"/>
              <a:t>('Error:', error)); // </a:t>
            </a:r>
            <a:r>
              <a:rPr lang="zh-CN" altLang="en-US" dirty="0"/>
              <a:t>错误处理</a:t>
            </a:r>
          </a:p>
        </p:txBody>
      </p:sp>
      <p:sp>
        <p:nvSpPr>
          <p:cNvPr id="6" name="矩形 5"/>
          <p:cNvSpPr/>
          <p:nvPr/>
        </p:nvSpPr>
        <p:spPr>
          <a:xfrm>
            <a:off x="359532" y="4794485"/>
            <a:ext cx="86409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000" dirty="0" err="1" smtClean="0"/>
              <a:t>url</a:t>
            </a:r>
            <a:r>
              <a:rPr lang="zh-CN" altLang="en-US" sz="2000" dirty="0" smtClean="0"/>
              <a:t>：要发送请求的目标</a:t>
            </a:r>
            <a:r>
              <a:rPr lang="en-US" altLang="zh-CN" sz="2000" dirty="0" smtClean="0"/>
              <a:t>URL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options:</a:t>
            </a:r>
            <a:r>
              <a:rPr lang="zh-CN" altLang="en-US" sz="2000" dirty="0" smtClean="0"/>
              <a:t>可选项，可以</a:t>
            </a:r>
            <a:r>
              <a:rPr lang="zh-CN" altLang="en-US" sz="2000" dirty="0"/>
              <a:t>指定请求方法（</a:t>
            </a:r>
            <a:r>
              <a:rPr lang="en-US" altLang="zh-CN" sz="2000" dirty="0"/>
              <a:t>GET</a:t>
            </a:r>
            <a:r>
              <a:rPr lang="zh-CN" altLang="en-US" sz="2000" dirty="0"/>
              <a:t>、</a:t>
            </a:r>
            <a:r>
              <a:rPr lang="en-US" altLang="zh-CN" sz="2000" dirty="0"/>
              <a:t>POST </a:t>
            </a:r>
            <a:r>
              <a:rPr lang="zh-CN" altLang="en-US" sz="2000" dirty="0"/>
              <a:t>等）、请求头、请求体等内容</a:t>
            </a:r>
            <a:r>
              <a:rPr lang="zh-CN" altLang="en-US" sz="2000" dirty="0" smtClean="0"/>
              <a:t>。 </a:t>
            </a:r>
            <a:r>
              <a:rPr lang="en-US" altLang="zh-CN" sz="2000" dirty="0" smtClean="0"/>
              <a:t>=&gt; </a:t>
            </a:r>
            <a:r>
              <a:rPr lang="zh-CN" altLang="en-US" sz="2000" dirty="0" smtClean="0"/>
              <a:t>这部分内容后续讲服务器数据库编程再讨论</a:t>
            </a:r>
            <a:endParaRPr lang="en-US" altLang="zh-CN" sz="20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000" dirty="0"/>
              <a:t>箭头函数表达式可以有隐式返回值</a:t>
            </a:r>
            <a:r>
              <a:rPr lang="zh-CN" altLang="en-US" sz="2000" dirty="0" smtClean="0"/>
              <a:t>；</a:t>
            </a:r>
            <a:r>
              <a:rPr lang="en-US" altLang="zh-CN" sz="2000" dirty="0" smtClean="0"/>
              <a:t>() </a:t>
            </a:r>
            <a:r>
              <a:rPr lang="en-US" altLang="zh-CN" sz="2000" dirty="0"/>
              <a:t>=&gt; x </a:t>
            </a:r>
            <a:r>
              <a:rPr lang="zh-CN" altLang="en-US" sz="2000" dirty="0"/>
              <a:t>是 </a:t>
            </a:r>
            <a:r>
              <a:rPr lang="en-US" altLang="zh-CN" sz="2000" dirty="0"/>
              <a:t>() =&gt; { return x; 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92495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476672"/>
            <a:ext cx="8229600" cy="4530725"/>
          </a:xfrm>
        </p:spPr>
        <p:txBody>
          <a:bodyPr/>
          <a:lstStyle/>
          <a:p>
            <a:r>
              <a:rPr lang="en-US" altLang="zh-CN" dirty="0" smtClean="0"/>
              <a:t>Fetch</a:t>
            </a:r>
            <a:r>
              <a:rPr lang="zh-CN" altLang="en-US" dirty="0" smtClean="0"/>
              <a:t>调用范例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20" y="2060848"/>
            <a:ext cx="4377688" cy="26642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129284"/>
            <a:ext cx="4152793" cy="252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40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3408" y="188640"/>
            <a:ext cx="8229600" cy="4530725"/>
          </a:xfrm>
        </p:spPr>
        <p:txBody>
          <a:bodyPr/>
          <a:lstStyle/>
          <a:p>
            <a:r>
              <a:rPr lang="en-US" altLang="zh-CN" dirty="0" smtClean="0"/>
              <a:t>Fetch</a:t>
            </a:r>
            <a:r>
              <a:rPr lang="zh-CN" altLang="en-US" dirty="0" smtClean="0"/>
              <a:t>范例代码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412776"/>
            <a:ext cx="4578161" cy="352839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1600" y="5877272"/>
            <a:ext cx="666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Response.ok</a:t>
            </a:r>
            <a:r>
              <a:rPr lang="en-US" altLang="zh-CN" dirty="0" smtClean="0"/>
              <a:t> : </a:t>
            </a:r>
            <a:r>
              <a:rPr lang="zh-CN" altLang="en-US" dirty="0" smtClean="0"/>
              <a:t>正常返回</a:t>
            </a:r>
            <a:r>
              <a:rPr lang="en-US" altLang="zh-CN" dirty="0" smtClean="0"/>
              <a:t>200</a:t>
            </a:r>
            <a:r>
              <a:rPr lang="zh-CN" altLang="en-US" dirty="0" smtClean="0"/>
              <a:t>时为</a:t>
            </a:r>
            <a:r>
              <a:rPr lang="en-US" altLang="zh-CN" dirty="0" smtClean="0"/>
              <a:t>true,</a:t>
            </a:r>
            <a:r>
              <a:rPr lang="zh-CN" altLang="en-US" dirty="0" smtClean="0"/>
              <a:t>返回</a:t>
            </a:r>
            <a:r>
              <a:rPr lang="en-US" altLang="zh-CN" dirty="0" smtClean="0"/>
              <a:t>404</a:t>
            </a:r>
            <a:r>
              <a:rPr lang="zh-CN" altLang="en-US" dirty="0" smtClean="0"/>
              <a:t>错误时为</a:t>
            </a:r>
            <a:r>
              <a:rPr lang="en-US" altLang="zh-CN" dirty="0" smtClean="0"/>
              <a:t>false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692" y="3429000"/>
            <a:ext cx="3760015" cy="23855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4996" y="555477"/>
            <a:ext cx="3369408" cy="265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11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4530725"/>
          </a:xfrm>
        </p:spPr>
        <p:txBody>
          <a:bodyPr/>
          <a:lstStyle/>
          <a:p>
            <a:r>
              <a:rPr lang="en-US" altLang="zh-CN" dirty="0" smtClean="0"/>
              <a:t>Fetch</a:t>
            </a:r>
            <a:r>
              <a:rPr lang="zh-CN" altLang="en-US" dirty="0" smtClean="0"/>
              <a:t>调用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范例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412776"/>
            <a:ext cx="4600674" cy="359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9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6"/>
            <a:ext cx="8229600" cy="4530725"/>
          </a:xfrm>
        </p:spPr>
        <p:txBody>
          <a:bodyPr/>
          <a:lstStyle/>
          <a:p>
            <a:r>
              <a:rPr lang="en-US" altLang="zh-CN" dirty="0"/>
              <a:t>Fetch</a:t>
            </a:r>
            <a:r>
              <a:rPr lang="zh-CN" altLang="en-US" dirty="0"/>
              <a:t>调用</a:t>
            </a:r>
            <a:r>
              <a:rPr lang="en-US" altLang="zh-CN" dirty="0" err="1"/>
              <a:t>json</a:t>
            </a:r>
            <a:r>
              <a:rPr lang="zh-CN" altLang="en-US" dirty="0" smtClean="0"/>
              <a:t>范例代码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96753"/>
            <a:ext cx="6614805" cy="460851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587" y="980728"/>
            <a:ext cx="3768793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8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8568952" cy="4530725"/>
          </a:xfrm>
        </p:spPr>
        <p:txBody>
          <a:bodyPr/>
          <a:lstStyle/>
          <a:p>
            <a:r>
              <a:rPr lang="en-US" altLang="zh-CN" dirty="0" err="1" smtClean="0"/>
              <a:t>Axios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dirty="0"/>
              <a:t> </a:t>
            </a:r>
            <a:r>
              <a:rPr lang="zh-CN" altLang="en-US" dirty="0" smtClean="0"/>
              <a:t>一</a:t>
            </a:r>
            <a:r>
              <a:rPr lang="zh-CN" altLang="en-US" dirty="0"/>
              <a:t>个基于 </a:t>
            </a:r>
            <a:r>
              <a:rPr lang="en-US" altLang="zh-CN" dirty="0"/>
              <a:t>promise </a:t>
            </a:r>
            <a:r>
              <a:rPr lang="zh-CN" altLang="en-US" dirty="0"/>
              <a:t>网络请求库，作用于</a:t>
            </a:r>
            <a:r>
              <a:rPr lang="en-US" altLang="zh-CN" dirty="0"/>
              <a:t>node.js </a:t>
            </a:r>
            <a:r>
              <a:rPr lang="zh-CN" altLang="en-US" dirty="0"/>
              <a:t>和浏览器</a:t>
            </a:r>
            <a:r>
              <a:rPr lang="zh-CN" altLang="en-US" dirty="0" smtClean="0"/>
              <a:t>中</a:t>
            </a:r>
            <a:r>
              <a:rPr lang="en-US" altLang="zh-CN" dirty="0" smtClean="0"/>
              <a:t>.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在</a:t>
            </a:r>
            <a:r>
              <a:rPr lang="en-US" altLang="zh-CN" dirty="0" err="1" smtClean="0"/>
              <a:t>Vue</a:t>
            </a:r>
            <a:r>
              <a:rPr lang="zh-CN" altLang="en-US" dirty="0" smtClean="0"/>
              <a:t>框架中也常调用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参看：</a:t>
            </a:r>
            <a:r>
              <a:rPr lang="en-US" altLang="zh-CN" sz="2400" dirty="0"/>
              <a:t>https://www.axios-http.cn/docs/intro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4630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4530725"/>
          </a:xfrm>
        </p:spPr>
        <p:txBody>
          <a:bodyPr/>
          <a:lstStyle/>
          <a:p>
            <a:r>
              <a:rPr lang="en-US" altLang="zh-CN" dirty="0" err="1"/>
              <a:t>Axios</a:t>
            </a:r>
            <a:r>
              <a:rPr lang="zh-CN" altLang="en-US" dirty="0"/>
              <a:t>调用</a:t>
            </a:r>
            <a:r>
              <a:rPr lang="en-US" altLang="zh-CN" dirty="0" err="1"/>
              <a:t>json</a:t>
            </a:r>
            <a:r>
              <a:rPr lang="zh-CN" altLang="en-US" dirty="0"/>
              <a:t>数据范例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40768"/>
            <a:ext cx="6425654" cy="406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65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16414"/>
            <a:ext cx="8640960" cy="4530725"/>
          </a:xfrm>
        </p:spPr>
        <p:txBody>
          <a:bodyPr/>
          <a:lstStyle/>
          <a:p>
            <a:r>
              <a:rPr lang="en-US" altLang="zh-CN" sz="2800" dirty="0" err="1" smtClean="0"/>
              <a:t>Axios</a:t>
            </a:r>
            <a:r>
              <a:rPr lang="zh-CN" altLang="en-US" sz="2800" dirty="0" smtClean="0"/>
              <a:t>调用</a:t>
            </a:r>
            <a:r>
              <a:rPr lang="en-US" altLang="zh-CN" sz="2800" dirty="0" err="1" smtClean="0"/>
              <a:t>json</a:t>
            </a:r>
            <a:r>
              <a:rPr lang="zh-CN" altLang="en-US" sz="2800" dirty="0" smtClean="0"/>
              <a:t>数据范例代码</a:t>
            </a:r>
            <a:endParaRPr lang="en-US" altLang="zh-CN" sz="28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dirty="0" smtClean="0"/>
              <a:t>先导入类库（ </a:t>
            </a:r>
            <a:r>
              <a:rPr lang="zh-CN" altLang="en-US" sz="2000" dirty="0" smtClean="0"/>
              <a:t>更常用的是在</a:t>
            </a:r>
            <a:r>
              <a:rPr lang="en-US" altLang="zh-CN" sz="2000" dirty="0" smtClean="0"/>
              <a:t>node.js</a:t>
            </a:r>
            <a:r>
              <a:rPr lang="zh-CN" altLang="en-US" sz="2000" dirty="0" smtClean="0"/>
              <a:t>中使用</a:t>
            </a:r>
            <a:r>
              <a:rPr lang="en-US" altLang="zh-CN" sz="2000" dirty="0" err="1" smtClean="0"/>
              <a:t>npm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安装</a:t>
            </a:r>
            <a:r>
              <a:rPr lang="zh-CN" altLang="en-US" sz="2400" dirty="0" smtClean="0"/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55576" y="1226151"/>
            <a:ext cx="7920880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&lt;script </a:t>
            </a:r>
            <a:r>
              <a:rPr lang="en-US" altLang="zh-CN" dirty="0" err="1"/>
              <a:t>src</a:t>
            </a:r>
            <a:r>
              <a:rPr lang="en-US" altLang="zh-CN" dirty="0"/>
              <a:t>="https://cdn.jsdelivr.net/</a:t>
            </a:r>
            <a:r>
              <a:rPr lang="en-US" altLang="zh-CN" dirty="0" err="1"/>
              <a:t>npm</a:t>
            </a:r>
            <a:r>
              <a:rPr lang="en-US" altLang="zh-CN" dirty="0"/>
              <a:t>/</a:t>
            </a:r>
            <a:r>
              <a:rPr lang="en-US" altLang="zh-CN" dirty="0" err="1"/>
              <a:t>axios</a:t>
            </a:r>
            <a:r>
              <a:rPr lang="en-US" altLang="zh-CN" dirty="0"/>
              <a:t>/</a:t>
            </a:r>
            <a:r>
              <a:rPr lang="en-US" altLang="zh-CN" dirty="0" err="1"/>
              <a:t>dist</a:t>
            </a:r>
            <a:r>
              <a:rPr lang="en-US" altLang="zh-CN" dirty="0"/>
              <a:t>/axios.min.js</a:t>
            </a:r>
            <a:r>
              <a:rPr lang="en-US" altLang="zh-CN" dirty="0" smtClean="0"/>
              <a:t>"&gt;</a:t>
            </a:r>
          </a:p>
          <a:p>
            <a:r>
              <a:rPr lang="en-US" altLang="zh-CN" dirty="0" smtClean="0"/>
              <a:t>&lt;/</a:t>
            </a:r>
            <a:r>
              <a:rPr lang="en-US" altLang="zh-CN" dirty="0"/>
              <a:t>script&gt;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4" y="2696806"/>
            <a:ext cx="5400600" cy="368452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31640" y="6381328"/>
            <a:ext cx="587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Axios</a:t>
            </a:r>
            <a:r>
              <a:rPr lang="en-US" altLang="zh-CN" dirty="0" smtClean="0"/>
              <a:t> response</a:t>
            </a:r>
            <a:r>
              <a:rPr lang="zh-CN" altLang="en-US" dirty="0" smtClean="0"/>
              <a:t>返回的信息是放在</a:t>
            </a:r>
            <a:r>
              <a:rPr lang="en-US" altLang="zh-CN" dirty="0" err="1" smtClean="0"/>
              <a:t>response.data</a:t>
            </a:r>
            <a:r>
              <a:rPr lang="zh-CN" altLang="en-US" dirty="0" smtClean="0"/>
              <a:t>中的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135" y="3422005"/>
            <a:ext cx="3578517" cy="23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06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30725"/>
          </a:xfrm>
        </p:spPr>
        <p:txBody>
          <a:bodyPr/>
          <a:lstStyle/>
          <a:p>
            <a:r>
              <a:rPr lang="en-US" altLang="zh-CN" sz="2800" dirty="0" smtClean="0"/>
              <a:t>Await /</a:t>
            </a:r>
            <a:r>
              <a:rPr lang="en-US" altLang="zh-CN" sz="2800" dirty="0" err="1" smtClean="0"/>
              <a:t>async</a:t>
            </a:r>
            <a:endParaRPr lang="en-US" altLang="zh-CN" sz="28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dirty="0" smtClean="0"/>
              <a:t>ES2017</a:t>
            </a:r>
            <a:r>
              <a:rPr lang="zh-CN" altLang="en-US" sz="2400" dirty="0" smtClean="0"/>
              <a:t>引入，使异步操作更方便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dirty="0" smtClean="0"/>
              <a:t>基于</a:t>
            </a:r>
            <a:r>
              <a:rPr lang="en-US" altLang="zh-CN" sz="2400" dirty="0" smtClean="0"/>
              <a:t>Promise</a:t>
            </a:r>
            <a:r>
              <a:rPr lang="zh-CN" altLang="en-US" sz="2400" dirty="0" smtClean="0"/>
              <a:t>进行异步代码编写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dirty="0" smtClean="0"/>
              <a:t>让</a:t>
            </a:r>
            <a:r>
              <a:rPr lang="en-US" altLang="zh-CN" sz="2400" dirty="0" err="1" smtClean="0"/>
              <a:t>js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前端以同步的方式写异步代码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dirty="0" err="1" smtClean="0">
                <a:effectLst/>
              </a:rPr>
              <a:t>Async</a:t>
            </a:r>
            <a:r>
              <a:rPr lang="zh-CN" altLang="en-US" sz="2400" dirty="0" smtClean="0">
                <a:effectLst/>
              </a:rPr>
              <a:t>：</a:t>
            </a:r>
            <a:endParaRPr lang="en-US" altLang="zh-CN" sz="2400" dirty="0" smtClean="0">
              <a:effectLst/>
            </a:endParaRPr>
          </a:p>
          <a:p>
            <a:pPr lvl="2">
              <a:buFont typeface="Wingdings" panose="05000000000000000000" pitchFamily="2" charset="2"/>
              <a:buChar char="l"/>
            </a:pPr>
            <a:r>
              <a:rPr lang="zh-CN" altLang="en-US" sz="2200" dirty="0" smtClean="0">
                <a:effectLst/>
              </a:rPr>
              <a:t>放在函数开始部分</a:t>
            </a:r>
            <a:r>
              <a:rPr lang="en-US" altLang="zh-CN" sz="2200" dirty="0" smtClean="0">
                <a:effectLst/>
              </a:rPr>
              <a:t>,</a:t>
            </a:r>
            <a:r>
              <a:rPr lang="zh-CN" altLang="en-US" sz="2200" dirty="0" smtClean="0">
                <a:effectLst/>
              </a:rPr>
              <a:t>表示函数内部有异步操作。</a:t>
            </a:r>
            <a:endParaRPr lang="en-US" altLang="zh-CN" sz="2200" dirty="0" smtClean="0">
              <a:effectLst/>
            </a:endParaRPr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sz="2200" dirty="0" err="1" smtClean="0">
                <a:effectLst/>
              </a:rPr>
              <a:t>async</a:t>
            </a:r>
            <a:r>
              <a:rPr lang="zh-CN" altLang="en-US" sz="2200" dirty="0">
                <a:effectLst/>
              </a:rPr>
              <a:t>函数返回一个 </a:t>
            </a:r>
            <a:r>
              <a:rPr lang="en-US" altLang="zh-CN" sz="2200" dirty="0">
                <a:effectLst/>
              </a:rPr>
              <a:t>Promise </a:t>
            </a:r>
            <a:r>
              <a:rPr lang="zh-CN" altLang="en-US" sz="2200" dirty="0">
                <a:effectLst/>
              </a:rPr>
              <a:t>对象，可以使用</a:t>
            </a:r>
            <a:r>
              <a:rPr lang="en-US" altLang="zh-CN" sz="2200" dirty="0">
                <a:effectLst/>
              </a:rPr>
              <a:t>then</a:t>
            </a:r>
            <a:r>
              <a:rPr lang="zh-CN" altLang="en-US" sz="2200" dirty="0">
                <a:effectLst/>
              </a:rPr>
              <a:t>方法添加回调函数。当函数执行的时候，一旦遇到</a:t>
            </a:r>
            <a:r>
              <a:rPr lang="en-US" altLang="zh-CN" sz="2200" dirty="0">
                <a:effectLst/>
              </a:rPr>
              <a:t>await</a:t>
            </a:r>
            <a:r>
              <a:rPr lang="zh-CN" altLang="en-US" sz="2200" dirty="0">
                <a:effectLst/>
              </a:rPr>
              <a:t>就会先返回，等到异步操作完成，再接着执行函数体内后面的语句</a:t>
            </a:r>
            <a:r>
              <a:rPr lang="zh-CN" altLang="en-US" sz="2200" dirty="0" smtClean="0">
                <a:effectLst/>
              </a:rPr>
              <a:t>。</a:t>
            </a:r>
            <a:endParaRPr lang="en-US" altLang="zh-CN" sz="2200" dirty="0" smtClean="0">
              <a:effectLst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dirty="0" smtClean="0"/>
              <a:t>await : </a:t>
            </a:r>
          </a:p>
          <a:p>
            <a:pPr lvl="2"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要写在</a:t>
            </a:r>
            <a:r>
              <a:rPr lang="en-US" altLang="zh-CN" sz="2200" dirty="0" err="1" smtClean="0"/>
              <a:t>async</a:t>
            </a:r>
            <a:r>
              <a:rPr lang="zh-CN" altLang="en-US" sz="2200" dirty="0" smtClean="0"/>
              <a:t>函数的内部，一般</a:t>
            </a:r>
            <a:r>
              <a:rPr lang="en-US" altLang="zh-CN" sz="2200" dirty="0" smtClean="0"/>
              <a:t>await</a:t>
            </a:r>
            <a:r>
              <a:rPr lang="zh-CN" altLang="en-US" sz="2200" dirty="0" smtClean="0"/>
              <a:t>命令后面是一个</a:t>
            </a:r>
            <a:r>
              <a:rPr lang="en-US" altLang="zh-CN" sz="2200" dirty="0" smtClean="0"/>
              <a:t>Promise</a:t>
            </a:r>
            <a:r>
              <a:rPr lang="zh-CN" altLang="en-US" sz="2200" dirty="0" smtClean="0"/>
              <a:t>对象，返回该对象的结果。</a:t>
            </a:r>
            <a:endParaRPr lang="en-US" altLang="zh-CN" sz="2200" dirty="0" smtClean="0"/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zh-CN" sz="2200" dirty="0" smtClean="0"/>
              <a:t>Await</a:t>
            </a:r>
            <a:r>
              <a:rPr lang="zh-CN" altLang="en-US" sz="2200" dirty="0" smtClean="0"/>
              <a:t>关键字会阻塞后面代码的运行，直到</a:t>
            </a:r>
            <a:r>
              <a:rPr lang="en-US" altLang="zh-CN" sz="2200" dirty="0" smtClean="0"/>
              <a:t>await</a:t>
            </a:r>
            <a:r>
              <a:rPr lang="zh-CN" altLang="en-US" sz="2200" dirty="0" smtClean="0"/>
              <a:t>后面的函数体返回数值。</a:t>
            </a:r>
            <a:endParaRPr lang="en-US" altLang="zh-CN" sz="2200" dirty="0" smtClean="0"/>
          </a:p>
          <a:p>
            <a:pPr lvl="1">
              <a:buFont typeface="Wingdings" panose="05000000000000000000" pitchFamily="2" charset="2"/>
              <a:buChar char="l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84206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88640"/>
            <a:ext cx="8229600" cy="4530725"/>
          </a:xfrm>
        </p:spPr>
        <p:txBody>
          <a:bodyPr/>
          <a:lstStyle/>
          <a:p>
            <a:r>
              <a:rPr lang="en-US" altLang="zh-CN" dirty="0" err="1" smtClean="0"/>
              <a:t>Async</a:t>
            </a:r>
            <a:r>
              <a:rPr lang="en-US" altLang="zh-CN" dirty="0" smtClean="0"/>
              <a:t>/await</a:t>
            </a:r>
            <a:r>
              <a:rPr lang="zh-CN" altLang="en-US" dirty="0" smtClean="0"/>
              <a:t>调用</a:t>
            </a:r>
            <a:r>
              <a:rPr lang="en-US" altLang="zh-CN" dirty="0" err="1"/>
              <a:t>json</a:t>
            </a:r>
            <a:r>
              <a:rPr lang="zh-CN" altLang="en-US" dirty="0"/>
              <a:t>数据范例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74" y="1625558"/>
            <a:ext cx="3873678" cy="30917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988840"/>
            <a:ext cx="4069107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31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88640"/>
            <a:ext cx="8229600" cy="4530725"/>
          </a:xfrm>
        </p:spPr>
        <p:txBody>
          <a:bodyPr/>
          <a:lstStyle/>
          <a:p>
            <a:r>
              <a:rPr lang="en-US" altLang="zh-CN" dirty="0" err="1"/>
              <a:t>Async</a:t>
            </a:r>
            <a:r>
              <a:rPr lang="en-US" altLang="zh-CN" dirty="0"/>
              <a:t>/await</a:t>
            </a:r>
            <a:r>
              <a:rPr lang="zh-CN" altLang="en-US" dirty="0" smtClean="0"/>
              <a:t>调用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  <a:r>
              <a:rPr lang="zh-CN" altLang="en-US" dirty="0" smtClean="0"/>
              <a:t>范例</a:t>
            </a:r>
            <a:r>
              <a:rPr lang="zh-CN" altLang="en-US" dirty="0"/>
              <a:t>代码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20" y="836712"/>
            <a:ext cx="6469290" cy="551686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5301208"/>
            <a:ext cx="3689140" cy="135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74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几种方法</a:t>
            </a:r>
            <a:r>
              <a:rPr lang="zh-CN" altLang="en-US" dirty="0" smtClean="0"/>
              <a:t>区别</a:t>
            </a:r>
            <a:r>
              <a:rPr lang="en-US" altLang="zh-CN" dirty="0" smtClean="0"/>
              <a:t>? </a:t>
            </a:r>
            <a:r>
              <a:rPr lang="zh-CN" altLang="en-US" dirty="0" smtClean="0"/>
              <a:t>同步写法 </a:t>
            </a:r>
            <a:r>
              <a:rPr lang="en-US" altLang="zh-CN" dirty="0" smtClean="0"/>
              <a:t>or </a:t>
            </a:r>
            <a:r>
              <a:rPr lang="zh-CN" altLang="en-US" dirty="0" smtClean="0"/>
              <a:t>异步写法？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smtClean="0"/>
              <a:t> </a:t>
            </a:r>
            <a:r>
              <a:rPr lang="zh-CN" altLang="en-US" dirty="0" smtClean="0"/>
              <a:t>根据框架选择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smtClean="0"/>
              <a:t> </a:t>
            </a:r>
            <a:r>
              <a:rPr lang="zh-CN" altLang="en-US" dirty="0" smtClean="0"/>
              <a:t>根据个人代码喜好选择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3883185"/>
      </p:ext>
    </p:extLst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1377</TotalTime>
  <Pages>0</Pages>
  <Words>1010</Words>
  <Characters>0</Characters>
  <Application>Microsoft Office PowerPoint</Application>
  <DocSecurity>0</DocSecurity>
  <PresentationFormat>全屏显示(4:3)</PresentationFormat>
  <Lines>0</Lines>
  <Paragraphs>158</Paragraphs>
  <Slides>33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宋体</vt:lpstr>
      <vt:lpstr>Arial</vt:lpstr>
      <vt:lpstr>Times New Roman</vt:lpstr>
      <vt:lpstr>Verdana</vt:lpstr>
      <vt:lpstr>Wingdings</vt:lpstr>
      <vt:lpstr>Globe</vt:lpstr>
      <vt:lpstr>JavaScript 第二讲 JavaScript异步编程</vt:lpstr>
      <vt:lpstr>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常用新型ajax调用框架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番茄花园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subject/>
  <dc:creator>张明锋</dc:creator>
  <cp:keywords/>
  <dc:description/>
  <cp:lastModifiedBy>China</cp:lastModifiedBy>
  <cp:revision>131</cp:revision>
  <dcterms:created xsi:type="dcterms:W3CDTF">2007-05-15T12:29:34Z</dcterms:created>
  <dcterms:modified xsi:type="dcterms:W3CDTF">2025-11-16T03:18:34Z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2052-9.1.0.4249</vt:lpwstr>
  </property>
</Properties>
</file>