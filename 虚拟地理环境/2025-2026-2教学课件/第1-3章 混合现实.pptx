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12"/>
  </p:notesMasterIdLst>
  <p:handoutMasterIdLst>
    <p:handoutMasterId r:id="rId30"/>
  </p:handoutMasterIdLst>
  <p:sldIdLst>
    <p:sldId id="285" r:id="rId4"/>
    <p:sldId id="415" r:id="rId5"/>
    <p:sldId id="258" r:id="rId6"/>
    <p:sldId id="526" r:id="rId7"/>
    <p:sldId id="260" r:id="rId8"/>
    <p:sldId id="261" r:id="rId9"/>
    <p:sldId id="546" r:id="rId10"/>
    <p:sldId id="388" r:id="rId11"/>
    <p:sldId id="535" r:id="rId13"/>
    <p:sldId id="530" r:id="rId14"/>
    <p:sldId id="536" r:id="rId15"/>
    <p:sldId id="531" r:id="rId16"/>
    <p:sldId id="537" r:id="rId17"/>
    <p:sldId id="551" r:id="rId18"/>
    <p:sldId id="269" r:id="rId19"/>
    <p:sldId id="270" r:id="rId20"/>
    <p:sldId id="271" r:id="rId21"/>
    <p:sldId id="273" r:id="rId22"/>
    <p:sldId id="543" r:id="rId23"/>
    <p:sldId id="545" r:id="rId24"/>
    <p:sldId id="547" r:id="rId25"/>
    <p:sldId id="550" r:id="rId26"/>
    <p:sldId id="549" r:id="rId27"/>
    <p:sldId id="272" r:id="rId28"/>
    <p:sldId id="274" r:id="rId29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66FF"/>
    <a:srgbClr val="C7C0EA"/>
    <a:srgbClr val="CCFF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/>
    <p:restoredTop sz="94745"/>
  </p:normalViewPr>
  <p:slideViewPr>
    <p:cSldViewPr showGuides="1">
      <p:cViewPr varScale="1">
        <p:scale>
          <a:sx n="102" d="100"/>
          <a:sy n="102" d="100"/>
        </p:scale>
        <p:origin x="783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E65C2B-0B1C-4931-B89F-0DF152DEABE6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F7F47C5-B5C8-4B28-BBC1-C8A782E4FDC4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433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143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1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zh-CN" altLang="en-US" dirty="0">
              <a:ea typeface="等线" panose="02010600030101010101" pitchFamily="2" charset="-122"/>
            </a:endParaRPr>
          </a:p>
        </p:txBody>
      </p:sp>
      <p:sp>
        <p:nvSpPr>
          <p:cNvPr id="3174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68263"/>
            <a:ext cx="8678863" cy="6713537"/>
            <a:chOff x="0" y="43"/>
            <a:chExt cx="5467" cy="4229"/>
          </a:xfrm>
        </p:grpSpPr>
        <p:sp>
          <p:nvSpPr>
            <p:cNvPr id="3" name="Rectangle 3"/>
            <p:cNvSpPr>
              <a:spLocks noChangeArrowheads="1"/>
            </p:cNvSpPr>
            <p:nvPr/>
          </p:nvSpPr>
          <p:spPr bwMode="auto">
            <a:xfrm>
              <a:off x="692" y="494"/>
              <a:ext cx="4775" cy="93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59" name="Group 4"/>
            <p:cNvGrpSpPr/>
            <p:nvPr userDrawn="1"/>
          </p:nvGrpSpPr>
          <p:grpSpPr>
            <a:xfrm>
              <a:off x="0" y="43"/>
              <a:ext cx="624" cy="4229"/>
              <a:chOff x="0" y="43"/>
              <a:chExt cx="624" cy="4229"/>
            </a:xfrm>
          </p:grpSpPr>
          <p:sp>
            <p:nvSpPr>
              <p:cNvPr id="2060" name="Line 5"/>
              <p:cNvSpPr/>
              <p:nvPr userDrawn="1"/>
            </p:nvSpPr>
            <p:spPr>
              <a:xfrm>
                <a:off x="0" y="4203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1" name="Line 6"/>
              <p:cNvSpPr/>
              <p:nvPr userDrawn="1"/>
            </p:nvSpPr>
            <p:spPr>
              <a:xfrm>
                <a:off x="0" y="4239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2" name="Line 7"/>
              <p:cNvSpPr/>
              <p:nvPr userDrawn="1"/>
            </p:nvSpPr>
            <p:spPr>
              <a:xfrm>
                <a:off x="0" y="4272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3" name="Line 8"/>
              <p:cNvSpPr/>
              <p:nvPr userDrawn="1"/>
            </p:nvSpPr>
            <p:spPr>
              <a:xfrm>
                <a:off x="0" y="4113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4" name="Line 9"/>
              <p:cNvSpPr/>
              <p:nvPr userDrawn="1"/>
            </p:nvSpPr>
            <p:spPr>
              <a:xfrm>
                <a:off x="0" y="4065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5" name="Line 10"/>
              <p:cNvSpPr/>
              <p:nvPr userDrawn="1"/>
            </p:nvSpPr>
            <p:spPr>
              <a:xfrm>
                <a:off x="0" y="4158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6" name="Line 11"/>
              <p:cNvSpPr/>
              <p:nvPr userDrawn="1"/>
            </p:nvSpPr>
            <p:spPr>
              <a:xfrm>
                <a:off x="0" y="3666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7" name="Line 12"/>
              <p:cNvSpPr/>
              <p:nvPr userDrawn="1"/>
            </p:nvSpPr>
            <p:spPr>
              <a:xfrm>
                <a:off x="0" y="3639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8" name="Line 13"/>
              <p:cNvSpPr/>
              <p:nvPr userDrawn="1"/>
            </p:nvSpPr>
            <p:spPr>
              <a:xfrm>
                <a:off x="0" y="4020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69" name="Line 14"/>
              <p:cNvSpPr/>
              <p:nvPr userDrawn="1"/>
            </p:nvSpPr>
            <p:spPr>
              <a:xfrm>
                <a:off x="0" y="3894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0" name="Line 15"/>
              <p:cNvSpPr/>
              <p:nvPr userDrawn="1"/>
            </p:nvSpPr>
            <p:spPr>
              <a:xfrm>
                <a:off x="0" y="3813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1" name="Line 16"/>
              <p:cNvSpPr/>
              <p:nvPr userDrawn="1"/>
            </p:nvSpPr>
            <p:spPr>
              <a:xfrm>
                <a:off x="0" y="3999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2" name="Line 17"/>
              <p:cNvSpPr/>
              <p:nvPr userDrawn="1"/>
            </p:nvSpPr>
            <p:spPr>
              <a:xfrm>
                <a:off x="0" y="3687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3" name="Line 18"/>
              <p:cNvSpPr/>
              <p:nvPr userDrawn="1"/>
            </p:nvSpPr>
            <p:spPr>
              <a:xfrm>
                <a:off x="0" y="3741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4" name="Line 19"/>
              <p:cNvSpPr/>
              <p:nvPr userDrawn="1"/>
            </p:nvSpPr>
            <p:spPr>
              <a:xfrm>
                <a:off x="0" y="3939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5" name="Line 20"/>
              <p:cNvSpPr/>
              <p:nvPr userDrawn="1"/>
            </p:nvSpPr>
            <p:spPr>
              <a:xfrm>
                <a:off x="0" y="3918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6" name="Line 21"/>
              <p:cNvSpPr/>
              <p:nvPr userDrawn="1"/>
            </p:nvSpPr>
            <p:spPr>
              <a:xfrm>
                <a:off x="0" y="3510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7" name="Line 22"/>
              <p:cNvSpPr/>
              <p:nvPr userDrawn="1"/>
            </p:nvSpPr>
            <p:spPr>
              <a:xfrm>
                <a:off x="0" y="3546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8" name="Line 23"/>
              <p:cNvSpPr/>
              <p:nvPr userDrawn="1"/>
            </p:nvSpPr>
            <p:spPr>
              <a:xfrm>
                <a:off x="0" y="3579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79" name="Line 24"/>
              <p:cNvSpPr/>
              <p:nvPr userDrawn="1"/>
            </p:nvSpPr>
            <p:spPr>
              <a:xfrm>
                <a:off x="0" y="3420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80" name="Line 25"/>
              <p:cNvSpPr/>
              <p:nvPr userDrawn="1"/>
            </p:nvSpPr>
            <p:spPr>
              <a:xfrm>
                <a:off x="0" y="3372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81" name="Line 26"/>
              <p:cNvSpPr/>
              <p:nvPr userDrawn="1"/>
            </p:nvSpPr>
            <p:spPr>
              <a:xfrm>
                <a:off x="0" y="3465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82" name="Line 27"/>
              <p:cNvSpPr/>
              <p:nvPr userDrawn="1"/>
            </p:nvSpPr>
            <p:spPr>
              <a:xfrm>
                <a:off x="0" y="2973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83" name="Line 28"/>
              <p:cNvSpPr/>
              <p:nvPr userDrawn="1"/>
            </p:nvSpPr>
            <p:spPr>
              <a:xfrm>
                <a:off x="0" y="2946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84" name="Line 29"/>
              <p:cNvSpPr/>
              <p:nvPr userDrawn="1"/>
            </p:nvSpPr>
            <p:spPr>
              <a:xfrm>
                <a:off x="0" y="3327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85" name="Line 30"/>
              <p:cNvSpPr/>
              <p:nvPr userDrawn="1"/>
            </p:nvSpPr>
            <p:spPr>
              <a:xfrm>
                <a:off x="0" y="3201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86" name="Line 31"/>
              <p:cNvSpPr/>
              <p:nvPr userDrawn="1"/>
            </p:nvSpPr>
            <p:spPr>
              <a:xfrm>
                <a:off x="0" y="3120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87" name="Line 32"/>
              <p:cNvSpPr/>
              <p:nvPr userDrawn="1"/>
            </p:nvSpPr>
            <p:spPr>
              <a:xfrm>
                <a:off x="0" y="3306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88" name="Line 33"/>
              <p:cNvSpPr/>
              <p:nvPr userDrawn="1"/>
            </p:nvSpPr>
            <p:spPr>
              <a:xfrm>
                <a:off x="0" y="2994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89" name="Line 34"/>
              <p:cNvSpPr/>
              <p:nvPr userDrawn="1"/>
            </p:nvSpPr>
            <p:spPr>
              <a:xfrm>
                <a:off x="0" y="3048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0" name="Line 35"/>
              <p:cNvSpPr/>
              <p:nvPr userDrawn="1"/>
            </p:nvSpPr>
            <p:spPr>
              <a:xfrm>
                <a:off x="0" y="3246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1" name="Line 36"/>
              <p:cNvSpPr/>
              <p:nvPr userDrawn="1"/>
            </p:nvSpPr>
            <p:spPr>
              <a:xfrm>
                <a:off x="0" y="3225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2" name="Line 37"/>
              <p:cNvSpPr/>
              <p:nvPr userDrawn="1"/>
            </p:nvSpPr>
            <p:spPr>
              <a:xfrm>
                <a:off x="0" y="2831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3" name="Line 38"/>
              <p:cNvSpPr/>
              <p:nvPr userDrawn="1"/>
            </p:nvSpPr>
            <p:spPr>
              <a:xfrm>
                <a:off x="0" y="2750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4" name="Line 39"/>
              <p:cNvSpPr/>
              <p:nvPr userDrawn="1"/>
            </p:nvSpPr>
            <p:spPr>
              <a:xfrm>
                <a:off x="0" y="2678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5" name="Line 40"/>
              <p:cNvSpPr/>
              <p:nvPr userDrawn="1"/>
            </p:nvSpPr>
            <p:spPr>
              <a:xfrm>
                <a:off x="0" y="2876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6" name="Line 41"/>
              <p:cNvSpPr/>
              <p:nvPr userDrawn="1"/>
            </p:nvSpPr>
            <p:spPr>
              <a:xfrm>
                <a:off x="0" y="2855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7" name="Line 42"/>
              <p:cNvSpPr/>
              <p:nvPr userDrawn="1"/>
            </p:nvSpPr>
            <p:spPr>
              <a:xfrm>
                <a:off x="0" y="2554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8" name="Line 43"/>
              <p:cNvSpPr/>
              <p:nvPr userDrawn="1"/>
            </p:nvSpPr>
            <p:spPr>
              <a:xfrm>
                <a:off x="0" y="2590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099" name="Line 44"/>
              <p:cNvSpPr/>
              <p:nvPr userDrawn="1"/>
            </p:nvSpPr>
            <p:spPr>
              <a:xfrm>
                <a:off x="0" y="2623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00" name="Line 45"/>
              <p:cNvSpPr/>
              <p:nvPr userDrawn="1"/>
            </p:nvSpPr>
            <p:spPr>
              <a:xfrm>
                <a:off x="0" y="2464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01" name="Line 46"/>
              <p:cNvSpPr/>
              <p:nvPr userDrawn="1"/>
            </p:nvSpPr>
            <p:spPr>
              <a:xfrm>
                <a:off x="0" y="2416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02" name="Line 47"/>
              <p:cNvSpPr/>
              <p:nvPr userDrawn="1"/>
            </p:nvSpPr>
            <p:spPr>
              <a:xfrm>
                <a:off x="0" y="2509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03" name="Line 48"/>
              <p:cNvSpPr/>
              <p:nvPr userDrawn="1"/>
            </p:nvSpPr>
            <p:spPr>
              <a:xfrm>
                <a:off x="0" y="2371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04" name="Line 49"/>
              <p:cNvSpPr/>
              <p:nvPr userDrawn="1"/>
            </p:nvSpPr>
            <p:spPr>
              <a:xfrm>
                <a:off x="0" y="2245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05" name="Line 50"/>
              <p:cNvSpPr/>
              <p:nvPr userDrawn="1"/>
            </p:nvSpPr>
            <p:spPr>
              <a:xfrm>
                <a:off x="0" y="2350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06" name="Line 51"/>
              <p:cNvSpPr/>
              <p:nvPr userDrawn="1"/>
            </p:nvSpPr>
            <p:spPr>
              <a:xfrm>
                <a:off x="0" y="2290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07" name="Line 52"/>
              <p:cNvSpPr/>
              <p:nvPr userDrawn="1"/>
            </p:nvSpPr>
            <p:spPr>
              <a:xfrm>
                <a:off x="0" y="2269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08" name="Line 53"/>
              <p:cNvSpPr/>
              <p:nvPr userDrawn="1"/>
            </p:nvSpPr>
            <p:spPr>
              <a:xfrm>
                <a:off x="0" y="2130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09" name="Line 54"/>
              <p:cNvSpPr/>
              <p:nvPr userDrawn="1"/>
            </p:nvSpPr>
            <p:spPr>
              <a:xfrm>
                <a:off x="0" y="2166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10" name="Line 55"/>
              <p:cNvSpPr/>
              <p:nvPr userDrawn="1"/>
            </p:nvSpPr>
            <p:spPr>
              <a:xfrm>
                <a:off x="0" y="2199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11" name="Line 56"/>
              <p:cNvSpPr/>
              <p:nvPr userDrawn="1"/>
            </p:nvSpPr>
            <p:spPr>
              <a:xfrm>
                <a:off x="0" y="2040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12" name="Line 57"/>
              <p:cNvSpPr/>
              <p:nvPr userDrawn="1"/>
            </p:nvSpPr>
            <p:spPr>
              <a:xfrm>
                <a:off x="0" y="1992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13" name="Line 58"/>
              <p:cNvSpPr/>
              <p:nvPr userDrawn="1"/>
            </p:nvSpPr>
            <p:spPr>
              <a:xfrm>
                <a:off x="0" y="2085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14" name="Line 59"/>
              <p:cNvSpPr/>
              <p:nvPr userDrawn="1"/>
            </p:nvSpPr>
            <p:spPr>
              <a:xfrm>
                <a:off x="0" y="1593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15" name="Line 60"/>
              <p:cNvSpPr/>
              <p:nvPr userDrawn="1"/>
            </p:nvSpPr>
            <p:spPr>
              <a:xfrm>
                <a:off x="0" y="1566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16" name="Line 61"/>
              <p:cNvSpPr/>
              <p:nvPr userDrawn="1"/>
            </p:nvSpPr>
            <p:spPr>
              <a:xfrm>
                <a:off x="0" y="1947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17" name="Line 62"/>
              <p:cNvSpPr/>
              <p:nvPr userDrawn="1"/>
            </p:nvSpPr>
            <p:spPr>
              <a:xfrm>
                <a:off x="0" y="1821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18" name="Line 63"/>
              <p:cNvSpPr/>
              <p:nvPr userDrawn="1"/>
            </p:nvSpPr>
            <p:spPr>
              <a:xfrm>
                <a:off x="0" y="1740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19" name="Line 64"/>
              <p:cNvSpPr/>
              <p:nvPr userDrawn="1"/>
            </p:nvSpPr>
            <p:spPr>
              <a:xfrm>
                <a:off x="0" y="1926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20" name="Line 65"/>
              <p:cNvSpPr/>
              <p:nvPr userDrawn="1"/>
            </p:nvSpPr>
            <p:spPr>
              <a:xfrm>
                <a:off x="0" y="1614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21" name="Line 66"/>
              <p:cNvSpPr/>
              <p:nvPr userDrawn="1"/>
            </p:nvSpPr>
            <p:spPr>
              <a:xfrm>
                <a:off x="0" y="1668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22" name="Line 67"/>
              <p:cNvSpPr/>
              <p:nvPr userDrawn="1"/>
            </p:nvSpPr>
            <p:spPr>
              <a:xfrm>
                <a:off x="0" y="1866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23" name="Line 68"/>
              <p:cNvSpPr/>
              <p:nvPr userDrawn="1"/>
            </p:nvSpPr>
            <p:spPr>
              <a:xfrm>
                <a:off x="0" y="1845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24" name="Line 69"/>
              <p:cNvSpPr/>
              <p:nvPr userDrawn="1"/>
            </p:nvSpPr>
            <p:spPr>
              <a:xfrm>
                <a:off x="0" y="1437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25" name="Line 70"/>
              <p:cNvSpPr/>
              <p:nvPr userDrawn="1"/>
            </p:nvSpPr>
            <p:spPr>
              <a:xfrm>
                <a:off x="0" y="1473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26" name="Line 71"/>
              <p:cNvSpPr/>
              <p:nvPr userDrawn="1"/>
            </p:nvSpPr>
            <p:spPr>
              <a:xfrm>
                <a:off x="0" y="1506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27" name="Line 72"/>
              <p:cNvSpPr/>
              <p:nvPr userDrawn="1"/>
            </p:nvSpPr>
            <p:spPr>
              <a:xfrm>
                <a:off x="0" y="1347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28" name="Line 73"/>
              <p:cNvSpPr/>
              <p:nvPr userDrawn="1"/>
            </p:nvSpPr>
            <p:spPr>
              <a:xfrm>
                <a:off x="0" y="1392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29" name="Line 74"/>
              <p:cNvSpPr/>
              <p:nvPr userDrawn="1"/>
            </p:nvSpPr>
            <p:spPr>
              <a:xfrm>
                <a:off x="0" y="1016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30" name="Line 75"/>
              <p:cNvSpPr/>
              <p:nvPr userDrawn="1"/>
            </p:nvSpPr>
            <p:spPr>
              <a:xfrm>
                <a:off x="0" y="989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31" name="Line 76"/>
              <p:cNvSpPr/>
              <p:nvPr userDrawn="1"/>
            </p:nvSpPr>
            <p:spPr>
              <a:xfrm>
                <a:off x="0" y="1244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32" name="Line 77"/>
              <p:cNvSpPr/>
              <p:nvPr userDrawn="1"/>
            </p:nvSpPr>
            <p:spPr>
              <a:xfrm>
                <a:off x="0" y="1163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33" name="Line 78"/>
              <p:cNvSpPr/>
              <p:nvPr userDrawn="1"/>
            </p:nvSpPr>
            <p:spPr>
              <a:xfrm>
                <a:off x="0" y="1037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34" name="Line 79"/>
              <p:cNvSpPr/>
              <p:nvPr userDrawn="1"/>
            </p:nvSpPr>
            <p:spPr>
              <a:xfrm>
                <a:off x="0" y="1091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35" name="Line 80"/>
              <p:cNvSpPr/>
              <p:nvPr userDrawn="1"/>
            </p:nvSpPr>
            <p:spPr>
              <a:xfrm>
                <a:off x="0" y="1289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36" name="Line 81"/>
              <p:cNvSpPr/>
              <p:nvPr userDrawn="1"/>
            </p:nvSpPr>
            <p:spPr>
              <a:xfrm>
                <a:off x="0" y="1268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37" name="Line 82"/>
              <p:cNvSpPr/>
              <p:nvPr userDrawn="1"/>
            </p:nvSpPr>
            <p:spPr>
              <a:xfrm>
                <a:off x="0" y="860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38" name="Line 83"/>
              <p:cNvSpPr/>
              <p:nvPr userDrawn="1"/>
            </p:nvSpPr>
            <p:spPr>
              <a:xfrm>
                <a:off x="0" y="896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39" name="Line 84"/>
              <p:cNvSpPr/>
              <p:nvPr userDrawn="1"/>
            </p:nvSpPr>
            <p:spPr>
              <a:xfrm>
                <a:off x="0" y="929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40" name="Line 85"/>
              <p:cNvSpPr/>
              <p:nvPr userDrawn="1"/>
            </p:nvSpPr>
            <p:spPr>
              <a:xfrm>
                <a:off x="0" y="770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41" name="Line 86"/>
              <p:cNvSpPr/>
              <p:nvPr userDrawn="1"/>
            </p:nvSpPr>
            <p:spPr>
              <a:xfrm>
                <a:off x="0" y="815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42" name="Line 87"/>
              <p:cNvSpPr/>
              <p:nvPr userDrawn="1"/>
            </p:nvSpPr>
            <p:spPr>
              <a:xfrm>
                <a:off x="0" y="718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43" name="Line 88"/>
              <p:cNvSpPr/>
              <p:nvPr userDrawn="1"/>
            </p:nvSpPr>
            <p:spPr>
              <a:xfrm>
                <a:off x="0" y="646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44" name="Line 89"/>
              <p:cNvSpPr/>
              <p:nvPr userDrawn="1"/>
            </p:nvSpPr>
            <p:spPr>
              <a:xfrm>
                <a:off x="0" y="522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45" name="Line 90"/>
              <p:cNvSpPr/>
              <p:nvPr userDrawn="1"/>
            </p:nvSpPr>
            <p:spPr>
              <a:xfrm>
                <a:off x="0" y="558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46" name="Line 91"/>
              <p:cNvSpPr/>
              <p:nvPr userDrawn="1"/>
            </p:nvSpPr>
            <p:spPr>
              <a:xfrm>
                <a:off x="0" y="591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47" name="Line 92"/>
              <p:cNvSpPr/>
              <p:nvPr userDrawn="1"/>
            </p:nvSpPr>
            <p:spPr>
              <a:xfrm>
                <a:off x="0" y="432"/>
                <a:ext cx="624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48" name="Line 93"/>
              <p:cNvSpPr/>
              <p:nvPr userDrawn="1"/>
            </p:nvSpPr>
            <p:spPr>
              <a:xfrm>
                <a:off x="0" y="384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49" name="Line 94"/>
              <p:cNvSpPr/>
              <p:nvPr userDrawn="1"/>
            </p:nvSpPr>
            <p:spPr>
              <a:xfrm>
                <a:off x="0" y="477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0" name="Line 95"/>
              <p:cNvSpPr/>
              <p:nvPr userDrawn="1"/>
            </p:nvSpPr>
            <p:spPr>
              <a:xfrm>
                <a:off x="0" y="339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1" name="Line 96"/>
              <p:cNvSpPr/>
              <p:nvPr userDrawn="1"/>
            </p:nvSpPr>
            <p:spPr>
              <a:xfrm>
                <a:off x="0" y="318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2" name="Line 97"/>
              <p:cNvSpPr/>
              <p:nvPr userDrawn="1"/>
            </p:nvSpPr>
            <p:spPr>
              <a:xfrm>
                <a:off x="0" y="258"/>
                <a:ext cx="624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3" name="Line 98"/>
              <p:cNvSpPr/>
              <p:nvPr userDrawn="1"/>
            </p:nvSpPr>
            <p:spPr>
              <a:xfrm>
                <a:off x="0" y="70"/>
                <a:ext cx="624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4" name="Line 99"/>
              <p:cNvSpPr/>
              <p:nvPr userDrawn="1"/>
            </p:nvSpPr>
            <p:spPr>
              <a:xfrm>
                <a:off x="0" y="43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5" name="Line 100"/>
              <p:cNvSpPr/>
              <p:nvPr userDrawn="1"/>
            </p:nvSpPr>
            <p:spPr>
              <a:xfrm>
                <a:off x="0" y="91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6" name="Line 101"/>
              <p:cNvSpPr/>
              <p:nvPr userDrawn="1"/>
            </p:nvSpPr>
            <p:spPr>
              <a:xfrm>
                <a:off x="0" y="145"/>
                <a:ext cx="624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7" name="Line 102"/>
              <p:cNvSpPr/>
              <p:nvPr userDrawn="1"/>
            </p:nvSpPr>
            <p:spPr>
              <a:xfrm>
                <a:off x="0" y="202"/>
                <a:ext cx="624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52660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3" cy="7778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2661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06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53707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152662" name="Rectangle 10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87475" y="635793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folHlink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2663" name="Rectangle 10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722688" y="6357938"/>
            <a:ext cx="2271713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 sz="1400">
                <a:solidFill>
                  <a:schemeClr val="folHlink"/>
                </a:solidFill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2664" name="Rectangle 10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64300" y="6361113"/>
            <a:ext cx="1906588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400" dirty="0">
                <a:solidFill>
                  <a:schemeClr val="folHlink"/>
                </a:solidFill>
              </a:rPr>
            </a:fld>
            <a:endParaRPr lang="zh-CN" altLang="en-US" sz="1400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52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152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660" grpId="0" animBg="1"/>
      <p:bldP spid="152661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《虚拟地理环境及其应用》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《虚拟地理环境及其应用》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09625" y="2214563"/>
            <a:ext cx="3902075" cy="38814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64100" y="2214563"/>
            <a:ext cx="3903663" cy="38814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《虚拟地理环境及其应用》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《虚拟地理环境及其应用》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《虚拟地理环境及其应用》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《虚拟地理环境及其应用》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《虚拟地理环境及其应用》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《虚拟地理环境及其应用》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《虚拟地理环境及其应用》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78625" y="609600"/>
            <a:ext cx="1989138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09625" y="609600"/>
            <a:ext cx="58166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《虚拟地理环境及其应用》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《虚拟地理环境及其应用》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68263"/>
            <a:ext cx="8915400" cy="6713537"/>
            <a:chOff x="0" y="43"/>
            <a:chExt cx="5616" cy="4229"/>
          </a:xfrm>
        </p:grpSpPr>
        <p:grpSp>
          <p:nvGrpSpPr>
            <p:cNvPr id="1032" name="Group 3"/>
            <p:cNvGrpSpPr/>
            <p:nvPr userDrawn="1"/>
          </p:nvGrpSpPr>
          <p:grpSpPr>
            <a:xfrm>
              <a:off x="0" y="43"/>
              <a:ext cx="408" cy="4229"/>
              <a:chOff x="0" y="43"/>
              <a:chExt cx="5760" cy="4229"/>
            </a:xfrm>
          </p:grpSpPr>
          <p:sp>
            <p:nvSpPr>
              <p:cNvPr id="1038" name="Line 4"/>
              <p:cNvSpPr/>
              <p:nvPr userDrawn="1"/>
            </p:nvSpPr>
            <p:spPr>
              <a:xfrm>
                <a:off x="0" y="4203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9" name="Line 5"/>
              <p:cNvSpPr/>
              <p:nvPr userDrawn="1"/>
            </p:nvSpPr>
            <p:spPr>
              <a:xfrm>
                <a:off x="0" y="4239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0" name="Line 6"/>
              <p:cNvSpPr/>
              <p:nvPr userDrawn="1"/>
            </p:nvSpPr>
            <p:spPr>
              <a:xfrm>
                <a:off x="0" y="4272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1" name="Line 7"/>
              <p:cNvSpPr/>
              <p:nvPr userDrawn="1"/>
            </p:nvSpPr>
            <p:spPr>
              <a:xfrm>
                <a:off x="0" y="4113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2" name="Line 8"/>
              <p:cNvSpPr/>
              <p:nvPr userDrawn="1"/>
            </p:nvSpPr>
            <p:spPr>
              <a:xfrm>
                <a:off x="0" y="4065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3" name="Line 9"/>
              <p:cNvSpPr/>
              <p:nvPr userDrawn="1"/>
            </p:nvSpPr>
            <p:spPr>
              <a:xfrm>
                <a:off x="0" y="4158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4" name="Line 10"/>
              <p:cNvSpPr/>
              <p:nvPr userDrawn="1"/>
            </p:nvSpPr>
            <p:spPr>
              <a:xfrm>
                <a:off x="0" y="3666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5" name="Line 11"/>
              <p:cNvSpPr/>
              <p:nvPr userDrawn="1"/>
            </p:nvSpPr>
            <p:spPr>
              <a:xfrm>
                <a:off x="0" y="3639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6" name="Line 12"/>
              <p:cNvSpPr/>
              <p:nvPr userDrawn="1"/>
            </p:nvSpPr>
            <p:spPr>
              <a:xfrm>
                <a:off x="0" y="4020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7" name="Line 13"/>
              <p:cNvSpPr/>
              <p:nvPr userDrawn="1"/>
            </p:nvSpPr>
            <p:spPr>
              <a:xfrm>
                <a:off x="0" y="3894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8" name="Line 14"/>
              <p:cNvSpPr/>
              <p:nvPr userDrawn="1"/>
            </p:nvSpPr>
            <p:spPr>
              <a:xfrm>
                <a:off x="0" y="3813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9" name="Line 15"/>
              <p:cNvSpPr/>
              <p:nvPr userDrawn="1"/>
            </p:nvSpPr>
            <p:spPr>
              <a:xfrm>
                <a:off x="0" y="3999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0" name="Line 16"/>
              <p:cNvSpPr/>
              <p:nvPr userDrawn="1"/>
            </p:nvSpPr>
            <p:spPr>
              <a:xfrm>
                <a:off x="0" y="3687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1" name="Line 17"/>
              <p:cNvSpPr/>
              <p:nvPr userDrawn="1"/>
            </p:nvSpPr>
            <p:spPr>
              <a:xfrm>
                <a:off x="0" y="3741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2" name="Line 18"/>
              <p:cNvSpPr/>
              <p:nvPr userDrawn="1"/>
            </p:nvSpPr>
            <p:spPr>
              <a:xfrm>
                <a:off x="0" y="3939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3" name="Line 19"/>
              <p:cNvSpPr/>
              <p:nvPr userDrawn="1"/>
            </p:nvSpPr>
            <p:spPr>
              <a:xfrm>
                <a:off x="0" y="3918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4" name="Line 20"/>
              <p:cNvSpPr/>
              <p:nvPr userDrawn="1"/>
            </p:nvSpPr>
            <p:spPr>
              <a:xfrm>
                <a:off x="0" y="3510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5" name="Line 21"/>
              <p:cNvSpPr/>
              <p:nvPr userDrawn="1"/>
            </p:nvSpPr>
            <p:spPr>
              <a:xfrm>
                <a:off x="0" y="3546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6" name="Line 22"/>
              <p:cNvSpPr/>
              <p:nvPr userDrawn="1"/>
            </p:nvSpPr>
            <p:spPr>
              <a:xfrm>
                <a:off x="0" y="3579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7" name="Line 23"/>
              <p:cNvSpPr/>
              <p:nvPr userDrawn="1"/>
            </p:nvSpPr>
            <p:spPr>
              <a:xfrm>
                <a:off x="0" y="3420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8" name="Line 24"/>
              <p:cNvSpPr/>
              <p:nvPr userDrawn="1"/>
            </p:nvSpPr>
            <p:spPr>
              <a:xfrm>
                <a:off x="0" y="3372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59" name="Line 25"/>
              <p:cNvSpPr/>
              <p:nvPr userDrawn="1"/>
            </p:nvSpPr>
            <p:spPr>
              <a:xfrm>
                <a:off x="0" y="3465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60" name="Line 26"/>
              <p:cNvSpPr/>
              <p:nvPr userDrawn="1"/>
            </p:nvSpPr>
            <p:spPr>
              <a:xfrm>
                <a:off x="0" y="2973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61" name="Line 27"/>
              <p:cNvSpPr/>
              <p:nvPr userDrawn="1"/>
            </p:nvSpPr>
            <p:spPr>
              <a:xfrm>
                <a:off x="0" y="2946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62" name="Line 28"/>
              <p:cNvSpPr/>
              <p:nvPr userDrawn="1"/>
            </p:nvSpPr>
            <p:spPr>
              <a:xfrm>
                <a:off x="0" y="3327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63" name="Line 29"/>
              <p:cNvSpPr/>
              <p:nvPr userDrawn="1"/>
            </p:nvSpPr>
            <p:spPr>
              <a:xfrm>
                <a:off x="0" y="3201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64" name="Line 30"/>
              <p:cNvSpPr/>
              <p:nvPr userDrawn="1"/>
            </p:nvSpPr>
            <p:spPr>
              <a:xfrm>
                <a:off x="0" y="3120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65" name="Line 31"/>
              <p:cNvSpPr/>
              <p:nvPr userDrawn="1"/>
            </p:nvSpPr>
            <p:spPr>
              <a:xfrm>
                <a:off x="0" y="3306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66" name="Line 32"/>
              <p:cNvSpPr/>
              <p:nvPr userDrawn="1"/>
            </p:nvSpPr>
            <p:spPr>
              <a:xfrm>
                <a:off x="0" y="2994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67" name="Line 33"/>
              <p:cNvSpPr/>
              <p:nvPr userDrawn="1"/>
            </p:nvSpPr>
            <p:spPr>
              <a:xfrm>
                <a:off x="0" y="3048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68" name="Line 34"/>
              <p:cNvSpPr/>
              <p:nvPr userDrawn="1"/>
            </p:nvSpPr>
            <p:spPr>
              <a:xfrm>
                <a:off x="0" y="3246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69" name="Line 35"/>
              <p:cNvSpPr/>
              <p:nvPr userDrawn="1"/>
            </p:nvSpPr>
            <p:spPr>
              <a:xfrm>
                <a:off x="0" y="3225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0" name="Line 36"/>
              <p:cNvSpPr/>
              <p:nvPr userDrawn="1"/>
            </p:nvSpPr>
            <p:spPr>
              <a:xfrm>
                <a:off x="0" y="2831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1" name="Line 37"/>
              <p:cNvSpPr/>
              <p:nvPr userDrawn="1"/>
            </p:nvSpPr>
            <p:spPr>
              <a:xfrm>
                <a:off x="0" y="2750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2" name="Line 38"/>
              <p:cNvSpPr/>
              <p:nvPr userDrawn="1"/>
            </p:nvSpPr>
            <p:spPr>
              <a:xfrm>
                <a:off x="0" y="2678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3" name="Line 39"/>
              <p:cNvSpPr/>
              <p:nvPr userDrawn="1"/>
            </p:nvSpPr>
            <p:spPr>
              <a:xfrm>
                <a:off x="0" y="2876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4" name="Line 40"/>
              <p:cNvSpPr/>
              <p:nvPr userDrawn="1"/>
            </p:nvSpPr>
            <p:spPr>
              <a:xfrm>
                <a:off x="0" y="2855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5" name="Line 41"/>
              <p:cNvSpPr/>
              <p:nvPr userDrawn="1"/>
            </p:nvSpPr>
            <p:spPr>
              <a:xfrm>
                <a:off x="0" y="2554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6" name="Line 42"/>
              <p:cNvSpPr/>
              <p:nvPr userDrawn="1"/>
            </p:nvSpPr>
            <p:spPr>
              <a:xfrm>
                <a:off x="0" y="2590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7" name="Line 43"/>
              <p:cNvSpPr/>
              <p:nvPr userDrawn="1"/>
            </p:nvSpPr>
            <p:spPr>
              <a:xfrm>
                <a:off x="0" y="2623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8" name="Line 44"/>
              <p:cNvSpPr/>
              <p:nvPr userDrawn="1"/>
            </p:nvSpPr>
            <p:spPr>
              <a:xfrm>
                <a:off x="0" y="2464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79" name="Line 45"/>
              <p:cNvSpPr/>
              <p:nvPr userDrawn="1"/>
            </p:nvSpPr>
            <p:spPr>
              <a:xfrm>
                <a:off x="0" y="2416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80" name="Line 46"/>
              <p:cNvSpPr/>
              <p:nvPr userDrawn="1"/>
            </p:nvSpPr>
            <p:spPr>
              <a:xfrm>
                <a:off x="0" y="2509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81" name="Line 47"/>
              <p:cNvSpPr/>
              <p:nvPr userDrawn="1"/>
            </p:nvSpPr>
            <p:spPr>
              <a:xfrm>
                <a:off x="0" y="2371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82" name="Line 48"/>
              <p:cNvSpPr/>
              <p:nvPr userDrawn="1"/>
            </p:nvSpPr>
            <p:spPr>
              <a:xfrm>
                <a:off x="0" y="2245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83" name="Line 49"/>
              <p:cNvSpPr/>
              <p:nvPr userDrawn="1"/>
            </p:nvSpPr>
            <p:spPr>
              <a:xfrm>
                <a:off x="0" y="2350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84" name="Line 50"/>
              <p:cNvSpPr/>
              <p:nvPr userDrawn="1"/>
            </p:nvSpPr>
            <p:spPr>
              <a:xfrm>
                <a:off x="0" y="2290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85" name="Line 51"/>
              <p:cNvSpPr/>
              <p:nvPr userDrawn="1"/>
            </p:nvSpPr>
            <p:spPr>
              <a:xfrm>
                <a:off x="0" y="2269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86" name="Line 52"/>
              <p:cNvSpPr/>
              <p:nvPr userDrawn="1"/>
            </p:nvSpPr>
            <p:spPr>
              <a:xfrm>
                <a:off x="0" y="2130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87" name="Line 53"/>
              <p:cNvSpPr/>
              <p:nvPr userDrawn="1"/>
            </p:nvSpPr>
            <p:spPr>
              <a:xfrm>
                <a:off x="0" y="2166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88" name="Line 54"/>
              <p:cNvSpPr/>
              <p:nvPr userDrawn="1"/>
            </p:nvSpPr>
            <p:spPr>
              <a:xfrm>
                <a:off x="0" y="2199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89" name="Line 55"/>
              <p:cNvSpPr/>
              <p:nvPr userDrawn="1"/>
            </p:nvSpPr>
            <p:spPr>
              <a:xfrm>
                <a:off x="0" y="2040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90" name="Line 56"/>
              <p:cNvSpPr/>
              <p:nvPr userDrawn="1"/>
            </p:nvSpPr>
            <p:spPr>
              <a:xfrm>
                <a:off x="0" y="1992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91" name="Line 57"/>
              <p:cNvSpPr/>
              <p:nvPr userDrawn="1"/>
            </p:nvSpPr>
            <p:spPr>
              <a:xfrm>
                <a:off x="0" y="2085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92" name="Line 58"/>
              <p:cNvSpPr/>
              <p:nvPr userDrawn="1"/>
            </p:nvSpPr>
            <p:spPr>
              <a:xfrm>
                <a:off x="0" y="1593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93" name="Line 59"/>
              <p:cNvSpPr/>
              <p:nvPr userDrawn="1"/>
            </p:nvSpPr>
            <p:spPr>
              <a:xfrm>
                <a:off x="0" y="1566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94" name="Line 60"/>
              <p:cNvSpPr/>
              <p:nvPr userDrawn="1"/>
            </p:nvSpPr>
            <p:spPr>
              <a:xfrm>
                <a:off x="0" y="1947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95" name="Line 61"/>
              <p:cNvSpPr/>
              <p:nvPr userDrawn="1"/>
            </p:nvSpPr>
            <p:spPr>
              <a:xfrm>
                <a:off x="0" y="1821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96" name="Line 62"/>
              <p:cNvSpPr/>
              <p:nvPr userDrawn="1"/>
            </p:nvSpPr>
            <p:spPr>
              <a:xfrm>
                <a:off x="0" y="1740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97" name="Line 63"/>
              <p:cNvSpPr/>
              <p:nvPr userDrawn="1"/>
            </p:nvSpPr>
            <p:spPr>
              <a:xfrm>
                <a:off x="0" y="1926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98" name="Line 64"/>
              <p:cNvSpPr/>
              <p:nvPr userDrawn="1"/>
            </p:nvSpPr>
            <p:spPr>
              <a:xfrm>
                <a:off x="0" y="1614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99" name="Line 65"/>
              <p:cNvSpPr/>
              <p:nvPr userDrawn="1"/>
            </p:nvSpPr>
            <p:spPr>
              <a:xfrm>
                <a:off x="0" y="1668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0" name="Line 66"/>
              <p:cNvSpPr/>
              <p:nvPr userDrawn="1"/>
            </p:nvSpPr>
            <p:spPr>
              <a:xfrm>
                <a:off x="0" y="1866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1" name="Line 67"/>
              <p:cNvSpPr/>
              <p:nvPr userDrawn="1"/>
            </p:nvSpPr>
            <p:spPr>
              <a:xfrm>
                <a:off x="0" y="1845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2" name="Line 68"/>
              <p:cNvSpPr/>
              <p:nvPr userDrawn="1"/>
            </p:nvSpPr>
            <p:spPr>
              <a:xfrm>
                <a:off x="0" y="1437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3" name="Line 69"/>
              <p:cNvSpPr/>
              <p:nvPr userDrawn="1"/>
            </p:nvSpPr>
            <p:spPr>
              <a:xfrm>
                <a:off x="0" y="1473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4" name="Line 70"/>
              <p:cNvSpPr/>
              <p:nvPr userDrawn="1"/>
            </p:nvSpPr>
            <p:spPr>
              <a:xfrm>
                <a:off x="0" y="1506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5" name="Line 71"/>
              <p:cNvSpPr/>
              <p:nvPr userDrawn="1"/>
            </p:nvSpPr>
            <p:spPr>
              <a:xfrm>
                <a:off x="0" y="1347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" name="Line 72"/>
              <p:cNvSpPr/>
              <p:nvPr userDrawn="1"/>
            </p:nvSpPr>
            <p:spPr>
              <a:xfrm>
                <a:off x="0" y="1392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7" name="Line 73"/>
              <p:cNvSpPr/>
              <p:nvPr userDrawn="1"/>
            </p:nvSpPr>
            <p:spPr>
              <a:xfrm>
                <a:off x="0" y="1016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8" name="Line 74"/>
              <p:cNvSpPr/>
              <p:nvPr userDrawn="1"/>
            </p:nvSpPr>
            <p:spPr>
              <a:xfrm>
                <a:off x="0" y="989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9" name="Line 75"/>
              <p:cNvSpPr/>
              <p:nvPr userDrawn="1"/>
            </p:nvSpPr>
            <p:spPr>
              <a:xfrm>
                <a:off x="0" y="1244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10" name="Line 76"/>
              <p:cNvSpPr/>
              <p:nvPr userDrawn="1"/>
            </p:nvSpPr>
            <p:spPr>
              <a:xfrm>
                <a:off x="0" y="1163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11" name="Line 77"/>
              <p:cNvSpPr/>
              <p:nvPr userDrawn="1"/>
            </p:nvSpPr>
            <p:spPr>
              <a:xfrm>
                <a:off x="0" y="1037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12" name="Line 78"/>
              <p:cNvSpPr/>
              <p:nvPr userDrawn="1"/>
            </p:nvSpPr>
            <p:spPr>
              <a:xfrm>
                <a:off x="0" y="1091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13" name="Line 79"/>
              <p:cNvSpPr/>
              <p:nvPr userDrawn="1"/>
            </p:nvSpPr>
            <p:spPr>
              <a:xfrm>
                <a:off x="0" y="1289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14" name="Line 80"/>
              <p:cNvSpPr/>
              <p:nvPr userDrawn="1"/>
            </p:nvSpPr>
            <p:spPr>
              <a:xfrm>
                <a:off x="0" y="1268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15" name="Line 81"/>
              <p:cNvSpPr/>
              <p:nvPr userDrawn="1"/>
            </p:nvSpPr>
            <p:spPr>
              <a:xfrm>
                <a:off x="0" y="860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16" name="Line 82"/>
              <p:cNvSpPr/>
              <p:nvPr userDrawn="1"/>
            </p:nvSpPr>
            <p:spPr>
              <a:xfrm>
                <a:off x="0" y="896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17" name="Line 83"/>
              <p:cNvSpPr/>
              <p:nvPr userDrawn="1"/>
            </p:nvSpPr>
            <p:spPr>
              <a:xfrm>
                <a:off x="0" y="929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18" name="Line 84"/>
              <p:cNvSpPr/>
              <p:nvPr userDrawn="1"/>
            </p:nvSpPr>
            <p:spPr>
              <a:xfrm>
                <a:off x="0" y="770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19" name="Line 85"/>
              <p:cNvSpPr/>
              <p:nvPr userDrawn="1"/>
            </p:nvSpPr>
            <p:spPr>
              <a:xfrm>
                <a:off x="0" y="815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0" name="Line 86"/>
              <p:cNvSpPr/>
              <p:nvPr userDrawn="1"/>
            </p:nvSpPr>
            <p:spPr>
              <a:xfrm>
                <a:off x="0" y="718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1" name="Line 87"/>
              <p:cNvSpPr/>
              <p:nvPr userDrawn="1"/>
            </p:nvSpPr>
            <p:spPr>
              <a:xfrm>
                <a:off x="0" y="646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2" name="Line 88"/>
              <p:cNvSpPr/>
              <p:nvPr userDrawn="1"/>
            </p:nvSpPr>
            <p:spPr>
              <a:xfrm>
                <a:off x="0" y="522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3" name="Line 89"/>
              <p:cNvSpPr/>
              <p:nvPr userDrawn="1"/>
            </p:nvSpPr>
            <p:spPr>
              <a:xfrm>
                <a:off x="0" y="558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4" name="Line 90"/>
              <p:cNvSpPr/>
              <p:nvPr userDrawn="1"/>
            </p:nvSpPr>
            <p:spPr>
              <a:xfrm>
                <a:off x="0" y="591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5" name="Line 91"/>
              <p:cNvSpPr/>
              <p:nvPr userDrawn="1"/>
            </p:nvSpPr>
            <p:spPr>
              <a:xfrm>
                <a:off x="0" y="432"/>
                <a:ext cx="5760" cy="0"/>
              </a:xfrm>
              <a:prstGeom prst="line">
                <a:avLst/>
              </a:prstGeom>
              <a:ln w="2857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6" name="Line 92"/>
              <p:cNvSpPr/>
              <p:nvPr userDrawn="1"/>
            </p:nvSpPr>
            <p:spPr>
              <a:xfrm>
                <a:off x="0" y="384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7" name="Line 93"/>
              <p:cNvSpPr/>
              <p:nvPr userDrawn="1"/>
            </p:nvSpPr>
            <p:spPr>
              <a:xfrm>
                <a:off x="0" y="477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" name="Line 94"/>
              <p:cNvSpPr/>
              <p:nvPr userDrawn="1"/>
            </p:nvSpPr>
            <p:spPr>
              <a:xfrm>
                <a:off x="0" y="339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9" name="Line 95"/>
              <p:cNvSpPr/>
              <p:nvPr userDrawn="1"/>
            </p:nvSpPr>
            <p:spPr>
              <a:xfrm>
                <a:off x="0" y="318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0" name="Line 96"/>
              <p:cNvSpPr/>
              <p:nvPr userDrawn="1"/>
            </p:nvSpPr>
            <p:spPr>
              <a:xfrm>
                <a:off x="0" y="258"/>
                <a:ext cx="5760" cy="0"/>
              </a:xfrm>
              <a:prstGeom prst="line">
                <a:avLst/>
              </a:prstGeom>
              <a:ln w="1905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1" name="Line 97"/>
              <p:cNvSpPr/>
              <p:nvPr userDrawn="1"/>
            </p:nvSpPr>
            <p:spPr>
              <a:xfrm>
                <a:off x="0" y="70"/>
                <a:ext cx="5760" cy="0"/>
              </a:xfrm>
              <a:prstGeom prst="line">
                <a:avLst/>
              </a:prstGeom>
              <a:ln w="9525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2" name="Line 98"/>
              <p:cNvSpPr/>
              <p:nvPr userDrawn="1"/>
            </p:nvSpPr>
            <p:spPr>
              <a:xfrm>
                <a:off x="0" y="43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3" name="Line 99"/>
              <p:cNvSpPr/>
              <p:nvPr userDrawn="1"/>
            </p:nvSpPr>
            <p:spPr>
              <a:xfrm>
                <a:off x="0" y="91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4" name="Line 100"/>
              <p:cNvSpPr/>
              <p:nvPr userDrawn="1"/>
            </p:nvSpPr>
            <p:spPr>
              <a:xfrm>
                <a:off x="0" y="145"/>
                <a:ext cx="5760" cy="0"/>
              </a:xfrm>
              <a:prstGeom prst="line">
                <a:avLst/>
              </a:prstGeom>
              <a:ln w="127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5" name="Line 101"/>
              <p:cNvSpPr/>
              <p:nvPr userDrawn="1"/>
            </p:nvSpPr>
            <p:spPr>
              <a:xfrm>
                <a:off x="0" y="202"/>
                <a:ext cx="5760" cy="0"/>
              </a:xfrm>
              <a:prstGeom prst="line">
                <a:avLst/>
              </a:prstGeom>
              <a:ln w="38100" cap="flat" cmpd="sng">
                <a:solidFill>
                  <a:schemeClr val="bg2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033" name="Group 102"/>
            <p:cNvGrpSpPr/>
            <p:nvPr userDrawn="1"/>
          </p:nvGrpSpPr>
          <p:grpSpPr>
            <a:xfrm>
              <a:off x="400" y="205"/>
              <a:ext cx="5216" cy="1123"/>
              <a:chOff x="400" y="205"/>
              <a:chExt cx="5216" cy="1123"/>
            </a:xfrm>
          </p:grpSpPr>
          <p:sp>
            <p:nvSpPr>
              <p:cNvPr id="1034" name="Rectangle 103"/>
              <p:cNvSpPr>
                <a:spLocks noChangeArrowheads="1"/>
              </p:cNvSpPr>
              <p:nvPr/>
            </p:nvSpPr>
            <p:spPr bwMode="auto">
              <a:xfrm>
                <a:off x="557" y="205"/>
                <a:ext cx="313" cy="9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" name="Rectangle 104"/>
              <p:cNvSpPr>
                <a:spLocks noChangeArrowheads="1"/>
              </p:cNvSpPr>
              <p:nvPr/>
            </p:nvSpPr>
            <p:spPr bwMode="auto">
              <a:xfrm>
                <a:off x="400" y="288"/>
                <a:ext cx="3567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" name="Rectangle 105"/>
              <p:cNvSpPr>
                <a:spLocks noChangeArrowheads="1"/>
              </p:cNvSpPr>
              <p:nvPr/>
            </p:nvSpPr>
            <p:spPr bwMode="auto">
              <a:xfrm>
                <a:off x="4599" y="1115"/>
                <a:ext cx="929" cy="21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7" name="Rectangle 106"/>
              <p:cNvSpPr>
                <a:spLocks noChangeArrowheads="1"/>
              </p:cNvSpPr>
              <p:nvPr/>
            </p:nvSpPr>
            <p:spPr bwMode="auto">
              <a:xfrm>
                <a:off x="2049" y="1211"/>
                <a:ext cx="3567" cy="4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027" name="Rectangle 107"/>
          <p:cNvSpPr>
            <a:spLocks noGrp="1"/>
          </p:cNvSpPr>
          <p:nvPr>
            <p:ph type="body" idx="1"/>
          </p:nvPr>
        </p:nvSpPr>
        <p:spPr>
          <a:xfrm>
            <a:off x="809625" y="2214563"/>
            <a:ext cx="7958138" cy="38814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685" name="Rectangle 10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3575" y="6577013"/>
            <a:ext cx="3673475" cy="2809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2000">
                <a:solidFill>
                  <a:schemeClr val="tx2"/>
                </a:solidFill>
                <a:ea typeface="华文新魏" panose="0201080004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《虚拟地理环境及其应用》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1029" name="Rectangle 111"/>
          <p:cNvSpPr>
            <a:spLocks noGrp="1"/>
          </p:cNvSpPr>
          <p:nvPr>
            <p:ph type="title"/>
          </p:nvPr>
        </p:nvSpPr>
        <p:spPr>
          <a:xfrm>
            <a:off x="1371600" y="609600"/>
            <a:ext cx="73787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1030" name="Picture 1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410450" y="0"/>
            <a:ext cx="1733550" cy="514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31" name="Rectangle 113"/>
          <p:cNvSpPr>
            <a:spLocks noChangeArrowheads="1"/>
          </p:cNvSpPr>
          <p:nvPr/>
        </p:nvSpPr>
        <p:spPr bwMode="auto">
          <a:xfrm>
            <a:off x="0" y="0"/>
            <a:ext cx="533400" cy="6553200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C7C0EA"/>
                </a:solidFill>
                <a:effectLst/>
                <a:uLnTx/>
                <a:uFillTx/>
                <a:latin typeface="Arial" panose="020B0604020202020204" pitchFamily="34" charset="0"/>
                <a:ea typeface="华文彩云" panose="02010800040101010101" pitchFamily="2" charset="-122"/>
                <a:cs typeface="+mn-cs"/>
              </a:rPr>
              <a:t>福建师范大学地理学院地理信息系统专业课程</a:t>
            </a: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C7C0EA"/>
              </a:solidFill>
              <a:effectLst/>
              <a:uLnTx/>
              <a:uFillTx/>
              <a:latin typeface="Arial" panose="020B0604020202020204" pitchFamily="34" charset="0"/>
              <a:ea typeface="华文彩云" panose="0201080004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l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audio1.wav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audio" Target="../media/audio1.wav"/><Relationship Id="rId2" Type="http://schemas.openxmlformats.org/officeDocument/2006/relationships/image" Target="../media/image2.GIF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8482" name="Rectangle 2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7924800" cy="1371600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kumimoji="1" lang="zh-CN" altLang="en-US" sz="6000" kern="1200" dirty="0">
                <a:latin typeface="+mj-lt"/>
                <a:ea typeface="+mj-ea"/>
                <a:cs typeface="+mj-cs"/>
              </a:rPr>
              <a:t>虚拟地理环境及其应用</a:t>
            </a:r>
            <a:endParaRPr kumimoji="1" lang="zh-CN" altLang="en-US" sz="60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148483" name="Rectangle 3"/>
          <p:cNvSpPr>
            <a:spLocks noGrp="1"/>
          </p:cNvSpPr>
          <p:nvPr>
            <p:ph type="subTitle" idx="1"/>
          </p:nvPr>
        </p:nvSpPr>
        <p:spPr>
          <a:xfrm>
            <a:off x="3419475" y="3068638"/>
            <a:ext cx="2971800" cy="457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SzTx/>
            </a:pPr>
            <a:r>
              <a:rPr kumimoji="1" lang="zh-CN" altLang="en-US" sz="2400" kern="1200" dirty="0">
                <a:solidFill>
                  <a:srgbClr val="0066FF"/>
                </a:solidFill>
                <a:latin typeface="华文彩云" panose="02010800040101010101" pitchFamily="2" charset="-122"/>
                <a:ea typeface="华文彩云" panose="02010800040101010101" pitchFamily="2" charset="-122"/>
                <a:cs typeface="+mn-cs"/>
              </a:rPr>
              <a:t>主讲:江辉仙</a:t>
            </a:r>
            <a:endParaRPr kumimoji="1" lang="zh-CN" altLang="en-US" sz="2400" kern="1200" dirty="0">
              <a:solidFill>
                <a:srgbClr val="0066FF"/>
              </a:solidFill>
              <a:latin typeface="华文彩云" panose="02010800040101010101" pitchFamily="2" charset="-122"/>
              <a:ea typeface="华文彩云" panose="02010800040101010101" pitchFamily="2" charset="-122"/>
              <a:cs typeface="+mn-cs"/>
            </a:endParaRPr>
          </a:p>
        </p:txBody>
      </p:sp>
      <p:sp>
        <p:nvSpPr>
          <p:cNvPr id="148484" name="Rectangle 4"/>
          <p:cNvSpPr>
            <a:spLocks noRot="1"/>
          </p:cNvSpPr>
          <p:nvPr/>
        </p:nvSpPr>
        <p:spPr>
          <a:xfrm>
            <a:off x="228600" y="152400"/>
            <a:ext cx="457200" cy="6705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lang="zh-CN" altLang="en-US" sz="2000" dirty="0">
                <a:latin typeface="Arial" panose="020B0604020202020204" pitchFamily="34" charset="0"/>
                <a:ea typeface="华文彩云" panose="02010800040101010101" pitchFamily="2" charset="-122"/>
              </a:rPr>
              <a:t>福建师范大学地理学院地理信息系统专业课程</a:t>
            </a:r>
            <a:endParaRPr lang="zh-CN" altLang="en-US" sz="2000" dirty="0">
              <a:latin typeface="Arial" panose="020B0604020202020204" pitchFamily="34" charset="0"/>
              <a:ea typeface="华文彩云" panose="02010800040101010101" pitchFamily="2" charset="-122"/>
            </a:endParaRPr>
          </a:p>
        </p:txBody>
      </p:sp>
      <p:sp>
        <p:nvSpPr>
          <p:cNvPr id="148485" name="Rectangle 5"/>
          <p:cNvSpPr/>
          <p:nvPr/>
        </p:nvSpPr>
        <p:spPr>
          <a:xfrm>
            <a:off x="990600" y="6400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None/>
            </a:pPr>
            <a:endParaRPr lang="zh-CN" altLang="en-US" sz="2000" dirty="0">
              <a:solidFill>
                <a:srgbClr val="0066FF"/>
              </a:solidFill>
            </a:endParaRPr>
          </a:p>
        </p:txBody>
      </p:sp>
      <p:pic>
        <p:nvPicPr>
          <p:cNvPr id="6150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5263" y="6021388"/>
            <a:ext cx="3868737" cy="8366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48482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48484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48483">
                                            <p:txEl>
                                              <p:charRg st="0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48485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2" grpId="0" build="p"/>
      <p:bldP spid="148483" grpId="0" build="p"/>
      <p:bldP spid="148484" grpId="0" build="p"/>
      <p:bldP spid="14848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3828" name="Rectangle 4"/>
          <p:cNvSpPr>
            <a:spLocks noRot="1"/>
          </p:cNvSpPr>
          <p:nvPr/>
        </p:nvSpPr>
        <p:spPr>
          <a:xfrm>
            <a:off x="228600" y="152400"/>
            <a:ext cx="457200" cy="6705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</a:pPr>
            <a:r>
              <a:rPr lang="zh-CN" altLang="en-US" sz="2000" dirty="0">
                <a:latin typeface="Arial" panose="020B0604020202020204" pitchFamily="34" charset="0"/>
                <a:ea typeface="华文彩云" panose="02010800040101010101" pitchFamily="2" charset="-122"/>
              </a:rPr>
              <a:t>福建师范大学地理学院地理信息系统专业课程</a:t>
            </a:r>
            <a:endParaRPr lang="zh-CN" altLang="en-US" sz="2000" dirty="0">
              <a:latin typeface="Arial" panose="020B0604020202020204" pitchFamily="34" charset="0"/>
              <a:ea typeface="华文彩云" panose="02010800040101010101" pitchFamily="2" charset="-122"/>
            </a:endParaRPr>
          </a:p>
        </p:txBody>
      </p:sp>
      <p:sp>
        <p:nvSpPr>
          <p:cNvPr id="333829" name="Rectangle 5"/>
          <p:cNvSpPr/>
          <p:nvPr/>
        </p:nvSpPr>
        <p:spPr>
          <a:xfrm>
            <a:off x="990600" y="6400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buNone/>
            </a:pPr>
            <a:endParaRPr lang="zh-CN" altLang="en-US" sz="2000" dirty="0">
              <a:solidFill>
                <a:srgbClr val="0066FF"/>
              </a:solidFill>
            </a:endParaRPr>
          </a:p>
        </p:txBody>
      </p:sp>
      <p:pic>
        <p:nvPicPr>
          <p:cNvPr id="7172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5263" y="6021388"/>
            <a:ext cx="3868737" cy="8366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73" name="Rectangle 7"/>
          <p:cNvSpPr/>
          <p:nvPr/>
        </p:nvSpPr>
        <p:spPr>
          <a:xfrm>
            <a:off x="1979613" y="1196975"/>
            <a:ext cx="6121400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 b="1" dirty="0">
                <a:solidFill>
                  <a:schemeClr val="tx2"/>
                </a:solidFill>
                <a:latin typeface="Arial" panose="020B0604020202020204" pitchFamily="34" charset="0"/>
              </a:rPr>
              <a:t>第</a:t>
            </a:r>
            <a:r>
              <a:rPr lang="en-US" altLang="zh-CN" sz="4000" b="1" dirty="0">
                <a:solidFill>
                  <a:schemeClr val="tx2"/>
                </a:solidFill>
                <a:latin typeface="Arial" panose="020B0604020202020204" pitchFamily="34" charset="0"/>
              </a:rPr>
              <a:t>1-3</a:t>
            </a:r>
            <a:r>
              <a:rPr lang="zh-CN" altLang="en-US" sz="4000" b="1" dirty="0">
                <a:solidFill>
                  <a:schemeClr val="tx2"/>
                </a:solidFill>
                <a:latin typeface="Arial" panose="020B0604020202020204" pitchFamily="34" charset="0"/>
              </a:rPr>
              <a:t>章   混合现实技术</a:t>
            </a:r>
            <a:endParaRPr lang="zh-CN" altLang="en-US" sz="4000" b="1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0246" name="Rectangle 10"/>
          <p:cNvSpPr>
            <a:spLocks noChangeArrowheads="1"/>
          </p:cNvSpPr>
          <p:nvPr/>
        </p:nvSpPr>
        <p:spPr bwMode="auto">
          <a:xfrm>
            <a:off x="1547813" y="2565400"/>
            <a:ext cx="5113338" cy="19383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舒体" panose="02010601030101010101" pitchFamily="2" charset="-122"/>
                <a:ea typeface="方正舒体" panose="02010601030101010101" pitchFamily="2" charset="-122"/>
                <a:cs typeface="+mn-cs"/>
              </a:rPr>
              <a:t>主要内容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舒体" panose="02010601030101010101" pitchFamily="2" charset="-122"/>
                <a:ea typeface="方正舒体" panose="02010601030101010101" pitchFamily="2" charset="-122"/>
                <a:cs typeface="+mn-cs"/>
              </a:rPr>
              <a:t>: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方正舒体" panose="02010601030101010101" pitchFamily="2" charset="-122"/>
              <a:ea typeface="方正舒体" panose="02010601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混合现实概念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混合现实的交互技术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混合现实发展现状与趋势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Blip>
                <a:blip r:embed="rId2"/>
              </a:buBlip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 混合现实应用领域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8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333828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9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333829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8" grpId="0" build="p"/>
      <p:bldP spid="33382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 txBox="1"/>
          <p:nvPr/>
        </p:nvSpPr>
        <p:spPr>
          <a:xfrm>
            <a:off x="242888" y="1022350"/>
            <a:ext cx="8658225" cy="4813300"/>
          </a:xfrm>
          <a:prstGeom prst="plaque">
            <a:avLst>
              <a:gd name="adj" fmla="val 2839"/>
            </a:avLst>
          </a:prstGeom>
          <a:solidFill>
            <a:schemeClr val="accent2"/>
          </a:solidFill>
          <a:ln w="12700" cap="sq">
            <a:solidFill>
              <a:schemeClr val="accent2">
                <a:lumMod val="75000"/>
                <a:alpha val="100000"/>
              </a:schemeClr>
            </a:solidFill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20873" b="20873"/>
          <a:stretch>
            <a:fillRect/>
          </a:stretch>
        </p:blipFill>
        <p:spPr>
          <a:xfrm flipH="1">
            <a:off x="318304" y="1091097"/>
            <a:ext cx="8507393" cy="2777444"/>
          </a:xfrm>
          <a:prstGeom prst="plaque">
            <a:avLst>
              <a:gd name="adj" fmla="val 5833"/>
            </a:avLst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242888" y="3656013"/>
            <a:ext cx="8658225" cy="1298575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633413" y="2819400"/>
            <a:ext cx="8029575" cy="2776538"/>
          </a:xfrm>
          <a:prstGeom prst="plaque">
            <a:avLst>
              <a:gd name="adj" fmla="val 4196"/>
            </a:avLst>
          </a:prstGeom>
          <a:solidFill>
            <a:schemeClr val="accent2">
              <a:lumMod val="20000"/>
              <a:lumOff val="80000"/>
            </a:schemeClr>
          </a:solidFill>
          <a:ln w="12700" cap="sq">
            <a:solidFill>
              <a:schemeClr val="accent2"/>
            </a:solidFill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95325" y="2879725"/>
            <a:ext cx="7905750" cy="2638425"/>
          </a:xfrm>
          <a:prstGeom prst="plaque">
            <a:avLst>
              <a:gd name="adj" fmla="val 4196"/>
            </a:avLst>
          </a:prstGeom>
          <a:noFill/>
          <a:ln w="12700" cap="sq">
            <a:solidFill>
              <a:schemeClr val="accent2">
                <a:alpha val="100000"/>
              </a:schemeClr>
            </a:solidFill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3298702" y="2854810"/>
            <a:ext cx="1745484" cy="76174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500" kern="1200" cap="none" spc="0" normalizeH="0" baseline="0" noProof="0">
                <a:gradFill>
                  <a:gsLst>
                    <a:gs pos="0">
                      <a:srgbClr val="076843">
                        <a:alpha val="100000"/>
                      </a:srgbClr>
                    </a:gs>
                    <a:gs pos="78000">
                      <a:srgbClr val="076843">
                        <a:alpha val="0"/>
                      </a:srgbClr>
                    </a:gs>
                    <a:gs pos="100000">
                      <a:srgbClr val="076843">
                        <a:alpha val="0"/>
                      </a:srgbClr>
                    </a:gs>
                  </a:gsLst>
                  <a:lin ang="5400000" scaled="0"/>
                </a:gradFill>
                <a:latin typeface="Source Han Serif SC Bold"/>
                <a:ea typeface="Source Han Serif SC Bold"/>
                <a:cs typeface="Source Han Serif SC Bold"/>
              </a:rPr>
              <a:t>PART</a:t>
            </a: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1906588" y="3683000"/>
            <a:ext cx="5484813" cy="14747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R="0" algn="ct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750" kern="1200" cap="none" spc="0" normalizeH="0" baseline="0" noProof="0">
                <a:solidFill>
                  <a:srgbClr val="000000">
                    <a:alpha val="100000"/>
                  </a:srgbClr>
                </a:solidFill>
                <a:latin typeface="Source Han Serif SC Bold"/>
                <a:ea typeface="Source Han Serif SC Bold"/>
                <a:cs typeface="Source Han Serif SC Bold"/>
              </a:rPr>
              <a:t>混合现实概念与特点</a:t>
            </a: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1314450" y="5003800"/>
            <a:ext cx="1192213" cy="288925"/>
          </a:xfrm>
          <a:prstGeom prst="corner">
            <a:avLst>
              <a:gd name="adj1" fmla="val 11974"/>
              <a:gd name="adj2" fmla="val 13382"/>
            </a:avLst>
          </a:prstGeom>
          <a:solidFill>
            <a:schemeClr val="accent1"/>
          </a:solidFill>
          <a:ln w="14478" cap="sq">
            <a:solidFill>
              <a:schemeClr val="accent1">
                <a:lumMod val="75000"/>
              </a:schemeClr>
            </a:solidFill>
            <a:miter/>
          </a:ln>
          <a:effectLst/>
        </p:spPr>
        <p:txBody>
          <a:bodyPr lIns="78182" tIns="39091" rIns="78182" bIns="39091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标题 1"/>
          <p:cNvSpPr txBox="1"/>
          <p:nvPr/>
        </p:nvSpPr>
        <p:spPr>
          <a:xfrm flipH="1" flipV="1">
            <a:off x="6307138" y="3027363"/>
            <a:ext cx="1192213" cy="290513"/>
          </a:xfrm>
          <a:prstGeom prst="corner">
            <a:avLst>
              <a:gd name="adj1" fmla="val 11974"/>
              <a:gd name="adj2" fmla="val 13382"/>
            </a:avLst>
          </a:prstGeom>
          <a:solidFill>
            <a:schemeClr val="accent1"/>
          </a:solidFill>
          <a:ln w="14478" cap="sq">
            <a:solidFill>
              <a:schemeClr val="accent1">
                <a:lumMod val="75000"/>
              </a:schemeClr>
            </a:solidFill>
            <a:miter/>
          </a:ln>
          <a:effectLst/>
        </p:spPr>
        <p:txBody>
          <a:bodyPr lIns="78182" tIns="39091" rIns="78182" bIns="39091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503238" y="1363663"/>
            <a:ext cx="1624013" cy="20161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lIns="68580" tIns="34290" rIns="68580" bIns="34290" anchor="ctr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5070198" y="1530302"/>
            <a:ext cx="1287740" cy="20862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500" kern="1200" cap="none" spc="0" normalizeH="0" baseline="0" noProof="0" dirty="0">
                <a:gradFill>
                  <a:gsLst>
                    <a:gs pos="0">
                      <a:srgbClr val="076843">
                        <a:alpha val="100000"/>
                      </a:srgbClr>
                    </a:gs>
                    <a:gs pos="78000">
                      <a:srgbClr val="076843">
                        <a:alpha val="0"/>
                      </a:srgbClr>
                    </a:gs>
                    <a:gs pos="100000">
                      <a:srgbClr val="076843">
                        <a:alpha val="0"/>
                      </a:srgbClr>
                    </a:gs>
                  </a:gsLst>
                  <a:lin ang="5400000" scaled="0"/>
                </a:gradFill>
                <a:latin typeface="Source Han Serif SC Bold"/>
                <a:ea typeface="Source Han Serif SC Bold"/>
                <a:cs typeface="Source Han Serif SC Bold"/>
              </a:rPr>
              <a:t>01</a:t>
            </a:r>
            <a:endParaRPr kumimoji="1" lang="zh-CN" altLang="en-US" sz="1350" kern="1200" cap="none" spc="0" normalizeH="0" baseline="0" noProof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第一节</a:t>
            </a:r>
            <a:r>
              <a:rPr lang="en-US" altLang="zh-CN" dirty="0"/>
              <a:t>	</a:t>
            </a:r>
            <a:r>
              <a:rPr lang="zh-CN" altLang="zh-CN" dirty="0"/>
              <a:t>混合现实的概念</a:t>
            </a:r>
            <a:endParaRPr lang="zh-CN" altLang="zh-CN" dirty="0"/>
          </a:p>
        </p:txBody>
      </p:sp>
      <p:sp>
        <p:nvSpPr>
          <p:cNvPr id="9219" name="标题 1"/>
          <p:cNvSpPr txBox="1"/>
          <p:nvPr/>
        </p:nvSpPr>
        <p:spPr>
          <a:xfrm>
            <a:off x="812800" y="1946275"/>
            <a:ext cx="1905000" cy="3206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defTabSz="685800"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Source Han Sans CN Bold" charset="-122"/>
                <a:ea typeface="Source Han Sans CN Bold" charset="-122"/>
              </a:rPr>
              <a:t>混合现实的定义</a:t>
            </a:r>
            <a:endParaRPr lang="zh-CN" altLang="en-US" sz="1800" b="1" dirty="0">
              <a:solidFill>
                <a:srgbClr val="FF0000"/>
              </a:solidFill>
              <a:latin typeface="Source Han Sans CN Bold" charset="-122"/>
              <a:ea typeface="Source Han Sans CN Bold" charset="-122"/>
            </a:endParaRPr>
          </a:p>
        </p:txBody>
      </p:sp>
      <p:sp>
        <p:nvSpPr>
          <p:cNvPr id="9220" name="标题 1"/>
          <p:cNvSpPr txBox="1"/>
          <p:nvPr/>
        </p:nvSpPr>
        <p:spPr>
          <a:xfrm>
            <a:off x="660400" y="3590925"/>
            <a:ext cx="2708275" cy="27241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defTabSz="685800"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FF0000"/>
                </a:solidFill>
                <a:latin typeface="Source Han Sans" charset="-122"/>
                <a:ea typeface="Source Han Sans" charset="-122"/>
              </a:rPr>
              <a:t>Paul Milgram于1994年提出混合现实概念，该技术融合真实世界与虚拟对象，创造沉浸式体验，如虚实融合城市景观，让虚拟建筑与真实街道无缝衔接，模糊虚实界限。
</a:t>
            </a:r>
            <a:endParaRPr lang="zh-CN" altLang="en-US" sz="16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3576908" y="2041909"/>
            <a:ext cx="1904999" cy="3203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algn="ct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kern="1200" cap="none" spc="0" normalizeH="0" baseline="0" noProof="0" dirty="0" err="1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Source Han Sans CN Bold"/>
                <a:ea typeface="Source Han Sans CN Bold"/>
                <a:cs typeface="Source Han Sans CN Bold"/>
              </a:rPr>
              <a:t>混合现实的起源</a:t>
            </a:r>
            <a:endParaRPr kumimoji="1" lang="zh-CN" altLang="en-US" sz="1800" b="1" kern="1200" cap="none" spc="0" normalizeH="0" baseline="0" noProof="0" dirty="0">
              <a:solidFill>
                <a:srgbClr val="000000"/>
              </a:solidFill>
              <a:highlight>
                <a:srgbClr val="FFFF00"/>
              </a:highlight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3534379" y="3637084"/>
            <a:ext cx="2525541" cy="22312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R="0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kern="1200" cap="none" spc="0" normalizeH="0" baseline="0" noProof="0" dirty="0">
                <a:solidFill>
                  <a:srgbClr val="FF0000"/>
                </a:solidFill>
                <a:highlight>
                  <a:srgbClr val="FFFF00"/>
                </a:highlight>
                <a:latin typeface="Source Han Sans"/>
                <a:ea typeface="Source Han Sans"/>
                <a:cs typeface="+mn-cs"/>
              </a:rPr>
              <a:t>混合现实源于虚拟现实与增强现实技术发展，早期虚拟现实沉浸式体验，增强现实信息叠加，技术融合催生混合现实，微软HoloLens推出标志其走向实践。</a:t>
            </a:r>
            <a:r>
              <a:rPr kumimoji="1" lang="en-US" altLang="zh-CN" sz="1600" kern="1200" cap="none" spc="0" normalizeH="0" baseline="0" noProof="0" dirty="0">
                <a:solidFill>
                  <a:srgbClr val="FF0000"/>
                </a:solidFill>
                <a:latin typeface="Source Han Sans"/>
                <a:ea typeface="Source Han Sans"/>
                <a:cs typeface="+mn-cs"/>
              </a:rPr>
              <a:t>
</a:t>
            </a:r>
            <a:endParaRPr kumimoji="1" lang="zh-CN" altLang="en-US" sz="1600" kern="1200" cap="none" spc="0" normalizeH="0" baseline="0" noProof="0" dirty="0">
              <a:solidFill>
                <a:srgbClr val="FF0000"/>
              </a:solidFill>
              <a:latin typeface="Source Han Sans"/>
              <a:ea typeface="Source Han Sans"/>
              <a:cs typeface="+mn-cs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6526529" y="2041909"/>
            <a:ext cx="2149927" cy="32035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algn="ct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1" kern="1200" cap="none" spc="0" normalizeH="0" baseline="0" noProof="0" dirty="0" err="1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Source Han Sans CN Bold"/>
                <a:ea typeface="Source Han Sans CN Bold"/>
                <a:cs typeface="Source Han Sans CN Bold"/>
              </a:rPr>
              <a:t>混合现实的发展历程</a:t>
            </a:r>
            <a:endParaRPr kumimoji="1" lang="zh-CN" altLang="en-US" sz="1800" b="1" kern="1200" cap="none" spc="0" normalizeH="0" baseline="0" noProof="0" dirty="0">
              <a:solidFill>
                <a:srgbClr val="000000"/>
              </a:solidFill>
              <a:highlight>
                <a:srgbClr val="FFFF00"/>
              </a:highlight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6156177" y="3670458"/>
            <a:ext cx="2952328" cy="350295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R="0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kern="1200" cap="none" spc="0" normalizeH="0" baseline="0" noProof="0" dirty="0">
                <a:solidFill>
                  <a:srgbClr val="FF0000"/>
                </a:solidFill>
                <a:highlight>
                  <a:srgbClr val="FFFF00"/>
                </a:highlight>
                <a:latin typeface="Source Han Sans"/>
                <a:ea typeface="Source Han Sans"/>
                <a:cs typeface="+mn-cs"/>
              </a:rPr>
              <a:t>20世纪90年代初，混合现实概念萌芽，受限于技术瓶颈发展缓慢，近年来硬件性能提升、算法优化，技术取得突破，应用场景不断拓展。混合现实技术发展推动各领域变革，如教育中虚拟实验室、历史场景重现，医疗里手术模拟、康复训练，工业中虚拟装配、远程维修等。</a:t>
            </a:r>
            <a:endParaRPr kumimoji="1" lang="zh-CN" altLang="en-US" sz="1600" kern="1200" cap="none" spc="0" normalizeH="0" baseline="0" noProof="0" dirty="0">
              <a:solidFill>
                <a:srgbClr val="FF0000"/>
              </a:solidFill>
              <a:highlight>
                <a:srgbClr val="FFFF00"/>
              </a:highlight>
              <a:latin typeface="Source Han Sans"/>
              <a:ea typeface="Source Han Sans"/>
              <a:cs typeface="+mn-cs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1465263" y="3292475"/>
            <a:ext cx="503238" cy="131763"/>
          </a:xfrm>
          <a:custGeom>
            <a:avLst/>
            <a:gdLst>
              <a:gd name="connsiteX0" fmla="*/ 778672 w 778671"/>
              <a:gd name="connsiteY0" fmla="*/ 187955 h 375910"/>
              <a:gd name="connsiteX1" fmla="*/ 389336 w 778671"/>
              <a:gd name="connsiteY1" fmla="*/ 375911 h 375910"/>
              <a:gd name="connsiteX2" fmla="*/ 0 w 778671"/>
              <a:gd name="connsiteY2" fmla="*/ 187955 h 375910"/>
              <a:gd name="connsiteX3" fmla="*/ 389336 w 778671"/>
              <a:gd name="connsiteY3" fmla="*/ 0 h 375910"/>
              <a:gd name="connsiteX4" fmla="*/ 778672 w 778671"/>
              <a:gd name="connsiteY4" fmla="*/ 187955 h 375910"/>
            </a:gdLst>
            <a:ahLst/>
            <a:cxnLst/>
            <a:rect l="l" t="t" r="r" b="b"/>
            <a:pathLst>
              <a:path w="778671" h="375910">
                <a:moveTo>
                  <a:pt x="778672" y="187955"/>
                </a:moveTo>
                <a:cubicBezTo>
                  <a:pt x="778672" y="291760"/>
                  <a:pt x="604360" y="375911"/>
                  <a:pt x="389336" y="375911"/>
                </a:cubicBezTo>
                <a:cubicBezTo>
                  <a:pt x="174312" y="375911"/>
                  <a:pt x="0" y="291760"/>
                  <a:pt x="0" y="187955"/>
                </a:cubicBezTo>
                <a:cubicBezTo>
                  <a:pt x="0" y="84150"/>
                  <a:pt x="174312" y="0"/>
                  <a:pt x="389336" y="0"/>
                </a:cubicBezTo>
                <a:cubicBezTo>
                  <a:pt x="604360" y="0"/>
                  <a:pt x="778672" y="84150"/>
                  <a:pt x="778672" y="1879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cap="flat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defTabSz="6858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1314450" y="2433638"/>
            <a:ext cx="803275" cy="939800"/>
          </a:xfrm>
          <a:custGeom>
            <a:avLst/>
            <a:gdLst>
              <a:gd name="connsiteX0" fmla="*/ 710840 w 1245875"/>
              <a:gd name="connsiteY0" fmla="*/ 1422970 h 1457874"/>
              <a:gd name="connsiteX1" fmla="*/ 1245707 w 1245875"/>
              <a:gd name="connsiteY1" fmla="*/ 610064 h 1457874"/>
              <a:gd name="connsiteX2" fmla="*/ 622770 w 1245875"/>
              <a:gd name="connsiteY2" fmla="*/ -120 h 1457874"/>
              <a:gd name="connsiteX3" fmla="*/ -168 w 1245875"/>
              <a:gd name="connsiteY3" fmla="*/ 610064 h 1457874"/>
              <a:gd name="connsiteX4" fmla="*/ 534699 w 1245875"/>
              <a:gd name="connsiteY4" fmla="*/ 1422970 h 1457874"/>
              <a:gd name="connsiteX5" fmla="*/ 534699 w 1245875"/>
              <a:gd name="connsiteY5" fmla="*/ 1422970 h 1457874"/>
              <a:gd name="connsiteX6" fmla="*/ 710840 w 1245875"/>
              <a:gd name="connsiteY6" fmla="*/ 1422970 h 1457874"/>
            </a:gdLst>
            <a:ahLst/>
            <a:cxnLst/>
            <a:rect l="l" t="t" r="r" b="b"/>
            <a:pathLst>
              <a:path w="1245875" h="1457874">
                <a:moveTo>
                  <a:pt x="710840" y="1422970"/>
                </a:moveTo>
                <a:cubicBezTo>
                  <a:pt x="1067418" y="1089196"/>
                  <a:pt x="1245707" y="818229"/>
                  <a:pt x="1245707" y="610064"/>
                </a:cubicBezTo>
                <a:cubicBezTo>
                  <a:pt x="1245707" y="273060"/>
                  <a:pt x="966808" y="-120"/>
                  <a:pt x="622770" y="-120"/>
                </a:cubicBezTo>
                <a:cubicBezTo>
                  <a:pt x="278731" y="-120"/>
                  <a:pt x="-168" y="273060"/>
                  <a:pt x="-168" y="610064"/>
                </a:cubicBezTo>
                <a:cubicBezTo>
                  <a:pt x="-168" y="818229"/>
                  <a:pt x="178121" y="1089196"/>
                  <a:pt x="534699" y="1422970"/>
                </a:cubicBezTo>
                <a:lnTo>
                  <a:pt x="534699" y="1422970"/>
                </a:lnTo>
                <a:cubicBezTo>
                  <a:pt x="584255" y="1469350"/>
                  <a:pt x="661287" y="1469350"/>
                  <a:pt x="710840" y="142297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1506538" y="2611438"/>
            <a:ext cx="419100" cy="419100"/>
          </a:xfrm>
          <a:custGeom>
            <a:avLst/>
            <a:gdLst>
              <a:gd name="connsiteX0" fmla="*/ 472573 w 472573"/>
              <a:gd name="connsiteY0" fmla="*/ 236287 h 472573"/>
              <a:gd name="connsiteX1" fmla="*/ 236287 w 472573"/>
              <a:gd name="connsiteY1" fmla="*/ 472573 h 472573"/>
              <a:gd name="connsiteX2" fmla="*/ 0 w 472573"/>
              <a:gd name="connsiteY2" fmla="*/ 236287 h 472573"/>
              <a:gd name="connsiteX3" fmla="*/ 236287 w 472573"/>
              <a:gd name="connsiteY3" fmla="*/ 0 h 472573"/>
              <a:gd name="connsiteX4" fmla="*/ 472573 w 472573"/>
              <a:gd name="connsiteY4" fmla="*/ 236287 h 472573"/>
            </a:gdLst>
            <a:ahLst/>
            <a:cxnLst/>
            <a:rect l="l" t="t" r="r" b="b"/>
            <a:pathLst>
              <a:path w="472573" h="472573">
                <a:moveTo>
                  <a:pt x="472573" y="236287"/>
                </a:moveTo>
                <a:cubicBezTo>
                  <a:pt x="472573" y="366784"/>
                  <a:pt x="366784" y="472573"/>
                  <a:pt x="236287" y="472573"/>
                </a:cubicBezTo>
                <a:cubicBezTo>
                  <a:pt x="105789" y="472573"/>
                  <a:pt x="0" y="366784"/>
                  <a:pt x="0" y="236287"/>
                </a:cubicBezTo>
                <a:cubicBezTo>
                  <a:pt x="0" y="105789"/>
                  <a:pt x="105789" y="0"/>
                  <a:pt x="236287" y="0"/>
                </a:cubicBezTo>
                <a:cubicBezTo>
                  <a:pt x="366784" y="0"/>
                  <a:pt x="472573" y="105789"/>
                  <a:pt x="472573" y="236287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defTabSz="6858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1533525" y="2693988"/>
            <a:ext cx="360363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algn="ct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cap="none" spc="0" normalizeH="0" baseline="0" noProof="0">
                <a:solidFill>
                  <a:srgbClr val="076843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7207250" y="3292475"/>
            <a:ext cx="503238" cy="131763"/>
          </a:xfrm>
          <a:custGeom>
            <a:avLst/>
            <a:gdLst>
              <a:gd name="connsiteX0" fmla="*/ 778672 w 778671"/>
              <a:gd name="connsiteY0" fmla="*/ 187955 h 375910"/>
              <a:gd name="connsiteX1" fmla="*/ 389336 w 778671"/>
              <a:gd name="connsiteY1" fmla="*/ 375911 h 375910"/>
              <a:gd name="connsiteX2" fmla="*/ 0 w 778671"/>
              <a:gd name="connsiteY2" fmla="*/ 187955 h 375910"/>
              <a:gd name="connsiteX3" fmla="*/ 389336 w 778671"/>
              <a:gd name="connsiteY3" fmla="*/ 0 h 375910"/>
              <a:gd name="connsiteX4" fmla="*/ 778672 w 778671"/>
              <a:gd name="connsiteY4" fmla="*/ 187955 h 375910"/>
            </a:gdLst>
            <a:ahLst/>
            <a:cxnLst/>
            <a:rect l="l" t="t" r="r" b="b"/>
            <a:pathLst>
              <a:path w="778671" h="375910">
                <a:moveTo>
                  <a:pt x="778672" y="187955"/>
                </a:moveTo>
                <a:cubicBezTo>
                  <a:pt x="778672" y="291760"/>
                  <a:pt x="604360" y="375911"/>
                  <a:pt x="389336" y="375911"/>
                </a:cubicBezTo>
                <a:cubicBezTo>
                  <a:pt x="174312" y="375911"/>
                  <a:pt x="0" y="291760"/>
                  <a:pt x="0" y="187955"/>
                </a:cubicBezTo>
                <a:cubicBezTo>
                  <a:pt x="0" y="84150"/>
                  <a:pt x="174312" y="0"/>
                  <a:pt x="389336" y="0"/>
                </a:cubicBezTo>
                <a:cubicBezTo>
                  <a:pt x="604360" y="0"/>
                  <a:pt x="778672" y="84150"/>
                  <a:pt x="778672" y="1879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cap="flat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defTabSz="6858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7058025" y="2433638"/>
            <a:ext cx="803275" cy="939800"/>
          </a:xfrm>
          <a:custGeom>
            <a:avLst/>
            <a:gdLst>
              <a:gd name="connsiteX0" fmla="*/ 710840 w 1245875"/>
              <a:gd name="connsiteY0" fmla="*/ 1422970 h 1457874"/>
              <a:gd name="connsiteX1" fmla="*/ 1245707 w 1245875"/>
              <a:gd name="connsiteY1" fmla="*/ 610064 h 1457874"/>
              <a:gd name="connsiteX2" fmla="*/ 622770 w 1245875"/>
              <a:gd name="connsiteY2" fmla="*/ -120 h 1457874"/>
              <a:gd name="connsiteX3" fmla="*/ -168 w 1245875"/>
              <a:gd name="connsiteY3" fmla="*/ 610064 h 1457874"/>
              <a:gd name="connsiteX4" fmla="*/ 534699 w 1245875"/>
              <a:gd name="connsiteY4" fmla="*/ 1422970 h 1457874"/>
              <a:gd name="connsiteX5" fmla="*/ 534699 w 1245875"/>
              <a:gd name="connsiteY5" fmla="*/ 1422970 h 1457874"/>
              <a:gd name="connsiteX6" fmla="*/ 710840 w 1245875"/>
              <a:gd name="connsiteY6" fmla="*/ 1422970 h 1457874"/>
            </a:gdLst>
            <a:ahLst/>
            <a:cxnLst/>
            <a:rect l="l" t="t" r="r" b="b"/>
            <a:pathLst>
              <a:path w="1245875" h="1457874">
                <a:moveTo>
                  <a:pt x="710840" y="1422970"/>
                </a:moveTo>
                <a:cubicBezTo>
                  <a:pt x="1067418" y="1089196"/>
                  <a:pt x="1245707" y="818229"/>
                  <a:pt x="1245707" y="610064"/>
                </a:cubicBezTo>
                <a:cubicBezTo>
                  <a:pt x="1245707" y="273060"/>
                  <a:pt x="966808" y="-120"/>
                  <a:pt x="622770" y="-120"/>
                </a:cubicBezTo>
                <a:cubicBezTo>
                  <a:pt x="278731" y="-120"/>
                  <a:pt x="-168" y="273060"/>
                  <a:pt x="-168" y="610064"/>
                </a:cubicBezTo>
                <a:cubicBezTo>
                  <a:pt x="-168" y="818229"/>
                  <a:pt x="178121" y="1089196"/>
                  <a:pt x="534699" y="1422970"/>
                </a:cubicBezTo>
                <a:lnTo>
                  <a:pt x="534699" y="1422970"/>
                </a:lnTo>
                <a:cubicBezTo>
                  <a:pt x="584255" y="1469350"/>
                  <a:pt x="661287" y="1469350"/>
                  <a:pt x="710840" y="142297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  <a:alpha val="10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7240588" y="2592388"/>
            <a:ext cx="417513" cy="419100"/>
          </a:xfrm>
          <a:custGeom>
            <a:avLst/>
            <a:gdLst>
              <a:gd name="connsiteX0" fmla="*/ 472573 w 472573"/>
              <a:gd name="connsiteY0" fmla="*/ 236287 h 472573"/>
              <a:gd name="connsiteX1" fmla="*/ 236287 w 472573"/>
              <a:gd name="connsiteY1" fmla="*/ 472573 h 472573"/>
              <a:gd name="connsiteX2" fmla="*/ 0 w 472573"/>
              <a:gd name="connsiteY2" fmla="*/ 236287 h 472573"/>
              <a:gd name="connsiteX3" fmla="*/ 236287 w 472573"/>
              <a:gd name="connsiteY3" fmla="*/ 0 h 472573"/>
              <a:gd name="connsiteX4" fmla="*/ 472573 w 472573"/>
              <a:gd name="connsiteY4" fmla="*/ 236287 h 472573"/>
            </a:gdLst>
            <a:ahLst/>
            <a:cxnLst/>
            <a:rect l="l" t="t" r="r" b="b"/>
            <a:pathLst>
              <a:path w="472573" h="472573">
                <a:moveTo>
                  <a:pt x="472573" y="236287"/>
                </a:moveTo>
                <a:cubicBezTo>
                  <a:pt x="472573" y="366784"/>
                  <a:pt x="366784" y="472573"/>
                  <a:pt x="236287" y="472573"/>
                </a:cubicBezTo>
                <a:cubicBezTo>
                  <a:pt x="105789" y="472573"/>
                  <a:pt x="0" y="366784"/>
                  <a:pt x="0" y="236287"/>
                </a:cubicBezTo>
                <a:cubicBezTo>
                  <a:pt x="0" y="105789"/>
                  <a:pt x="105789" y="0"/>
                  <a:pt x="236287" y="0"/>
                </a:cubicBezTo>
                <a:cubicBezTo>
                  <a:pt x="366784" y="0"/>
                  <a:pt x="472573" y="105789"/>
                  <a:pt x="472573" y="236287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defTabSz="6858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7275513" y="2693988"/>
            <a:ext cx="3619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algn="ct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cap="none" spc="0" normalizeH="0" baseline="0" noProof="0">
                <a:solidFill>
                  <a:srgbClr val="076843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03</a:t>
            </a: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4337050" y="3292475"/>
            <a:ext cx="501650" cy="131763"/>
          </a:xfrm>
          <a:custGeom>
            <a:avLst/>
            <a:gdLst>
              <a:gd name="connsiteX0" fmla="*/ 778672 w 778671"/>
              <a:gd name="connsiteY0" fmla="*/ 187955 h 375910"/>
              <a:gd name="connsiteX1" fmla="*/ 389336 w 778671"/>
              <a:gd name="connsiteY1" fmla="*/ 375911 h 375910"/>
              <a:gd name="connsiteX2" fmla="*/ 0 w 778671"/>
              <a:gd name="connsiteY2" fmla="*/ 187955 h 375910"/>
              <a:gd name="connsiteX3" fmla="*/ 389336 w 778671"/>
              <a:gd name="connsiteY3" fmla="*/ 0 h 375910"/>
              <a:gd name="connsiteX4" fmla="*/ 778672 w 778671"/>
              <a:gd name="connsiteY4" fmla="*/ 187955 h 375910"/>
            </a:gdLst>
            <a:ahLst/>
            <a:cxnLst/>
            <a:rect l="l" t="t" r="r" b="b"/>
            <a:pathLst>
              <a:path w="778671" h="375910">
                <a:moveTo>
                  <a:pt x="778672" y="187955"/>
                </a:moveTo>
                <a:cubicBezTo>
                  <a:pt x="778672" y="291760"/>
                  <a:pt x="604360" y="375911"/>
                  <a:pt x="389336" y="375911"/>
                </a:cubicBezTo>
                <a:cubicBezTo>
                  <a:pt x="174312" y="375911"/>
                  <a:pt x="0" y="291760"/>
                  <a:pt x="0" y="187955"/>
                </a:cubicBezTo>
                <a:cubicBezTo>
                  <a:pt x="0" y="84150"/>
                  <a:pt x="174312" y="0"/>
                  <a:pt x="389336" y="0"/>
                </a:cubicBezTo>
                <a:cubicBezTo>
                  <a:pt x="604360" y="0"/>
                  <a:pt x="778672" y="84150"/>
                  <a:pt x="778672" y="18795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cap="flat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defTabSz="6858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4186238" y="2433638"/>
            <a:ext cx="803275" cy="939800"/>
          </a:xfrm>
          <a:custGeom>
            <a:avLst/>
            <a:gdLst>
              <a:gd name="connsiteX0" fmla="*/ 710840 w 1245875"/>
              <a:gd name="connsiteY0" fmla="*/ 1422970 h 1457874"/>
              <a:gd name="connsiteX1" fmla="*/ 1245707 w 1245875"/>
              <a:gd name="connsiteY1" fmla="*/ 610064 h 1457874"/>
              <a:gd name="connsiteX2" fmla="*/ 622770 w 1245875"/>
              <a:gd name="connsiteY2" fmla="*/ -120 h 1457874"/>
              <a:gd name="connsiteX3" fmla="*/ -168 w 1245875"/>
              <a:gd name="connsiteY3" fmla="*/ 610064 h 1457874"/>
              <a:gd name="connsiteX4" fmla="*/ 534699 w 1245875"/>
              <a:gd name="connsiteY4" fmla="*/ 1422970 h 1457874"/>
              <a:gd name="connsiteX5" fmla="*/ 534699 w 1245875"/>
              <a:gd name="connsiteY5" fmla="*/ 1422970 h 1457874"/>
              <a:gd name="connsiteX6" fmla="*/ 710840 w 1245875"/>
              <a:gd name="connsiteY6" fmla="*/ 1422970 h 1457874"/>
            </a:gdLst>
            <a:ahLst/>
            <a:cxnLst/>
            <a:rect l="l" t="t" r="r" b="b"/>
            <a:pathLst>
              <a:path w="1245875" h="1457874">
                <a:moveTo>
                  <a:pt x="710840" y="1422970"/>
                </a:moveTo>
                <a:cubicBezTo>
                  <a:pt x="1067418" y="1089196"/>
                  <a:pt x="1245707" y="818229"/>
                  <a:pt x="1245707" y="610064"/>
                </a:cubicBezTo>
                <a:cubicBezTo>
                  <a:pt x="1245707" y="273060"/>
                  <a:pt x="966808" y="-120"/>
                  <a:pt x="622770" y="-120"/>
                </a:cubicBezTo>
                <a:cubicBezTo>
                  <a:pt x="278731" y="-120"/>
                  <a:pt x="-168" y="273060"/>
                  <a:pt x="-168" y="610064"/>
                </a:cubicBezTo>
                <a:cubicBezTo>
                  <a:pt x="-168" y="818229"/>
                  <a:pt x="178121" y="1089196"/>
                  <a:pt x="534699" y="1422970"/>
                </a:cubicBezTo>
                <a:lnTo>
                  <a:pt x="534699" y="1422970"/>
                </a:lnTo>
                <a:cubicBezTo>
                  <a:pt x="584255" y="1469350"/>
                  <a:pt x="661287" y="1469350"/>
                  <a:pt x="710840" y="1422970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2">
                  <a:lumMod val="60000"/>
                  <a:lumOff val="40000"/>
                  <a:alpha val="100000"/>
                </a:schemeClr>
              </a:gs>
            </a:gsLst>
            <a:lin ang="16200000" scaled="0"/>
          </a:gradFill>
          <a:ln cap="sq">
            <a:noFill/>
            <a:prstDash val="solid"/>
            <a:miter/>
          </a:ln>
          <a:effectLst/>
        </p:spPr>
        <p:txBody>
          <a:bodyPr lIns="34290" tIns="17145" rIns="34290" bIns="17145" anchor="ctr"/>
          <a:lstStyle/>
          <a:p>
            <a:pPr marR="0" algn="ctr" defTabSz="6858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标题 1"/>
          <p:cNvSpPr txBox="1"/>
          <p:nvPr/>
        </p:nvSpPr>
        <p:spPr>
          <a:xfrm>
            <a:off x="4378325" y="2611438"/>
            <a:ext cx="419100" cy="419100"/>
          </a:xfrm>
          <a:custGeom>
            <a:avLst/>
            <a:gdLst>
              <a:gd name="connsiteX0" fmla="*/ 472573 w 472573"/>
              <a:gd name="connsiteY0" fmla="*/ 236287 h 472573"/>
              <a:gd name="connsiteX1" fmla="*/ 236287 w 472573"/>
              <a:gd name="connsiteY1" fmla="*/ 472573 h 472573"/>
              <a:gd name="connsiteX2" fmla="*/ 0 w 472573"/>
              <a:gd name="connsiteY2" fmla="*/ 236287 h 472573"/>
              <a:gd name="connsiteX3" fmla="*/ 236287 w 472573"/>
              <a:gd name="connsiteY3" fmla="*/ 0 h 472573"/>
              <a:gd name="connsiteX4" fmla="*/ 472573 w 472573"/>
              <a:gd name="connsiteY4" fmla="*/ 236287 h 472573"/>
            </a:gdLst>
            <a:ahLst/>
            <a:cxnLst/>
            <a:rect l="l" t="t" r="r" b="b"/>
            <a:pathLst>
              <a:path w="472573" h="472573">
                <a:moveTo>
                  <a:pt x="472573" y="236287"/>
                </a:moveTo>
                <a:cubicBezTo>
                  <a:pt x="472573" y="366784"/>
                  <a:pt x="366784" y="472573"/>
                  <a:pt x="236287" y="472573"/>
                </a:cubicBezTo>
                <a:cubicBezTo>
                  <a:pt x="105789" y="472573"/>
                  <a:pt x="0" y="366784"/>
                  <a:pt x="0" y="236287"/>
                </a:cubicBezTo>
                <a:cubicBezTo>
                  <a:pt x="0" y="105789"/>
                  <a:pt x="105789" y="0"/>
                  <a:pt x="236287" y="0"/>
                </a:cubicBezTo>
                <a:cubicBezTo>
                  <a:pt x="366784" y="0"/>
                  <a:pt x="472573" y="105789"/>
                  <a:pt x="472573" y="236287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defTabSz="6858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4403725" y="2713038"/>
            <a:ext cx="361950" cy="209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algn="ct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cap="none" spc="0" normalizeH="0" baseline="0" noProof="0">
                <a:solidFill>
                  <a:srgbClr val="C9A369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21" name="标题 1"/>
          <p:cNvCxnSpPr/>
          <p:nvPr/>
        </p:nvCxnSpPr>
        <p:spPr>
          <a:xfrm>
            <a:off x="541338" y="3425825"/>
            <a:ext cx="8134350" cy="0"/>
          </a:xfrm>
          <a:prstGeom prst="straightConnector1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/>
            <a:tailEnd type="none"/>
          </a:ln>
        </p:spPr>
      </p:cxnSp>
      <p:sp>
        <p:nvSpPr>
          <p:cNvPr id="22" name="标题 1"/>
          <p:cNvSpPr txBox="1"/>
          <p:nvPr/>
        </p:nvSpPr>
        <p:spPr>
          <a:xfrm flipV="1">
            <a:off x="1651000" y="3556000"/>
            <a:ext cx="114300" cy="114300"/>
          </a:xfrm>
          <a:prstGeom prst="ellipse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标题 1"/>
          <p:cNvSpPr txBox="1"/>
          <p:nvPr/>
        </p:nvSpPr>
        <p:spPr>
          <a:xfrm flipV="1">
            <a:off x="4514850" y="3556000"/>
            <a:ext cx="114300" cy="114300"/>
          </a:xfrm>
          <a:prstGeom prst="ellipse">
            <a:avLst/>
          </a:prstGeom>
          <a:solidFill>
            <a:schemeClr val="accent2"/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标题 1"/>
          <p:cNvSpPr txBox="1"/>
          <p:nvPr/>
        </p:nvSpPr>
        <p:spPr>
          <a:xfrm flipV="1">
            <a:off x="7378700" y="3556000"/>
            <a:ext cx="114300" cy="114300"/>
          </a:xfrm>
          <a:prstGeom prst="ellipse">
            <a:avLst/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标题 1"/>
          <p:cNvSpPr txBox="1"/>
          <p:nvPr/>
        </p:nvSpPr>
        <p:spPr>
          <a:xfrm>
            <a:off x="2641600" y="2709863"/>
            <a:ext cx="773113" cy="382588"/>
          </a:xfrm>
          <a:prstGeom prst="rightArrow">
            <a:avLst>
              <a:gd name="adj1" fmla="val 53836"/>
              <a:gd name="adj2" fmla="val 49472"/>
            </a:avLst>
          </a:prstGeom>
          <a:solidFill>
            <a:schemeClr val="accent1">
              <a:lumMod val="20000"/>
              <a:lumOff val="80000"/>
            </a:schemeClr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标题 1"/>
          <p:cNvSpPr txBox="1"/>
          <p:nvPr/>
        </p:nvSpPr>
        <p:spPr>
          <a:xfrm>
            <a:off x="5532438" y="2689225"/>
            <a:ext cx="773113" cy="382588"/>
          </a:xfrm>
          <a:prstGeom prst="rightArrow">
            <a:avLst>
              <a:gd name="adj1" fmla="val 53836"/>
              <a:gd name="adj2" fmla="val 49472"/>
            </a:avLst>
          </a:prstGeom>
          <a:solidFill>
            <a:schemeClr val="accent1">
              <a:lumMod val="20000"/>
              <a:lumOff val="80000"/>
            </a:schemeClr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 txBox="1"/>
          <p:nvPr/>
        </p:nvSpPr>
        <p:spPr>
          <a:xfrm>
            <a:off x="33338" y="5894388"/>
            <a:ext cx="9144000" cy="40132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024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4913" y="1301750"/>
            <a:ext cx="1123950" cy="1123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488" y="1254125"/>
            <a:ext cx="1123950" cy="1123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标题 1"/>
          <p:cNvSpPr txBox="1"/>
          <p:nvPr/>
        </p:nvSpPr>
        <p:spPr>
          <a:xfrm>
            <a:off x="576263" y="2132013"/>
            <a:ext cx="1177925" cy="296863"/>
          </a:xfrm>
          <a:prstGeom prst="roundRect">
            <a:avLst>
              <a:gd name="adj" fmla="val 18213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024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500" y="1268413"/>
            <a:ext cx="1123950" cy="1123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标题 1"/>
          <p:cNvSpPr txBox="1"/>
          <p:nvPr/>
        </p:nvSpPr>
        <p:spPr>
          <a:xfrm>
            <a:off x="166688" y="3376613"/>
            <a:ext cx="2643188" cy="3292475"/>
          </a:xfrm>
          <a:prstGeom prst="roundRect">
            <a:avLst>
              <a:gd name="adj" fmla="val 7649"/>
            </a:avLst>
          </a:prstGeom>
          <a:solidFill>
            <a:schemeClr val="bg1">
              <a:lumMod val="95000"/>
              <a:alpha val="90000"/>
            </a:schemeClr>
          </a:solidFill>
          <a:ln w="57150" cap="rnd">
            <a:noFill/>
            <a:round/>
          </a:ln>
          <a:effectLst/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248" name="标题 1"/>
          <p:cNvSpPr txBox="1"/>
          <p:nvPr/>
        </p:nvSpPr>
        <p:spPr>
          <a:xfrm>
            <a:off x="549275" y="704850"/>
            <a:ext cx="2160588" cy="5016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p>
            <a:pPr defTabSz="685800" eaLnBrk="1" hangingPunct="1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  <a:latin typeface="Source Han Sans CN Bold" charset="-122"/>
                <a:ea typeface="Source Han Sans CN Bold" charset="-122"/>
              </a:rPr>
              <a:t>实时交互</a:t>
            </a:r>
            <a:endParaRPr lang="zh-CN" altLang="en-US" sz="1800" dirty="0">
              <a:solidFill>
                <a:srgbClr val="FF0000"/>
              </a:solidFill>
              <a:latin typeface="Source Han Sans CN Bold" charset="-122"/>
              <a:ea typeface="Source Han Sans CN Bold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250038" y="2398737"/>
            <a:ext cx="2737786" cy="3167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R="0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kern="1200" cap="none" spc="0" normalizeH="0" baseline="0" noProof="0" dirty="0" err="1">
                <a:solidFill>
                  <a:srgbClr val="FF0000"/>
                </a:solidFill>
                <a:highlight>
                  <a:srgbClr val="FFFF00"/>
                </a:highlight>
                <a:latin typeface="Source Han Sans"/>
                <a:ea typeface="Source Han Sans"/>
                <a:cs typeface="Source Han Sans"/>
              </a:rPr>
              <a:t>实时交互强调即时反馈，用户操作虚拟对象时系统迅速响应，如虚拟装配中工人调整零件位置，系统实时显示装配效果，提升实用性</a:t>
            </a:r>
            <a:r>
              <a:rPr kumimoji="1" lang="en-US" altLang="zh-CN" sz="1800" kern="1200" cap="none" spc="0" normalizeH="0" baseline="0" noProof="0" dirty="0">
                <a:solidFill>
                  <a:srgbClr val="FF0000"/>
                </a:solidFill>
                <a:highlight>
                  <a:srgbClr val="FFFF00"/>
                </a:highlight>
                <a:latin typeface="Source Han Sans"/>
                <a:ea typeface="Source Han Sans"/>
                <a:cs typeface="Source Han Sans"/>
              </a:rPr>
              <a:t>。
</a:t>
            </a:r>
            <a:r>
              <a:rPr kumimoji="1" lang="en-US" altLang="zh-CN" sz="1800" kern="1200" cap="none" spc="0" normalizeH="0" baseline="0" noProof="0" dirty="0" err="1">
                <a:solidFill>
                  <a:srgbClr val="FF0000"/>
                </a:solidFill>
                <a:highlight>
                  <a:srgbClr val="FFFF00"/>
                </a:highlight>
                <a:latin typeface="Source Han Sans"/>
                <a:ea typeface="Source Han Sans"/>
                <a:cs typeface="Source Han Sans"/>
              </a:rPr>
              <a:t>实时交互使混合现实适用于复杂任务，如虚拟手术模拟中医生操作器械，系统实时反馈手术结果，提高手术精准度和安全性</a:t>
            </a:r>
            <a:r>
              <a:rPr kumimoji="1" lang="en-US" altLang="zh-CN" sz="1800" kern="1200" cap="none" spc="0" normalizeH="0" baseline="0" noProof="0" dirty="0">
                <a:solidFill>
                  <a:srgbClr val="FF0000"/>
                </a:solidFill>
                <a:highlight>
                  <a:srgbClr val="FFFF00"/>
                </a:highlight>
                <a:latin typeface="Source Han Sans"/>
                <a:ea typeface="Source Han Sans"/>
                <a:cs typeface="Source Han Sans"/>
              </a:rPr>
              <a:t>。</a:t>
            </a:r>
            <a:endParaRPr kumimoji="1" lang="zh-CN" altLang="en-US" sz="1800" kern="1200" cap="none" spc="0" normalizeH="0" baseline="0" noProof="0" dirty="0">
              <a:solidFill>
                <a:srgbClr val="FF0000"/>
              </a:solidFill>
              <a:highlight>
                <a:srgbClr val="FFFF00"/>
              </a:highlight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3851275" y="2119313"/>
            <a:ext cx="1177925" cy="295275"/>
          </a:xfrm>
          <a:prstGeom prst="roundRect">
            <a:avLst>
              <a:gd name="adj" fmla="val 15424"/>
            </a:avLst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 scaled="0"/>
          </a:gradFill>
          <a:ln cap="rnd">
            <a:noFill/>
            <a:prstDash val="solid"/>
            <a:round/>
          </a:ln>
          <a:effectLst>
            <a:outerShdw blurRad="50800" dist="50800" dir="5400000" algn="ctr" rotWithShape="0">
              <a:schemeClr val="accent2">
                <a:alpha val="20000"/>
              </a:schemeClr>
            </a:outerShdw>
          </a:effectLst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251" name="标题 1"/>
          <p:cNvSpPr txBox="1"/>
          <p:nvPr/>
        </p:nvSpPr>
        <p:spPr>
          <a:xfrm>
            <a:off x="3948113" y="633413"/>
            <a:ext cx="2160587" cy="5016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p>
            <a:pPr defTabSz="685800" eaLnBrk="1" hangingPunct="1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  <a:latin typeface="Source Han Sans CN Bold" charset="-122"/>
                <a:ea typeface="Source Han Sans CN Bold" charset="-122"/>
              </a:rPr>
              <a:t>自然交互</a:t>
            </a:r>
            <a:endParaRPr lang="zh-CN" altLang="en-US" sz="1800" dirty="0">
              <a:solidFill>
                <a:srgbClr val="FF0000"/>
              </a:solidFill>
              <a:latin typeface="Source Han Sans CN Bold" charset="-122"/>
              <a:ea typeface="Source Han Sans CN Bold" charset="-122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3254478" y="2392465"/>
            <a:ext cx="2613665" cy="44655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R="0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kern="1200" cap="none" spc="0" normalizeH="0" baseline="0" noProof="0" dirty="0" err="1">
                <a:solidFill>
                  <a:srgbClr val="FF0000"/>
                </a:solidFill>
                <a:highlight>
                  <a:srgbClr val="FFFF00"/>
                </a:highlight>
                <a:latin typeface="Source Han Sans"/>
                <a:ea typeface="Source Han Sans"/>
                <a:cs typeface="+mn-cs"/>
              </a:rPr>
              <a:t>自然交互通过手势、语音、触觉等多维方式实现，用户无需复杂设备，如虚拟实验室中学生用手势操作虚拟化学试剂，更符合人类习惯</a:t>
            </a:r>
            <a:r>
              <a:rPr kumimoji="1" lang="en-US" altLang="zh-CN" sz="1800" kern="1200" cap="none" spc="0" normalizeH="0" baseline="0" noProof="0" dirty="0">
                <a:solidFill>
                  <a:srgbClr val="FF0000"/>
                </a:solidFill>
                <a:highlight>
                  <a:srgbClr val="FFFF00"/>
                </a:highlight>
                <a:latin typeface="Source Han Sans"/>
                <a:ea typeface="Source Han Sans"/>
                <a:cs typeface="+mn-cs"/>
              </a:rPr>
              <a:t>。
</a:t>
            </a:r>
            <a:r>
              <a:rPr kumimoji="1" lang="en-US" altLang="zh-CN" sz="1800" kern="1200" cap="none" spc="0" normalizeH="0" baseline="0" noProof="0" dirty="0" err="1">
                <a:solidFill>
                  <a:srgbClr val="FF0000"/>
                </a:solidFill>
                <a:highlight>
                  <a:srgbClr val="FFFF00"/>
                </a:highlight>
                <a:latin typeface="Source Han Sans"/>
                <a:ea typeface="Source Han Sans"/>
                <a:cs typeface="+mn-cs"/>
              </a:rPr>
              <a:t>自然交互降低学习成本，如在工业设计中设计师通过手势调整虚拟模型，提高工作效率，推动各领域发展</a:t>
            </a:r>
            <a:r>
              <a:rPr kumimoji="1" lang="en-US" altLang="zh-CN" sz="1800" kern="1200" cap="none" spc="0" normalizeH="0" baseline="0" noProof="0" dirty="0">
                <a:solidFill>
                  <a:srgbClr val="FF0000"/>
                </a:solidFill>
                <a:highlight>
                  <a:srgbClr val="FFFF00"/>
                </a:highlight>
                <a:latin typeface="Source Han Sans"/>
                <a:ea typeface="Source Han Sans"/>
                <a:cs typeface="+mn-cs"/>
              </a:rPr>
              <a:t>。</a:t>
            </a:r>
            <a:endParaRPr kumimoji="1" lang="zh-CN" altLang="en-US" sz="1800" kern="1200" cap="none" spc="0" normalizeH="0" baseline="0" noProof="0" dirty="0">
              <a:solidFill>
                <a:srgbClr val="FF0000"/>
              </a:solidFill>
              <a:highlight>
                <a:srgbClr val="FFFF00"/>
              </a:highlight>
              <a:latin typeface="Source Han Sans"/>
              <a:ea typeface="Source Han Sans"/>
              <a:cs typeface="+mn-cs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6272213" y="2132013"/>
            <a:ext cx="1177925" cy="296863"/>
          </a:xfrm>
          <a:prstGeom prst="roundRect">
            <a:avLst>
              <a:gd name="adj" fmla="val 15424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cap="rnd">
            <a:noFill/>
            <a:prstDash val="solid"/>
            <a:round/>
          </a:ln>
          <a:effectLst>
            <a:outerShdw blurRad="50800" dist="50800" dir="5400000" algn="ctr" rotWithShape="0">
              <a:schemeClr val="accent1">
                <a:alpha val="20000"/>
              </a:schemeClr>
            </a:outerShdw>
          </a:effectLst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254" name="标题 1"/>
          <p:cNvSpPr txBox="1"/>
          <p:nvPr/>
        </p:nvSpPr>
        <p:spPr>
          <a:xfrm>
            <a:off x="6343650" y="657225"/>
            <a:ext cx="2159000" cy="5016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b" anchorCtr="0"/>
          <a:p>
            <a:pPr defTabSz="685800" eaLnBrk="1" hangingPunct="1">
              <a:lnSpc>
                <a:spcPct val="130000"/>
              </a:lnSpc>
            </a:pPr>
            <a:r>
              <a:rPr lang="en-US" altLang="zh-CN" sz="1800" dirty="0">
                <a:solidFill>
                  <a:srgbClr val="FF0000"/>
                </a:solidFill>
                <a:latin typeface="Source Han Sans CN Bold" charset="-122"/>
                <a:ea typeface="Source Han Sans CN Bold" charset="-122"/>
              </a:rPr>
              <a:t>无缝融合</a:t>
            </a:r>
            <a:endParaRPr lang="zh-CN" altLang="en-US" sz="18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6262722" y="2369859"/>
            <a:ext cx="2485741" cy="11313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R="0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kern="1200" cap="none" spc="0" normalizeH="0" baseline="0" noProof="0" dirty="0" err="1">
                <a:solidFill>
                  <a:srgbClr val="FF0000"/>
                </a:solidFill>
                <a:highlight>
                  <a:srgbClr val="FFFF00"/>
                </a:highlight>
                <a:latin typeface="Source Han Sans"/>
                <a:ea typeface="Source Han Sans"/>
                <a:cs typeface="+mn-cs"/>
              </a:rPr>
              <a:t>无缝融合使虚实对象共存且动态联动，如虚实融合的建筑工地，虚拟建筑模型与真实施工设备同步更新，增强沉浸感</a:t>
            </a:r>
            <a:r>
              <a:rPr kumimoji="1" lang="en-US" altLang="zh-CN" sz="1800" kern="1200" cap="none" spc="0" normalizeH="0" baseline="0" noProof="0" dirty="0">
                <a:solidFill>
                  <a:srgbClr val="FF0000"/>
                </a:solidFill>
                <a:highlight>
                  <a:srgbClr val="FFFF00"/>
                </a:highlight>
                <a:latin typeface="Source Han Sans"/>
                <a:ea typeface="Source Han Sans"/>
                <a:cs typeface="+mn-cs"/>
              </a:rPr>
              <a:t>。
</a:t>
            </a:r>
            <a:r>
              <a:rPr kumimoji="1" lang="en-US" altLang="zh-CN" sz="1800" kern="1200" cap="none" spc="0" normalizeH="0" baseline="0" noProof="0" dirty="0" err="1">
                <a:solidFill>
                  <a:srgbClr val="FF0000"/>
                </a:solidFill>
                <a:highlight>
                  <a:srgbClr val="FFFF00"/>
                </a:highlight>
                <a:latin typeface="Source Han Sans"/>
                <a:ea typeface="Source Han Sans"/>
                <a:cs typeface="+mn-cs"/>
              </a:rPr>
              <a:t>无缝融合效果在教育领域应用显著，如虚拟历史人物与真实课堂环境融合，让学生身临其境，提升学习兴趣和效果</a:t>
            </a:r>
            <a:r>
              <a:rPr kumimoji="1" lang="en-US" altLang="zh-CN" sz="1800" kern="1200" cap="none" spc="0" normalizeH="0" baseline="0" noProof="0" dirty="0">
                <a:solidFill>
                  <a:srgbClr val="FF0000"/>
                </a:solidFill>
                <a:highlight>
                  <a:srgbClr val="FFFF00"/>
                </a:highlight>
                <a:latin typeface="Source Han Sans"/>
                <a:ea typeface="Source Han Sans"/>
                <a:cs typeface="+mn-cs"/>
              </a:rPr>
              <a:t>。</a:t>
            </a:r>
            <a:endParaRPr kumimoji="1" lang="zh-CN" altLang="en-US" sz="1800" kern="1200" cap="none" spc="0" normalizeH="0" baseline="0" noProof="0" dirty="0">
              <a:solidFill>
                <a:srgbClr val="FF0000"/>
              </a:solidFill>
              <a:highlight>
                <a:srgbClr val="FFFF00"/>
              </a:highlight>
              <a:latin typeface="Source Han Sans"/>
              <a:ea typeface="Source Han Sans"/>
              <a:cs typeface="+mn-cs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4105275" y="2165350"/>
            <a:ext cx="666750" cy="196850"/>
          </a:xfrm>
          <a:prstGeom prst="rect">
            <a:avLst/>
          </a:prstGeom>
          <a:noFill/>
          <a:ln cap="sq">
            <a:noFill/>
          </a:ln>
          <a:effectLst/>
        </p:spPr>
        <p:txBody>
          <a:bodyPr lIns="0" tIns="0" rIns="0" bIns="0" anchor="ctr"/>
          <a:lstStyle/>
          <a:p>
            <a:pPr marR="0" algn="ct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cap="none" spc="0" normalizeH="0" baseline="0" noProof="0"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02</a:t>
            </a: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标题 1"/>
          <p:cNvSpPr txBox="1"/>
          <p:nvPr/>
        </p:nvSpPr>
        <p:spPr>
          <a:xfrm>
            <a:off x="830263" y="2179638"/>
            <a:ext cx="666750" cy="196850"/>
          </a:xfrm>
          <a:prstGeom prst="rect">
            <a:avLst/>
          </a:prstGeom>
          <a:noFill/>
          <a:ln cap="sq">
            <a:noFill/>
          </a:ln>
          <a:effectLst/>
        </p:spPr>
        <p:txBody>
          <a:bodyPr lIns="0" tIns="0" rIns="0" bIns="0" anchor="ctr"/>
          <a:lstStyle/>
          <a:p>
            <a:pPr marR="0" algn="ct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cap="none" spc="0" normalizeH="0" baseline="0" noProof="0"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01</a:t>
            </a: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标题 1"/>
          <p:cNvSpPr txBox="1"/>
          <p:nvPr/>
        </p:nvSpPr>
        <p:spPr>
          <a:xfrm>
            <a:off x="6516688" y="2179638"/>
            <a:ext cx="666750" cy="196850"/>
          </a:xfrm>
          <a:prstGeom prst="rect">
            <a:avLst/>
          </a:prstGeom>
          <a:noFill/>
          <a:ln cap="sq">
            <a:noFill/>
          </a:ln>
          <a:effectLst/>
        </p:spPr>
        <p:txBody>
          <a:bodyPr lIns="0" tIns="0" rIns="0" bIns="0" anchor="ctr"/>
          <a:lstStyle/>
          <a:p>
            <a:pPr marR="0" algn="ct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kern="1200" cap="none" spc="0" normalizeH="0" baseline="0" noProof="0">
                <a:solidFill>
                  <a:srgbClr val="FFFFFF">
                    <a:alpha val="100000"/>
                  </a:srgbClr>
                </a:solidFill>
                <a:latin typeface="OPPOSans H"/>
                <a:ea typeface="OPPOSans H"/>
                <a:cs typeface="OPPOSans H"/>
              </a:rPr>
              <a:t>03</a:t>
            </a: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571500" y="275489"/>
            <a:ext cx="8003381" cy="35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100" kern="1200" cap="none" spc="0" normalizeH="0" baseline="0" noProof="0" dirty="0" err="1">
                <a:solidFill>
                  <a:srgbClr val="FF0000"/>
                </a:solidFill>
                <a:highlight>
                  <a:srgbClr val="FFFF00"/>
                </a:highlight>
                <a:latin typeface="Source Han Sans CN Bold"/>
                <a:ea typeface="Source Han Sans CN Bold"/>
                <a:cs typeface="Source Han Sans CN Bold"/>
              </a:rPr>
              <a:t>核心</a:t>
            </a:r>
            <a:r>
              <a:rPr kumimoji="1" lang="zh-CN" altLang="en-US" sz="2100" kern="1200" cap="none" spc="0" normalizeH="0" baseline="0" noProof="0" dirty="0">
                <a:solidFill>
                  <a:srgbClr val="FF0000"/>
                </a:solidFill>
                <a:highlight>
                  <a:srgbClr val="FFFF00"/>
                </a:highlight>
                <a:latin typeface="Source Han Sans CN Bold"/>
                <a:ea typeface="Source Han Sans CN Bold"/>
                <a:cs typeface="Source Han Sans CN Bold"/>
              </a:rPr>
              <a:t>技术要求</a:t>
            </a:r>
            <a:endParaRPr kumimoji="1" lang="zh-CN" altLang="en-US" sz="1350" kern="1200" cap="none" spc="0" normalizeH="0" baseline="0" noProof="0" dirty="0">
              <a:solidFill>
                <a:srgbClr val="FF0000"/>
              </a:solidFill>
              <a:highlight>
                <a:srgbClr val="FFFF00"/>
              </a:highlight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260" name="组合 21"/>
          <p:cNvGrpSpPr/>
          <p:nvPr/>
        </p:nvGrpSpPr>
        <p:grpSpPr>
          <a:xfrm>
            <a:off x="109538" y="276225"/>
            <a:ext cx="439737" cy="381000"/>
            <a:chOff x="215900" y="406400"/>
            <a:chExt cx="586739" cy="508000"/>
          </a:xfrm>
        </p:grpSpPr>
        <p:sp>
          <p:nvSpPr>
            <p:cNvPr id="23" name="标题 1"/>
            <p:cNvSpPr txBox="1"/>
            <p:nvPr/>
          </p:nvSpPr>
          <p:spPr>
            <a:xfrm>
              <a:off x="292155" y="726017"/>
              <a:ext cx="510484" cy="18838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28575" cap="sq">
              <a:noFill/>
              <a:miter/>
            </a:ln>
          </p:spPr>
          <p:txBody>
            <a:bodyPr lIns="68580" tIns="34290" rIns="68580" bIns="34290" anchor="ctr"/>
            <a:lstStyle/>
            <a:p>
              <a:pPr marR="0" algn="ctr" defTabSz="685800" eaLnBrk="1" fontAlgn="auto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350" kern="1200" cap="none" spc="0" normalizeH="0" baseline="0" noProof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24" name="标题 1"/>
            <p:cNvSpPr txBox="1"/>
            <p:nvPr/>
          </p:nvSpPr>
          <p:spPr>
            <a:xfrm>
              <a:off x="215900" y="406400"/>
              <a:ext cx="508366" cy="508000"/>
            </a:xfrm>
            <a:prstGeom prst="ellipse">
              <a:avLst/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lIns="68580" tIns="34290" rIns="68580" bIns="34290" anchor="ctr"/>
            <a:lstStyle/>
            <a:p>
              <a:pPr marR="0" algn="ctr" defTabSz="685800" eaLnBrk="1" fontAlgn="auto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350" kern="1200" cap="none" spc="0" normalizeH="0" baseline="0" noProof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 1"/>
          <p:cNvSpPr txBox="1"/>
          <p:nvPr/>
        </p:nvSpPr>
        <p:spPr>
          <a:xfrm rot="18900000">
            <a:off x="4030663" y="2446338"/>
            <a:ext cx="965200" cy="831850"/>
          </a:xfrm>
          <a:custGeom>
            <a:avLst/>
            <a:gdLst>
              <a:gd name="connsiteX0" fmla="*/ 414796 w 1474966"/>
              <a:gd name="connsiteY0" fmla="*/ 0 h 1272209"/>
              <a:gd name="connsiteX1" fmla="*/ 652408 w 1474966"/>
              <a:gd name="connsiteY1" fmla="*/ 0 h 1272209"/>
              <a:gd name="connsiteX2" fmla="*/ 652007 w 1474966"/>
              <a:gd name="connsiteY2" fmla="*/ 3976 h 1272209"/>
              <a:gd name="connsiteX3" fmla="*/ 838863 w 1474966"/>
              <a:gd name="connsiteY3" fmla="*/ 190832 h 1272209"/>
              <a:gd name="connsiteX4" fmla="*/ 1025719 w 1474966"/>
              <a:gd name="connsiteY4" fmla="*/ 3976 h 1272209"/>
              <a:gd name="connsiteX5" fmla="*/ 1025318 w 1474966"/>
              <a:gd name="connsiteY5" fmla="*/ 0 h 1272209"/>
              <a:gd name="connsiteX6" fmla="*/ 1262927 w 1474966"/>
              <a:gd name="connsiteY6" fmla="*/ 0 h 1272209"/>
              <a:gd name="connsiteX7" fmla="*/ 1474966 w 1474966"/>
              <a:gd name="connsiteY7" fmla="*/ 212039 h 1272209"/>
              <a:gd name="connsiteX8" fmla="*/ 1474966 w 1474966"/>
              <a:gd name="connsiteY8" fmla="*/ 1060170 h 1272209"/>
              <a:gd name="connsiteX9" fmla="*/ 1262927 w 1474966"/>
              <a:gd name="connsiteY9" fmla="*/ 1272209 h 1272209"/>
              <a:gd name="connsiteX10" fmla="*/ 414796 w 1474966"/>
              <a:gd name="connsiteY10" fmla="*/ 1272209 h 1272209"/>
              <a:gd name="connsiteX11" fmla="*/ 202757 w 1474966"/>
              <a:gd name="connsiteY11" fmla="*/ 1060170 h 1272209"/>
              <a:gd name="connsiteX12" fmla="*/ 202757 w 1474966"/>
              <a:gd name="connsiteY12" fmla="*/ 821358 h 1272209"/>
              <a:gd name="connsiteX13" fmla="*/ 186856 w 1474966"/>
              <a:gd name="connsiteY13" fmla="*/ 822961 h 1272209"/>
              <a:gd name="connsiteX14" fmla="*/ 0 w 1474966"/>
              <a:gd name="connsiteY14" fmla="*/ 636105 h 1272209"/>
              <a:gd name="connsiteX15" fmla="*/ 186856 w 1474966"/>
              <a:gd name="connsiteY15" fmla="*/ 449249 h 1272209"/>
              <a:gd name="connsiteX16" fmla="*/ 202757 w 1474966"/>
              <a:gd name="connsiteY16" fmla="*/ 450852 h 1272209"/>
              <a:gd name="connsiteX17" fmla="*/ 202757 w 1474966"/>
              <a:gd name="connsiteY17" fmla="*/ 212039 h 1272209"/>
              <a:gd name="connsiteX18" fmla="*/ 414796 w 1474966"/>
              <a:gd name="connsiteY18" fmla="*/ 0 h 1272209"/>
            </a:gdLst>
            <a:ahLst/>
            <a:cxnLst/>
            <a:rect l="l" t="t" r="r" b="b"/>
            <a:pathLst>
              <a:path w="1474966" h="1272209">
                <a:moveTo>
                  <a:pt x="414796" y="0"/>
                </a:moveTo>
                <a:lnTo>
                  <a:pt x="652408" y="0"/>
                </a:lnTo>
                <a:lnTo>
                  <a:pt x="652007" y="3976"/>
                </a:lnTo>
                <a:cubicBezTo>
                  <a:pt x="652007" y="107174"/>
                  <a:pt x="735665" y="190832"/>
                  <a:pt x="838863" y="190832"/>
                </a:cubicBezTo>
                <a:cubicBezTo>
                  <a:pt x="942061" y="190832"/>
                  <a:pt x="1025719" y="107174"/>
                  <a:pt x="1025719" y="3976"/>
                </a:cubicBezTo>
                <a:lnTo>
                  <a:pt x="1025318" y="0"/>
                </a:lnTo>
                <a:lnTo>
                  <a:pt x="1262927" y="0"/>
                </a:lnTo>
                <a:cubicBezTo>
                  <a:pt x="1380033" y="0"/>
                  <a:pt x="1474966" y="94933"/>
                  <a:pt x="1474966" y="212039"/>
                </a:cubicBezTo>
                <a:lnTo>
                  <a:pt x="1474966" y="1060170"/>
                </a:lnTo>
                <a:cubicBezTo>
                  <a:pt x="1474966" y="1177276"/>
                  <a:pt x="1380033" y="1272209"/>
                  <a:pt x="1262927" y="1272209"/>
                </a:cubicBezTo>
                <a:lnTo>
                  <a:pt x="414796" y="1272209"/>
                </a:lnTo>
                <a:cubicBezTo>
                  <a:pt x="297690" y="1272209"/>
                  <a:pt x="202757" y="1177276"/>
                  <a:pt x="202757" y="1060170"/>
                </a:cubicBezTo>
                <a:lnTo>
                  <a:pt x="202757" y="821358"/>
                </a:lnTo>
                <a:lnTo>
                  <a:pt x="186856" y="822961"/>
                </a:lnTo>
                <a:cubicBezTo>
                  <a:pt x="83658" y="822961"/>
                  <a:pt x="0" y="739303"/>
                  <a:pt x="0" y="636105"/>
                </a:cubicBezTo>
                <a:cubicBezTo>
                  <a:pt x="0" y="532907"/>
                  <a:pt x="83658" y="449249"/>
                  <a:pt x="186856" y="449249"/>
                </a:cubicBezTo>
                <a:lnTo>
                  <a:pt x="202757" y="450852"/>
                </a:lnTo>
                <a:lnTo>
                  <a:pt x="202757" y="212039"/>
                </a:lnTo>
                <a:cubicBezTo>
                  <a:pt x="202757" y="94933"/>
                  <a:pt x="297690" y="0"/>
                  <a:pt x="414796" y="0"/>
                </a:cubicBezTo>
                <a:close/>
              </a:path>
            </a:pathLst>
          </a:custGeom>
          <a:solidFill>
            <a:schemeClr val="accent1"/>
          </a:solidFill>
          <a:ln w="28575" cap="sq">
            <a:solidFill>
              <a:schemeClr val="bg1"/>
            </a:solidFill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 rot="2700000">
            <a:off x="3794919" y="3202781"/>
            <a:ext cx="963613" cy="831850"/>
          </a:xfrm>
          <a:custGeom>
            <a:avLst/>
            <a:gdLst>
              <a:gd name="connsiteX0" fmla="*/ 414796 w 1474966"/>
              <a:gd name="connsiteY0" fmla="*/ 0 h 1272209"/>
              <a:gd name="connsiteX1" fmla="*/ 652408 w 1474966"/>
              <a:gd name="connsiteY1" fmla="*/ 0 h 1272209"/>
              <a:gd name="connsiteX2" fmla="*/ 652007 w 1474966"/>
              <a:gd name="connsiteY2" fmla="*/ 3976 h 1272209"/>
              <a:gd name="connsiteX3" fmla="*/ 838863 w 1474966"/>
              <a:gd name="connsiteY3" fmla="*/ 190832 h 1272209"/>
              <a:gd name="connsiteX4" fmla="*/ 1025719 w 1474966"/>
              <a:gd name="connsiteY4" fmla="*/ 3976 h 1272209"/>
              <a:gd name="connsiteX5" fmla="*/ 1025318 w 1474966"/>
              <a:gd name="connsiteY5" fmla="*/ 0 h 1272209"/>
              <a:gd name="connsiteX6" fmla="*/ 1262927 w 1474966"/>
              <a:gd name="connsiteY6" fmla="*/ 0 h 1272209"/>
              <a:gd name="connsiteX7" fmla="*/ 1474966 w 1474966"/>
              <a:gd name="connsiteY7" fmla="*/ 212039 h 1272209"/>
              <a:gd name="connsiteX8" fmla="*/ 1474966 w 1474966"/>
              <a:gd name="connsiteY8" fmla="*/ 1060170 h 1272209"/>
              <a:gd name="connsiteX9" fmla="*/ 1262927 w 1474966"/>
              <a:gd name="connsiteY9" fmla="*/ 1272209 h 1272209"/>
              <a:gd name="connsiteX10" fmla="*/ 414796 w 1474966"/>
              <a:gd name="connsiteY10" fmla="*/ 1272209 h 1272209"/>
              <a:gd name="connsiteX11" fmla="*/ 202757 w 1474966"/>
              <a:gd name="connsiteY11" fmla="*/ 1060170 h 1272209"/>
              <a:gd name="connsiteX12" fmla="*/ 202757 w 1474966"/>
              <a:gd name="connsiteY12" fmla="*/ 821358 h 1272209"/>
              <a:gd name="connsiteX13" fmla="*/ 186856 w 1474966"/>
              <a:gd name="connsiteY13" fmla="*/ 822961 h 1272209"/>
              <a:gd name="connsiteX14" fmla="*/ 0 w 1474966"/>
              <a:gd name="connsiteY14" fmla="*/ 636105 h 1272209"/>
              <a:gd name="connsiteX15" fmla="*/ 186856 w 1474966"/>
              <a:gd name="connsiteY15" fmla="*/ 449249 h 1272209"/>
              <a:gd name="connsiteX16" fmla="*/ 202757 w 1474966"/>
              <a:gd name="connsiteY16" fmla="*/ 450852 h 1272209"/>
              <a:gd name="connsiteX17" fmla="*/ 202757 w 1474966"/>
              <a:gd name="connsiteY17" fmla="*/ 212039 h 1272209"/>
              <a:gd name="connsiteX18" fmla="*/ 414796 w 1474966"/>
              <a:gd name="connsiteY18" fmla="*/ 0 h 1272209"/>
            </a:gdLst>
            <a:ahLst/>
            <a:cxnLst/>
            <a:rect l="l" t="t" r="r" b="b"/>
            <a:pathLst>
              <a:path w="1474966" h="1272209">
                <a:moveTo>
                  <a:pt x="414796" y="0"/>
                </a:moveTo>
                <a:lnTo>
                  <a:pt x="652408" y="0"/>
                </a:lnTo>
                <a:lnTo>
                  <a:pt x="652007" y="3976"/>
                </a:lnTo>
                <a:cubicBezTo>
                  <a:pt x="652007" y="107174"/>
                  <a:pt x="735665" y="190832"/>
                  <a:pt x="838863" y="190832"/>
                </a:cubicBezTo>
                <a:cubicBezTo>
                  <a:pt x="942061" y="190832"/>
                  <a:pt x="1025719" y="107174"/>
                  <a:pt x="1025719" y="3976"/>
                </a:cubicBezTo>
                <a:lnTo>
                  <a:pt x="1025318" y="0"/>
                </a:lnTo>
                <a:lnTo>
                  <a:pt x="1262927" y="0"/>
                </a:lnTo>
                <a:cubicBezTo>
                  <a:pt x="1380033" y="0"/>
                  <a:pt x="1474966" y="94933"/>
                  <a:pt x="1474966" y="212039"/>
                </a:cubicBezTo>
                <a:lnTo>
                  <a:pt x="1474966" y="1060170"/>
                </a:lnTo>
                <a:cubicBezTo>
                  <a:pt x="1474966" y="1177276"/>
                  <a:pt x="1380033" y="1272209"/>
                  <a:pt x="1262927" y="1272209"/>
                </a:cubicBezTo>
                <a:lnTo>
                  <a:pt x="414796" y="1272209"/>
                </a:lnTo>
                <a:cubicBezTo>
                  <a:pt x="297690" y="1272209"/>
                  <a:pt x="202757" y="1177276"/>
                  <a:pt x="202757" y="1060170"/>
                </a:cubicBezTo>
                <a:lnTo>
                  <a:pt x="202757" y="821358"/>
                </a:lnTo>
                <a:lnTo>
                  <a:pt x="186856" y="822961"/>
                </a:lnTo>
                <a:cubicBezTo>
                  <a:pt x="83658" y="822961"/>
                  <a:pt x="0" y="739303"/>
                  <a:pt x="0" y="636105"/>
                </a:cubicBezTo>
                <a:cubicBezTo>
                  <a:pt x="0" y="532907"/>
                  <a:pt x="83658" y="449249"/>
                  <a:pt x="186856" y="449249"/>
                </a:cubicBezTo>
                <a:lnTo>
                  <a:pt x="202757" y="450852"/>
                </a:lnTo>
                <a:lnTo>
                  <a:pt x="202757" y="212039"/>
                </a:lnTo>
                <a:cubicBezTo>
                  <a:pt x="202757" y="94933"/>
                  <a:pt x="297690" y="0"/>
                  <a:pt x="414796" y="0"/>
                </a:cubicBezTo>
                <a:close/>
              </a:path>
            </a:pathLst>
          </a:custGeom>
          <a:solidFill>
            <a:schemeClr val="accent2"/>
          </a:solidFill>
          <a:ln w="28575" cap="sq">
            <a:solidFill>
              <a:schemeClr val="bg1"/>
            </a:solidFill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 rot="2700000">
            <a:off x="4622800" y="2867025"/>
            <a:ext cx="965200" cy="831850"/>
          </a:xfrm>
          <a:custGeom>
            <a:avLst/>
            <a:gdLst>
              <a:gd name="connsiteX0" fmla="*/ 414796 w 1474966"/>
              <a:gd name="connsiteY0" fmla="*/ 0 h 1272209"/>
              <a:gd name="connsiteX1" fmla="*/ 652408 w 1474966"/>
              <a:gd name="connsiteY1" fmla="*/ 0 h 1272209"/>
              <a:gd name="connsiteX2" fmla="*/ 652007 w 1474966"/>
              <a:gd name="connsiteY2" fmla="*/ 3976 h 1272209"/>
              <a:gd name="connsiteX3" fmla="*/ 838863 w 1474966"/>
              <a:gd name="connsiteY3" fmla="*/ 190832 h 1272209"/>
              <a:gd name="connsiteX4" fmla="*/ 1025719 w 1474966"/>
              <a:gd name="connsiteY4" fmla="*/ 3976 h 1272209"/>
              <a:gd name="connsiteX5" fmla="*/ 1025318 w 1474966"/>
              <a:gd name="connsiteY5" fmla="*/ 0 h 1272209"/>
              <a:gd name="connsiteX6" fmla="*/ 1262927 w 1474966"/>
              <a:gd name="connsiteY6" fmla="*/ 0 h 1272209"/>
              <a:gd name="connsiteX7" fmla="*/ 1474966 w 1474966"/>
              <a:gd name="connsiteY7" fmla="*/ 212039 h 1272209"/>
              <a:gd name="connsiteX8" fmla="*/ 1474966 w 1474966"/>
              <a:gd name="connsiteY8" fmla="*/ 1060170 h 1272209"/>
              <a:gd name="connsiteX9" fmla="*/ 1262927 w 1474966"/>
              <a:gd name="connsiteY9" fmla="*/ 1272209 h 1272209"/>
              <a:gd name="connsiteX10" fmla="*/ 414796 w 1474966"/>
              <a:gd name="connsiteY10" fmla="*/ 1272209 h 1272209"/>
              <a:gd name="connsiteX11" fmla="*/ 202757 w 1474966"/>
              <a:gd name="connsiteY11" fmla="*/ 1060170 h 1272209"/>
              <a:gd name="connsiteX12" fmla="*/ 202757 w 1474966"/>
              <a:gd name="connsiteY12" fmla="*/ 821358 h 1272209"/>
              <a:gd name="connsiteX13" fmla="*/ 186856 w 1474966"/>
              <a:gd name="connsiteY13" fmla="*/ 822961 h 1272209"/>
              <a:gd name="connsiteX14" fmla="*/ 0 w 1474966"/>
              <a:gd name="connsiteY14" fmla="*/ 636105 h 1272209"/>
              <a:gd name="connsiteX15" fmla="*/ 186856 w 1474966"/>
              <a:gd name="connsiteY15" fmla="*/ 449249 h 1272209"/>
              <a:gd name="connsiteX16" fmla="*/ 202757 w 1474966"/>
              <a:gd name="connsiteY16" fmla="*/ 450852 h 1272209"/>
              <a:gd name="connsiteX17" fmla="*/ 202757 w 1474966"/>
              <a:gd name="connsiteY17" fmla="*/ 212039 h 1272209"/>
              <a:gd name="connsiteX18" fmla="*/ 414796 w 1474966"/>
              <a:gd name="connsiteY18" fmla="*/ 0 h 1272209"/>
            </a:gdLst>
            <a:ahLst/>
            <a:cxnLst/>
            <a:rect l="l" t="t" r="r" b="b"/>
            <a:pathLst>
              <a:path w="1474966" h="1272209">
                <a:moveTo>
                  <a:pt x="414796" y="0"/>
                </a:moveTo>
                <a:lnTo>
                  <a:pt x="652408" y="0"/>
                </a:lnTo>
                <a:lnTo>
                  <a:pt x="652007" y="3976"/>
                </a:lnTo>
                <a:cubicBezTo>
                  <a:pt x="652007" y="107174"/>
                  <a:pt x="735665" y="190832"/>
                  <a:pt x="838863" y="190832"/>
                </a:cubicBezTo>
                <a:cubicBezTo>
                  <a:pt x="942061" y="190832"/>
                  <a:pt x="1025719" y="107174"/>
                  <a:pt x="1025719" y="3976"/>
                </a:cubicBezTo>
                <a:lnTo>
                  <a:pt x="1025318" y="0"/>
                </a:lnTo>
                <a:lnTo>
                  <a:pt x="1262927" y="0"/>
                </a:lnTo>
                <a:cubicBezTo>
                  <a:pt x="1380033" y="0"/>
                  <a:pt x="1474966" y="94933"/>
                  <a:pt x="1474966" y="212039"/>
                </a:cubicBezTo>
                <a:lnTo>
                  <a:pt x="1474966" y="1060170"/>
                </a:lnTo>
                <a:cubicBezTo>
                  <a:pt x="1474966" y="1177276"/>
                  <a:pt x="1380033" y="1272209"/>
                  <a:pt x="1262927" y="1272209"/>
                </a:cubicBezTo>
                <a:lnTo>
                  <a:pt x="414796" y="1272209"/>
                </a:lnTo>
                <a:cubicBezTo>
                  <a:pt x="297690" y="1272209"/>
                  <a:pt x="202757" y="1177276"/>
                  <a:pt x="202757" y="1060170"/>
                </a:cubicBezTo>
                <a:lnTo>
                  <a:pt x="202757" y="821358"/>
                </a:lnTo>
                <a:lnTo>
                  <a:pt x="186856" y="822961"/>
                </a:lnTo>
                <a:cubicBezTo>
                  <a:pt x="83658" y="822961"/>
                  <a:pt x="0" y="739303"/>
                  <a:pt x="0" y="636105"/>
                </a:cubicBezTo>
                <a:cubicBezTo>
                  <a:pt x="0" y="532907"/>
                  <a:pt x="83658" y="449249"/>
                  <a:pt x="186856" y="449249"/>
                </a:cubicBezTo>
                <a:lnTo>
                  <a:pt x="202757" y="450852"/>
                </a:lnTo>
                <a:lnTo>
                  <a:pt x="202757" y="212039"/>
                </a:lnTo>
                <a:cubicBezTo>
                  <a:pt x="202757" y="94933"/>
                  <a:pt x="297690" y="0"/>
                  <a:pt x="414796" y="0"/>
                </a:cubicBezTo>
                <a:close/>
              </a:path>
            </a:pathLst>
          </a:custGeom>
          <a:solidFill>
            <a:schemeClr val="accent2"/>
          </a:solidFill>
          <a:ln w="28575" cap="sq">
            <a:solidFill>
              <a:schemeClr val="bg1"/>
            </a:solidFill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269" name="标题 1"/>
          <p:cNvSpPr txBox="1"/>
          <p:nvPr/>
        </p:nvSpPr>
        <p:spPr>
          <a:xfrm>
            <a:off x="5761038" y="2971800"/>
            <a:ext cx="3382962" cy="14017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defTabSz="685800" eaLnBrk="1" hangingPunct="1">
              <a:lnSpc>
                <a:spcPct val="150000"/>
              </a:lnSpc>
            </a:pPr>
            <a:r>
              <a:rPr lang="en-US" altLang="zh-CN" sz="1800" dirty="0">
                <a:solidFill>
                  <a:srgbClr val="FF0000"/>
                </a:solidFill>
                <a:latin typeface="Source Han Sans" charset="-122"/>
                <a:ea typeface="Source Han Sans" charset="-122"/>
              </a:rPr>
              <a:t>虚拟现实、增强现实、混合现实同属沉浸式技术，相互借鉴、融合，共同推动沉浸式体验发展，未来将无缝切换，拓展沉浸式体验边界。
三者融合为各领域带来创新解决方案，如教育中虚拟实验室、历史场景重现，医疗里手术模拟、康复训练，工业中虚拟装配、远程维修等。</a:t>
            </a:r>
            <a:endParaRPr lang="zh-CN" altLang="en-US" sz="1800" dirty="0">
              <a:solidFill>
                <a:srgbClr val="FF0000"/>
              </a:solidFill>
              <a:latin typeface="Source Han Sans" charset="-122"/>
              <a:ea typeface="Source Han Sans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5761901" y="2646752"/>
            <a:ext cx="3349199" cy="2494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>
              <a:defRPr lang="en-US"/>
            </a:defPPr>
            <a:lvl1pPr algn="ctr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800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highlight>
                  <a:srgbClr val="FFFF00"/>
                </a:highlight>
                <a:latin typeface="Source Han Sans CN Bold"/>
                <a:ea typeface="Source Han Sans CN Bold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b="0" i="0" u="none" strike="noStrike" kern="1200" cap="none" spc="0" normalizeH="0" baseline="0" noProof="0" dirty="0" err="1">
                <a:ln w="12700">
                  <a:noFill/>
                </a:ln>
                <a:solidFill>
                  <a:srgbClr val="262626">
                    <a:alpha val="100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Source Han Sans CN Bold"/>
                <a:ea typeface="Source Han Sans CN Bold"/>
                <a:cs typeface="+mn-cs"/>
              </a:rPr>
              <a:t>三者之间的联系与融合趋势</a:t>
            </a:r>
            <a:endParaRPr kumimoji="1" lang="zh-CN" altLang="en-US" sz="1800" b="0" i="0" u="none" strike="noStrike" kern="1200" cap="none" spc="0" normalizeH="0" baseline="0" noProof="0" dirty="0">
              <a:ln w="12700">
                <a:noFill/>
              </a:ln>
              <a:solidFill>
                <a:srgbClr val="262626">
                  <a:alpha val="100000"/>
                </a:srgbClr>
              </a:solidFill>
              <a:effectLst/>
              <a:highlight>
                <a:srgbClr val="FFFF00"/>
              </a:highlight>
              <a:uLnTx/>
              <a:uFillTx/>
              <a:latin typeface="Source Han Sans CN Bold"/>
              <a:ea typeface="Source Han Sans CN Bold"/>
              <a:cs typeface="+mn-cs"/>
            </a:endParaRPr>
          </a:p>
        </p:txBody>
      </p:sp>
      <p:sp>
        <p:nvSpPr>
          <p:cNvPr id="11271" name="标题 1"/>
          <p:cNvSpPr txBox="1"/>
          <p:nvPr/>
        </p:nvSpPr>
        <p:spPr>
          <a:xfrm>
            <a:off x="495300" y="3068638"/>
            <a:ext cx="3376613" cy="214312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defTabSz="685800" eaLnBrk="1" hangingPunct="1">
              <a:lnSpc>
                <a:spcPct val="150000"/>
              </a:lnSpc>
            </a:pPr>
            <a:r>
              <a:rPr lang="en-US" altLang="zh-CN" sz="1800" dirty="0">
                <a:solidFill>
                  <a:srgbClr val="FF0000"/>
                </a:solidFill>
                <a:latin typeface="Source Han Sans" charset="-122"/>
                <a:ea typeface="Source Han Sans" charset="-122"/>
              </a:rPr>
              <a:t>虚拟现实完全构建虚拟环境，用户与现实世界隔离；混合现实则将虚拟与现实融合，用户在现实基础上与虚拟对象交互，提供更实用指引。
虚拟现实游戏让用户沉浸虚拟世界，混合现实导航在现实街道上叠加虚拟路线信息，拓展应用场景，如教育、医疗、工业等。</a:t>
            </a:r>
            <a:endParaRPr lang="zh-CN" altLang="en-US" sz="18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397963" y="2549757"/>
            <a:ext cx="3155097" cy="2494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R="0" algn="ctr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kern="1200" cap="none" spc="0" normalizeH="0" baseline="0" noProof="0" dirty="0" err="1">
                <a:solidFill>
                  <a:srgbClr val="262626">
                    <a:alpha val="100000"/>
                  </a:srgbClr>
                </a:solidFill>
                <a:highlight>
                  <a:srgbClr val="FFFF00"/>
                </a:highlight>
                <a:latin typeface="Source Han Sans CN Bold"/>
                <a:ea typeface="Source Han Sans CN Bold"/>
                <a:cs typeface="+mn-cs"/>
              </a:rPr>
              <a:t>混合现实与虚拟现实的区别</a:t>
            </a:r>
            <a:endParaRPr kumimoji="1" lang="zh-CN" altLang="en-US" sz="1800" kern="1200" cap="none" spc="0" normalizeH="0" baseline="0" noProof="0" dirty="0">
              <a:solidFill>
                <a:srgbClr val="262626">
                  <a:alpha val="100000"/>
                </a:srgbClr>
              </a:solidFill>
              <a:highlight>
                <a:srgbClr val="FFFF00"/>
              </a:highlight>
              <a:latin typeface="Source Han Sans CN Bold"/>
              <a:ea typeface="Source Han Sans CN Bold"/>
              <a:cs typeface="+mn-cs"/>
            </a:endParaRPr>
          </a:p>
        </p:txBody>
      </p:sp>
      <p:sp>
        <p:nvSpPr>
          <p:cNvPr id="11273" name="标题 1"/>
          <p:cNvSpPr txBox="1"/>
          <p:nvPr/>
        </p:nvSpPr>
        <p:spPr>
          <a:xfrm>
            <a:off x="74613" y="730250"/>
            <a:ext cx="9036050" cy="9223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defTabSz="685800" eaLnBrk="1" hangingPunct="1">
              <a:lnSpc>
                <a:spcPct val="150000"/>
              </a:lnSpc>
            </a:pPr>
            <a:r>
              <a:rPr lang="en-US" altLang="zh-CN" sz="1800" dirty="0">
                <a:solidFill>
                  <a:srgbClr val="FF0000"/>
                </a:solidFill>
                <a:latin typeface="Source Han Sans" charset="-122"/>
                <a:ea typeface="Source Han Sans" charset="-122"/>
              </a:rPr>
              <a:t>增强现实侧重信息叠加，如在现实场景上显示文字、图像；混合现实更强调虚实融合，实现虚拟对象与现实环境的自然交互，更具沉浸感。
混合现实的AR导航可让虚拟人物在真实街道上引导用户前行，增强现实的AR导航仅显示方向箭头，两者在应用场景和用户体验上存在差异。</a:t>
            </a:r>
            <a:endParaRPr lang="zh-CN" altLang="en-US" sz="18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2123728" y="441857"/>
            <a:ext cx="4546743" cy="2494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R="0" algn="ctr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kern="1200" cap="none" spc="0" normalizeH="0" baseline="0" noProof="0" dirty="0" err="1">
                <a:solidFill>
                  <a:srgbClr val="262626">
                    <a:alpha val="100000"/>
                  </a:srgbClr>
                </a:solidFill>
                <a:highlight>
                  <a:srgbClr val="FFFF00"/>
                </a:highlight>
                <a:latin typeface="Source Han Sans CN Bold"/>
                <a:ea typeface="Source Han Sans CN Bold"/>
                <a:cs typeface="Source Han Sans CN Bold"/>
              </a:rPr>
              <a:t>混合现实与增强现实的区别</a:t>
            </a:r>
            <a:endParaRPr kumimoji="1" lang="zh-CN" altLang="en-US" sz="1800" kern="1200" cap="none" spc="0" normalizeH="0" baseline="0" noProof="0" dirty="0">
              <a:solidFill>
                <a:srgbClr val="000000"/>
              </a:solidFill>
              <a:highlight>
                <a:srgbClr val="FFFF00"/>
              </a:highlight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4243388" y="2587625"/>
            <a:ext cx="657225" cy="249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R="0" algn="ctr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500" kern="1200" cap="none" spc="0" normalizeH="0" baseline="0" noProof="0" dirty="0"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02</a:t>
            </a:r>
            <a:endParaRPr kumimoji="1" lang="zh-CN" altLang="en-US" sz="1350" kern="1200" cap="none" spc="0" normalizeH="0" baseline="0" noProof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4833938" y="3159125"/>
            <a:ext cx="657225" cy="2508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R="0" algn="ctr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500" kern="1200" cap="none" spc="0" normalizeH="0" baseline="0" noProof="0"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03</a:t>
            </a: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3905250" y="3368675"/>
            <a:ext cx="658813" cy="2508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R="0" algn="ctr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500" kern="1200" cap="none" spc="0" normalizeH="0" baseline="0" noProof="0" dirty="0"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01</a:t>
            </a:r>
            <a:endParaRPr kumimoji="1" lang="zh-CN" altLang="en-US" sz="1350" kern="1200" cap="none" spc="0" normalizeH="0" baseline="0" noProof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2123728" y="51659"/>
            <a:ext cx="8003381" cy="35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100" kern="1200" cap="none" spc="0" normalizeH="0" baseline="0" noProof="0" dirty="0" err="1">
                <a:solidFill>
                  <a:srgbClr val="FF0000"/>
                </a:solidFill>
                <a:highlight>
                  <a:srgbClr val="0066FF"/>
                </a:highlight>
                <a:latin typeface="Source Han Sans CN Bold"/>
                <a:ea typeface="Source Han Sans CN Bold"/>
                <a:cs typeface="Source Han Sans CN Bold"/>
              </a:rPr>
              <a:t>混合现实与虚拟现实、增强现实的关系</a:t>
            </a:r>
            <a:endParaRPr kumimoji="1" lang="zh-CN" altLang="en-US" sz="1350" kern="1200" cap="none" spc="0" normalizeH="0" baseline="0" noProof="0" dirty="0">
              <a:solidFill>
                <a:srgbClr val="FF0000"/>
              </a:solidFill>
              <a:highlight>
                <a:srgbClr val="0066FF"/>
              </a:highlight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 txBox="1"/>
          <p:nvPr/>
        </p:nvSpPr>
        <p:spPr>
          <a:xfrm>
            <a:off x="242888" y="1022350"/>
            <a:ext cx="8658225" cy="4813300"/>
          </a:xfrm>
          <a:prstGeom prst="plaque">
            <a:avLst>
              <a:gd name="adj" fmla="val 2839"/>
            </a:avLst>
          </a:prstGeom>
          <a:solidFill>
            <a:schemeClr val="accent2"/>
          </a:solidFill>
          <a:ln w="12700" cap="sq">
            <a:solidFill>
              <a:schemeClr val="accent2">
                <a:lumMod val="75000"/>
                <a:alpha val="100000"/>
              </a:schemeClr>
            </a:solidFill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20873" b="20873"/>
          <a:stretch>
            <a:fillRect/>
          </a:stretch>
        </p:blipFill>
        <p:spPr>
          <a:xfrm flipH="1">
            <a:off x="318304" y="1091097"/>
            <a:ext cx="8507393" cy="2777444"/>
          </a:xfrm>
          <a:prstGeom prst="plaque">
            <a:avLst>
              <a:gd name="adj" fmla="val 5833"/>
            </a:avLst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242888" y="3656013"/>
            <a:ext cx="8658225" cy="1298575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633413" y="2819400"/>
            <a:ext cx="8029575" cy="2776538"/>
          </a:xfrm>
          <a:prstGeom prst="plaque">
            <a:avLst>
              <a:gd name="adj" fmla="val 4196"/>
            </a:avLst>
          </a:prstGeom>
          <a:solidFill>
            <a:schemeClr val="accent2">
              <a:lumMod val="20000"/>
              <a:lumOff val="80000"/>
            </a:schemeClr>
          </a:solidFill>
          <a:ln w="12700" cap="sq">
            <a:solidFill>
              <a:schemeClr val="accent2"/>
            </a:solidFill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95325" y="2879725"/>
            <a:ext cx="7905750" cy="2638425"/>
          </a:xfrm>
          <a:prstGeom prst="plaque">
            <a:avLst>
              <a:gd name="adj" fmla="val 4196"/>
            </a:avLst>
          </a:prstGeom>
          <a:noFill/>
          <a:ln w="12700" cap="sq">
            <a:solidFill>
              <a:schemeClr val="accent2">
                <a:alpha val="100000"/>
              </a:schemeClr>
            </a:solidFill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3298702" y="2854810"/>
            <a:ext cx="1745484" cy="76174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500" kern="1200" cap="none" spc="0" normalizeH="0" baseline="0" noProof="0">
                <a:gradFill>
                  <a:gsLst>
                    <a:gs pos="0">
                      <a:srgbClr val="076843">
                        <a:alpha val="100000"/>
                      </a:srgbClr>
                    </a:gs>
                    <a:gs pos="78000">
                      <a:srgbClr val="076843">
                        <a:alpha val="0"/>
                      </a:srgbClr>
                    </a:gs>
                    <a:gs pos="100000">
                      <a:srgbClr val="076843">
                        <a:alpha val="0"/>
                      </a:srgbClr>
                    </a:gs>
                  </a:gsLst>
                  <a:lin ang="5400000" scaled="0"/>
                </a:gradFill>
                <a:latin typeface="Source Han Serif SC Bold"/>
                <a:ea typeface="Source Han Serif SC Bold"/>
                <a:cs typeface="Source Han Serif SC Bold"/>
              </a:rPr>
              <a:t>PART</a:t>
            </a: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1906588" y="3683000"/>
            <a:ext cx="5484813" cy="14747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R="0" algn="ct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750" kern="1200" cap="none" spc="0" normalizeH="0" baseline="0" noProof="0">
                <a:solidFill>
                  <a:srgbClr val="000000">
                    <a:alpha val="100000"/>
                  </a:srgbClr>
                </a:solidFill>
                <a:latin typeface="Source Han Serif SC Bold"/>
                <a:ea typeface="Source Han Serif SC Bold"/>
                <a:cs typeface="Source Han Serif SC Bold"/>
              </a:rPr>
              <a:t>混合现实交互技术</a:t>
            </a: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1314450" y="5003800"/>
            <a:ext cx="1192213" cy="288925"/>
          </a:xfrm>
          <a:prstGeom prst="corner">
            <a:avLst>
              <a:gd name="adj1" fmla="val 11974"/>
              <a:gd name="adj2" fmla="val 13382"/>
            </a:avLst>
          </a:prstGeom>
          <a:solidFill>
            <a:schemeClr val="accent1"/>
          </a:solidFill>
          <a:ln w="14478" cap="sq">
            <a:solidFill>
              <a:schemeClr val="accent1">
                <a:lumMod val="75000"/>
              </a:schemeClr>
            </a:solidFill>
            <a:miter/>
          </a:ln>
          <a:effectLst/>
        </p:spPr>
        <p:txBody>
          <a:bodyPr lIns="78182" tIns="39091" rIns="78182" bIns="39091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标题 1"/>
          <p:cNvSpPr txBox="1"/>
          <p:nvPr/>
        </p:nvSpPr>
        <p:spPr>
          <a:xfrm flipH="1" flipV="1">
            <a:off x="6307138" y="3027363"/>
            <a:ext cx="1192213" cy="290513"/>
          </a:xfrm>
          <a:prstGeom prst="corner">
            <a:avLst>
              <a:gd name="adj1" fmla="val 11974"/>
              <a:gd name="adj2" fmla="val 13382"/>
            </a:avLst>
          </a:prstGeom>
          <a:solidFill>
            <a:schemeClr val="accent1"/>
          </a:solidFill>
          <a:ln w="14478" cap="sq">
            <a:solidFill>
              <a:schemeClr val="accent1">
                <a:lumMod val="75000"/>
              </a:schemeClr>
            </a:solidFill>
            <a:miter/>
          </a:ln>
          <a:effectLst/>
        </p:spPr>
        <p:txBody>
          <a:bodyPr lIns="78182" tIns="39091" rIns="78182" bIns="39091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503238" y="1363663"/>
            <a:ext cx="1624013" cy="20161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lIns="68580" tIns="34290" rIns="68580" bIns="34290" anchor="ctr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5070198" y="1530302"/>
            <a:ext cx="1287740" cy="20862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500" kern="1200" cap="none" spc="0" normalizeH="0" baseline="0" noProof="0" dirty="0">
                <a:gradFill>
                  <a:gsLst>
                    <a:gs pos="0">
                      <a:srgbClr val="076843">
                        <a:alpha val="100000"/>
                      </a:srgbClr>
                    </a:gs>
                    <a:gs pos="78000">
                      <a:srgbClr val="076843">
                        <a:alpha val="0"/>
                      </a:srgbClr>
                    </a:gs>
                    <a:gs pos="100000">
                      <a:srgbClr val="076843">
                        <a:alpha val="0"/>
                      </a:srgbClr>
                    </a:gs>
                  </a:gsLst>
                  <a:lin ang="5400000" scaled="0"/>
                </a:gradFill>
                <a:latin typeface="Source Han Serif SC Bold"/>
                <a:ea typeface="Source Han Serif SC Bold"/>
                <a:cs typeface="Source Han Serif SC Bold"/>
              </a:rPr>
              <a:t>02</a:t>
            </a:r>
            <a:endParaRPr kumimoji="1" lang="zh-CN" altLang="en-US" sz="1350" kern="1200" cap="none" spc="0" normalizeH="0" baseline="0" noProof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2"/>
          <p:cNvSpPr>
            <a:spLocks noGrp="1"/>
          </p:cNvSpPr>
          <p:nvPr>
            <p:ph type="title"/>
          </p:nvPr>
        </p:nvSpPr>
        <p:spPr>
          <a:xfrm>
            <a:off x="1389063" y="620713"/>
            <a:ext cx="7378700" cy="1143000"/>
          </a:xfrm>
          <a:ln/>
        </p:spPr>
        <p:txBody>
          <a:bodyPr vert="horz" wrap="square" lIns="91440" tIns="45720" rIns="91440" bIns="45720" anchor="ctr" anchorCtr="0"/>
          <a:p>
            <a:pPr algn="l"/>
            <a:r>
              <a:rPr lang="zh-CN" altLang="zh-CN" dirty="0"/>
              <a:t>混合现实的交互技术</a:t>
            </a:r>
            <a:endParaRPr lang="zh-CN" altLang="zh-CN" dirty="0"/>
          </a:p>
        </p:txBody>
      </p:sp>
      <p:sp>
        <p:nvSpPr>
          <p:cNvPr id="478211" name="Rectangle 3"/>
          <p:cNvSpPr>
            <a:spLocks noGrp="1" noChangeArrowheads="1"/>
          </p:cNvSpPr>
          <p:nvPr>
            <p:ph idx="1"/>
          </p:nvPr>
        </p:nvSpPr>
        <p:spPr>
          <a:xfrm>
            <a:off x="809625" y="1844675"/>
            <a:ext cx="7958138" cy="4752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新型交互技术和设备的出现，使人机界面不断向着更高效、更自然的方向发展。在混合现实中使用较多的用户界面形态包括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: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TUI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1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触控用户界面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1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3DUI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1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多通道用户界面</a:t>
            </a:r>
            <a:endParaRPr kumimoji="1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l"/>
              <a:defRPr/>
            </a:pPr>
            <a:r>
              <a:rPr kumimoji="1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混合用户界面。</a:t>
            </a:r>
            <a:endParaRPr kumimoji="1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1389063" y="620713"/>
            <a:ext cx="7378700" cy="1143000"/>
          </a:xfrm>
          <a:ln/>
        </p:spPr>
        <p:txBody>
          <a:bodyPr vert="horz" wrap="square" lIns="91440" tIns="45720" rIns="91440" bIns="45720" anchor="ctr" anchorCtr="0"/>
          <a:p>
            <a:r>
              <a:rPr lang="en-US" altLang="zh-CN" sz="3600" dirty="0">
                <a:solidFill>
                  <a:srgbClr val="FF0000"/>
                </a:solidFill>
                <a:latin typeface="Inter"/>
              </a:rPr>
              <a:t>TUI</a:t>
            </a:r>
            <a:r>
              <a:rPr lang="zh-CN" altLang="en-US" sz="3600" dirty="0">
                <a:solidFill>
                  <a:srgbClr val="FF0000"/>
                </a:solidFill>
                <a:latin typeface="Inter"/>
              </a:rPr>
              <a:t>可触摸用户界面</a:t>
            </a:r>
            <a:endParaRPr lang="zh-CN" altLang="zh-CN" sz="3600" dirty="0">
              <a:solidFill>
                <a:srgbClr val="FF0000"/>
              </a:solidFill>
            </a:endParaRPr>
          </a:p>
        </p:txBody>
      </p:sp>
      <p:sp>
        <p:nvSpPr>
          <p:cNvPr id="478211" name="Rectangle 3"/>
          <p:cNvSpPr>
            <a:spLocks noGrp="1" noChangeArrowheads="1"/>
          </p:cNvSpPr>
          <p:nvPr>
            <p:ph idx="1"/>
          </p:nvPr>
        </p:nvSpPr>
        <p:spPr>
          <a:xfrm>
            <a:off x="592138" y="1916113"/>
            <a:ext cx="8372475" cy="4752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TUI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是目前在混合现实领域应用最多的交互方式。它支持用户直接使用现实世界中的物体与计算机进行交互。无论是在虚拟环境中使用现实物体辅助交互（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AV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），还是在虚拟环境中加入辅助的虚拟信息（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AR</a:t>
            </a:r>
            <a:r>
              <a:rPr kumimoji="1" lang="zh-CN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），在这种交互方式下都显得非常自然并对用户具有吸引力。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特点：</a:t>
            </a:r>
            <a:endParaRPr kumimoji="1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物理性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：用户直接操控实体对象。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0000"/>
                  <a:lumOff val="4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直观性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：降低学习成本（如旋转实体旋钮调节音量）。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0000"/>
                  <a:lumOff val="4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多模态反馈</a:t>
            </a: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：触觉、视觉、听觉协同反馈。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0000"/>
                  <a:lumOff val="40000"/>
                </a:schemeClr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w"/>
              <a:defRPr/>
            </a:pPr>
            <a:endParaRPr kumimoji="1" lang="zh-CN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zh-CN" sz="3600" dirty="0">
                <a:solidFill>
                  <a:srgbClr val="FF0000"/>
                </a:solidFill>
                <a:latin typeface="Inter"/>
              </a:rPr>
              <a:t>触控用户界面交互技术</a:t>
            </a:r>
            <a:endParaRPr lang="zh-CN" altLang="zh-CN" sz="3600" dirty="0">
              <a:solidFill>
                <a:srgbClr val="FF0000"/>
              </a:solidFill>
              <a:latin typeface="Inter"/>
            </a:endParaRPr>
          </a:p>
        </p:txBody>
      </p:sp>
      <p:sp>
        <p:nvSpPr>
          <p:cNvPr id="479235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2276475"/>
            <a:ext cx="7958138" cy="38814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1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触控用户界面是在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GUI</a:t>
            </a:r>
            <a:r>
              <a:rPr kumimoji="1" lang="zh-CN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的基础上，以触觉感知为主要指点 技术的交互技术。在混合现实中，一种比较自然的方式是直接用手 通过屏幕与虚实物体交互。手机、平板电脑等移动设备及透明触屏都提供了这种支持，这使得直接触控成为混合现实中主要的交互方 式之一。</a:t>
            </a:r>
            <a:endParaRPr kumimoji="1" lang="zh-CN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1" lang="zh-CN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sz="3600" dirty="0">
                <a:solidFill>
                  <a:srgbClr val="FF0000"/>
                </a:solidFill>
                <a:latin typeface="Inter"/>
              </a:rPr>
              <a:t>3DUI</a:t>
            </a:r>
            <a:r>
              <a:rPr lang="zh-CN" altLang="en-US" sz="3600" dirty="0">
                <a:solidFill>
                  <a:srgbClr val="FF0000"/>
                </a:solidFill>
                <a:latin typeface="Inter"/>
              </a:rPr>
              <a:t>三维用户界面</a:t>
            </a:r>
            <a:r>
              <a:rPr lang="zh-CN" altLang="zh-CN" sz="3600" dirty="0">
                <a:solidFill>
                  <a:srgbClr val="FF0000"/>
                </a:solidFill>
                <a:latin typeface="Inter"/>
              </a:rPr>
              <a:t>交互技术</a:t>
            </a:r>
            <a:endParaRPr lang="zh-CN" altLang="zh-CN" sz="3600" dirty="0">
              <a:solidFill>
                <a:srgbClr val="FF0000"/>
              </a:solidFill>
              <a:latin typeface="Inter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792163" y="1989138"/>
            <a:ext cx="8172450" cy="3881437"/>
          </a:xfrm>
          <a:ln/>
        </p:spPr>
        <p:txBody>
          <a:bodyPr vert="horz" wrap="square" lIns="91440" tIns="45720" rIns="91440" bIns="45720" anchor="t" anchorCtr="0"/>
          <a:p>
            <a:r>
              <a:rPr lang="zh-CN" altLang="zh-CN" sz="2800" dirty="0"/>
              <a:t>在</a:t>
            </a:r>
            <a:r>
              <a:rPr lang="en-US" altLang="zh-CN" sz="2800" dirty="0"/>
              <a:t>3DUI</a:t>
            </a:r>
            <a:r>
              <a:rPr lang="zh-CN" altLang="zh-CN" sz="2800" dirty="0"/>
              <a:t>中，</a:t>
            </a:r>
            <a:r>
              <a:rPr lang="zh-CN" altLang="en-US" sz="2800" dirty="0"/>
              <a:t>在三维空间中以自然方式（手势、语音、触觉）与数字内容交互的界面技术，</a:t>
            </a:r>
            <a:r>
              <a:rPr lang="zh-CN" altLang="zh-CN" sz="2800" dirty="0"/>
              <a:t>用户与计算机进行交互是在一个虚拟或现实的</a:t>
            </a:r>
            <a:r>
              <a:rPr lang="en-US" altLang="zh-CN" sz="2800" dirty="0"/>
              <a:t>3D</a:t>
            </a:r>
            <a:r>
              <a:rPr lang="zh-CN" altLang="zh-CN" sz="2800" dirty="0"/>
              <a:t>空间中进行 的。</a:t>
            </a:r>
            <a:r>
              <a:rPr lang="en-US" altLang="zh-CN" sz="2800" dirty="0"/>
              <a:t>3DUI</a:t>
            </a:r>
            <a:r>
              <a:rPr lang="zh-CN" altLang="zh-CN" sz="2800" dirty="0"/>
              <a:t>是从虚拟现实技术中衍生而来的交互技术，它可以支持在纯虚拟环境中进行物体获取、观察世界、地形漫游、搜索与导航。在混合现实环境中，这种交互需 求是大量存在的，因此，</a:t>
            </a:r>
            <a:r>
              <a:rPr lang="en-US" altLang="zh-CN" sz="2800" dirty="0"/>
              <a:t>3DUI</a:t>
            </a:r>
            <a:r>
              <a:rPr lang="zh-CN" altLang="zh-CN" sz="2800" dirty="0"/>
              <a:t>是混合现实 中重要的交互手段之一。</a:t>
            </a:r>
            <a:endParaRPr lang="zh-CN" altLang="zh-CN" sz="2800" dirty="0"/>
          </a:p>
          <a:p>
            <a:endParaRPr lang="zh-CN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zh-CN" altLang="zh-CN" sz="3600" dirty="0">
                <a:solidFill>
                  <a:srgbClr val="FF0000"/>
                </a:solidFill>
                <a:latin typeface="Inter"/>
              </a:rPr>
              <a:t>多通道交互技术</a:t>
            </a:r>
            <a:endParaRPr lang="zh-CN" altLang="zh-CN" sz="3600" dirty="0">
              <a:solidFill>
                <a:srgbClr val="FF0000"/>
              </a:solidFill>
              <a:latin typeface="Inter"/>
            </a:endParaRPr>
          </a:p>
        </p:txBody>
      </p:sp>
      <p:sp>
        <p:nvSpPr>
          <p:cNvPr id="480259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1989138"/>
            <a:ext cx="8064500" cy="38814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w"/>
              <a:defRPr/>
            </a:pPr>
            <a:r>
              <a:rPr kumimoji="1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在混合现实中的许多应用都利用了多通道交互技术。多通道用户界面支持用户通过多种通道与计算机进行交互。这些通道包括不同的输入工具（如文字、语音、手势等）和不同的人类感知通道（听觉、视觉、嗅觉等）。在这种交互方式中通常需要维持不同通道间的一致性。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w"/>
              <a:defRPr/>
            </a:pPr>
            <a:endParaRPr kumimoji="1" lang="zh-CN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	</a:t>
            </a:r>
            <a:r>
              <a:rPr lang="zh-CN" altLang="zh-CN" sz="3600" dirty="0">
                <a:solidFill>
                  <a:srgbClr val="FF0000"/>
                </a:solidFill>
                <a:latin typeface="Inter"/>
              </a:rPr>
              <a:t>混合用户界面交互技术</a:t>
            </a:r>
            <a:endParaRPr lang="zh-CN" altLang="zh-CN" sz="3600" dirty="0">
              <a:solidFill>
                <a:srgbClr val="FF0000"/>
              </a:solidFill>
              <a:latin typeface="Inter"/>
            </a:endParaRPr>
          </a:p>
        </p:txBody>
      </p:sp>
      <p:sp>
        <p:nvSpPr>
          <p:cNvPr id="19459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</a:pPr>
            <a:r>
              <a:rPr lang="zh-CN" altLang="zh-CN" dirty="0"/>
              <a:t>混合用户界面为用户提供更为灵活的交互平台，它将不同但相互补足的用户界面进行组合，用户通过多种不同的交互设备进行交互，以满足多样化 的日常交互行为。</a:t>
            </a:r>
            <a:endParaRPr lang="zh-CN" altLang="zh-CN" dirty="0"/>
          </a:p>
          <a:p>
            <a:pPr>
              <a:lnSpc>
                <a:spcPct val="150000"/>
              </a:lnSpc>
            </a:pPr>
            <a:endParaRPr lang="zh-CN" altLang="zh-CN" dirty="0"/>
          </a:p>
          <a:p>
            <a:pPr>
              <a:lnSpc>
                <a:spcPct val="150000"/>
              </a:lnSpc>
            </a:pPr>
            <a:endParaRPr lang="zh-CN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 txBox="1"/>
          <p:nvPr/>
        </p:nvSpPr>
        <p:spPr>
          <a:xfrm>
            <a:off x="242888" y="1022350"/>
            <a:ext cx="8658225" cy="4813300"/>
          </a:xfrm>
          <a:prstGeom prst="plaque">
            <a:avLst>
              <a:gd name="adj" fmla="val 2839"/>
            </a:avLst>
          </a:prstGeom>
          <a:solidFill>
            <a:schemeClr val="accent2"/>
          </a:solidFill>
          <a:ln w="12700" cap="sq">
            <a:solidFill>
              <a:schemeClr val="accent2">
                <a:lumMod val="75000"/>
                <a:alpha val="100000"/>
              </a:schemeClr>
            </a:solidFill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20873" b="20873"/>
          <a:stretch>
            <a:fillRect/>
          </a:stretch>
        </p:blipFill>
        <p:spPr>
          <a:xfrm flipH="1">
            <a:off x="318304" y="1091097"/>
            <a:ext cx="8507393" cy="2777444"/>
          </a:xfrm>
          <a:prstGeom prst="plaque">
            <a:avLst>
              <a:gd name="adj" fmla="val 5833"/>
            </a:avLst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242888" y="3656013"/>
            <a:ext cx="8658225" cy="1298575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611188" y="2852738"/>
            <a:ext cx="8029575" cy="2776538"/>
          </a:xfrm>
          <a:prstGeom prst="plaque">
            <a:avLst>
              <a:gd name="adj" fmla="val 4196"/>
            </a:avLst>
          </a:prstGeom>
          <a:solidFill>
            <a:schemeClr val="accent2">
              <a:lumMod val="20000"/>
              <a:lumOff val="80000"/>
            </a:schemeClr>
          </a:solidFill>
          <a:ln w="12700" cap="sq">
            <a:solidFill>
              <a:schemeClr val="accent2"/>
            </a:solidFill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95325" y="2879725"/>
            <a:ext cx="7905750" cy="2638425"/>
          </a:xfrm>
          <a:prstGeom prst="plaque">
            <a:avLst>
              <a:gd name="adj" fmla="val 4196"/>
            </a:avLst>
          </a:prstGeom>
          <a:noFill/>
          <a:ln w="12700" cap="sq">
            <a:solidFill>
              <a:schemeClr val="accent2">
                <a:alpha val="100000"/>
              </a:schemeClr>
            </a:solidFill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3298702" y="2854810"/>
            <a:ext cx="1745484" cy="76174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500" kern="1200" cap="none" spc="0" normalizeH="0" baseline="0" noProof="0">
                <a:gradFill>
                  <a:gsLst>
                    <a:gs pos="0">
                      <a:srgbClr val="076843">
                        <a:alpha val="100000"/>
                      </a:srgbClr>
                    </a:gs>
                    <a:gs pos="78000">
                      <a:srgbClr val="076843">
                        <a:alpha val="0"/>
                      </a:srgbClr>
                    </a:gs>
                    <a:gs pos="100000">
                      <a:srgbClr val="076843">
                        <a:alpha val="0"/>
                      </a:srgbClr>
                    </a:gs>
                  </a:gsLst>
                  <a:lin ang="5400000" scaled="0"/>
                </a:gradFill>
                <a:latin typeface="Source Han Serif SC Bold"/>
                <a:ea typeface="Source Han Serif SC Bold"/>
                <a:cs typeface="Source Han Serif SC Bold"/>
              </a:rPr>
              <a:t>PART</a:t>
            </a: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1906588" y="3683000"/>
            <a:ext cx="5484812" cy="14747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R="0" algn="ct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kern="1200" cap="none" spc="0" normalizeH="0" baseline="0" noProof="0" dirty="0">
                <a:solidFill>
                  <a:schemeClr val="accent1"/>
                </a:solidFill>
                <a:highlight>
                  <a:srgbClr val="00008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混合现实技术发展现状与趋势</a:t>
            </a:r>
            <a:endParaRPr kumimoji="1" lang="zh-CN" altLang="en-US" sz="2800" b="1" kern="1200" cap="none" spc="0" normalizeH="0" baseline="0" noProof="0" dirty="0">
              <a:solidFill>
                <a:schemeClr val="accent1"/>
              </a:solidFill>
              <a:highlight>
                <a:srgbClr val="00008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algn="ct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1314450" y="5003800"/>
            <a:ext cx="1192213" cy="288925"/>
          </a:xfrm>
          <a:prstGeom prst="corner">
            <a:avLst>
              <a:gd name="adj1" fmla="val 11974"/>
              <a:gd name="adj2" fmla="val 13382"/>
            </a:avLst>
          </a:prstGeom>
          <a:solidFill>
            <a:schemeClr val="accent1"/>
          </a:solidFill>
          <a:ln w="14478" cap="sq">
            <a:solidFill>
              <a:schemeClr val="accent1">
                <a:lumMod val="75000"/>
              </a:schemeClr>
            </a:solidFill>
            <a:miter/>
          </a:ln>
          <a:effectLst/>
        </p:spPr>
        <p:txBody>
          <a:bodyPr lIns="78182" tIns="39091" rIns="78182" bIns="39091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标题 1"/>
          <p:cNvSpPr txBox="1"/>
          <p:nvPr/>
        </p:nvSpPr>
        <p:spPr>
          <a:xfrm flipH="1" flipV="1">
            <a:off x="6307138" y="3027363"/>
            <a:ext cx="1192213" cy="290513"/>
          </a:xfrm>
          <a:prstGeom prst="corner">
            <a:avLst>
              <a:gd name="adj1" fmla="val 11974"/>
              <a:gd name="adj2" fmla="val 13382"/>
            </a:avLst>
          </a:prstGeom>
          <a:solidFill>
            <a:schemeClr val="accent1"/>
          </a:solidFill>
          <a:ln w="14478" cap="sq">
            <a:solidFill>
              <a:schemeClr val="accent1">
                <a:lumMod val="75000"/>
              </a:schemeClr>
            </a:solidFill>
            <a:miter/>
          </a:ln>
          <a:effectLst/>
        </p:spPr>
        <p:txBody>
          <a:bodyPr lIns="78182" tIns="39091" rIns="78182" bIns="39091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503238" y="1363663"/>
            <a:ext cx="1624013" cy="20161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lIns="68580" tIns="34290" rIns="68580" bIns="34290" anchor="ctr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5070198" y="1530302"/>
            <a:ext cx="1287740" cy="20862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500" kern="1200" cap="none" spc="0" normalizeH="0" baseline="0" noProof="0" dirty="0">
                <a:gradFill>
                  <a:gsLst>
                    <a:gs pos="0">
                      <a:srgbClr val="076843">
                        <a:alpha val="100000"/>
                      </a:srgbClr>
                    </a:gs>
                    <a:gs pos="78000">
                      <a:srgbClr val="076843">
                        <a:alpha val="0"/>
                      </a:srgbClr>
                    </a:gs>
                    <a:gs pos="100000">
                      <a:srgbClr val="076843">
                        <a:alpha val="0"/>
                      </a:srgbClr>
                    </a:gs>
                  </a:gsLst>
                  <a:lin ang="5400000" scaled="0"/>
                </a:gradFill>
                <a:latin typeface="Source Han Serif SC Bold"/>
                <a:ea typeface="Source Han Serif SC Bold"/>
                <a:cs typeface="Source Han Serif SC Bold"/>
              </a:rPr>
              <a:t>03</a:t>
            </a:r>
            <a:endParaRPr kumimoji="1" lang="zh-CN" altLang="en-US" sz="1350" kern="1200" cap="none" spc="0" normalizeH="0" baseline="0" noProof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50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2013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AutoShape 3"/>
          <p:cNvSpPr/>
          <p:nvPr/>
        </p:nvSpPr>
        <p:spPr>
          <a:xfrm>
            <a:off x="0" y="949325"/>
            <a:ext cx="9144000" cy="5143500"/>
          </a:xfrm>
          <a:prstGeom prst="rect">
            <a:avLst/>
          </a:prstGeom>
          <a:solidFill>
            <a:schemeClr val="lt1">
              <a:alpha val="90000"/>
            </a:schemeClr>
          </a:solidFill>
        </p:spPr>
        <p:style>
          <a:lnRef idx="0">
            <a:schemeClr val="lt1"/>
          </a:lnRef>
          <a:fillRef idx="1">
            <a:schemeClr val="lt1"/>
          </a:fillRef>
          <a:effectRef idx="0">
            <a:schemeClr val="l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30225" y="2000250"/>
            <a:ext cx="17463" cy="3233738"/>
          </a:xfrm>
          <a:prstGeom prst="rect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5400000"/>
          </a:grad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31800" y="1879600"/>
            <a:ext cx="214313" cy="241300"/>
          </a:xfrm>
          <a:prstGeom prst="triangle">
            <a:avLst/>
          </a:prstGeom>
          <a:solidFill>
            <a:schemeClr val="accent2"/>
          </a:solidFill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10" name="TextBox 6"/>
          <p:cNvSpPr txBox="1"/>
          <p:nvPr/>
        </p:nvSpPr>
        <p:spPr>
          <a:xfrm>
            <a:off x="431800" y="1624013"/>
            <a:ext cx="2836863" cy="2276475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86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混合现实</a:t>
            </a: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(MR)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以虚实结合、实时交互的特点，在众多领域得到广泛应用。当前，在光学系统、显示系统、感知交互等技术不断进步的推动下，混合现实技术逐渐成熟，已经在医疗、娱乐、工业维修、智慧城市等行业进行了应用探索。</a:t>
            </a:r>
            <a:endParaRPr lang="zh-CN" altLang="en-US" sz="16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41313" y="1128713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1800" y="1127125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17525" y="1128713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0075" y="1135063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79450" y="1131888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1313" y="1217613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1800" y="12144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17525" y="1216025"/>
            <a:ext cx="55563" cy="57150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00075" y="1223963"/>
            <a:ext cx="52388" cy="50800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79450" y="1220788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41313" y="1306513"/>
            <a:ext cx="63500" cy="61913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31800" y="13033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17525" y="1304925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00075" y="1311275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79450" y="1308100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341313" y="1393825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31800" y="13922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517525" y="1393825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00075" y="1400175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79450" y="1397000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31" name="TextBox 27"/>
          <p:cNvSpPr txBox="1"/>
          <p:nvPr/>
        </p:nvSpPr>
        <p:spPr>
          <a:xfrm>
            <a:off x="914400" y="950913"/>
            <a:ext cx="7502525" cy="823912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74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技术发展现状</a:t>
            </a:r>
            <a:endParaRPr lang="zh-CN" altLang="en-US" sz="23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3335338" y="2000250"/>
            <a:ext cx="19050" cy="3233738"/>
          </a:xfrm>
          <a:prstGeom prst="rect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5400000"/>
          </a:grad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3236913" y="1879600"/>
            <a:ext cx="215900" cy="241300"/>
          </a:xfrm>
          <a:prstGeom prst="triangle">
            <a:avLst/>
          </a:prstGeom>
          <a:solidFill>
            <a:schemeClr val="accent2"/>
          </a:solidFill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34" name="TextBox 30"/>
          <p:cNvSpPr txBox="1"/>
          <p:nvPr/>
        </p:nvSpPr>
        <p:spPr>
          <a:xfrm>
            <a:off x="3421063" y="1612900"/>
            <a:ext cx="2671762" cy="2276475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86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在硬件方面，为了满足混合现实技术的需求，各种新型的硬件设备不断涌现。例如，头戴式显示器</a:t>
            </a: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(HMD)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已经可以提供全彩色、高帧率、低延迟的沉浸式体验</a:t>
            </a: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深度传感器可以捕捉到精确的三维信息</a:t>
            </a: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六自由度手柄和体感装置则提供了更加自然的交互方式。</a:t>
            </a:r>
            <a:endParaRPr lang="zh-CN" altLang="en-US" sz="16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142038" y="2000250"/>
            <a:ext cx="17463" cy="3233738"/>
          </a:xfrm>
          <a:prstGeom prst="rect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5400000"/>
          </a:grad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043613" y="1879600"/>
            <a:ext cx="214313" cy="241300"/>
          </a:xfrm>
          <a:prstGeom prst="triangle">
            <a:avLst/>
          </a:prstGeom>
          <a:solidFill>
            <a:schemeClr val="accent2"/>
          </a:solidFill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37" name="TextBox 33"/>
          <p:cNvSpPr txBox="1"/>
          <p:nvPr/>
        </p:nvSpPr>
        <p:spPr>
          <a:xfrm>
            <a:off x="6208713" y="1584325"/>
            <a:ext cx="2333625" cy="1677988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86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算法和计算能力也是混合现实技术发展的重要支撑。各种先进的计算机视觉算法和人工智能技术，如深度学习、神经网络等，不断提升混合现实系统的性能和用户体验。</a:t>
            </a:r>
            <a:endParaRPr lang="zh-CN" altLang="en-US" sz="16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55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2013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AutoShape 3"/>
          <p:cNvSpPr/>
          <p:nvPr/>
        </p:nvSpPr>
        <p:spPr>
          <a:xfrm>
            <a:off x="0" y="862013"/>
            <a:ext cx="9144000" cy="5143500"/>
          </a:xfrm>
          <a:prstGeom prst="rect">
            <a:avLst/>
          </a:prstGeom>
          <a:solidFill>
            <a:schemeClr val="lt1">
              <a:alpha val="90000"/>
            </a:schemeClr>
          </a:solidFill>
        </p:spPr>
        <p:style>
          <a:lnRef idx="0">
            <a:schemeClr val="lt1"/>
          </a:lnRef>
          <a:fillRef idx="1">
            <a:schemeClr val="lt1"/>
          </a:fillRef>
          <a:effectRef idx="0">
            <a:schemeClr val="l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-1527175" y="5324475"/>
            <a:ext cx="3381375" cy="3381375"/>
          </a:xfrm>
          <a:prstGeom prst="ellipse">
            <a:avLst/>
          </a:prstGeom>
          <a:solidFill>
            <a:schemeClr val="accent2">
              <a:alpha val="13000"/>
            </a:schemeClr>
          </a:solidFill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618288" y="-1697037"/>
            <a:ext cx="3381375" cy="3381375"/>
          </a:xfrm>
          <a:prstGeom prst="ellipse">
            <a:avLst/>
          </a:prstGeom>
          <a:solidFill>
            <a:schemeClr val="accent2">
              <a:alpha val="13000"/>
            </a:schemeClr>
          </a:solidFill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84200" y="2178050"/>
            <a:ext cx="479425" cy="479425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85800" y="2279650"/>
            <a:ext cx="276225" cy="276225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8" name="Connector 8"/>
          <p:cNvCxnSpPr/>
          <p:nvPr/>
        </p:nvCxnSpPr>
        <p:spPr>
          <a:xfrm>
            <a:off x="823913" y="2657475"/>
            <a:ext cx="0" cy="654050"/>
          </a:xfrm>
          <a:prstGeom prst="line">
            <a:avLst/>
          </a:prstGeom>
          <a:ln w="9525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AutoShape 9"/>
          <p:cNvSpPr/>
          <p:nvPr/>
        </p:nvSpPr>
        <p:spPr>
          <a:xfrm>
            <a:off x="8308975" y="4951413"/>
            <a:ext cx="427038" cy="427038"/>
          </a:xfrm>
          <a:prstGeom prst="ellipse">
            <a:avLst/>
          </a:prstGeom>
          <a:solidFill>
            <a:schemeClr val="accent2">
              <a:alpha val="30000"/>
            </a:schemeClr>
          </a:solidFill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84200" y="3714750"/>
            <a:ext cx="479425" cy="479425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85800" y="3816350"/>
            <a:ext cx="276225" cy="276225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2" name="Connector 12"/>
          <p:cNvCxnSpPr/>
          <p:nvPr/>
        </p:nvCxnSpPr>
        <p:spPr>
          <a:xfrm>
            <a:off x="823913" y="4194175"/>
            <a:ext cx="0" cy="654050"/>
          </a:xfrm>
          <a:prstGeom prst="line">
            <a:avLst/>
          </a:prstGeom>
          <a:ln w="9525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AutoShape 13"/>
          <p:cNvSpPr/>
          <p:nvPr/>
        </p:nvSpPr>
        <p:spPr>
          <a:xfrm>
            <a:off x="4770438" y="2178050"/>
            <a:ext cx="477838" cy="479425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872038" y="2279650"/>
            <a:ext cx="276225" cy="276225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5" name="Connector 15"/>
          <p:cNvCxnSpPr/>
          <p:nvPr/>
        </p:nvCxnSpPr>
        <p:spPr>
          <a:xfrm>
            <a:off x="5010150" y="2657475"/>
            <a:ext cx="0" cy="654050"/>
          </a:xfrm>
          <a:prstGeom prst="line">
            <a:avLst/>
          </a:prstGeom>
          <a:ln w="9525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AutoShape 16"/>
          <p:cNvSpPr/>
          <p:nvPr/>
        </p:nvSpPr>
        <p:spPr>
          <a:xfrm>
            <a:off x="4770438" y="3714750"/>
            <a:ext cx="477838" cy="479425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872038" y="3816350"/>
            <a:ext cx="276225" cy="276225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8" name="Connector 18"/>
          <p:cNvCxnSpPr/>
          <p:nvPr/>
        </p:nvCxnSpPr>
        <p:spPr>
          <a:xfrm>
            <a:off x="5010150" y="4194175"/>
            <a:ext cx="0" cy="654050"/>
          </a:xfrm>
          <a:prstGeom prst="line">
            <a:avLst/>
          </a:prstGeom>
          <a:ln w="9525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571" name="TextBox 19"/>
          <p:cNvSpPr txBox="1"/>
          <p:nvPr/>
        </p:nvSpPr>
        <p:spPr>
          <a:xfrm>
            <a:off x="1181100" y="2178050"/>
            <a:ext cx="2928938" cy="1081088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86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混合现实产业已经形成了较为完整的产业链，从硬件制造、软件开发、内容制作到应用领域，各个环节都有相应的企业进行协同创新。</a:t>
            </a:r>
            <a:endParaRPr lang="zh-CN" altLang="en-US" sz="1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72" name="TextBox 20"/>
          <p:cNvSpPr txBox="1"/>
          <p:nvPr/>
        </p:nvSpPr>
        <p:spPr>
          <a:xfrm>
            <a:off x="1181100" y="3714750"/>
            <a:ext cx="2928938" cy="1379538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86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内容制作方面，由于混合现实技术的应用领域广泛，相应地需要大量的内容制作服务。同时，为了提高用户体验，对内容制作的技术要求也越来越高。</a:t>
            </a:r>
            <a:endParaRPr lang="zh-CN" altLang="en-US" sz="1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73" name="TextBox 21"/>
          <p:cNvSpPr txBox="1"/>
          <p:nvPr/>
        </p:nvSpPr>
        <p:spPr>
          <a:xfrm>
            <a:off x="5487988" y="3714750"/>
            <a:ext cx="2928937" cy="1081088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86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应用领域方面，混合现实技术在医疗、教育、娱乐、工业维修等领域都有广泛的应用，同时也为智慧城市的建设提供了新的思路和方案。</a:t>
            </a:r>
            <a:endParaRPr lang="zh-CN" altLang="en-US" sz="1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74" name="TextBox 22"/>
          <p:cNvSpPr txBox="1"/>
          <p:nvPr/>
        </p:nvSpPr>
        <p:spPr>
          <a:xfrm>
            <a:off x="5487988" y="2178050"/>
            <a:ext cx="2928937" cy="1081088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86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2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在硬件制造方面，国内外的科技企业都在积极布局，如国内的华为、小米、联想等都有相关的产品推出</a:t>
            </a:r>
            <a:endParaRPr lang="zh-CN" altLang="en-US" sz="12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341313" y="1128713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431800" y="1127125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517525" y="1128713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00075" y="1135063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79450" y="1131888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341313" y="1217613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431800" y="12144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517525" y="1216025"/>
            <a:ext cx="55563" cy="57150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00075" y="1223963"/>
            <a:ext cx="52388" cy="50800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79450" y="1220788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341313" y="1306513"/>
            <a:ext cx="63500" cy="61913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431800" y="13033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517525" y="1304925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600075" y="1311275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679450" y="1308100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341313" y="1393825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431800" y="13922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517525" y="1393825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600075" y="1400175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679450" y="1397000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95" name="TextBox 43"/>
          <p:cNvSpPr txBox="1"/>
          <p:nvPr/>
        </p:nvSpPr>
        <p:spPr>
          <a:xfrm>
            <a:off x="806450" y="893763"/>
            <a:ext cx="7502525" cy="823912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74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产业发展现状</a:t>
            </a:r>
            <a:endParaRPr lang="zh-CN" altLang="en-US" sz="23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57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2013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AutoShape 3"/>
          <p:cNvSpPr/>
          <p:nvPr/>
        </p:nvSpPr>
        <p:spPr>
          <a:xfrm>
            <a:off x="1588" y="862013"/>
            <a:ext cx="9144000" cy="5143500"/>
          </a:xfrm>
          <a:prstGeom prst="rect">
            <a:avLst/>
          </a:prstGeom>
          <a:solidFill>
            <a:schemeClr val="lt1">
              <a:alpha val="90000"/>
            </a:schemeClr>
          </a:solidFill>
        </p:spPr>
        <p:style>
          <a:lnRef idx="0">
            <a:schemeClr val="lt1"/>
          </a:lnRef>
          <a:fillRef idx="1">
            <a:schemeClr val="lt1"/>
          </a:fillRef>
          <a:effectRef idx="0">
            <a:schemeClr val="l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30225" y="2000250"/>
            <a:ext cx="17463" cy="3233738"/>
          </a:xfrm>
          <a:prstGeom prst="rect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5400000"/>
          </a:grad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31800" y="1879600"/>
            <a:ext cx="214313" cy="241300"/>
          </a:xfrm>
          <a:prstGeom prst="triangle">
            <a:avLst/>
          </a:prstGeom>
          <a:solidFill>
            <a:schemeClr val="accent2"/>
          </a:solidFill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582" name="TextBox 6"/>
          <p:cNvSpPr txBox="1"/>
          <p:nvPr/>
        </p:nvSpPr>
        <p:spPr>
          <a:xfrm>
            <a:off x="703263" y="2581275"/>
            <a:ext cx="2235200" cy="1384300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随着技术的不断发展，混合现实技术将不断进步并应用到更多的领域中。未来，混合现实技术将更加注重用户体验，从视觉、听觉、触觉等多方面提升沉浸式体验。</a:t>
            </a:r>
            <a:endParaRPr lang="zh-CN" altLang="en-US" sz="16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41313" y="1128713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1800" y="1127125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17525" y="1128713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0075" y="1135063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79450" y="1131888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1313" y="1217613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1800" y="12144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17525" y="1216025"/>
            <a:ext cx="55563" cy="57150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00075" y="1223963"/>
            <a:ext cx="52388" cy="50800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79450" y="1220788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41313" y="1306513"/>
            <a:ext cx="63500" cy="61913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31800" y="13033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17525" y="1304925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00075" y="1311275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79450" y="1308100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341313" y="1393825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31800" y="13922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517525" y="1393825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00075" y="1400175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79450" y="1397000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603" name="TextBox 27"/>
          <p:cNvSpPr txBox="1"/>
          <p:nvPr/>
        </p:nvSpPr>
        <p:spPr>
          <a:xfrm>
            <a:off x="820738" y="933450"/>
            <a:ext cx="7502525" cy="693738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未来趋势</a:t>
            </a:r>
            <a:endParaRPr lang="zh-CN" altLang="en-US" sz="23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3335338" y="2000250"/>
            <a:ext cx="19050" cy="3233738"/>
          </a:xfrm>
          <a:prstGeom prst="rect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5400000"/>
          </a:grad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3236913" y="1879600"/>
            <a:ext cx="215900" cy="241300"/>
          </a:xfrm>
          <a:prstGeom prst="triangle">
            <a:avLst/>
          </a:prstGeom>
          <a:solidFill>
            <a:schemeClr val="accent2"/>
          </a:solidFill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606" name="TextBox 30"/>
          <p:cNvSpPr txBox="1"/>
          <p:nvPr/>
        </p:nvSpPr>
        <p:spPr>
          <a:xfrm>
            <a:off x="3509963" y="2581275"/>
            <a:ext cx="2233612" cy="1624013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混合现实技术的发展需要整个产业链的协同创新。未来，各环节的企业将加强合作，共同推动混合现实产业的发展。同时，随着技术的进步和应用领域的拓展，新的商业模式也将不断涌现。</a:t>
            </a:r>
            <a:endParaRPr lang="zh-CN" altLang="en-US" sz="16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142038" y="2000250"/>
            <a:ext cx="17463" cy="3233738"/>
          </a:xfrm>
          <a:prstGeom prst="rect">
            <a:avLst/>
          </a:prstGeom>
          <a:gradFill>
            <a:gsLst>
              <a:gs pos="0">
                <a:schemeClr val="accent2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5400000"/>
          </a:grad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043613" y="1879600"/>
            <a:ext cx="214313" cy="241300"/>
          </a:xfrm>
          <a:prstGeom prst="triangle">
            <a:avLst/>
          </a:prstGeom>
          <a:solidFill>
            <a:schemeClr val="accent2"/>
          </a:solidFill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609" name="TextBox 33"/>
          <p:cNvSpPr txBox="1"/>
          <p:nvPr/>
        </p:nvSpPr>
        <p:spPr>
          <a:xfrm>
            <a:off x="6388100" y="2581275"/>
            <a:ext cx="2647950" cy="1863725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混合现实技术的应用领域将会更加广泛。未来，它将与人工智能、物联网、</a:t>
            </a: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5G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等技术结合，为智慧城市的建设、工业自动化、医疗等领域提供更多创新应用。同时，混合现实技术也将进入教育、娱乐等大众消费领域，为人们的生活带来更多便利和乐趣。</a:t>
            </a:r>
            <a:endParaRPr lang="zh-CN" altLang="en-US" sz="16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610" name="TextBox 34"/>
          <p:cNvSpPr txBox="1"/>
          <p:nvPr/>
        </p:nvSpPr>
        <p:spPr>
          <a:xfrm>
            <a:off x="703263" y="1798638"/>
            <a:ext cx="2292350" cy="511175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ts val="365"/>
              </a:spcBef>
              <a:buClrTx/>
              <a:buFontTx/>
              <a:buNone/>
            </a:pPr>
            <a:r>
              <a:rPr lang="zh-CN" altLang="en-US" sz="17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技术创新</a:t>
            </a:r>
            <a:endParaRPr lang="zh-CN" altLang="en-US" sz="17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611" name="TextBox 35"/>
          <p:cNvSpPr txBox="1"/>
          <p:nvPr/>
        </p:nvSpPr>
        <p:spPr>
          <a:xfrm>
            <a:off x="3519488" y="1798638"/>
            <a:ext cx="2292350" cy="511175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ts val="365"/>
              </a:spcBef>
              <a:buClrTx/>
              <a:buFontTx/>
              <a:buNone/>
            </a:pPr>
            <a:r>
              <a:rPr lang="zh-CN" altLang="en-US" sz="17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产业协同</a:t>
            </a:r>
            <a:endParaRPr lang="zh-CN" altLang="en-US" sz="17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612" name="TextBox 36"/>
          <p:cNvSpPr txBox="1"/>
          <p:nvPr/>
        </p:nvSpPr>
        <p:spPr>
          <a:xfrm>
            <a:off x="6381750" y="1798638"/>
            <a:ext cx="2290763" cy="511175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ts val="365"/>
              </a:spcBef>
              <a:buClrTx/>
              <a:buFontTx/>
              <a:buNone/>
            </a:pPr>
            <a:r>
              <a:rPr lang="zh-CN" altLang="en-US" sz="17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应用拓展</a:t>
            </a:r>
            <a:endParaRPr lang="zh-CN" altLang="en-US" sz="17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60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2013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AutoShape 3"/>
          <p:cNvSpPr/>
          <p:nvPr/>
        </p:nvSpPr>
        <p:spPr>
          <a:xfrm>
            <a:off x="15875" y="887413"/>
            <a:ext cx="9144000" cy="5143500"/>
          </a:xfrm>
          <a:prstGeom prst="rect">
            <a:avLst/>
          </a:prstGeom>
          <a:solidFill>
            <a:schemeClr val="lt1">
              <a:alpha val="90000"/>
            </a:schemeClr>
          </a:solidFill>
        </p:spPr>
        <p:style>
          <a:lnRef idx="0">
            <a:schemeClr val="lt1"/>
          </a:lnRef>
          <a:fillRef idx="1">
            <a:schemeClr val="lt1"/>
          </a:fillRef>
          <a:effectRef idx="0">
            <a:schemeClr val="l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6626" r="16626"/>
          <a:stretch>
            <a:fillRect/>
          </a:stretch>
        </p:blipFill>
        <p:spPr>
          <a:xfrm>
            <a:off x="5319417" y="2032050"/>
            <a:ext cx="3369621" cy="3369621"/>
          </a:xfrm>
          <a:prstGeom prst="roundRect">
            <a:avLst/>
          </a:prstGeom>
        </p:spPr>
      </p:pic>
      <p:sp>
        <p:nvSpPr>
          <p:cNvPr id="5" name="Freeform 5"/>
          <p:cNvSpPr/>
          <p:nvPr/>
        </p:nvSpPr>
        <p:spPr>
          <a:xfrm>
            <a:off x="417513" y="1979613"/>
            <a:ext cx="1133475" cy="1030288"/>
          </a:xfrm>
          <a:custGeom>
            <a:avLst/>
            <a:gdLst/>
            <a:ahLst/>
            <a:cxnLst/>
            <a:rect l="l" t="t" r="r" b="b"/>
            <a:pathLst>
              <a:path w="1181062" h="1073360">
                <a:moveTo>
                  <a:pt x="0" y="0"/>
                </a:moveTo>
                <a:lnTo>
                  <a:pt x="1046892" y="0"/>
                </a:lnTo>
                <a:quadBezTo>
                  <a:pt x="1181062" y="0"/>
                  <a:pt x="1181062" y="134170"/>
                </a:quadBezTo>
                <a:lnTo>
                  <a:pt x="1181062" y="1073360"/>
                </a:lnTo>
                <a:lnTo>
                  <a:pt x="134170" y="1073360"/>
                </a:lnTo>
                <a:quadBezTo>
                  <a:pt x="0" y="1073360"/>
                  <a:pt x="0" y="939190"/>
                </a:quad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1700000"/>
          </a:grad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6" name="TextBox 6"/>
          <p:cNvSpPr txBox="1"/>
          <p:nvPr/>
        </p:nvSpPr>
        <p:spPr>
          <a:xfrm>
            <a:off x="568325" y="1890713"/>
            <a:ext cx="833438" cy="1211262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4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43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41313" y="1128713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1800" y="1127125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17525" y="1128713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0075" y="1135063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79450" y="1131888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1313" y="1217613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1800" y="12144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17525" y="1216025"/>
            <a:ext cx="55563" cy="57150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00075" y="1223963"/>
            <a:ext cx="52388" cy="50800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79450" y="1220788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41313" y="1306513"/>
            <a:ext cx="63500" cy="61913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31800" y="13033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17525" y="1304925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00075" y="1311275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79450" y="1308100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341313" y="1393825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31800" y="13922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517525" y="1393825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00075" y="1400175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79450" y="1397000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27" name="TextBox 27"/>
          <p:cNvSpPr txBox="1"/>
          <p:nvPr/>
        </p:nvSpPr>
        <p:spPr>
          <a:xfrm>
            <a:off x="820738" y="933450"/>
            <a:ext cx="7502525" cy="693738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4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3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技术难题</a:t>
            </a:r>
            <a:endParaRPr lang="zh-CN" altLang="en-US" sz="23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404813" y="3267075"/>
            <a:ext cx="1133475" cy="1030288"/>
          </a:xfrm>
          <a:custGeom>
            <a:avLst/>
            <a:gdLst/>
            <a:ahLst/>
            <a:cxnLst/>
            <a:rect l="l" t="t" r="r" b="b"/>
            <a:pathLst>
              <a:path w="1181062" h="1073360">
                <a:moveTo>
                  <a:pt x="0" y="0"/>
                </a:moveTo>
                <a:lnTo>
                  <a:pt x="1046892" y="0"/>
                </a:lnTo>
                <a:quadBezTo>
                  <a:pt x="1181062" y="0"/>
                  <a:pt x="1181062" y="134170"/>
                </a:quadBezTo>
                <a:lnTo>
                  <a:pt x="1181062" y="1073360"/>
                </a:lnTo>
                <a:lnTo>
                  <a:pt x="134170" y="1073360"/>
                </a:lnTo>
                <a:quadBezTo>
                  <a:pt x="0" y="1073360"/>
                  <a:pt x="0" y="939190"/>
                </a:quad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1700000"/>
          </a:grad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29" name="TextBox 29"/>
          <p:cNvSpPr txBox="1"/>
          <p:nvPr/>
        </p:nvSpPr>
        <p:spPr>
          <a:xfrm>
            <a:off x="554038" y="3178175"/>
            <a:ext cx="833437" cy="1212850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4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43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431800" y="4600575"/>
            <a:ext cx="1133475" cy="1030288"/>
          </a:xfrm>
          <a:custGeom>
            <a:avLst/>
            <a:gdLst/>
            <a:ahLst/>
            <a:cxnLst/>
            <a:rect l="l" t="t" r="r" b="b"/>
            <a:pathLst>
              <a:path w="1181062" h="1073360">
                <a:moveTo>
                  <a:pt x="0" y="0"/>
                </a:moveTo>
                <a:lnTo>
                  <a:pt x="1046892" y="0"/>
                </a:lnTo>
                <a:quadBezTo>
                  <a:pt x="1181062" y="0"/>
                  <a:pt x="1181062" y="134170"/>
                </a:quadBezTo>
                <a:lnTo>
                  <a:pt x="1181062" y="1073360"/>
                </a:lnTo>
                <a:lnTo>
                  <a:pt x="134170" y="1073360"/>
                </a:lnTo>
                <a:quadBezTo>
                  <a:pt x="0" y="1073360"/>
                  <a:pt x="0" y="939190"/>
                </a:quad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1700000"/>
          </a:gradFill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31" name="TextBox 31"/>
          <p:cNvSpPr txBox="1"/>
          <p:nvPr/>
        </p:nvSpPr>
        <p:spPr>
          <a:xfrm>
            <a:off x="581025" y="4513263"/>
            <a:ext cx="833438" cy="1211262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4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43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32" name="TextBox 32"/>
          <p:cNvSpPr txBox="1"/>
          <p:nvPr/>
        </p:nvSpPr>
        <p:spPr>
          <a:xfrm>
            <a:off x="1685925" y="2149475"/>
            <a:ext cx="3633788" cy="730250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混合现实硬件设备仍需进一步提高，如提高分辨率、减少眩晕感、增强交互体验等。</a:t>
            </a:r>
            <a:endParaRPr lang="zh-CN" altLang="en-US" sz="16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33" name="TextBox 33"/>
          <p:cNvSpPr txBox="1"/>
          <p:nvPr/>
        </p:nvSpPr>
        <p:spPr>
          <a:xfrm>
            <a:off x="1685925" y="1800225"/>
            <a:ext cx="3162300" cy="549275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硬件设备成熟度</a:t>
            </a:r>
            <a:endParaRPr lang="zh-CN" altLang="en-US" sz="15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34" name="TextBox 34"/>
          <p:cNvSpPr txBox="1"/>
          <p:nvPr/>
        </p:nvSpPr>
        <p:spPr>
          <a:xfrm>
            <a:off x="1685925" y="3429000"/>
            <a:ext cx="3654425" cy="731838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实时定位技术仍需提高精度与稳定性，以避免用户在混合现实世界中的迷失和晕眩。</a:t>
            </a:r>
            <a:endParaRPr lang="zh-CN" altLang="en-US" sz="16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35" name="TextBox 35"/>
          <p:cNvSpPr txBox="1"/>
          <p:nvPr/>
        </p:nvSpPr>
        <p:spPr>
          <a:xfrm>
            <a:off x="1685925" y="3162300"/>
            <a:ext cx="3162300" cy="547688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定位精度与稳定性</a:t>
            </a:r>
            <a:endParaRPr lang="zh-CN" altLang="en-US" sz="15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36" name="TextBox 36"/>
          <p:cNvSpPr txBox="1"/>
          <p:nvPr/>
        </p:nvSpPr>
        <p:spPr>
          <a:xfrm>
            <a:off x="1665288" y="4932363"/>
            <a:ext cx="3554412" cy="731837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混合现实内容制作需要专业的技术团队和资金支持，高成本限制了其普及和应用。</a:t>
            </a:r>
            <a:endParaRPr lang="zh-CN" altLang="en-US" sz="16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37" name="TextBox 37"/>
          <p:cNvSpPr txBox="1"/>
          <p:nvPr/>
        </p:nvSpPr>
        <p:spPr>
          <a:xfrm>
            <a:off x="1665288" y="4691063"/>
            <a:ext cx="3162300" cy="549275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内容制作成本</a:t>
            </a:r>
            <a:endParaRPr lang="zh-CN" altLang="en-US" sz="15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638" name="图片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288" y="247650"/>
            <a:ext cx="5376862" cy="8239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662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2013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AutoShape 3"/>
          <p:cNvSpPr/>
          <p:nvPr/>
        </p:nvSpPr>
        <p:spPr>
          <a:xfrm>
            <a:off x="26988" y="862013"/>
            <a:ext cx="9144000" cy="5143500"/>
          </a:xfrm>
          <a:prstGeom prst="rect">
            <a:avLst/>
          </a:prstGeom>
          <a:solidFill>
            <a:schemeClr val="lt1">
              <a:alpha val="100000"/>
            </a:schemeClr>
          </a:solidFill>
        </p:spPr>
        <p:style>
          <a:lnRef idx="0">
            <a:schemeClr val="lt1"/>
          </a:lnRef>
          <a:fillRef idx="1">
            <a:schemeClr val="lt1"/>
          </a:fillRef>
          <a:effectRef idx="0">
            <a:schemeClr val="l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628" name="TextBox 4"/>
          <p:cNvSpPr txBox="1"/>
          <p:nvPr/>
        </p:nvSpPr>
        <p:spPr>
          <a:xfrm>
            <a:off x="573088" y="1924050"/>
            <a:ext cx="5051425" cy="661988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74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7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Vuforia</a:t>
            </a:r>
            <a:r>
              <a:rPr lang="zh-CN" altLang="en-US" sz="17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7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zh-CN" altLang="en-US" sz="17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开发平台</a:t>
            </a:r>
            <a:endParaRPr lang="zh-CN" altLang="en-US" sz="17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29" name="TextBox 5"/>
          <p:cNvSpPr txBox="1"/>
          <p:nvPr/>
        </p:nvSpPr>
        <p:spPr>
          <a:xfrm>
            <a:off x="573088" y="2432050"/>
            <a:ext cx="5051425" cy="731838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Vuforia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是一家专注于增强现实技术的公司，其</a:t>
            </a: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开发平台为开发者提供了丰富的</a:t>
            </a: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和工具，可帮助快速构建</a:t>
            </a: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应用。</a:t>
            </a:r>
            <a:endParaRPr lang="zh-CN" altLang="en-US" sz="16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30" name="TextBox 6"/>
          <p:cNvSpPr txBox="1"/>
          <p:nvPr/>
        </p:nvSpPr>
        <p:spPr>
          <a:xfrm>
            <a:off x="517525" y="3824288"/>
            <a:ext cx="4895850" cy="663575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74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7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Vuforia</a:t>
            </a:r>
            <a:r>
              <a:rPr lang="zh-CN" altLang="en-US" sz="17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的跨平台支持</a:t>
            </a:r>
            <a:endParaRPr lang="zh-CN" altLang="en-US" sz="17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31" name="TextBox 7"/>
          <p:cNvSpPr txBox="1"/>
          <p:nvPr/>
        </p:nvSpPr>
        <p:spPr>
          <a:xfrm>
            <a:off x="517525" y="4346575"/>
            <a:ext cx="5106988" cy="457200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Vuforia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支持多个平台，包括</a:t>
            </a: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zh-CN" altLang="en-US" sz="16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41313" y="1128713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1800" y="1127125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17525" y="1128713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00075" y="1135063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79450" y="1131888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41313" y="1217613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31800" y="12144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17525" y="1216025"/>
            <a:ext cx="55563" cy="57150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00075" y="1223963"/>
            <a:ext cx="52388" cy="50800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79450" y="1220788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41313" y="1306513"/>
            <a:ext cx="63500" cy="61913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31800" y="13033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17525" y="1304925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00075" y="1311275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79450" y="1308100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341313" y="1393825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431800" y="13922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517525" y="1393825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00075" y="1400175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79450" y="1397000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652" name="TextBox 28"/>
          <p:cNvSpPr txBox="1"/>
          <p:nvPr/>
        </p:nvSpPr>
        <p:spPr>
          <a:xfrm>
            <a:off x="820738" y="868363"/>
            <a:ext cx="7502525" cy="823912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74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Vuforia</a:t>
            </a:r>
            <a:r>
              <a:rPr lang="zh-CN" altLang="en-US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的开发技术</a:t>
            </a:r>
            <a:endParaRPr lang="zh-CN" altLang="en-US" sz="23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63575" y="5329238"/>
            <a:ext cx="525463" cy="92075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23888" y="5329238"/>
            <a:ext cx="92075" cy="92075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1135063" y="5329238"/>
            <a:ext cx="93663" cy="92075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2" name="Connector 32"/>
          <p:cNvCxnSpPr/>
          <p:nvPr/>
        </p:nvCxnSpPr>
        <p:spPr>
          <a:xfrm>
            <a:off x="1189038" y="5384800"/>
            <a:ext cx="4637088" cy="0"/>
          </a:xfrm>
          <a:prstGeom prst="line">
            <a:avLst/>
          </a:prstGeom>
          <a:ln w="14288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6657" name="Picture 33"/>
          <p:cNvPicPr>
            <a:picLocks noChangeAspect="1"/>
          </p:cNvPicPr>
          <p:nvPr/>
        </p:nvPicPr>
        <p:blipFill>
          <a:blip r:embed="rId2"/>
          <a:srcRect l="32495" r="32495"/>
          <a:stretch>
            <a:fillRect/>
          </a:stretch>
        </p:blipFill>
        <p:spPr>
          <a:xfrm>
            <a:off x="5853113" y="1836738"/>
            <a:ext cx="2759075" cy="3679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" name="AutoShape 34"/>
          <p:cNvSpPr/>
          <p:nvPr/>
        </p:nvSpPr>
        <p:spPr>
          <a:xfrm>
            <a:off x="7659688" y="-103187"/>
            <a:ext cx="1627188" cy="1627188"/>
          </a:xfrm>
          <a:prstGeom prst="ellipse">
            <a:avLst/>
          </a:prstGeom>
          <a:solidFill>
            <a:schemeClr val="accent1">
              <a:alpha val="22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41350" y="3787775"/>
            <a:ext cx="525463" cy="92075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1127125" y="3779838"/>
            <a:ext cx="93663" cy="92075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8" name="Connector 38"/>
          <p:cNvCxnSpPr/>
          <p:nvPr/>
        </p:nvCxnSpPr>
        <p:spPr>
          <a:xfrm>
            <a:off x="1228725" y="3811588"/>
            <a:ext cx="4637088" cy="0"/>
          </a:xfrm>
          <a:prstGeom prst="line">
            <a:avLst/>
          </a:prstGeom>
          <a:ln w="14288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662" name="标题 1"/>
          <p:cNvSpPr txBox="1"/>
          <p:nvPr/>
        </p:nvSpPr>
        <p:spPr>
          <a:xfrm>
            <a:off x="1403350" y="0"/>
            <a:ext cx="4881563" cy="4683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开发</a:t>
            </a:r>
            <a:r>
              <a:rPr lang="zh-CN" altLang="en-US" sz="28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主流软件：</a:t>
            </a:r>
            <a:endParaRPr lang="zh-CN" altLang="en-US" sz="2800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65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2013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AutoShape 3"/>
          <p:cNvSpPr/>
          <p:nvPr/>
        </p:nvSpPr>
        <p:spPr>
          <a:xfrm>
            <a:off x="0" y="862013"/>
            <a:ext cx="9144000" cy="5143500"/>
          </a:xfrm>
          <a:prstGeom prst="rect">
            <a:avLst/>
          </a:prstGeom>
          <a:solidFill>
            <a:schemeClr val="lt1">
              <a:alpha val="100000"/>
            </a:schemeClr>
          </a:solidFill>
        </p:spPr>
        <p:style>
          <a:lnRef idx="0">
            <a:schemeClr val="lt1"/>
          </a:lnRef>
          <a:fillRef idx="1">
            <a:schemeClr val="lt1"/>
          </a:fillRef>
          <a:effectRef idx="0">
            <a:schemeClr val="l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52" name="TextBox 4"/>
          <p:cNvSpPr txBox="1"/>
          <p:nvPr/>
        </p:nvSpPr>
        <p:spPr>
          <a:xfrm>
            <a:off x="573088" y="1924050"/>
            <a:ext cx="5051425" cy="661988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74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7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MRKit</a:t>
            </a:r>
            <a:r>
              <a:rPr lang="zh-CN" altLang="en-US" sz="17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的混合现实开发框架</a:t>
            </a:r>
            <a:endParaRPr lang="zh-CN" altLang="en-US" sz="17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3" name="TextBox 5"/>
          <p:cNvSpPr txBox="1"/>
          <p:nvPr/>
        </p:nvSpPr>
        <p:spPr>
          <a:xfrm>
            <a:off x="573088" y="2432050"/>
            <a:ext cx="5051425" cy="457200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MRKit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是小米推出的混合现实开发框架，适用于</a:t>
            </a: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平台。</a:t>
            </a:r>
            <a:endParaRPr lang="zh-CN" altLang="en-US" sz="16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4" name="TextBox 6"/>
          <p:cNvSpPr txBox="1"/>
          <p:nvPr/>
        </p:nvSpPr>
        <p:spPr>
          <a:xfrm>
            <a:off x="517525" y="3824288"/>
            <a:ext cx="4895850" cy="663575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74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7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MRKit</a:t>
            </a:r>
            <a:r>
              <a:rPr lang="zh-CN" altLang="en-US" sz="17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的跨平台特性</a:t>
            </a:r>
            <a:endParaRPr lang="zh-CN" altLang="en-US" sz="17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5" name="TextBox 7"/>
          <p:cNvSpPr txBox="1"/>
          <p:nvPr/>
        </p:nvSpPr>
        <p:spPr>
          <a:xfrm>
            <a:off x="517525" y="4346575"/>
            <a:ext cx="5106988" cy="457200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MRKit</a:t>
            </a:r>
            <a:r>
              <a:rPr lang="zh-CN" altLang="en-US" sz="1600" dirty="0">
                <a:solidFill>
                  <a:srgbClr val="0033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支持跨平台开发，可帮助开发者快速构建多平台混合现实应用。</a:t>
            </a:r>
            <a:endParaRPr lang="zh-CN" altLang="en-US" sz="1600" dirty="0">
              <a:solidFill>
                <a:srgbClr val="0033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41313" y="1128713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1800" y="1127125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17525" y="1128713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00075" y="1135063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79450" y="1131888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41313" y="1217613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31800" y="12144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17525" y="1216025"/>
            <a:ext cx="55563" cy="57150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00075" y="1223963"/>
            <a:ext cx="52388" cy="50800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79450" y="1220788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41313" y="1306513"/>
            <a:ext cx="63500" cy="61913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31800" y="13033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17525" y="1304925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00075" y="1311275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79450" y="1308100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341313" y="1393825"/>
            <a:ext cx="63500" cy="63500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431800" y="1392238"/>
            <a:ext cx="58738" cy="58738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517525" y="1393825"/>
            <a:ext cx="55563" cy="55563"/>
          </a:xfrm>
          <a:prstGeom prst="ellipse">
            <a:avLst/>
          </a:prstGeom>
          <a:solidFill>
            <a:schemeClr val="accent1">
              <a:alpha val="6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00075" y="1400175"/>
            <a:ext cx="52388" cy="52388"/>
          </a:xfrm>
          <a:prstGeom prst="ellipse">
            <a:avLst/>
          </a:prstGeom>
          <a:solidFill>
            <a:schemeClr val="accent1">
              <a:alpha val="4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79450" y="1397000"/>
            <a:ext cx="49213" cy="49213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676" name="TextBox 28"/>
          <p:cNvSpPr txBox="1"/>
          <p:nvPr/>
        </p:nvSpPr>
        <p:spPr>
          <a:xfrm>
            <a:off x="820738" y="868363"/>
            <a:ext cx="7502525" cy="823912"/>
          </a:xfrm>
          <a:prstGeom prst="rect">
            <a:avLst/>
          </a:prstGeom>
          <a:noFill/>
          <a:ln w="9525">
            <a:noFill/>
          </a:ln>
        </p:spPr>
        <p:txBody>
          <a:bodyPr tIns="91440" rIns="45720" bIns="9144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74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MRKit</a:t>
            </a:r>
            <a:r>
              <a:rPr lang="zh-CN" altLang="en-US" sz="23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的开发技术</a:t>
            </a:r>
            <a:endParaRPr lang="zh-CN" altLang="en-US" sz="23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63575" y="5329238"/>
            <a:ext cx="525463" cy="92075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23888" y="5329238"/>
            <a:ext cx="92075" cy="92075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1135063" y="5329238"/>
            <a:ext cx="93663" cy="92075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2" name="Connector 32"/>
          <p:cNvCxnSpPr/>
          <p:nvPr/>
        </p:nvCxnSpPr>
        <p:spPr>
          <a:xfrm>
            <a:off x="1189038" y="5384800"/>
            <a:ext cx="4637088" cy="0"/>
          </a:xfrm>
          <a:prstGeom prst="line">
            <a:avLst/>
          </a:prstGeom>
          <a:ln w="14288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7681" name="Picture 33"/>
          <p:cNvPicPr>
            <a:picLocks noChangeAspect="1"/>
          </p:cNvPicPr>
          <p:nvPr/>
        </p:nvPicPr>
        <p:blipFill>
          <a:blip r:embed="rId2"/>
          <a:srcRect l="23064" r="23064"/>
          <a:stretch>
            <a:fillRect/>
          </a:stretch>
        </p:blipFill>
        <p:spPr>
          <a:xfrm>
            <a:off x="5853113" y="1836738"/>
            <a:ext cx="2759075" cy="3679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" name="AutoShape 34"/>
          <p:cNvSpPr/>
          <p:nvPr/>
        </p:nvSpPr>
        <p:spPr>
          <a:xfrm>
            <a:off x="7659688" y="-103187"/>
            <a:ext cx="1627188" cy="1627188"/>
          </a:xfrm>
          <a:prstGeom prst="ellipse">
            <a:avLst/>
          </a:prstGeom>
          <a:solidFill>
            <a:schemeClr val="accent1">
              <a:alpha val="22000"/>
            </a:schemeClr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39763" y="3584575"/>
            <a:ext cx="525463" cy="92075"/>
          </a:xfrm>
          <a:prstGeom prst="rect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600075" y="3584575"/>
            <a:ext cx="92075" cy="92075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1111250" y="3584575"/>
            <a:ext cx="93663" cy="92075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305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8" name="Connector 38"/>
          <p:cNvCxnSpPr/>
          <p:nvPr/>
        </p:nvCxnSpPr>
        <p:spPr>
          <a:xfrm>
            <a:off x="1165225" y="3640138"/>
            <a:ext cx="4637088" cy="0"/>
          </a:xfrm>
          <a:prstGeom prst="line">
            <a:avLst/>
          </a:prstGeom>
          <a:ln w="14288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687" name="标题 1"/>
          <p:cNvSpPr txBox="1"/>
          <p:nvPr/>
        </p:nvSpPr>
        <p:spPr>
          <a:xfrm>
            <a:off x="1403350" y="0"/>
            <a:ext cx="4881563" cy="46831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w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anose="05000000000000000000" pitchFamily="2" charset="2"/>
              <a:buChar char="l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开发</a:t>
            </a:r>
            <a:r>
              <a:rPr lang="zh-CN" altLang="en-US" sz="280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主流软件：</a:t>
            </a:r>
            <a:endParaRPr lang="zh-CN" altLang="en-US" sz="2800" dirty="0">
              <a:solidFill>
                <a:schemeClr val="tx2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 txBox="1"/>
          <p:nvPr/>
        </p:nvSpPr>
        <p:spPr>
          <a:xfrm>
            <a:off x="242888" y="1022350"/>
            <a:ext cx="8658225" cy="4813300"/>
          </a:xfrm>
          <a:prstGeom prst="plaque">
            <a:avLst>
              <a:gd name="adj" fmla="val 2839"/>
            </a:avLst>
          </a:prstGeom>
          <a:solidFill>
            <a:schemeClr val="accent2"/>
          </a:solidFill>
          <a:ln w="12700" cap="sq">
            <a:solidFill>
              <a:schemeClr val="accent2">
                <a:lumMod val="75000"/>
                <a:alpha val="100000"/>
              </a:schemeClr>
            </a:solidFill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t="20873" b="20873"/>
          <a:stretch>
            <a:fillRect/>
          </a:stretch>
        </p:blipFill>
        <p:spPr>
          <a:xfrm flipH="1">
            <a:off x="318304" y="1091097"/>
            <a:ext cx="8507393" cy="2777444"/>
          </a:xfrm>
          <a:prstGeom prst="plaque">
            <a:avLst>
              <a:gd name="adj" fmla="val 5833"/>
            </a:avLst>
          </a:prstGeom>
          <a:noFill/>
          <a:ln>
            <a:noFill/>
          </a:ln>
        </p:spPr>
      </p:pic>
      <p:sp>
        <p:nvSpPr>
          <p:cNvPr id="4" name="标题 1"/>
          <p:cNvSpPr txBox="1"/>
          <p:nvPr/>
        </p:nvSpPr>
        <p:spPr>
          <a:xfrm>
            <a:off x="242888" y="3656013"/>
            <a:ext cx="8658225" cy="1298575"/>
          </a:xfrm>
          <a:prstGeom prst="rect">
            <a:avLst/>
          </a:prstGeom>
          <a:solidFill>
            <a:schemeClr val="accent2"/>
          </a:solidFill>
          <a:ln w="12700" cap="sq">
            <a:noFill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633413" y="2819400"/>
            <a:ext cx="8029575" cy="2776538"/>
          </a:xfrm>
          <a:prstGeom prst="plaque">
            <a:avLst>
              <a:gd name="adj" fmla="val 4196"/>
            </a:avLst>
          </a:prstGeom>
          <a:solidFill>
            <a:schemeClr val="accent2">
              <a:lumMod val="20000"/>
              <a:lumOff val="80000"/>
            </a:schemeClr>
          </a:solidFill>
          <a:ln w="12700" cap="sq">
            <a:solidFill>
              <a:schemeClr val="accent2"/>
            </a:solidFill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695325" y="2879725"/>
            <a:ext cx="7905750" cy="2638425"/>
          </a:xfrm>
          <a:prstGeom prst="plaque">
            <a:avLst>
              <a:gd name="adj" fmla="val 4196"/>
            </a:avLst>
          </a:prstGeom>
          <a:noFill/>
          <a:ln w="12700" cap="sq">
            <a:solidFill>
              <a:schemeClr val="accent2">
                <a:alpha val="100000"/>
              </a:schemeClr>
            </a:solidFill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3298702" y="2854810"/>
            <a:ext cx="1745484" cy="76174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500" kern="1200" cap="none" spc="0" normalizeH="0" baseline="0" noProof="0">
                <a:gradFill>
                  <a:gsLst>
                    <a:gs pos="0">
                      <a:srgbClr val="076843">
                        <a:alpha val="100000"/>
                      </a:srgbClr>
                    </a:gs>
                    <a:gs pos="78000">
                      <a:srgbClr val="076843">
                        <a:alpha val="0"/>
                      </a:srgbClr>
                    </a:gs>
                    <a:gs pos="100000">
                      <a:srgbClr val="076843">
                        <a:alpha val="0"/>
                      </a:srgbClr>
                    </a:gs>
                  </a:gsLst>
                  <a:lin ang="5400000" scaled="0"/>
                </a:gradFill>
                <a:latin typeface="Source Han Serif SC Bold"/>
                <a:ea typeface="Source Han Serif SC Bold"/>
                <a:cs typeface="Source Han Serif SC Bold"/>
              </a:rPr>
              <a:t>PART</a:t>
            </a: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1906588" y="3683000"/>
            <a:ext cx="5484813" cy="147478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R="0" algn="ct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3750" kern="1200" cap="none" spc="0" normalizeH="0" baseline="0" noProof="0">
                <a:solidFill>
                  <a:srgbClr val="000000">
                    <a:alpha val="100000"/>
                  </a:srgbClr>
                </a:solidFill>
                <a:latin typeface="Source Han Serif SC Bold"/>
                <a:ea typeface="Source Han Serif SC Bold"/>
                <a:cs typeface="Source Han Serif SC Bold"/>
              </a:rPr>
              <a:t>混合现实应用领域</a:t>
            </a: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1314450" y="5003800"/>
            <a:ext cx="1192213" cy="288925"/>
          </a:xfrm>
          <a:prstGeom prst="corner">
            <a:avLst>
              <a:gd name="adj1" fmla="val 11974"/>
              <a:gd name="adj2" fmla="val 13382"/>
            </a:avLst>
          </a:prstGeom>
          <a:solidFill>
            <a:schemeClr val="accent1"/>
          </a:solidFill>
          <a:ln w="14478" cap="sq">
            <a:solidFill>
              <a:schemeClr val="accent1">
                <a:lumMod val="75000"/>
              </a:schemeClr>
            </a:solidFill>
            <a:miter/>
          </a:ln>
          <a:effectLst/>
        </p:spPr>
        <p:txBody>
          <a:bodyPr lIns="78182" tIns="39091" rIns="78182" bIns="39091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标题 1"/>
          <p:cNvSpPr txBox="1"/>
          <p:nvPr/>
        </p:nvSpPr>
        <p:spPr>
          <a:xfrm flipH="1" flipV="1">
            <a:off x="6307138" y="3027363"/>
            <a:ext cx="1192213" cy="290513"/>
          </a:xfrm>
          <a:prstGeom prst="corner">
            <a:avLst>
              <a:gd name="adj1" fmla="val 11974"/>
              <a:gd name="adj2" fmla="val 13382"/>
            </a:avLst>
          </a:prstGeom>
          <a:solidFill>
            <a:schemeClr val="accent1"/>
          </a:solidFill>
          <a:ln w="14478" cap="sq">
            <a:solidFill>
              <a:schemeClr val="accent1">
                <a:lumMod val="75000"/>
              </a:schemeClr>
            </a:solidFill>
            <a:miter/>
          </a:ln>
          <a:effectLst/>
        </p:spPr>
        <p:txBody>
          <a:bodyPr lIns="78182" tIns="39091" rIns="78182" bIns="39091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标题 1"/>
          <p:cNvSpPr txBox="1"/>
          <p:nvPr/>
        </p:nvSpPr>
        <p:spPr>
          <a:xfrm>
            <a:off x="503238" y="1363663"/>
            <a:ext cx="1624013" cy="201613"/>
          </a:xfrm>
          <a:custGeom>
            <a:avLst/>
            <a:gdLst>
              <a:gd name="connsiteX0" fmla="*/ 353068 w 1228797"/>
              <a:gd name="connsiteY0" fmla="*/ 146933 h 152590"/>
              <a:gd name="connsiteX1" fmla="*/ 353259 w 1228797"/>
              <a:gd name="connsiteY1" fmla="*/ 146971 h 152590"/>
              <a:gd name="connsiteX2" fmla="*/ 352878 w 1228797"/>
              <a:gd name="connsiteY2" fmla="*/ 146971 h 152590"/>
              <a:gd name="connsiteX3" fmla="*/ 463654 w 1228797"/>
              <a:gd name="connsiteY3" fmla="*/ 28766 h 152590"/>
              <a:gd name="connsiteX4" fmla="*/ 457368 w 1228797"/>
              <a:gd name="connsiteY4" fmla="*/ 35052 h 152590"/>
              <a:gd name="connsiteX5" fmla="*/ 457368 w 1228797"/>
              <a:gd name="connsiteY5" fmla="*/ 66866 h 152590"/>
              <a:gd name="connsiteX6" fmla="*/ 463464 w 1228797"/>
              <a:gd name="connsiteY6" fmla="*/ 73152 h 152590"/>
              <a:gd name="connsiteX7" fmla="*/ 463654 w 1228797"/>
              <a:gd name="connsiteY7" fmla="*/ 73152 h 152590"/>
              <a:gd name="connsiteX8" fmla="*/ 502611 w 1228797"/>
              <a:gd name="connsiteY8" fmla="*/ 73152 h 152590"/>
              <a:gd name="connsiteX9" fmla="*/ 525281 w 1228797"/>
              <a:gd name="connsiteY9" fmla="*/ 51911 h 152590"/>
              <a:gd name="connsiteX10" fmla="*/ 504450 w 1228797"/>
              <a:gd name="connsiteY10" fmla="*/ 28795 h 152590"/>
              <a:gd name="connsiteX11" fmla="*/ 503183 w 1228797"/>
              <a:gd name="connsiteY11" fmla="*/ 28766 h 152590"/>
              <a:gd name="connsiteX12" fmla="*/ 1154216 w 1228797"/>
              <a:gd name="connsiteY12" fmla="*/ 28194 h 152590"/>
              <a:gd name="connsiteX13" fmla="*/ 1154216 w 1228797"/>
              <a:gd name="connsiteY13" fmla="*/ 28765 h 152590"/>
              <a:gd name="connsiteX14" fmla="*/ 1104877 w 1228797"/>
              <a:gd name="connsiteY14" fmla="*/ 77914 h 152590"/>
              <a:gd name="connsiteX15" fmla="*/ 1154026 w 1228797"/>
              <a:gd name="connsiteY15" fmla="*/ 127254 h 152590"/>
              <a:gd name="connsiteX16" fmla="*/ 1203365 w 1228797"/>
              <a:gd name="connsiteY16" fmla="*/ 78105 h 152590"/>
              <a:gd name="connsiteX17" fmla="*/ 1203365 w 1228797"/>
              <a:gd name="connsiteY17" fmla="*/ 78009 h 152590"/>
              <a:gd name="connsiteX18" fmla="*/ 1154502 w 1228797"/>
              <a:gd name="connsiteY18" fmla="*/ 28195 h 152590"/>
              <a:gd name="connsiteX19" fmla="*/ 1154216 w 1228797"/>
              <a:gd name="connsiteY19" fmla="*/ 28194 h 152590"/>
              <a:gd name="connsiteX20" fmla="*/ 836558 w 1228797"/>
              <a:gd name="connsiteY20" fmla="*/ 25718 h 152590"/>
              <a:gd name="connsiteX21" fmla="*/ 787314 w 1228797"/>
              <a:gd name="connsiteY21" fmla="*/ 74962 h 152590"/>
              <a:gd name="connsiteX22" fmla="*/ 836558 w 1228797"/>
              <a:gd name="connsiteY22" fmla="*/ 124207 h 152590"/>
              <a:gd name="connsiteX23" fmla="*/ 885802 w 1228797"/>
              <a:gd name="connsiteY23" fmla="*/ 74962 h 152590"/>
              <a:gd name="connsiteX24" fmla="*/ 885802 w 1228797"/>
              <a:gd name="connsiteY24" fmla="*/ 74867 h 152590"/>
              <a:gd name="connsiteX25" fmla="*/ 836558 w 1228797"/>
              <a:gd name="connsiteY25" fmla="*/ 25718 h 152590"/>
              <a:gd name="connsiteX26" fmla="*/ 200954 w 1228797"/>
              <a:gd name="connsiteY26" fmla="*/ 25527 h 152590"/>
              <a:gd name="connsiteX27" fmla="*/ 200954 w 1228797"/>
              <a:gd name="connsiteY27" fmla="*/ 25908 h 152590"/>
              <a:gd name="connsiteX28" fmla="*/ 151424 w 1228797"/>
              <a:gd name="connsiteY28" fmla="*/ 75248 h 152590"/>
              <a:gd name="connsiteX29" fmla="*/ 200764 w 1228797"/>
              <a:gd name="connsiteY29" fmla="*/ 124778 h 152590"/>
              <a:gd name="connsiteX30" fmla="*/ 250294 w 1228797"/>
              <a:gd name="connsiteY30" fmla="*/ 75438 h 152590"/>
              <a:gd name="connsiteX31" fmla="*/ 250294 w 1228797"/>
              <a:gd name="connsiteY31" fmla="*/ 75248 h 152590"/>
              <a:gd name="connsiteX32" fmla="*/ 201145 w 1228797"/>
              <a:gd name="connsiteY32" fmla="*/ 25528 h 152590"/>
              <a:gd name="connsiteX33" fmla="*/ 200954 w 1228797"/>
              <a:gd name="connsiteY33" fmla="*/ 25527 h 152590"/>
              <a:gd name="connsiteX34" fmla="*/ 437841 w 1228797"/>
              <a:gd name="connsiteY34" fmla="*/ 3429 h 152590"/>
              <a:gd name="connsiteX35" fmla="*/ 502040 w 1228797"/>
              <a:gd name="connsiteY35" fmla="*/ 3429 h 152590"/>
              <a:gd name="connsiteX36" fmla="*/ 535949 w 1228797"/>
              <a:gd name="connsiteY36" fmla="*/ 16764 h 152590"/>
              <a:gd name="connsiteX37" fmla="*/ 550808 w 1228797"/>
              <a:gd name="connsiteY37" fmla="*/ 49340 h 152590"/>
              <a:gd name="connsiteX38" fmla="*/ 528615 w 1228797"/>
              <a:gd name="connsiteY38" fmla="*/ 91345 h 152590"/>
              <a:gd name="connsiteX39" fmla="*/ 526233 w 1228797"/>
              <a:gd name="connsiteY39" fmla="*/ 99251 h 152590"/>
              <a:gd name="connsiteX40" fmla="*/ 544712 w 1228797"/>
              <a:gd name="connsiteY40" fmla="*/ 138017 h 152590"/>
              <a:gd name="connsiteX41" fmla="*/ 541683 w 1228797"/>
              <a:gd name="connsiteY41" fmla="*/ 146377 h 152590"/>
              <a:gd name="connsiteX42" fmla="*/ 538997 w 1228797"/>
              <a:gd name="connsiteY42" fmla="*/ 146971 h 152590"/>
              <a:gd name="connsiteX43" fmla="*/ 525567 w 1228797"/>
              <a:gd name="connsiteY43" fmla="*/ 146971 h 152590"/>
              <a:gd name="connsiteX44" fmla="*/ 519947 w 1228797"/>
              <a:gd name="connsiteY44" fmla="*/ 143447 h 152590"/>
              <a:gd name="connsiteX45" fmla="*/ 500230 w 1228797"/>
              <a:gd name="connsiteY45" fmla="*/ 102203 h 152590"/>
              <a:gd name="connsiteX46" fmla="*/ 494611 w 1228797"/>
              <a:gd name="connsiteY46" fmla="*/ 98679 h 152590"/>
              <a:gd name="connsiteX47" fmla="*/ 463654 w 1228797"/>
              <a:gd name="connsiteY47" fmla="*/ 98679 h 152590"/>
              <a:gd name="connsiteX48" fmla="*/ 457368 w 1228797"/>
              <a:gd name="connsiteY48" fmla="*/ 104773 h 152590"/>
              <a:gd name="connsiteX49" fmla="*/ 457368 w 1228797"/>
              <a:gd name="connsiteY49" fmla="*/ 104966 h 152590"/>
              <a:gd name="connsiteX50" fmla="*/ 457368 w 1228797"/>
              <a:gd name="connsiteY50" fmla="*/ 140684 h 152590"/>
              <a:gd name="connsiteX51" fmla="*/ 451081 w 1228797"/>
              <a:gd name="connsiteY51" fmla="*/ 146971 h 152590"/>
              <a:gd name="connsiteX52" fmla="*/ 437841 w 1228797"/>
              <a:gd name="connsiteY52" fmla="*/ 146971 h 152590"/>
              <a:gd name="connsiteX53" fmla="*/ 431555 w 1228797"/>
              <a:gd name="connsiteY53" fmla="*/ 140684 h 152590"/>
              <a:gd name="connsiteX54" fmla="*/ 431555 w 1228797"/>
              <a:gd name="connsiteY54" fmla="*/ 9716 h 152590"/>
              <a:gd name="connsiteX55" fmla="*/ 437841 w 1228797"/>
              <a:gd name="connsiteY55" fmla="*/ 3429 h 152590"/>
              <a:gd name="connsiteX56" fmla="*/ 293633 w 1228797"/>
              <a:gd name="connsiteY56" fmla="*/ 3429 h 152590"/>
              <a:gd name="connsiteX57" fmla="*/ 306777 w 1228797"/>
              <a:gd name="connsiteY57" fmla="*/ 3429 h 152590"/>
              <a:gd name="connsiteX58" fmla="*/ 312683 w 1228797"/>
              <a:gd name="connsiteY58" fmla="*/ 9715 h 152590"/>
              <a:gd name="connsiteX59" fmla="*/ 312683 w 1228797"/>
              <a:gd name="connsiteY59" fmla="*/ 80677 h 152590"/>
              <a:gd name="connsiteX60" fmla="*/ 350592 w 1228797"/>
              <a:gd name="connsiteY60" fmla="*/ 123032 h 152590"/>
              <a:gd name="connsiteX61" fmla="*/ 392950 w 1228797"/>
              <a:gd name="connsiteY61" fmla="*/ 85118 h 152590"/>
              <a:gd name="connsiteX62" fmla="*/ 392978 w 1228797"/>
              <a:gd name="connsiteY62" fmla="*/ 81248 h 152590"/>
              <a:gd name="connsiteX63" fmla="*/ 392978 w 1228797"/>
              <a:gd name="connsiteY63" fmla="*/ 9715 h 152590"/>
              <a:gd name="connsiteX64" fmla="*/ 399265 w 1228797"/>
              <a:gd name="connsiteY64" fmla="*/ 3429 h 152590"/>
              <a:gd name="connsiteX65" fmla="*/ 412505 w 1228797"/>
              <a:gd name="connsiteY65" fmla="*/ 3429 h 152590"/>
              <a:gd name="connsiteX66" fmla="*/ 418696 w 1228797"/>
              <a:gd name="connsiteY66" fmla="*/ 9715 h 152590"/>
              <a:gd name="connsiteX67" fmla="*/ 418696 w 1228797"/>
              <a:gd name="connsiteY67" fmla="*/ 81153 h 152590"/>
              <a:gd name="connsiteX68" fmla="*/ 378496 w 1228797"/>
              <a:gd name="connsiteY68" fmla="*/ 141799 h 152590"/>
              <a:gd name="connsiteX69" fmla="*/ 353068 w 1228797"/>
              <a:gd name="connsiteY69" fmla="*/ 146933 h 152590"/>
              <a:gd name="connsiteX70" fmla="*/ 327634 w 1228797"/>
              <a:gd name="connsiteY70" fmla="*/ 141836 h 152590"/>
              <a:gd name="connsiteX71" fmla="*/ 287346 w 1228797"/>
              <a:gd name="connsiteY71" fmla="*/ 81248 h 152590"/>
              <a:gd name="connsiteX72" fmla="*/ 287346 w 1228797"/>
              <a:gd name="connsiteY72" fmla="*/ 81153 h 152590"/>
              <a:gd name="connsiteX73" fmla="*/ 287346 w 1228797"/>
              <a:gd name="connsiteY73" fmla="*/ 9715 h 152590"/>
              <a:gd name="connsiteX74" fmla="*/ 293633 w 1228797"/>
              <a:gd name="connsiteY74" fmla="*/ 3429 h 152590"/>
              <a:gd name="connsiteX75" fmla="*/ 6264 w 1228797"/>
              <a:gd name="connsiteY75" fmla="*/ 3333 h 152590"/>
              <a:gd name="connsiteX76" fmla="*/ 18646 w 1228797"/>
              <a:gd name="connsiteY76" fmla="*/ 3333 h 152590"/>
              <a:gd name="connsiteX77" fmla="*/ 23790 w 1228797"/>
              <a:gd name="connsiteY77" fmla="*/ 6000 h 152590"/>
              <a:gd name="connsiteX78" fmla="*/ 61890 w 1228797"/>
              <a:gd name="connsiteY78" fmla="*/ 59817 h 152590"/>
              <a:gd name="connsiteX79" fmla="*/ 67033 w 1228797"/>
              <a:gd name="connsiteY79" fmla="*/ 62388 h 152590"/>
              <a:gd name="connsiteX80" fmla="*/ 72081 w 1228797"/>
              <a:gd name="connsiteY80" fmla="*/ 59817 h 152590"/>
              <a:gd name="connsiteX81" fmla="*/ 110181 w 1228797"/>
              <a:gd name="connsiteY81" fmla="*/ 6000 h 152590"/>
              <a:gd name="connsiteX82" fmla="*/ 115325 w 1228797"/>
              <a:gd name="connsiteY82" fmla="*/ 3333 h 152590"/>
              <a:gd name="connsiteX83" fmla="*/ 127707 w 1228797"/>
              <a:gd name="connsiteY83" fmla="*/ 3333 h 152590"/>
              <a:gd name="connsiteX84" fmla="*/ 134065 w 1228797"/>
              <a:gd name="connsiteY84" fmla="*/ 9548 h 152590"/>
              <a:gd name="connsiteX85" fmla="*/ 132851 w 1228797"/>
              <a:gd name="connsiteY85" fmla="*/ 13335 h 152590"/>
              <a:gd name="connsiteX86" fmla="*/ 81702 w 1228797"/>
              <a:gd name="connsiteY86" fmla="*/ 83724 h 152590"/>
              <a:gd name="connsiteX87" fmla="*/ 79987 w 1228797"/>
              <a:gd name="connsiteY87" fmla="*/ 89154 h 152590"/>
              <a:gd name="connsiteX88" fmla="*/ 79987 w 1228797"/>
              <a:gd name="connsiteY88" fmla="*/ 140684 h 152590"/>
              <a:gd name="connsiteX89" fmla="*/ 73701 w 1228797"/>
              <a:gd name="connsiteY89" fmla="*/ 146970 h 152590"/>
              <a:gd name="connsiteX90" fmla="*/ 60270 w 1228797"/>
              <a:gd name="connsiteY90" fmla="*/ 146970 h 152590"/>
              <a:gd name="connsiteX91" fmla="*/ 53984 w 1228797"/>
              <a:gd name="connsiteY91" fmla="*/ 140684 h 152590"/>
              <a:gd name="connsiteX92" fmla="*/ 53984 w 1228797"/>
              <a:gd name="connsiteY92" fmla="*/ 89154 h 152590"/>
              <a:gd name="connsiteX93" fmla="*/ 52269 w 1228797"/>
              <a:gd name="connsiteY93" fmla="*/ 83724 h 152590"/>
              <a:gd name="connsiteX94" fmla="*/ 1215 w 1228797"/>
              <a:gd name="connsiteY94" fmla="*/ 13335 h 152590"/>
              <a:gd name="connsiteX95" fmla="*/ 2572 w 1228797"/>
              <a:gd name="connsiteY95" fmla="*/ 4549 h 152590"/>
              <a:gd name="connsiteX96" fmla="*/ 6264 w 1228797"/>
              <a:gd name="connsiteY96" fmla="*/ 3333 h 152590"/>
              <a:gd name="connsiteX97" fmla="*/ 1154026 w 1228797"/>
              <a:gd name="connsiteY97" fmla="*/ 3238 h 152590"/>
              <a:gd name="connsiteX98" fmla="*/ 1228797 w 1228797"/>
              <a:gd name="connsiteY98" fmla="*/ 77819 h 152590"/>
              <a:gd name="connsiteX99" fmla="*/ 1228797 w 1228797"/>
              <a:gd name="connsiteY99" fmla="*/ 77914 h 152590"/>
              <a:gd name="connsiteX100" fmla="*/ 1154216 w 1228797"/>
              <a:gd name="connsiteY100" fmla="*/ 152590 h 152590"/>
              <a:gd name="connsiteX101" fmla="*/ 1079445 w 1228797"/>
              <a:gd name="connsiteY101" fmla="*/ 78009 h 152590"/>
              <a:gd name="connsiteX102" fmla="*/ 1154026 w 1228797"/>
              <a:gd name="connsiteY102" fmla="*/ 3238 h 152590"/>
              <a:gd name="connsiteX103" fmla="*/ 646058 w 1228797"/>
              <a:gd name="connsiteY103" fmla="*/ 2096 h 152590"/>
              <a:gd name="connsiteX104" fmla="*/ 659774 w 1228797"/>
              <a:gd name="connsiteY104" fmla="*/ 2096 h 152590"/>
              <a:gd name="connsiteX105" fmla="*/ 666060 w 1228797"/>
              <a:gd name="connsiteY105" fmla="*/ 8382 h 152590"/>
              <a:gd name="connsiteX106" fmla="*/ 666060 w 1228797"/>
              <a:gd name="connsiteY106" fmla="*/ 116491 h 152590"/>
              <a:gd name="connsiteX107" fmla="*/ 672346 w 1228797"/>
              <a:gd name="connsiteY107" fmla="*/ 122778 h 152590"/>
              <a:gd name="connsiteX108" fmla="*/ 750166 w 1228797"/>
              <a:gd name="connsiteY108" fmla="*/ 122778 h 152590"/>
              <a:gd name="connsiteX109" fmla="*/ 756452 w 1228797"/>
              <a:gd name="connsiteY109" fmla="*/ 129064 h 152590"/>
              <a:gd name="connsiteX110" fmla="*/ 756452 w 1228797"/>
              <a:gd name="connsiteY110" fmla="*/ 141733 h 152590"/>
              <a:gd name="connsiteX111" fmla="*/ 750356 w 1228797"/>
              <a:gd name="connsiteY111" fmla="*/ 148019 h 152590"/>
              <a:gd name="connsiteX112" fmla="*/ 750166 w 1228797"/>
              <a:gd name="connsiteY112" fmla="*/ 148019 h 152590"/>
              <a:gd name="connsiteX113" fmla="*/ 646058 w 1228797"/>
              <a:gd name="connsiteY113" fmla="*/ 148019 h 152590"/>
              <a:gd name="connsiteX114" fmla="*/ 639771 w 1228797"/>
              <a:gd name="connsiteY114" fmla="*/ 141733 h 152590"/>
              <a:gd name="connsiteX115" fmla="*/ 639771 w 1228797"/>
              <a:gd name="connsiteY115" fmla="*/ 8382 h 152590"/>
              <a:gd name="connsiteX116" fmla="*/ 646058 w 1228797"/>
              <a:gd name="connsiteY116" fmla="*/ 2096 h 152590"/>
              <a:gd name="connsiteX117" fmla="*/ 995720 w 1228797"/>
              <a:gd name="connsiteY117" fmla="*/ 191 h 152590"/>
              <a:gd name="connsiteX118" fmla="*/ 1040488 w 1228797"/>
              <a:gd name="connsiteY118" fmla="*/ 15621 h 152590"/>
              <a:gd name="connsiteX119" fmla="*/ 1051060 w 1228797"/>
              <a:gd name="connsiteY119" fmla="*/ 25146 h 152590"/>
              <a:gd name="connsiteX120" fmla="*/ 1051251 w 1228797"/>
              <a:gd name="connsiteY120" fmla="*/ 25418 h 152590"/>
              <a:gd name="connsiteX121" fmla="*/ 1049536 w 1228797"/>
              <a:gd name="connsiteY121" fmla="*/ 34004 h 152590"/>
              <a:gd name="connsiteX122" fmla="*/ 1038964 w 1228797"/>
              <a:gd name="connsiteY122" fmla="*/ 41434 h 152590"/>
              <a:gd name="connsiteX123" fmla="*/ 1030867 w 1228797"/>
              <a:gd name="connsiteY123" fmla="*/ 40767 h 152590"/>
              <a:gd name="connsiteX124" fmla="*/ 1028010 w 1228797"/>
              <a:gd name="connsiteY124" fmla="*/ 38100 h 152590"/>
              <a:gd name="connsiteX125" fmla="*/ 1027343 w 1228797"/>
              <a:gd name="connsiteY125" fmla="*/ 37624 h 152590"/>
              <a:gd name="connsiteX126" fmla="*/ 995911 w 1228797"/>
              <a:gd name="connsiteY126" fmla="*/ 26194 h 152590"/>
              <a:gd name="connsiteX127" fmla="*/ 993815 w 1228797"/>
              <a:gd name="connsiteY127" fmla="*/ 26194 h 152590"/>
              <a:gd name="connsiteX128" fmla="*/ 990386 w 1228797"/>
              <a:gd name="connsiteY128" fmla="*/ 26194 h 152590"/>
              <a:gd name="connsiteX129" fmla="*/ 981623 w 1228797"/>
              <a:gd name="connsiteY129" fmla="*/ 28004 h 152590"/>
              <a:gd name="connsiteX130" fmla="*/ 947638 w 1228797"/>
              <a:gd name="connsiteY130" fmla="*/ 64456 h 152590"/>
              <a:gd name="connsiteX131" fmla="*/ 984957 w 1228797"/>
              <a:gd name="connsiteY131" fmla="*/ 123254 h 152590"/>
              <a:gd name="connsiteX132" fmla="*/ 988957 w 1228797"/>
              <a:gd name="connsiteY132" fmla="*/ 124016 h 152590"/>
              <a:gd name="connsiteX133" fmla="*/ 992291 w 1228797"/>
              <a:gd name="connsiteY133" fmla="*/ 122968 h 152590"/>
              <a:gd name="connsiteX134" fmla="*/ 1001816 w 1228797"/>
              <a:gd name="connsiteY134" fmla="*/ 122968 h 152590"/>
              <a:gd name="connsiteX135" fmla="*/ 1009150 w 1228797"/>
              <a:gd name="connsiteY135" fmla="*/ 121920 h 152590"/>
              <a:gd name="connsiteX136" fmla="*/ 1010484 w 1228797"/>
              <a:gd name="connsiteY136" fmla="*/ 121920 h 152590"/>
              <a:gd name="connsiteX137" fmla="*/ 1011817 w 1228797"/>
              <a:gd name="connsiteY137" fmla="*/ 121920 h 152590"/>
              <a:gd name="connsiteX138" fmla="*/ 1017437 w 1228797"/>
              <a:gd name="connsiteY138" fmla="*/ 119920 h 152590"/>
              <a:gd name="connsiteX139" fmla="*/ 1018580 w 1228797"/>
              <a:gd name="connsiteY139" fmla="*/ 119444 h 152590"/>
              <a:gd name="connsiteX140" fmla="*/ 1019723 w 1228797"/>
              <a:gd name="connsiteY140" fmla="*/ 118967 h 152590"/>
              <a:gd name="connsiteX141" fmla="*/ 1020866 w 1228797"/>
              <a:gd name="connsiteY141" fmla="*/ 118396 h 152590"/>
              <a:gd name="connsiteX142" fmla="*/ 1023438 w 1228797"/>
              <a:gd name="connsiteY142" fmla="*/ 117062 h 152590"/>
              <a:gd name="connsiteX143" fmla="*/ 1024200 w 1228797"/>
              <a:gd name="connsiteY143" fmla="*/ 116491 h 152590"/>
              <a:gd name="connsiteX144" fmla="*/ 1041154 w 1228797"/>
              <a:gd name="connsiteY144" fmla="*/ 95345 h 152590"/>
              <a:gd name="connsiteX145" fmla="*/ 1040202 w 1228797"/>
              <a:gd name="connsiteY145" fmla="*/ 90297 h 152590"/>
              <a:gd name="connsiteX146" fmla="*/ 1036106 w 1228797"/>
              <a:gd name="connsiteY146" fmla="*/ 88583 h 152590"/>
              <a:gd name="connsiteX147" fmla="*/ 1008579 w 1228797"/>
              <a:gd name="connsiteY147" fmla="*/ 88583 h 152590"/>
              <a:gd name="connsiteX148" fmla="*/ 1002292 w 1228797"/>
              <a:gd name="connsiteY148" fmla="*/ 82296 h 152590"/>
              <a:gd name="connsiteX149" fmla="*/ 1002292 w 1228797"/>
              <a:gd name="connsiteY149" fmla="*/ 69437 h 152590"/>
              <a:gd name="connsiteX150" fmla="*/ 1002292 w 1228797"/>
              <a:gd name="connsiteY150" fmla="*/ 69245 h 152590"/>
              <a:gd name="connsiteX151" fmla="*/ 1008579 w 1228797"/>
              <a:gd name="connsiteY151" fmla="*/ 63151 h 152590"/>
              <a:gd name="connsiteX152" fmla="*/ 1065729 w 1228797"/>
              <a:gd name="connsiteY152" fmla="*/ 63151 h 152590"/>
              <a:gd name="connsiteX153" fmla="*/ 1066205 w 1228797"/>
              <a:gd name="connsiteY153" fmla="*/ 63151 h 152590"/>
              <a:gd name="connsiteX154" fmla="*/ 1066777 w 1228797"/>
              <a:gd name="connsiteY154" fmla="*/ 63151 h 152590"/>
              <a:gd name="connsiteX155" fmla="*/ 1068205 w 1228797"/>
              <a:gd name="connsiteY155" fmla="*/ 68771 h 152590"/>
              <a:gd name="connsiteX156" fmla="*/ 1068205 w 1228797"/>
              <a:gd name="connsiteY156" fmla="*/ 80391 h 152590"/>
              <a:gd name="connsiteX157" fmla="*/ 1043155 w 1228797"/>
              <a:gd name="connsiteY157" fmla="*/ 136112 h 152590"/>
              <a:gd name="connsiteX158" fmla="*/ 1040869 w 1228797"/>
              <a:gd name="connsiteY158" fmla="*/ 138113 h 152590"/>
              <a:gd name="connsiteX159" fmla="*/ 1039630 w 1228797"/>
              <a:gd name="connsiteY159" fmla="*/ 139065 h 152590"/>
              <a:gd name="connsiteX160" fmla="*/ 1037249 w 1228797"/>
              <a:gd name="connsiteY160" fmla="*/ 140780 h 152590"/>
              <a:gd name="connsiteX161" fmla="*/ 1036011 w 1228797"/>
              <a:gd name="connsiteY161" fmla="*/ 141637 h 152590"/>
              <a:gd name="connsiteX162" fmla="*/ 1033630 w 1228797"/>
              <a:gd name="connsiteY162" fmla="*/ 143161 h 152590"/>
              <a:gd name="connsiteX163" fmla="*/ 1032391 w 1228797"/>
              <a:gd name="connsiteY163" fmla="*/ 143923 h 152590"/>
              <a:gd name="connsiteX164" fmla="*/ 1029915 w 1228797"/>
              <a:gd name="connsiteY164" fmla="*/ 145352 h 152590"/>
              <a:gd name="connsiteX165" fmla="*/ 1029343 w 1228797"/>
              <a:gd name="connsiteY165" fmla="*/ 145352 h 152590"/>
              <a:gd name="connsiteX166" fmla="*/ 1025343 w 1228797"/>
              <a:gd name="connsiteY166" fmla="*/ 147257 h 152590"/>
              <a:gd name="connsiteX167" fmla="*/ 1024676 w 1228797"/>
              <a:gd name="connsiteY167" fmla="*/ 147257 h 152590"/>
              <a:gd name="connsiteX168" fmla="*/ 1022104 w 1228797"/>
              <a:gd name="connsiteY168" fmla="*/ 148209 h 152590"/>
              <a:gd name="connsiteX169" fmla="*/ 1020866 w 1228797"/>
              <a:gd name="connsiteY169" fmla="*/ 148209 h 152590"/>
              <a:gd name="connsiteX170" fmla="*/ 1020104 w 1228797"/>
              <a:gd name="connsiteY170" fmla="*/ 148209 h 152590"/>
              <a:gd name="connsiteX171" fmla="*/ 1018009 w 1228797"/>
              <a:gd name="connsiteY171" fmla="*/ 148971 h 152590"/>
              <a:gd name="connsiteX172" fmla="*/ 1017151 w 1228797"/>
              <a:gd name="connsiteY172" fmla="*/ 148971 h 152590"/>
              <a:gd name="connsiteX173" fmla="*/ 1015913 w 1228797"/>
              <a:gd name="connsiteY173" fmla="*/ 148971 h 152590"/>
              <a:gd name="connsiteX174" fmla="*/ 1015056 w 1228797"/>
              <a:gd name="connsiteY174" fmla="*/ 148971 h 152590"/>
              <a:gd name="connsiteX175" fmla="*/ 1013151 w 1228797"/>
              <a:gd name="connsiteY175" fmla="*/ 149447 h 152590"/>
              <a:gd name="connsiteX176" fmla="*/ 1012103 w 1228797"/>
              <a:gd name="connsiteY176" fmla="*/ 149447 h 152590"/>
              <a:gd name="connsiteX177" fmla="*/ 1010960 w 1228797"/>
              <a:gd name="connsiteY177" fmla="*/ 149447 h 152590"/>
              <a:gd name="connsiteX178" fmla="*/ 1009912 w 1228797"/>
              <a:gd name="connsiteY178" fmla="*/ 149447 h 152590"/>
              <a:gd name="connsiteX179" fmla="*/ 1008103 w 1228797"/>
              <a:gd name="connsiteY179" fmla="*/ 149447 h 152590"/>
              <a:gd name="connsiteX180" fmla="*/ 1006960 w 1228797"/>
              <a:gd name="connsiteY180" fmla="*/ 149447 h 152590"/>
              <a:gd name="connsiteX181" fmla="*/ 1005817 w 1228797"/>
              <a:gd name="connsiteY181" fmla="*/ 149447 h 152590"/>
              <a:gd name="connsiteX182" fmla="*/ 1004578 w 1228797"/>
              <a:gd name="connsiteY182" fmla="*/ 149447 h 152590"/>
              <a:gd name="connsiteX183" fmla="*/ 1002864 w 1228797"/>
              <a:gd name="connsiteY183" fmla="*/ 149447 h 152590"/>
              <a:gd name="connsiteX184" fmla="*/ 995720 w 1228797"/>
              <a:gd name="connsiteY184" fmla="*/ 149447 h 152590"/>
              <a:gd name="connsiteX185" fmla="*/ 990386 w 1228797"/>
              <a:gd name="connsiteY185" fmla="*/ 149447 h 152590"/>
              <a:gd name="connsiteX186" fmla="*/ 918425 w 1228797"/>
              <a:gd name="connsiteY186" fmla="*/ 72152 h 152590"/>
              <a:gd name="connsiteX187" fmla="*/ 995720 w 1228797"/>
              <a:gd name="connsiteY187" fmla="*/ 191 h 152590"/>
              <a:gd name="connsiteX188" fmla="*/ 836558 w 1228797"/>
              <a:gd name="connsiteY188" fmla="*/ 191 h 152590"/>
              <a:gd name="connsiteX189" fmla="*/ 911234 w 1228797"/>
              <a:gd name="connsiteY189" fmla="*/ 74867 h 152590"/>
              <a:gd name="connsiteX190" fmla="*/ 836558 w 1228797"/>
              <a:gd name="connsiteY190" fmla="*/ 149543 h 152590"/>
              <a:gd name="connsiteX191" fmla="*/ 761882 w 1228797"/>
              <a:gd name="connsiteY191" fmla="*/ 74867 h 152590"/>
              <a:gd name="connsiteX192" fmla="*/ 836558 w 1228797"/>
              <a:gd name="connsiteY192" fmla="*/ 191 h 152590"/>
              <a:gd name="connsiteX193" fmla="*/ 200954 w 1228797"/>
              <a:gd name="connsiteY193" fmla="*/ 0 h 152590"/>
              <a:gd name="connsiteX194" fmla="*/ 275821 w 1228797"/>
              <a:gd name="connsiteY194" fmla="*/ 74867 h 152590"/>
              <a:gd name="connsiteX195" fmla="*/ 200954 w 1228797"/>
              <a:gd name="connsiteY195" fmla="*/ 149733 h 152590"/>
              <a:gd name="connsiteX196" fmla="*/ 126088 w 1228797"/>
              <a:gd name="connsiteY196" fmla="*/ 74867 h 152590"/>
              <a:gd name="connsiteX197" fmla="*/ 200954 w 1228797"/>
              <a:gd name="connsiteY197" fmla="*/ 0 h 152590"/>
            </a:gdLst>
            <a:ahLst/>
            <a:cxnLst/>
            <a:rect l="l" t="t" r="r" b="b"/>
            <a:pathLst>
              <a:path w="1228797" h="152590">
                <a:moveTo>
                  <a:pt x="353068" y="146933"/>
                </a:moveTo>
                <a:lnTo>
                  <a:pt x="353259" y="146971"/>
                </a:lnTo>
                <a:lnTo>
                  <a:pt x="352878" y="146971"/>
                </a:lnTo>
                <a:close/>
                <a:moveTo>
                  <a:pt x="463654" y="28766"/>
                </a:moveTo>
                <a:cubicBezTo>
                  <a:pt x="460187" y="28766"/>
                  <a:pt x="457368" y="31580"/>
                  <a:pt x="457368" y="35052"/>
                </a:cubicBezTo>
                <a:lnTo>
                  <a:pt x="457368" y="66866"/>
                </a:lnTo>
                <a:cubicBezTo>
                  <a:pt x="457311" y="70284"/>
                  <a:pt x="460044" y="73099"/>
                  <a:pt x="463464" y="73152"/>
                </a:cubicBezTo>
                <a:cubicBezTo>
                  <a:pt x="463530" y="73153"/>
                  <a:pt x="463588" y="73153"/>
                  <a:pt x="463654" y="73152"/>
                </a:cubicBezTo>
                <a:lnTo>
                  <a:pt x="502611" y="73152"/>
                </a:lnTo>
                <a:cubicBezTo>
                  <a:pt x="514613" y="73223"/>
                  <a:pt x="524576" y="63892"/>
                  <a:pt x="525281" y="51911"/>
                </a:cubicBezTo>
                <a:cubicBezTo>
                  <a:pt x="525910" y="39775"/>
                  <a:pt x="516585" y="29427"/>
                  <a:pt x="504450" y="28795"/>
                </a:cubicBezTo>
                <a:cubicBezTo>
                  <a:pt x="504031" y="28773"/>
                  <a:pt x="503602" y="28763"/>
                  <a:pt x="503183" y="28766"/>
                </a:cubicBezTo>
                <a:close/>
                <a:moveTo>
                  <a:pt x="1154216" y="28194"/>
                </a:moveTo>
                <a:lnTo>
                  <a:pt x="1154216" y="28765"/>
                </a:lnTo>
                <a:cubicBezTo>
                  <a:pt x="1127022" y="28713"/>
                  <a:pt x="1104934" y="50717"/>
                  <a:pt x="1104877" y="77914"/>
                </a:cubicBezTo>
                <a:cubicBezTo>
                  <a:pt x="1104820" y="105111"/>
                  <a:pt x="1126832" y="127201"/>
                  <a:pt x="1154026" y="127254"/>
                </a:cubicBezTo>
                <a:cubicBezTo>
                  <a:pt x="1181220" y="127306"/>
                  <a:pt x="1203308" y="105301"/>
                  <a:pt x="1203365" y="78105"/>
                </a:cubicBezTo>
                <a:cubicBezTo>
                  <a:pt x="1203365" y="78073"/>
                  <a:pt x="1203365" y="78041"/>
                  <a:pt x="1203365" y="78009"/>
                </a:cubicBezTo>
                <a:cubicBezTo>
                  <a:pt x="1203632" y="50761"/>
                  <a:pt x="1181753" y="28458"/>
                  <a:pt x="1154502" y="28195"/>
                </a:cubicBezTo>
                <a:cubicBezTo>
                  <a:pt x="1154407" y="28195"/>
                  <a:pt x="1154312" y="28194"/>
                  <a:pt x="1154216" y="28194"/>
                </a:cubicBezTo>
                <a:close/>
                <a:moveTo>
                  <a:pt x="836558" y="25718"/>
                </a:moveTo>
                <a:cubicBezTo>
                  <a:pt x="809364" y="25718"/>
                  <a:pt x="787314" y="47766"/>
                  <a:pt x="787314" y="74962"/>
                </a:cubicBezTo>
                <a:cubicBezTo>
                  <a:pt x="787314" y="102159"/>
                  <a:pt x="809364" y="124207"/>
                  <a:pt x="836558" y="124207"/>
                </a:cubicBezTo>
                <a:cubicBezTo>
                  <a:pt x="863752" y="124207"/>
                  <a:pt x="885802" y="102159"/>
                  <a:pt x="885802" y="74962"/>
                </a:cubicBezTo>
                <a:cubicBezTo>
                  <a:pt x="885802" y="74931"/>
                  <a:pt x="885802" y="74898"/>
                  <a:pt x="885802" y="74867"/>
                </a:cubicBezTo>
                <a:cubicBezTo>
                  <a:pt x="885745" y="47707"/>
                  <a:pt x="863714" y="25718"/>
                  <a:pt x="836558" y="25718"/>
                </a:cubicBezTo>
                <a:close/>
                <a:moveTo>
                  <a:pt x="200954" y="25527"/>
                </a:moveTo>
                <a:lnTo>
                  <a:pt x="200954" y="25908"/>
                </a:lnTo>
                <a:cubicBezTo>
                  <a:pt x="173652" y="25856"/>
                  <a:pt x="151477" y="47945"/>
                  <a:pt x="151424" y="75248"/>
                </a:cubicBezTo>
                <a:cubicBezTo>
                  <a:pt x="151372" y="102550"/>
                  <a:pt x="173462" y="124725"/>
                  <a:pt x="200764" y="124778"/>
                </a:cubicBezTo>
                <a:cubicBezTo>
                  <a:pt x="228063" y="124830"/>
                  <a:pt x="250237" y="102740"/>
                  <a:pt x="250294" y="75438"/>
                </a:cubicBezTo>
                <a:cubicBezTo>
                  <a:pt x="250294" y="75374"/>
                  <a:pt x="250294" y="75311"/>
                  <a:pt x="250294" y="75248"/>
                </a:cubicBezTo>
                <a:cubicBezTo>
                  <a:pt x="250456" y="47946"/>
                  <a:pt x="228444" y="25686"/>
                  <a:pt x="201145" y="25528"/>
                </a:cubicBezTo>
                <a:cubicBezTo>
                  <a:pt x="201078" y="25527"/>
                  <a:pt x="201021" y="25527"/>
                  <a:pt x="200954" y="25527"/>
                </a:cubicBezTo>
                <a:close/>
                <a:moveTo>
                  <a:pt x="437841" y="3429"/>
                </a:moveTo>
                <a:lnTo>
                  <a:pt x="502040" y="3429"/>
                </a:lnTo>
                <a:cubicBezTo>
                  <a:pt x="514623" y="3414"/>
                  <a:pt x="526748" y="8180"/>
                  <a:pt x="535949" y="16764"/>
                </a:cubicBezTo>
                <a:cubicBezTo>
                  <a:pt x="545074" y="25190"/>
                  <a:pt x="550427" y="36928"/>
                  <a:pt x="550808" y="49340"/>
                </a:cubicBezTo>
                <a:cubicBezTo>
                  <a:pt x="551303" y="66268"/>
                  <a:pt x="542883" y="82215"/>
                  <a:pt x="528615" y="91345"/>
                </a:cubicBezTo>
                <a:cubicBezTo>
                  <a:pt x="525881" y="92959"/>
                  <a:pt x="524852" y="96397"/>
                  <a:pt x="526233" y="99251"/>
                </a:cubicBezTo>
                <a:lnTo>
                  <a:pt x="544712" y="138017"/>
                </a:lnTo>
                <a:cubicBezTo>
                  <a:pt x="546188" y="141161"/>
                  <a:pt x="544826" y="144904"/>
                  <a:pt x="541683" y="146377"/>
                </a:cubicBezTo>
                <a:cubicBezTo>
                  <a:pt x="540845" y="146772"/>
                  <a:pt x="539930" y="146974"/>
                  <a:pt x="538997" y="146971"/>
                </a:cubicBezTo>
                <a:lnTo>
                  <a:pt x="525567" y="146971"/>
                </a:lnTo>
                <a:cubicBezTo>
                  <a:pt x="523166" y="146983"/>
                  <a:pt x="520976" y="145611"/>
                  <a:pt x="519947" y="143447"/>
                </a:cubicBezTo>
                <a:lnTo>
                  <a:pt x="500230" y="102203"/>
                </a:lnTo>
                <a:cubicBezTo>
                  <a:pt x="499221" y="100023"/>
                  <a:pt x="497011" y="98643"/>
                  <a:pt x="494611" y="98679"/>
                </a:cubicBezTo>
                <a:lnTo>
                  <a:pt x="463654" y="98679"/>
                </a:lnTo>
                <a:cubicBezTo>
                  <a:pt x="460235" y="98626"/>
                  <a:pt x="457425" y="101355"/>
                  <a:pt x="457368" y="104773"/>
                </a:cubicBezTo>
                <a:cubicBezTo>
                  <a:pt x="457368" y="104838"/>
                  <a:pt x="457368" y="104902"/>
                  <a:pt x="457368" y="104966"/>
                </a:cubicBezTo>
                <a:lnTo>
                  <a:pt x="457368" y="140684"/>
                </a:lnTo>
                <a:cubicBezTo>
                  <a:pt x="457368" y="144156"/>
                  <a:pt x="454558" y="146971"/>
                  <a:pt x="451081" y="146971"/>
                </a:cubicBezTo>
                <a:lnTo>
                  <a:pt x="437841" y="146971"/>
                </a:lnTo>
                <a:cubicBezTo>
                  <a:pt x="434365" y="146971"/>
                  <a:pt x="431555" y="144156"/>
                  <a:pt x="431555" y="140684"/>
                </a:cubicBezTo>
                <a:lnTo>
                  <a:pt x="431555" y="9716"/>
                </a:lnTo>
                <a:cubicBezTo>
                  <a:pt x="431603" y="6265"/>
                  <a:pt x="434393" y="3480"/>
                  <a:pt x="437841" y="3429"/>
                </a:cubicBezTo>
                <a:close/>
                <a:moveTo>
                  <a:pt x="293633" y="3429"/>
                </a:moveTo>
                <a:lnTo>
                  <a:pt x="306777" y="3429"/>
                </a:lnTo>
                <a:cubicBezTo>
                  <a:pt x="310101" y="3631"/>
                  <a:pt x="312692" y="6387"/>
                  <a:pt x="312683" y="9715"/>
                </a:cubicBezTo>
                <a:lnTo>
                  <a:pt x="312683" y="80677"/>
                </a:lnTo>
                <a:cubicBezTo>
                  <a:pt x="311454" y="102842"/>
                  <a:pt x="328427" y="121805"/>
                  <a:pt x="350592" y="123032"/>
                </a:cubicBezTo>
                <a:cubicBezTo>
                  <a:pt x="372757" y="124258"/>
                  <a:pt x="391721" y="107284"/>
                  <a:pt x="392950" y="85118"/>
                </a:cubicBezTo>
                <a:cubicBezTo>
                  <a:pt x="393026" y="83830"/>
                  <a:pt x="393035" y="82538"/>
                  <a:pt x="392978" y="81248"/>
                </a:cubicBezTo>
                <a:lnTo>
                  <a:pt x="392978" y="9715"/>
                </a:lnTo>
                <a:cubicBezTo>
                  <a:pt x="393026" y="6265"/>
                  <a:pt x="395817" y="3480"/>
                  <a:pt x="399265" y="3429"/>
                </a:cubicBezTo>
                <a:lnTo>
                  <a:pt x="412505" y="3429"/>
                </a:lnTo>
                <a:cubicBezTo>
                  <a:pt x="415943" y="3481"/>
                  <a:pt x="418696" y="6281"/>
                  <a:pt x="418696" y="9715"/>
                </a:cubicBezTo>
                <a:lnTo>
                  <a:pt x="418696" y="81153"/>
                </a:lnTo>
                <a:cubicBezTo>
                  <a:pt x="418696" y="108416"/>
                  <a:pt x="402119" y="131807"/>
                  <a:pt x="378496" y="141799"/>
                </a:cubicBezTo>
                <a:lnTo>
                  <a:pt x="353068" y="146933"/>
                </a:lnTo>
                <a:lnTo>
                  <a:pt x="327634" y="141836"/>
                </a:lnTo>
                <a:cubicBezTo>
                  <a:pt x="303998" y="131878"/>
                  <a:pt x="287389" y="108511"/>
                  <a:pt x="287346" y="81248"/>
                </a:cubicBezTo>
                <a:cubicBezTo>
                  <a:pt x="287346" y="81217"/>
                  <a:pt x="287346" y="81184"/>
                  <a:pt x="287346" y="81153"/>
                </a:cubicBezTo>
                <a:lnTo>
                  <a:pt x="287346" y="9715"/>
                </a:lnTo>
                <a:cubicBezTo>
                  <a:pt x="287394" y="6265"/>
                  <a:pt x="290184" y="3480"/>
                  <a:pt x="293633" y="3429"/>
                </a:cubicBezTo>
                <a:close/>
                <a:moveTo>
                  <a:pt x="6264" y="3333"/>
                </a:moveTo>
                <a:lnTo>
                  <a:pt x="18646" y="3333"/>
                </a:lnTo>
                <a:cubicBezTo>
                  <a:pt x="20692" y="3332"/>
                  <a:pt x="22611" y="4327"/>
                  <a:pt x="23790" y="6000"/>
                </a:cubicBezTo>
                <a:lnTo>
                  <a:pt x="61890" y="59817"/>
                </a:lnTo>
                <a:cubicBezTo>
                  <a:pt x="63109" y="61430"/>
                  <a:pt x="65011" y="62381"/>
                  <a:pt x="67033" y="62388"/>
                </a:cubicBezTo>
                <a:cubicBezTo>
                  <a:pt x="69032" y="62397"/>
                  <a:pt x="70913" y="61439"/>
                  <a:pt x="72081" y="59817"/>
                </a:cubicBezTo>
                <a:lnTo>
                  <a:pt x="110181" y="6000"/>
                </a:lnTo>
                <a:cubicBezTo>
                  <a:pt x="111360" y="4327"/>
                  <a:pt x="113279" y="3332"/>
                  <a:pt x="115325" y="3333"/>
                </a:cubicBezTo>
                <a:lnTo>
                  <a:pt x="127707" y="3333"/>
                </a:lnTo>
                <a:cubicBezTo>
                  <a:pt x="131179" y="3293"/>
                  <a:pt x="134026" y="6076"/>
                  <a:pt x="134065" y="9548"/>
                </a:cubicBezTo>
                <a:cubicBezTo>
                  <a:pt x="134082" y="10908"/>
                  <a:pt x="133655" y="12237"/>
                  <a:pt x="132851" y="13335"/>
                </a:cubicBezTo>
                <a:lnTo>
                  <a:pt x="81702" y="83724"/>
                </a:lnTo>
                <a:cubicBezTo>
                  <a:pt x="80555" y="85300"/>
                  <a:pt x="79953" y="87206"/>
                  <a:pt x="79987" y="89154"/>
                </a:cubicBezTo>
                <a:lnTo>
                  <a:pt x="79987" y="140684"/>
                </a:lnTo>
                <a:cubicBezTo>
                  <a:pt x="79987" y="144156"/>
                  <a:pt x="77172" y="146970"/>
                  <a:pt x="73701" y="146970"/>
                </a:cubicBezTo>
                <a:lnTo>
                  <a:pt x="60270" y="146970"/>
                </a:lnTo>
                <a:cubicBezTo>
                  <a:pt x="56798" y="146970"/>
                  <a:pt x="53984" y="144156"/>
                  <a:pt x="53984" y="140684"/>
                </a:cubicBezTo>
                <a:lnTo>
                  <a:pt x="53984" y="89154"/>
                </a:lnTo>
                <a:cubicBezTo>
                  <a:pt x="54018" y="87206"/>
                  <a:pt x="53416" y="85300"/>
                  <a:pt x="52269" y="83724"/>
                </a:cubicBezTo>
                <a:lnTo>
                  <a:pt x="1215" y="13335"/>
                </a:lnTo>
                <a:cubicBezTo>
                  <a:pt x="-836" y="10533"/>
                  <a:pt x="-229" y="6600"/>
                  <a:pt x="2572" y="4549"/>
                </a:cubicBezTo>
                <a:cubicBezTo>
                  <a:pt x="3643" y="3764"/>
                  <a:pt x="4936" y="3338"/>
                  <a:pt x="6264" y="3333"/>
                </a:cubicBezTo>
                <a:close/>
                <a:moveTo>
                  <a:pt x="1154026" y="3238"/>
                </a:moveTo>
                <a:cubicBezTo>
                  <a:pt x="1195269" y="3186"/>
                  <a:pt x="1228740" y="36577"/>
                  <a:pt x="1228797" y="77819"/>
                </a:cubicBezTo>
                <a:cubicBezTo>
                  <a:pt x="1228797" y="77850"/>
                  <a:pt x="1228797" y="77883"/>
                  <a:pt x="1228797" y="77914"/>
                </a:cubicBezTo>
                <a:cubicBezTo>
                  <a:pt x="1228740" y="119097"/>
                  <a:pt x="1195402" y="152485"/>
                  <a:pt x="1154216" y="152590"/>
                </a:cubicBezTo>
                <a:cubicBezTo>
                  <a:pt x="1112973" y="152642"/>
                  <a:pt x="1079502" y="119252"/>
                  <a:pt x="1079445" y="78009"/>
                </a:cubicBezTo>
                <a:cubicBezTo>
                  <a:pt x="1079388" y="36767"/>
                  <a:pt x="1112783" y="3290"/>
                  <a:pt x="1154026" y="3238"/>
                </a:cubicBezTo>
                <a:close/>
                <a:moveTo>
                  <a:pt x="646058" y="2096"/>
                </a:moveTo>
                <a:lnTo>
                  <a:pt x="659774" y="2096"/>
                </a:lnTo>
                <a:cubicBezTo>
                  <a:pt x="663250" y="2096"/>
                  <a:pt x="666060" y="4911"/>
                  <a:pt x="666060" y="8382"/>
                </a:cubicBezTo>
                <a:lnTo>
                  <a:pt x="666060" y="116491"/>
                </a:lnTo>
                <a:cubicBezTo>
                  <a:pt x="666060" y="119963"/>
                  <a:pt x="668870" y="122778"/>
                  <a:pt x="672346" y="122778"/>
                </a:cubicBezTo>
                <a:lnTo>
                  <a:pt x="750166" y="122778"/>
                </a:lnTo>
                <a:cubicBezTo>
                  <a:pt x="753633" y="122778"/>
                  <a:pt x="756452" y="125592"/>
                  <a:pt x="756452" y="129064"/>
                </a:cubicBezTo>
                <a:lnTo>
                  <a:pt x="756452" y="141733"/>
                </a:lnTo>
                <a:cubicBezTo>
                  <a:pt x="756509" y="145151"/>
                  <a:pt x="753776" y="147966"/>
                  <a:pt x="750356" y="148019"/>
                </a:cubicBezTo>
                <a:cubicBezTo>
                  <a:pt x="750290" y="148020"/>
                  <a:pt x="750232" y="148020"/>
                  <a:pt x="750166" y="148019"/>
                </a:cubicBezTo>
                <a:lnTo>
                  <a:pt x="646058" y="148019"/>
                </a:lnTo>
                <a:cubicBezTo>
                  <a:pt x="642581" y="148019"/>
                  <a:pt x="639771" y="145204"/>
                  <a:pt x="639771" y="141733"/>
                </a:cubicBezTo>
                <a:lnTo>
                  <a:pt x="639771" y="8382"/>
                </a:lnTo>
                <a:cubicBezTo>
                  <a:pt x="639819" y="4932"/>
                  <a:pt x="642609" y="2147"/>
                  <a:pt x="646058" y="2096"/>
                </a:cubicBezTo>
                <a:close/>
                <a:moveTo>
                  <a:pt x="995720" y="191"/>
                </a:moveTo>
                <a:cubicBezTo>
                  <a:pt x="1011922" y="355"/>
                  <a:pt x="1027629" y="5769"/>
                  <a:pt x="1040488" y="15621"/>
                </a:cubicBezTo>
                <a:cubicBezTo>
                  <a:pt x="1044298" y="18466"/>
                  <a:pt x="1047831" y="21654"/>
                  <a:pt x="1051060" y="25146"/>
                </a:cubicBezTo>
                <a:cubicBezTo>
                  <a:pt x="1051127" y="25235"/>
                  <a:pt x="1051194" y="25326"/>
                  <a:pt x="1051251" y="25418"/>
                </a:cubicBezTo>
                <a:cubicBezTo>
                  <a:pt x="1053146" y="28264"/>
                  <a:pt x="1052384" y="32107"/>
                  <a:pt x="1049536" y="34004"/>
                </a:cubicBezTo>
                <a:lnTo>
                  <a:pt x="1038964" y="41434"/>
                </a:lnTo>
                <a:cubicBezTo>
                  <a:pt x="1036478" y="43261"/>
                  <a:pt x="1033020" y="42976"/>
                  <a:pt x="1030867" y="40767"/>
                </a:cubicBezTo>
                <a:cubicBezTo>
                  <a:pt x="1029962" y="39830"/>
                  <a:pt x="1029010" y="38939"/>
                  <a:pt x="1028010" y="38100"/>
                </a:cubicBezTo>
                <a:cubicBezTo>
                  <a:pt x="1027753" y="37997"/>
                  <a:pt x="1027524" y="37834"/>
                  <a:pt x="1027343" y="37624"/>
                </a:cubicBezTo>
                <a:cubicBezTo>
                  <a:pt x="1018532" y="30242"/>
                  <a:pt x="1007407" y="26196"/>
                  <a:pt x="995911" y="26194"/>
                </a:cubicBezTo>
                <a:lnTo>
                  <a:pt x="993815" y="26194"/>
                </a:lnTo>
                <a:cubicBezTo>
                  <a:pt x="992672" y="26099"/>
                  <a:pt x="991529" y="26099"/>
                  <a:pt x="990386" y="26194"/>
                </a:cubicBezTo>
                <a:cubicBezTo>
                  <a:pt x="987414" y="26512"/>
                  <a:pt x="984481" y="27118"/>
                  <a:pt x="981623" y="28004"/>
                </a:cubicBezTo>
                <a:cubicBezTo>
                  <a:pt x="964526" y="33101"/>
                  <a:pt x="951524" y="47046"/>
                  <a:pt x="947638" y="64456"/>
                </a:cubicBezTo>
                <a:cubicBezTo>
                  <a:pt x="941704" y="90998"/>
                  <a:pt x="958411" y="117323"/>
                  <a:pt x="984957" y="123254"/>
                </a:cubicBezTo>
                <a:lnTo>
                  <a:pt x="988957" y="124016"/>
                </a:lnTo>
                <a:lnTo>
                  <a:pt x="992291" y="122968"/>
                </a:lnTo>
                <a:lnTo>
                  <a:pt x="1001816" y="122968"/>
                </a:lnTo>
                <a:cubicBezTo>
                  <a:pt x="1004274" y="122753"/>
                  <a:pt x="1006731" y="122403"/>
                  <a:pt x="1009150" y="121920"/>
                </a:cubicBezTo>
                <a:lnTo>
                  <a:pt x="1010484" y="121920"/>
                </a:lnTo>
                <a:lnTo>
                  <a:pt x="1011817" y="121920"/>
                </a:lnTo>
                <a:lnTo>
                  <a:pt x="1017437" y="119920"/>
                </a:lnTo>
                <a:lnTo>
                  <a:pt x="1018580" y="119444"/>
                </a:lnTo>
                <a:lnTo>
                  <a:pt x="1019723" y="118967"/>
                </a:lnTo>
                <a:lnTo>
                  <a:pt x="1020866" y="118396"/>
                </a:lnTo>
                <a:lnTo>
                  <a:pt x="1023438" y="117062"/>
                </a:lnTo>
                <a:lnTo>
                  <a:pt x="1024200" y="116491"/>
                </a:lnTo>
                <a:cubicBezTo>
                  <a:pt x="1031496" y="110931"/>
                  <a:pt x="1037316" y="103671"/>
                  <a:pt x="1041154" y="95345"/>
                </a:cubicBezTo>
                <a:cubicBezTo>
                  <a:pt x="1041764" y="93613"/>
                  <a:pt x="1041393" y="91690"/>
                  <a:pt x="1040202" y="90297"/>
                </a:cubicBezTo>
                <a:cubicBezTo>
                  <a:pt x="1039135" y="89178"/>
                  <a:pt x="1037649" y="88556"/>
                  <a:pt x="1036106" y="88583"/>
                </a:cubicBezTo>
                <a:lnTo>
                  <a:pt x="1008579" y="88583"/>
                </a:lnTo>
                <a:cubicBezTo>
                  <a:pt x="1005102" y="88583"/>
                  <a:pt x="1002292" y="85768"/>
                  <a:pt x="1002292" y="82296"/>
                </a:cubicBezTo>
                <a:lnTo>
                  <a:pt x="1002292" y="69437"/>
                </a:lnTo>
                <a:cubicBezTo>
                  <a:pt x="1002292" y="69373"/>
                  <a:pt x="1002292" y="69310"/>
                  <a:pt x="1002292" y="69245"/>
                </a:cubicBezTo>
                <a:cubicBezTo>
                  <a:pt x="1002350" y="65826"/>
                  <a:pt x="1005159" y="63097"/>
                  <a:pt x="1008579" y="63151"/>
                </a:cubicBezTo>
                <a:lnTo>
                  <a:pt x="1065729" y="63151"/>
                </a:lnTo>
                <a:lnTo>
                  <a:pt x="1066205" y="63151"/>
                </a:lnTo>
                <a:lnTo>
                  <a:pt x="1066777" y="63151"/>
                </a:lnTo>
                <a:cubicBezTo>
                  <a:pt x="1068139" y="64680"/>
                  <a:pt x="1068672" y="66776"/>
                  <a:pt x="1068205" y="68771"/>
                </a:cubicBezTo>
                <a:lnTo>
                  <a:pt x="1068205" y="80391"/>
                </a:lnTo>
                <a:cubicBezTo>
                  <a:pt x="1068244" y="101700"/>
                  <a:pt x="1059119" y="121997"/>
                  <a:pt x="1043155" y="136112"/>
                </a:cubicBezTo>
                <a:lnTo>
                  <a:pt x="1040869" y="138113"/>
                </a:lnTo>
                <a:lnTo>
                  <a:pt x="1039630" y="139065"/>
                </a:lnTo>
                <a:cubicBezTo>
                  <a:pt x="1038878" y="139697"/>
                  <a:pt x="1038087" y="140270"/>
                  <a:pt x="1037249" y="140780"/>
                </a:cubicBezTo>
                <a:lnTo>
                  <a:pt x="1036011" y="141637"/>
                </a:lnTo>
                <a:lnTo>
                  <a:pt x="1033630" y="143161"/>
                </a:lnTo>
                <a:lnTo>
                  <a:pt x="1032391" y="143923"/>
                </a:lnTo>
                <a:lnTo>
                  <a:pt x="1029915" y="145352"/>
                </a:lnTo>
                <a:lnTo>
                  <a:pt x="1029343" y="145352"/>
                </a:lnTo>
                <a:lnTo>
                  <a:pt x="1025343" y="147257"/>
                </a:lnTo>
                <a:lnTo>
                  <a:pt x="1024676" y="147257"/>
                </a:lnTo>
                <a:lnTo>
                  <a:pt x="1022104" y="148209"/>
                </a:lnTo>
                <a:lnTo>
                  <a:pt x="1020866" y="148209"/>
                </a:lnTo>
                <a:lnTo>
                  <a:pt x="1020104" y="148209"/>
                </a:lnTo>
                <a:lnTo>
                  <a:pt x="1018009" y="148971"/>
                </a:lnTo>
                <a:lnTo>
                  <a:pt x="1017151" y="148971"/>
                </a:lnTo>
                <a:lnTo>
                  <a:pt x="1015913" y="148971"/>
                </a:lnTo>
                <a:lnTo>
                  <a:pt x="1015056" y="148971"/>
                </a:lnTo>
                <a:lnTo>
                  <a:pt x="1013151" y="149447"/>
                </a:lnTo>
                <a:lnTo>
                  <a:pt x="1012103" y="149447"/>
                </a:lnTo>
                <a:lnTo>
                  <a:pt x="1010960" y="149447"/>
                </a:lnTo>
                <a:lnTo>
                  <a:pt x="1009912" y="149447"/>
                </a:lnTo>
                <a:lnTo>
                  <a:pt x="1008103" y="149447"/>
                </a:lnTo>
                <a:lnTo>
                  <a:pt x="1006960" y="149447"/>
                </a:lnTo>
                <a:lnTo>
                  <a:pt x="1005817" y="149447"/>
                </a:lnTo>
                <a:lnTo>
                  <a:pt x="1004578" y="149447"/>
                </a:lnTo>
                <a:lnTo>
                  <a:pt x="1002864" y="149447"/>
                </a:lnTo>
                <a:lnTo>
                  <a:pt x="995720" y="149447"/>
                </a:lnTo>
                <a:cubicBezTo>
                  <a:pt x="993939" y="149511"/>
                  <a:pt x="992167" y="149511"/>
                  <a:pt x="990386" y="149447"/>
                </a:cubicBezTo>
                <a:cubicBezTo>
                  <a:pt x="949171" y="147975"/>
                  <a:pt x="916948" y="113368"/>
                  <a:pt x="918425" y="72152"/>
                </a:cubicBezTo>
                <a:cubicBezTo>
                  <a:pt x="919901" y="30936"/>
                  <a:pt x="954505" y="-1282"/>
                  <a:pt x="995720" y="191"/>
                </a:cubicBezTo>
                <a:close/>
                <a:moveTo>
                  <a:pt x="836558" y="191"/>
                </a:moveTo>
                <a:cubicBezTo>
                  <a:pt x="877801" y="191"/>
                  <a:pt x="911234" y="33625"/>
                  <a:pt x="911234" y="74867"/>
                </a:cubicBezTo>
                <a:cubicBezTo>
                  <a:pt x="911234" y="116109"/>
                  <a:pt x="877801" y="149543"/>
                  <a:pt x="836558" y="149543"/>
                </a:cubicBezTo>
                <a:cubicBezTo>
                  <a:pt x="795315" y="149543"/>
                  <a:pt x="761882" y="116109"/>
                  <a:pt x="761882" y="74867"/>
                </a:cubicBezTo>
                <a:cubicBezTo>
                  <a:pt x="761882" y="33625"/>
                  <a:pt x="795315" y="191"/>
                  <a:pt x="836558" y="191"/>
                </a:cubicBezTo>
                <a:close/>
                <a:moveTo>
                  <a:pt x="200954" y="0"/>
                </a:moveTo>
                <a:cubicBezTo>
                  <a:pt x="242302" y="0"/>
                  <a:pt x="275821" y="33518"/>
                  <a:pt x="275821" y="74867"/>
                </a:cubicBezTo>
                <a:cubicBezTo>
                  <a:pt x="275821" y="116215"/>
                  <a:pt x="242302" y="149733"/>
                  <a:pt x="200954" y="149733"/>
                </a:cubicBezTo>
                <a:cubicBezTo>
                  <a:pt x="159606" y="149733"/>
                  <a:pt x="126088" y="116215"/>
                  <a:pt x="126088" y="74867"/>
                </a:cubicBezTo>
                <a:cubicBezTo>
                  <a:pt x="126088" y="33518"/>
                  <a:pt x="159606" y="0"/>
                  <a:pt x="200954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miter/>
          </a:ln>
        </p:spPr>
        <p:txBody>
          <a:bodyPr lIns="68580" tIns="34290" rIns="68580" bIns="34290" anchor="ctr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5070198" y="1530302"/>
            <a:ext cx="1287740" cy="20862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4500" kern="1200" cap="none" spc="0" normalizeH="0" baseline="0" noProof="0">
                <a:gradFill>
                  <a:gsLst>
                    <a:gs pos="0">
                      <a:srgbClr val="076843">
                        <a:alpha val="100000"/>
                      </a:srgbClr>
                    </a:gs>
                    <a:gs pos="78000">
                      <a:srgbClr val="076843">
                        <a:alpha val="0"/>
                      </a:srgbClr>
                    </a:gs>
                    <a:gs pos="100000">
                      <a:srgbClr val="076843">
                        <a:alpha val="0"/>
                      </a:srgbClr>
                    </a:gs>
                  </a:gsLst>
                  <a:lin ang="5400000" scaled="0"/>
                </a:gradFill>
                <a:latin typeface="Source Han Serif SC Bold"/>
                <a:ea typeface="Source Han Serif SC Bold"/>
                <a:cs typeface="Source Han Serif SC Bold"/>
              </a:rPr>
              <a:t>04</a:t>
            </a: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698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750" y="0"/>
            <a:ext cx="92075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 txBox="1"/>
          <p:nvPr/>
        </p:nvSpPr>
        <p:spPr>
          <a:xfrm>
            <a:off x="34925" y="-50800"/>
            <a:ext cx="9144000" cy="51435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3532188" y="3124200"/>
            <a:ext cx="936625" cy="788988"/>
          </a:xfrm>
          <a:custGeom>
            <a:avLst/>
            <a:gdLst>
              <a:gd name="connsiteX0" fmla="*/ 7620 w 1249680"/>
              <a:gd name="connsiteY0" fmla="*/ 0 h 1051560"/>
              <a:gd name="connsiteX1" fmla="*/ 39284 w 1249680"/>
              <a:gd name="connsiteY1" fmla="*/ 3192 h 1051560"/>
              <a:gd name="connsiteX2" fmla="*/ 46990 w 1249680"/>
              <a:gd name="connsiteY2" fmla="*/ 0 h 1051560"/>
              <a:gd name="connsiteX3" fmla="*/ 1207770 w 1249680"/>
              <a:gd name="connsiteY3" fmla="*/ 0 h 1051560"/>
              <a:gd name="connsiteX4" fmla="*/ 1249680 w 1249680"/>
              <a:gd name="connsiteY4" fmla="*/ 41910 h 1051560"/>
              <a:gd name="connsiteX5" fmla="*/ 1207770 w 1249680"/>
              <a:gd name="connsiteY5" fmla="*/ 83820 h 1051560"/>
              <a:gd name="connsiteX6" fmla="*/ 290581 w 1249680"/>
              <a:gd name="connsiteY6" fmla="*/ 83820 h 1051560"/>
              <a:gd name="connsiteX7" fmla="*/ 301589 w 1249680"/>
              <a:gd name="connsiteY7" fmla="*/ 89795 h 1051560"/>
              <a:gd name="connsiteX8" fmla="*/ 533400 w 1249680"/>
              <a:gd name="connsiteY8" fmla="*/ 525780 h 1051560"/>
              <a:gd name="connsiteX9" fmla="*/ 7620 w 1249680"/>
              <a:gd name="connsiteY9" fmla="*/ 1051560 h 1051560"/>
              <a:gd name="connsiteX10" fmla="*/ 0 w 1249680"/>
              <a:gd name="connsiteY10" fmla="*/ 1050792 h 1051560"/>
              <a:gd name="connsiteX11" fmla="*/ 0 w 1249680"/>
              <a:gd name="connsiteY11" fmla="*/ 768 h 1051560"/>
            </a:gdLst>
            <a:ahLst/>
            <a:cxnLst/>
            <a:rect l="l" t="t" r="r" b="b"/>
            <a:pathLst>
              <a:path w="1249680" h="1051560">
                <a:moveTo>
                  <a:pt x="7620" y="0"/>
                </a:moveTo>
                <a:lnTo>
                  <a:pt x="39284" y="3192"/>
                </a:lnTo>
                <a:lnTo>
                  <a:pt x="46990" y="0"/>
                </a:lnTo>
                <a:lnTo>
                  <a:pt x="1207770" y="0"/>
                </a:lnTo>
                <a:cubicBezTo>
                  <a:pt x="1230916" y="0"/>
                  <a:pt x="1249680" y="18764"/>
                  <a:pt x="1249680" y="41910"/>
                </a:cubicBezTo>
                <a:cubicBezTo>
                  <a:pt x="1249680" y="65056"/>
                  <a:pt x="1230916" y="83820"/>
                  <a:pt x="1207770" y="83820"/>
                </a:cubicBezTo>
                <a:lnTo>
                  <a:pt x="290581" y="83820"/>
                </a:lnTo>
                <a:lnTo>
                  <a:pt x="301589" y="89795"/>
                </a:lnTo>
                <a:cubicBezTo>
                  <a:pt x="441447" y="184282"/>
                  <a:pt x="533400" y="344293"/>
                  <a:pt x="533400" y="525780"/>
                </a:cubicBezTo>
                <a:cubicBezTo>
                  <a:pt x="533400" y="816160"/>
                  <a:pt x="298000" y="1051560"/>
                  <a:pt x="7620" y="1051560"/>
                </a:cubicBezTo>
                <a:lnTo>
                  <a:pt x="0" y="1050792"/>
                </a:lnTo>
                <a:lnTo>
                  <a:pt x="0" y="768"/>
                </a:lnTo>
                <a:close/>
              </a:path>
            </a:pathLst>
          </a:custGeom>
          <a:solidFill>
            <a:schemeClr val="accent2"/>
          </a:solidFill>
          <a:ln w="12700" cap="sq">
            <a:noFill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724" name="标题 1"/>
          <p:cNvSpPr txBox="1"/>
          <p:nvPr/>
        </p:nvSpPr>
        <p:spPr>
          <a:xfrm>
            <a:off x="4489450" y="271463"/>
            <a:ext cx="4495800" cy="690562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defTabSz="685800" eaLnBrk="1" hangingPunct="1"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Source Han Sans" charset="-122"/>
                <a:ea typeface="Source Han Sans" charset="-122"/>
              </a:rPr>
              <a:t>虚拟装配通过混合现实技术模拟装配过程，如汽车生产线调试中，工人通过虚拟模型进行装配练习，提高装配效率。
虚拟装配提高装配质量，如在复杂设备装配中，工人通过虚拟装配熟悉装配流程，推动工业领域发展。</a:t>
            </a:r>
            <a:endParaRPr lang="zh-CN" altLang="en-US" sz="16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0725" name="标题 1"/>
          <p:cNvSpPr txBox="1"/>
          <p:nvPr/>
        </p:nvSpPr>
        <p:spPr>
          <a:xfrm>
            <a:off x="4494213" y="2644775"/>
            <a:ext cx="4649787" cy="10318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defTabSz="685800" eaLnBrk="1" hangingPunct="1"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Source Han Sans" charset="-122"/>
                <a:ea typeface="Source Han Sans" charset="-122"/>
              </a:rPr>
              <a:t>远程维修利用混合现实技术实现远程指导，如AR设备检修中，专家通过远程视频指导现场维修，降低维修成本。
远程维修提高维修效率，如在偏远地区设备维修中，专家通过混合现实技术远程指导，推动工业领域发展。</a:t>
            </a:r>
            <a:endParaRPr lang="zh-CN" altLang="en-US" sz="1600" dirty="0">
              <a:solidFill>
                <a:srgbClr val="000000"/>
              </a:solidFill>
              <a:latin typeface="Source Han Sans" charset="-122"/>
              <a:ea typeface="Source Han Sans" charset="-122"/>
            </a:endParaRPr>
          </a:p>
        </p:txBody>
      </p:sp>
      <p:sp>
        <p:nvSpPr>
          <p:cNvPr id="6" name="标题 1"/>
          <p:cNvSpPr txBox="1"/>
          <p:nvPr/>
        </p:nvSpPr>
        <p:spPr>
          <a:xfrm flipH="1">
            <a:off x="3532188" y="1952625"/>
            <a:ext cx="936625" cy="788988"/>
          </a:xfrm>
          <a:custGeom>
            <a:avLst/>
            <a:gdLst>
              <a:gd name="connsiteX0" fmla="*/ 1242060 w 1249680"/>
              <a:gd name="connsiteY0" fmla="*/ 0 h 1051560"/>
              <a:gd name="connsiteX1" fmla="*/ 1210396 w 1249680"/>
              <a:gd name="connsiteY1" fmla="*/ 3192 h 1051560"/>
              <a:gd name="connsiteX2" fmla="*/ 1202690 w 1249680"/>
              <a:gd name="connsiteY2" fmla="*/ 0 h 1051560"/>
              <a:gd name="connsiteX3" fmla="*/ 41910 w 1249680"/>
              <a:gd name="connsiteY3" fmla="*/ 0 h 1051560"/>
              <a:gd name="connsiteX4" fmla="*/ 0 w 1249680"/>
              <a:gd name="connsiteY4" fmla="*/ 41910 h 1051560"/>
              <a:gd name="connsiteX5" fmla="*/ 41910 w 1249680"/>
              <a:gd name="connsiteY5" fmla="*/ 83820 h 1051560"/>
              <a:gd name="connsiteX6" fmla="*/ 959100 w 1249680"/>
              <a:gd name="connsiteY6" fmla="*/ 83820 h 1051560"/>
              <a:gd name="connsiteX7" fmla="*/ 948092 w 1249680"/>
              <a:gd name="connsiteY7" fmla="*/ 89795 h 1051560"/>
              <a:gd name="connsiteX8" fmla="*/ 716280 w 1249680"/>
              <a:gd name="connsiteY8" fmla="*/ 525780 h 1051560"/>
              <a:gd name="connsiteX9" fmla="*/ 1242060 w 1249680"/>
              <a:gd name="connsiteY9" fmla="*/ 1051560 h 1051560"/>
              <a:gd name="connsiteX10" fmla="*/ 1249680 w 1249680"/>
              <a:gd name="connsiteY10" fmla="*/ 1050792 h 1051560"/>
              <a:gd name="connsiteX11" fmla="*/ 1249680 w 1249680"/>
              <a:gd name="connsiteY11" fmla="*/ 768 h 1051560"/>
            </a:gdLst>
            <a:ahLst/>
            <a:cxnLst/>
            <a:rect l="l" t="t" r="r" b="b"/>
            <a:pathLst>
              <a:path w="1249680" h="1051560">
                <a:moveTo>
                  <a:pt x="1242060" y="0"/>
                </a:moveTo>
                <a:lnTo>
                  <a:pt x="1210396" y="3192"/>
                </a:lnTo>
                <a:lnTo>
                  <a:pt x="1202690" y="0"/>
                </a:lnTo>
                <a:lnTo>
                  <a:pt x="41910" y="0"/>
                </a:lnTo>
                <a:cubicBezTo>
                  <a:pt x="18764" y="0"/>
                  <a:pt x="0" y="18764"/>
                  <a:pt x="0" y="41910"/>
                </a:cubicBezTo>
                <a:cubicBezTo>
                  <a:pt x="0" y="65056"/>
                  <a:pt x="18764" y="83820"/>
                  <a:pt x="41910" y="83820"/>
                </a:cubicBezTo>
                <a:lnTo>
                  <a:pt x="959100" y="83820"/>
                </a:lnTo>
                <a:lnTo>
                  <a:pt x="948092" y="89795"/>
                </a:lnTo>
                <a:cubicBezTo>
                  <a:pt x="808233" y="184282"/>
                  <a:pt x="716280" y="344293"/>
                  <a:pt x="716280" y="525780"/>
                </a:cubicBezTo>
                <a:cubicBezTo>
                  <a:pt x="716280" y="816160"/>
                  <a:pt x="951680" y="1051560"/>
                  <a:pt x="1242060" y="1051560"/>
                </a:cubicBezTo>
                <a:lnTo>
                  <a:pt x="1249680" y="1050792"/>
                </a:lnTo>
                <a:lnTo>
                  <a:pt x="1249680" y="768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3640138" y="2263775"/>
            <a:ext cx="182563" cy="166688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lIns="68580" tIns="34290" rIns="68580" bIns="34290" anchor="ctr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3646488" y="3433763"/>
            <a:ext cx="171450" cy="169863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/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lIns="68580" tIns="34290" rIns="68580" bIns="34290" anchor="ctr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26337" r="26337"/>
          <a:stretch>
            <a:fillRect/>
          </a:stretch>
        </p:blipFill>
        <p:spPr>
          <a:xfrm>
            <a:off x="495300" y="1952625"/>
            <a:ext cx="2750820" cy="3257550"/>
          </a:xfrm>
          <a:custGeom>
            <a:avLst/>
            <a:gdLst/>
            <a:ahLst/>
            <a:cxnLst/>
            <a:rect l="l" t="t" r="r" b="b"/>
            <a:pathLst>
              <a:path w="3667760" h="4343400">
                <a:moveTo>
                  <a:pt x="267123" y="0"/>
                </a:moveTo>
                <a:lnTo>
                  <a:pt x="3400637" y="0"/>
                </a:lnTo>
                <a:cubicBezTo>
                  <a:pt x="3548165" y="0"/>
                  <a:pt x="3667760" y="119595"/>
                  <a:pt x="3667760" y="267123"/>
                </a:cubicBezTo>
                <a:lnTo>
                  <a:pt x="3667760" y="4076277"/>
                </a:lnTo>
                <a:cubicBezTo>
                  <a:pt x="3667760" y="4223805"/>
                  <a:pt x="3548165" y="4343400"/>
                  <a:pt x="3400637" y="4343400"/>
                </a:cubicBezTo>
                <a:lnTo>
                  <a:pt x="267123" y="4343400"/>
                </a:lnTo>
                <a:cubicBezTo>
                  <a:pt x="119595" y="4343400"/>
                  <a:pt x="0" y="4223805"/>
                  <a:pt x="0" y="4076277"/>
                </a:cubicBezTo>
                <a:lnTo>
                  <a:pt x="0" y="267123"/>
                </a:lnTo>
                <a:cubicBezTo>
                  <a:pt x="0" y="119595"/>
                  <a:pt x="119595" y="0"/>
                  <a:pt x="26712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0" name="标题 1"/>
          <p:cNvSpPr txBox="1"/>
          <p:nvPr/>
        </p:nvSpPr>
        <p:spPr>
          <a:xfrm>
            <a:off x="3532188" y="4337050"/>
            <a:ext cx="936625" cy="788988"/>
          </a:xfrm>
          <a:custGeom>
            <a:avLst/>
            <a:gdLst>
              <a:gd name="connsiteX0" fmla="*/ 7620 w 1249680"/>
              <a:gd name="connsiteY0" fmla="*/ 0 h 1051560"/>
              <a:gd name="connsiteX1" fmla="*/ 39284 w 1249680"/>
              <a:gd name="connsiteY1" fmla="*/ 3192 h 1051560"/>
              <a:gd name="connsiteX2" fmla="*/ 46990 w 1249680"/>
              <a:gd name="connsiteY2" fmla="*/ 0 h 1051560"/>
              <a:gd name="connsiteX3" fmla="*/ 1207770 w 1249680"/>
              <a:gd name="connsiteY3" fmla="*/ 0 h 1051560"/>
              <a:gd name="connsiteX4" fmla="*/ 1249680 w 1249680"/>
              <a:gd name="connsiteY4" fmla="*/ 41910 h 1051560"/>
              <a:gd name="connsiteX5" fmla="*/ 1207770 w 1249680"/>
              <a:gd name="connsiteY5" fmla="*/ 83820 h 1051560"/>
              <a:gd name="connsiteX6" fmla="*/ 290581 w 1249680"/>
              <a:gd name="connsiteY6" fmla="*/ 83820 h 1051560"/>
              <a:gd name="connsiteX7" fmla="*/ 301589 w 1249680"/>
              <a:gd name="connsiteY7" fmla="*/ 89795 h 1051560"/>
              <a:gd name="connsiteX8" fmla="*/ 533400 w 1249680"/>
              <a:gd name="connsiteY8" fmla="*/ 525780 h 1051560"/>
              <a:gd name="connsiteX9" fmla="*/ 7620 w 1249680"/>
              <a:gd name="connsiteY9" fmla="*/ 1051560 h 1051560"/>
              <a:gd name="connsiteX10" fmla="*/ 0 w 1249680"/>
              <a:gd name="connsiteY10" fmla="*/ 1050792 h 1051560"/>
              <a:gd name="connsiteX11" fmla="*/ 0 w 1249680"/>
              <a:gd name="connsiteY11" fmla="*/ 768 h 1051560"/>
            </a:gdLst>
            <a:ahLst/>
            <a:cxnLst/>
            <a:rect l="l" t="t" r="r" b="b"/>
            <a:pathLst>
              <a:path w="1249680" h="1051560">
                <a:moveTo>
                  <a:pt x="7620" y="0"/>
                </a:moveTo>
                <a:lnTo>
                  <a:pt x="39284" y="3192"/>
                </a:lnTo>
                <a:lnTo>
                  <a:pt x="46990" y="0"/>
                </a:lnTo>
                <a:lnTo>
                  <a:pt x="1207770" y="0"/>
                </a:lnTo>
                <a:cubicBezTo>
                  <a:pt x="1230916" y="0"/>
                  <a:pt x="1249680" y="18764"/>
                  <a:pt x="1249680" y="41910"/>
                </a:cubicBezTo>
                <a:cubicBezTo>
                  <a:pt x="1249680" y="65056"/>
                  <a:pt x="1230916" y="83820"/>
                  <a:pt x="1207770" y="83820"/>
                </a:cubicBezTo>
                <a:lnTo>
                  <a:pt x="290581" y="83820"/>
                </a:lnTo>
                <a:lnTo>
                  <a:pt x="301589" y="89795"/>
                </a:lnTo>
                <a:cubicBezTo>
                  <a:pt x="441447" y="184282"/>
                  <a:pt x="533400" y="344293"/>
                  <a:pt x="533400" y="525780"/>
                </a:cubicBezTo>
                <a:cubicBezTo>
                  <a:pt x="533400" y="816160"/>
                  <a:pt x="298000" y="1051560"/>
                  <a:pt x="7620" y="1051560"/>
                </a:cubicBezTo>
                <a:lnTo>
                  <a:pt x="0" y="1050792"/>
                </a:lnTo>
                <a:lnTo>
                  <a:pt x="0" y="768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731" name="标题 1"/>
          <p:cNvSpPr txBox="1"/>
          <p:nvPr/>
        </p:nvSpPr>
        <p:spPr>
          <a:xfrm>
            <a:off x="4143375" y="5153025"/>
            <a:ext cx="4965700" cy="1706563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defTabSz="685800" eaLnBrk="1" hangingPunct="1">
              <a:lnSpc>
                <a:spcPct val="150000"/>
              </a:lnSpc>
            </a:pPr>
            <a:r>
              <a:rPr lang="en-US" altLang="zh-CN" sz="1600" dirty="0">
                <a:solidFill>
                  <a:srgbClr val="000000"/>
                </a:solidFill>
                <a:latin typeface="Source Han Sans" charset="-122"/>
                <a:ea typeface="Source Han Sans" charset="-122"/>
              </a:rPr>
              <a:t>混合现实工业具有高效、精准、低成本等优势，如虚拟装配减少了实际装配中的错误，推动工业领域发展。
混合现实成为工业领域的重要工具，如在智能制造中，混合现实技术优化生产流程，拓展工业应用场景。</a:t>
            </a:r>
            <a:endParaRPr lang="zh-CN" altLang="en-US" sz="1600" dirty="0">
              <a:solidFill>
                <a:srgbClr val="000000"/>
              </a:solidFill>
              <a:latin typeface="Source Han Sans" charset="-122"/>
              <a:ea typeface="Source Han Sans" charset="-122"/>
            </a:endParaRPr>
          </a:p>
        </p:txBody>
      </p:sp>
      <p:sp>
        <p:nvSpPr>
          <p:cNvPr id="12" name="标题 1"/>
          <p:cNvSpPr txBox="1"/>
          <p:nvPr/>
        </p:nvSpPr>
        <p:spPr>
          <a:xfrm>
            <a:off x="3646488" y="4649788"/>
            <a:ext cx="171450" cy="165100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/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miter/>
          </a:ln>
        </p:spPr>
        <p:txBody>
          <a:bodyPr lIns="68580" tIns="34290" rIns="68580" bIns="34290" anchor="ctr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3857611" y="10209"/>
            <a:ext cx="873982" cy="27149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kern="1200" cap="none" spc="0" normalizeH="0" baseline="0" noProof="0" dirty="0" err="1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Source Han Sans CN Bold"/>
                <a:ea typeface="Source Han Sans CN Bold"/>
                <a:cs typeface="Source Han Sans CN Bold"/>
              </a:rPr>
              <a:t>虚拟装配</a:t>
            </a:r>
            <a:endParaRPr kumimoji="1" lang="zh-CN" altLang="en-US" sz="1600" kern="1200" cap="none" spc="0" normalizeH="0" baseline="0" noProof="0" dirty="0">
              <a:solidFill>
                <a:srgbClr val="000000"/>
              </a:solidFill>
              <a:highlight>
                <a:srgbClr val="FFFF00"/>
              </a:highlight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3964703" y="2268526"/>
            <a:ext cx="4495500" cy="271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kern="1200" cap="none" spc="0" normalizeH="0" baseline="0" noProof="0" dirty="0" err="1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Source Han Sans CN Bold"/>
                <a:ea typeface="Source Han Sans CN Bold"/>
                <a:cs typeface="+mn-cs"/>
              </a:rPr>
              <a:t>远程维修</a:t>
            </a:r>
            <a:endParaRPr kumimoji="1" lang="zh-CN" altLang="en-US" sz="1600" kern="1200" cap="none" spc="0" normalizeH="0" baseline="0" noProof="0" dirty="0">
              <a:solidFill>
                <a:srgbClr val="000000">
                  <a:alpha val="100000"/>
                </a:srgbClr>
              </a:solidFill>
              <a:highlight>
                <a:srgbClr val="FFFF00"/>
              </a:highlight>
              <a:latin typeface="Source Han Sans CN Bold"/>
              <a:ea typeface="Source Han Sans CN Bold"/>
              <a:cs typeface="+mn-cs"/>
            </a:endParaRPr>
          </a:p>
        </p:txBody>
      </p:sp>
      <p:sp>
        <p:nvSpPr>
          <p:cNvPr id="15" name="标题 1"/>
          <p:cNvSpPr txBox="1"/>
          <p:nvPr/>
        </p:nvSpPr>
        <p:spPr>
          <a:xfrm>
            <a:off x="4067944" y="4847920"/>
            <a:ext cx="4495500" cy="2714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kern="1200" cap="none" spc="0" normalizeH="0" baseline="0" noProof="0" dirty="0" err="1">
                <a:solidFill>
                  <a:srgbClr val="000000">
                    <a:alpha val="100000"/>
                  </a:srgbClr>
                </a:solidFill>
                <a:highlight>
                  <a:srgbClr val="FFFF00"/>
                </a:highlight>
                <a:latin typeface="Source Han Sans CN Bold"/>
                <a:ea typeface="Source Han Sans CN Bold"/>
                <a:cs typeface="+mn-cs"/>
              </a:rPr>
              <a:t>工业优势</a:t>
            </a:r>
            <a:endParaRPr kumimoji="1" lang="zh-CN" altLang="en-US" sz="1600" kern="1200" cap="none" spc="0" normalizeH="0" baseline="0" noProof="0" dirty="0">
              <a:solidFill>
                <a:srgbClr val="000000">
                  <a:alpha val="100000"/>
                </a:srgbClr>
              </a:solidFill>
              <a:highlight>
                <a:srgbClr val="FFFF00"/>
              </a:highlight>
              <a:latin typeface="Source Han Sans CN Bold"/>
              <a:ea typeface="Source Han Sans CN Bold"/>
              <a:cs typeface="+mn-cs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141685" y="790316"/>
            <a:ext cx="1333970" cy="35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100" kern="1200" cap="none" spc="0" normalizeH="0" baseline="0" noProof="0" dirty="0" err="1">
                <a:solidFill>
                  <a:srgbClr val="FF0000"/>
                </a:solidFill>
                <a:highlight>
                  <a:srgbClr val="FFFF00"/>
                </a:highlight>
                <a:latin typeface="Source Han Sans CN Bold"/>
                <a:ea typeface="Source Han Sans CN Bold"/>
                <a:cs typeface="Source Han Sans CN Bold"/>
              </a:rPr>
              <a:t>工业领域</a:t>
            </a:r>
            <a:endParaRPr kumimoji="1" lang="zh-CN" altLang="en-US" sz="1350" kern="1200" cap="none" spc="0" normalizeH="0" baseline="0" noProof="0" dirty="0">
              <a:solidFill>
                <a:srgbClr val="FF0000"/>
              </a:solidFill>
              <a:highlight>
                <a:srgbClr val="FFFF00"/>
              </a:highlight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0737" name="组合 16"/>
          <p:cNvGrpSpPr/>
          <p:nvPr/>
        </p:nvGrpSpPr>
        <p:grpSpPr>
          <a:xfrm>
            <a:off x="161925" y="1162050"/>
            <a:ext cx="439738" cy="381000"/>
            <a:chOff x="215900" y="406400"/>
            <a:chExt cx="586739" cy="508000"/>
          </a:xfrm>
        </p:grpSpPr>
        <p:sp>
          <p:nvSpPr>
            <p:cNvPr id="18" name="标题 1"/>
            <p:cNvSpPr txBox="1"/>
            <p:nvPr/>
          </p:nvSpPr>
          <p:spPr>
            <a:xfrm>
              <a:off x="292155" y="726017"/>
              <a:ext cx="510484" cy="18838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28575" cap="sq">
              <a:noFill/>
              <a:miter/>
            </a:ln>
          </p:spPr>
          <p:txBody>
            <a:bodyPr lIns="68580" tIns="34290" rIns="68580" bIns="34290" anchor="ctr"/>
            <a:lstStyle/>
            <a:p>
              <a:pPr marR="0" algn="ctr" defTabSz="685800" eaLnBrk="1" fontAlgn="auto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350" kern="1200" cap="none" spc="0" normalizeH="0" baseline="0" noProof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9" name="标题 1"/>
            <p:cNvSpPr txBox="1"/>
            <p:nvPr/>
          </p:nvSpPr>
          <p:spPr>
            <a:xfrm>
              <a:off x="215900" y="406400"/>
              <a:ext cx="508365" cy="508000"/>
            </a:xfrm>
            <a:prstGeom prst="ellipse">
              <a:avLst/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lIns="68580" tIns="34290" rIns="68580" bIns="34290" anchor="ctr"/>
            <a:lstStyle/>
            <a:p>
              <a:pPr marR="0" algn="ctr" defTabSz="685800" eaLnBrk="1" fontAlgn="auto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350" kern="1200" cap="none" spc="0" normalizeH="0" baseline="0" noProof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 txBox="1"/>
          <p:nvPr/>
        </p:nvSpPr>
        <p:spPr>
          <a:xfrm>
            <a:off x="-36512" y="-42862"/>
            <a:ext cx="9144000" cy="5143500"/>
          </a:xfrm>
          <a:prstGeom prst="rect">
            <a:avLst/>
          </a:prstGeom>
          <a:solidFill>
            <a:schemeClr val="bg1"/>
          </a:solidFill>
          <a:ln w="12700" cap="sq">
            <a:noFill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1"/>
          <p:cNvSpPr txBox="1"/>
          <p:nvPr/>
        </p:nvSpPr>
        <p:spPr>
          <a:xfrm rot="17306640" flipH="1">
            <a:off x="2725738" y="4397375"/>
            <a:ext cx="268288" cy="38576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标题 1"/>
          <p:cNvSpPr txBox="1"/>
          <p:nvPr/>
        </p:nvSpPr>
        <p:spPr>
          <a:xfrm rot="4293360">
            <a:off x="586581" y="4396581"/>
            <a:ext cx="268288" cy="38735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495300" y="765175"/>
            <a:ext cx="2432050" cy="4335463"/>
          </a:xfrm>
          <a:prstGeom prst="roundRect">
            <a:avLst>
              <a:gd name="adj" fmla="val 3655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495300" y="4525963"/>
            <a:ext cx="2590800" cy="628650"/>
          </a:xfrm>
          <a:custGeom>
            <a:avLst/>
            <a:gdLst>
              <a:gd name="connsiteX0" fmla="*/ 0 w 4226504"/>
              <a:gd name="connsiteY0" fmla="*/ 0 h 1151328"/>
              <a:gd name="connsiteX1" fmla="*/ 49676 w 4226504"/>
              <a:gd name="connsiteY1" fmla="*/ 14539 h 1151328"/>
              <a:gd name="connsiteX2" fmla="*/ 2119602 w 4226504"/>
              <a:gd name="connsiteY2" fmla="*/ 210229 h 1151328"/>
              <a:gd name="connsiteX3" fmla="*/ 4189528 w 4226504"/>
              <a:gd name="connsiteY3" fmla="*/ 14539 h 1151328"/>
              <a:gd name="connsiteX4" fmla="*/ 4226504 w 4226504"/>
              <a:gd name="connsiteY4" fmla="*/ 3717 h 1151328"/>
              <a:gd name="connsiteX5" fmla="*/ 4226504 w 4226504"/>
              <a:gd name="connsiteY5" fmla="*/ 1100830 h 1151328"/>
              <a:gd name="connsiteX6" fmla="*/ 4176006 w 4226504"/>
              <a:gd name="connsiteY6" fmla="*/ 1151328 h 1151328"/>
              <a:gd name="connsiteX7" fmla="*/ 50498 w 4226504"/>
              <a:gd name="connsiteY7" fmla="*/ 1151328 h 1151328"/>
              <a:gd name="connsiteX8" fmla="*/ 0 w 4226504"/>
              <a:gd name="connsiteY8" fmla="*/ 1100830 h 1151328"/>
              <a:gd name="connsiteX9" fmla="*/ 0 w 4226504"/>
              <a:gd name="connsiteY9" fmla="*/ 0 h 1151328"/>
            </a:gdLst>
            <a:ahLst/>
            <a:cxnLst/>
            <a:rect l="l" t="t" r="r" b="b"/>
            <a:pathLst>
              <a:path w="4226504" h="1151328">
                <a:moveTo>
                  <a:pt x="0" y="0"/>
                </a:moveTo>
                <a:lnTo>
                  <a:pt x="49676" y="14539"/>
                </a:lnTo>
                <a:cubicBezTo>
                  <a:pt x="498270" y="132605"/>
                  <a:pt x="1257953" y="210229"/>
                  <a:pt x="2119602" y="210229"/>
                </a:cubicBezTo>
                <a:cubicBezTo>
                  <a:pt x="2981251" y="210229"/>
                  <a:pt x="3740935" y="132605"/>
                  <a:pt x="4189528" y="14539"/>
                </a:cubicBezTo>
                <a:lnTo>
                  <a:pt x="4226504" y="3717"/>
                </a:lnTo>
                <a:lnTo>
                  <a:pt x="4226504" y="1100830"/>
                </a:lnTo>
                <a:cubicBezTo>
                  <a:pt x="4226504" y="1128719"/>
                  <a:pt x="4203895" y="1151328"/>
                  <a:pt x="4176006" y="1151328"/>
                </a:cubicBezTo>
                <a:lnTo>
                  <a:pt x="50498" y="1151328"/>
                </a:lnTo>
                <a:cubicBezTo>
                  <a:pt x="22609" y="1151328"/>
                  <a:pt x="0" y="1128719"/>
                  <a:pt x="0" y="110083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775" name="标题 1"/>
          <p:cNvSpPr txBox="1"/>
          <p:nvPr/>
        </p:nvSpPr>
        <p:spPr>
          <a:xfrm>
            <a:off x="800100" y="836613"/>
            <a:ext cx="2060575" cy="34226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defTabSz="685800" eaLnBrk="1" hangingPunct="1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Source Han Sans" charset="-122"/>
                <a:ea typeface="Source Han Sans" charset="-122"/>
              </a:rPr>
              <a:t>手术模拟通过混合现实技术模拟手术过程，如虚拟手术台可模拟真实手术操作，医生进行术前练习，提高手术精准度。
手术模拟提高手术的安全性，如在复杂手术中，医生通过模拟手术熟悉手术流程，推动医疗领域发展。</a:t>
            </a:r>
            <a:endParaRPr lang="zh-CN" altLang="en-US" sz="140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标题 1"/>
          <p:cNvSpPr txBox="1"/>
          <p:nvPr/>
        </p:nvSpPr>
        <p:spPr>
          <a:xfrm>
            <a:off x="1652588" y="2540000"/>
            <a:ext cx="276225" cy="25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标题 1"/>
          <p:cNvSpPr txBox="1"/>
          <p:nvPr/>
        </p:nvSpPr>
        <p:spPr>
          <a:xfrm>
            <a:off x="1504950" y="4346575"/>
            <a:ext cx="569913" cy="569913"/>
          </a:xfrm>
          <a:prstGeom prst="ellipse">
            <a:avLst/>
          </a:prstGeom>
          <a:solidFill>
            <a:schemeClr val="accent2"/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标题 1"/>
          <p:cNvSpPr txBox="1"/>
          <p:nvPr/>
        </p:nvSpPr>
        <p:spPr>
          <a:xfrm>
            <a:off x="1590675" y="4437063"/>
            <a:ext cx="400050" cy="3889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algn="ctr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100" kern="1200" cap="none" spc="0" normalizeH="0" baseline="0" noProof="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01</a:t>
            </a: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标题 1"/>
          <p:cNvSpPr txBox="1"/>
          <p:nvPr/>
        </p:nvSpPr>
        <p:spPr>
          <a:xfrm rot="17306640" flipH="1">
            <a:off x="5502275" y="4397375"/>
            <a:ext cx="268288" cy="38576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2" name="标题 1"/>
          <p:cNvSpPr txBox="1"/>
          <p:nvPr/>
        </p:nvSpPr>
        <p:spPr>
          <a:xfrm rot="4293360">
            <a:off x="3367088" y="4397375"/>
            <a:ext cx="268288" cy="38576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标题 1"/>
          <p:cNvSpPr txBox="1"/>
          <p:nvPr/>
        </p:nvSpPr>
        <p:spPr>
          <a:xfrm>
            <a:off x="3398838" y="773113"/>
            <a:ext cx="2355850" cy="4337050"/>
          </a:xfrm>
          <a:prstGeom prst="roundRect">
            <a:avLst>
              <a:gd name="adj" fmla="val 3655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标题 1"/>
          <p:cNvSpPr txBox="1"/>
          <p:nvPr/>
        </p:nvSpPr>
        <p:spPr>
          <a:xfrm>
            <a:off x="3271838" y="4525963"/>
            <a:ext cx="2590800" cy="628650"/>
          </a:xfrm>
          <a:custGeom>
            <a:avLst/>
            <a:gdLst>
              <a:gd name="connsiteX0" fmla="*/ 0 w 4226504"/>
              <a:gd name="connsiteY0" fmla="*/ 0 h 1151328"/>
              <a:gd name="connsiteX1" fmla="*/ 49676 w 4226504"/>
              <a:gd name="connsiteY1" fmla="*/ 14539 h 1151328"/>
              <a:gd name="connsiteX2" fmla="*/ 2119602 w 4226504"/>
              <a:gd name="connsiteY2" fmla="*/ 210229 h 1151328"/>
              <a:gd name="connsiteX3" fmla="*/ 4189528 w 4226504"/>
              <a:gd name="connsiteY3" fmla="*/ 14539 h 1151328"/>
              <a:gd name="connsiteX4" fmla="*/ 4226504 w 4226504"/>
              <a:gd name="connsiteY4" fmla="*/ 3717 h 1151328"/>
              <a:gd name="connsiteX5" fmla="*/ 4226504 w 4226504"/>
              <a:gd name="connsiteY5" fmla="*/ 1100830 h 1151328"/>
              <a:gd name="connsiteX6" fmla="*/ 4176006 w 4226504"/>
              <a:gd name="connsiteY6" fmla="*/ 1151328 h 1151328"/>
              <a:gd name="connsiteX7" fmla="*/ 50498 w 4226504"/>
              <a:gd name="connsiteY7" fmla="*/ 1151328 h 1151328"/>
              <a:gd name="connsiteX8" fmla="*/ 0 w 4226504"/>
              <a:gd name="connsiteY8" fmla="*/ 1100830 h 1151328"/>
              <a:gd name="connsiteX9" fmla="*/ 0 w 4226504"/>
              <a:gd name="connsiteY9" fmla="*/ 0 h 1151328"/>
            </a:gdLst>
            <a:ahLst/>
            <a:cxnLst/>
            <a:rect l="l" t="t" r="r" b="b"/>
            <a:pathLst>
              <a:path w="4226504" h="1151328">
                <a:moveTo>
                  <a:pt x="0" y="0"/>
                </a:moveTo>
                <a:lnTo>
                  <a:pt x="49676" y="14539"/>
                </a:lnTo>
                <a:cubicBezTo>
                  <a:pt x="498270" y="132605"/>
                  <a:pt x="1257953" y="210229"/>
                  <a:pt x="2119602" y="210229"/>
                </a:cubicBezTo>
                <a:cubicBezTo>
                  <a:pt x="2981251" y="210229"/>
                  <a:pt x="3740935" y="132605"/>
                  <a:pt x="4189528" y="14539"/>
                </a:cubicBezTo>
                <a:lnTo>
                  <a:pt x="4226504" y="3717"/>
                </a:lnTo>
                <a:lnTo>
                  <a:pt x="4226504" y="1100830"/>
                </a:lnTo>
                <a:cubicBezTo>
                  <a:pt x="4226504" y="1128719"/>
                  <a:pt x="4203895" y="1151328"/>
                  <a:pt x="4176006" y="1151328"/>
                </a:cubicBezTo>
                <a:lnTo>
                  <a:pt x="50498" y="1151328"/>
                </a:lnTo>
                <a:cubicBezTo>
                  <a:pt x="22609" y="1151328"/>
                  <a:pt x="0" y="1128719"/>
                  <a:pt x="0" y="110083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783" name="标题 1"/>
          <p:cNvSpPr txBox="1"/>
          <p:nvPr/>
        </p:nvSpPr>
        <p:spPr>
          <a:xfrm>
            <a:off x="3502025" y="938213"/>
            <a:ext cx="2058988" cy="35433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defTabSz="685800" eaLnBrk="1" hangingPunct="1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Source Han Sans" charset="-122"/>
                <a:ea typeface="Source Han Sans" charset="-122"/>
              </a:rPr>
              <a:t>康复训练利用混合现实技术辅助康复，如VR心理治疗可帮助患者缓解心理压力，加速康复，提升康复效果。
康复训练利用混合现实技术增强康复动力，如在肢体康复中，患者通过虚拟环境进行康复训练，推动医疗领域发展。</a:t>
            </a:r>
            <a:endParaRPr lang="zh-CN" altLang="en-US" sz="1400" dirty="0">
              <a:solidFill>
                <a:srgbClr val="262626"/>
              </a:solidFill>
              <a:latin typeface="Source Han Sans" charset="-122"/>
              <a:ea typeface="Source Han Sans" charset="-122"/>
            </a:endParaRPr>
          </a:p>
        </p:txBody>
      </p:sp>
      <p:sp>
        <p:nvSpPr>
          <p:cNvPr id="16" name="标题 1"/>
          <p:cNvSpPr txBox="1"/>
          <p:nvPr/>
        </p:nvSpPr>
        <p:spPr>
          <a:xfrm>
            <a:off x="4429125" y="2540000"/>
            <a:ext cx="276225" cy="25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4283075" y="4346575"/>
            <a:ext cx="568325" cy="569913"/>
          </a:xfrm>
          <a:prstGeom prst="ellipse">
            <a:avLst/>
          </a:prstGeom>
          <a:solidFill>
            <a:schemeClr val="accent2"/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8" name="标题 1"/>
          <p:cNvSpPr txBox="1"/>
          <p:nvPr/>
        </p:nvSpPr>
        <p:spPr>
          <a:xfrm>
            <a:off x="4367213" y="4437063"/>
            <a:ext cx="400050" cy="3889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algn="ctr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100" kern="1200" cap="none" spc="0" normalizeH="0" baseline="0" noProof="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02</a:t>
            </a: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标题 1"/>
          <p:cNvSpPr txBox="1"/>
          <p:nvPr/>
        </p:nvSpPr>
        <p:spPr>
          <a:xfrm rot="17306640" flipH="1">
            <a:off x="8279606" y="4396581"/>
            <a:ext cx="268288" cy="38735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标题 1"/>
          <p:cNvSpPr txBox="1"/>
          <p:nvPr/>
        </p:nvSpPr>
        <p:spPr>
          <a:xfrm rot="4293360">
            <a:off x="6140450" y="4397375"/>
            <a:ext cx="268288" cy="38576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标题 1"/>
          <p:cNvSpPr txBox="1"/>
          <p:nvPr/>
        </p:nvSpPr>
        <p:spPr>
          <a:xfrm>
            <a:off x="6273800" y="679450"/>
            <a:ext cx="2274888" cy="4335463"/>
          </a:xfrm>
          <a:prstGeom prst="roundRect">
            <a:avLst>
              <a:gd name="adj" fmla="val 3655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标题 1"/>
          <p:cNvSpPr txBox="1"/>
          <p:nvPr/>
        </p:nvSpPr>
        <p:spPr>
          <a:xfrm>
            <a:off x="6048375" y="4525963"/>
            <a:ext cx="2590800" cy="628650"/>
          </a:xfrm>
          <a:custGeom>
            <a:avLst/>
            <a:gdLst>
              <a:gd name="connsiteX0" fmla="*/ 0 w 4226504"/>
              <a:gd name="connsiteY0" fmla="*/ 0 h 1151328"/>
              <a:gd name="connsiteX1" fmla="*/ 49676 w 4226504"/>
              <a:gd name="connsiteY1" fmla="*/ 14539 h 1151328"/>
              <a:gd name="connsiteX2" fmla="*/ 2119602 w 4226504"/>
              <a:gd name="connsiteY2" fmla="*/ 210229 h 1151328"/>
              <a:gd name="connsiteX3" fmla="*/ 4189528 w 4226504"/>
              <a:gd name="connsiteY3" fmla="*/ 14539 h 1151328"/>
              <a:gd name="connsiteX4" fmla="*/ 4226504 w 4226504"/>
              <a:gd name="connsiteY4" fmla="*/ 3717 h 1151328"/>
              <a:gd name="connsiteX5" fmla="*/ 4226504 w 4226504"/>
              <a:gd name="connsiteY5" fmla="*/ 1100830 h 1151328"/>
              <a:gd name="connsiteX6" fmla="*/ 4176006 w 4226504"/>
              <a:gd name="connsiteY6" fmla="*/ 1151328 h 1151328"/>
              <a:gd name="connsiteX7" fmla="*/ 50498 w 4226504"/>
              <a:gd name="connsiteY7" fmla="*/ 1151328 h 1151328"/>
              <a:gd name="connsiteX8" fmla="*/ 0 w 4226504"/>
              <a:gd name="connsiteY8" fmla="*/ 1100830 h 1151328"/>
              <a:gd name="connsiteX9" fmla="*/ 0 w 4226504"/>
              <a:gd name="connsiteY9" fmla="*/ 0 h 1151328"/>
            </a:gdLst>
            <a:ahLst/>
            <a:cxnLst/>
            <a:rect l="l" t="t" r="r" b="b"/>
            <a:pathLst>
              <a:path w="4226504" h="1151328">
                <a:moveTo>
                  <a:pt x="0" y="0"/>
                </a:moveTo>
                <a:lnTo>
                  <a:pt x="49676" y="14539"/>
                </a:lnTo>
                <a:cubicBezTo>
                  <a:pt x="498270" y="132605"/>
                  <a:pt x="1257953" y="210229"/>
                  <a:pt x="2119602" y="210229"/>
                </a:cubicBezTo>
                <a:cubicBezTo>
                  <a:pt x="2981251" y="210229"/>
                  <a:pt x="3740935" y="132605"/>
                  <a:pt x="4189528" y="14539"/>
                </a:cubicBezTo>
                <a:lnTo>
                  <a:pt x="4226504" y="3717"/>
                </a:lnTo>
                <a:lnTo>
                  <a:pt x="4226504" y="1100830"/>
                </a:lnTo>
                <a:cubicBezTo>
                  <a:pt x="4226504" y="1128719"/>
                  <a:pt x="4203895" y="1151328"/>
                  <a:pt x="4176006" y="1151328"/>
                </a:cubicBezTo>
                <a:lnTo>
                  <a:pt x="50498" y="1151328"/>
                </a:lnTo>
                <a:cubicBezTo>
                  <a:pt x="22609" y="1151328"/>
                  <a:pt x="0" y="1128719"/>
                  <a:pt x="0" y="110083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2791" name="标题 1"/>
          <p:cNvSpPr txBox="1"/>
          <p:nvPr/>
        </p:nvSpPr>
        <p:spPr>
          <a:xfrm>
            <a:off x="6308725" y="679450"/>
            <a:ext cx="2070100" cy="1582738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defTabSz="685800" eaLnBrk="1" hangingPunct="1">
              <a:lnSpc>
                <a:spcPct val="150000"/>
              </a:lnSpc>
            </a:pPr>
            <a:endParaRPr lang="en-US" altLang="zh-CN" sz="1400" dirty="0">
              <a:solidFill>
                <a:srgbClr val="262626"/>
              </a:solidFill>
              <a:latin typeface="Source Han Sans" charset="-122"/>
              <a:ea typeface="Source Han Sans" charset="-122"/>
            </a:endParaRPr>
          </a:p>
          <a:p>
            <a:pPr defTabSz="685800" eaLnBrk="1" hangingPunct="1">
              <a:lnSpc>
                <a:spcPct val="150000"/>
              </a:lnSpc>
            </a:pPr>
            <a:r>
              <a:rPr lang="en-US" altLang="zh-CN" sz="1400" dirty="0">
                <a:solidFill>
                  <a:srgbClr val="262626"/>
                </a:solidFill>
                <a:latin typeface="Source Han Sans" charset="-122"/>
                <a:ea typeface="Source Han Sans" charset="-122"/>
              </a:rPr>
              <a:t>混合现实医疗具有精准、安全、高效等优势，如虚拟手术模拟为医生提供精准的术前训练，推动医疗领域发展。
混合现实成为医疗领域的重要辅助工具，如在远程医疗中，医生通过混合现实技术实时指导手术，拓展医疗应用场景。</a:t>
            </a:r>
            <a:endParaRPr lang="zh-CN" altLang="en-US" sz="1400" dirty="0">
              <a:solidFill>
                <a:srgbClr val="262626"/>
              </a:solidFill>
              <a:latin typeface="Source Han Sans" charset="-122"/>
              <a:ea typeface="Source Han Sans" charset="-122"/>
            </a:endParaRPr>
          </a:p>
        </p:txBody>
      </p:sp>
      <p:sp>
        <p:nvSpPr>
          <p:cNvPr id="24" name="标题 1"/>
          <p:cNvSpPr txBox="1"/>
          <p:nvPr/>
        </p:nvSpPr>
        <p:spPr>
          <a:xfrm>
            <a:off x="7205663" y="2540000"/>
            <a:ext cx="276225" cy="25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5" name="标题 1"/>
          <p:cNvSpPr txBox="1"/>
          <p:nvPr/>
        </p:nvSpPr>
        <p:spPr>
          <a:xfrm>
            <a:off x="7059613" y="4346575"/>
            <a:ext cx="569913" cy="569913"/>
          </a:xfrm>
          <a:prstGeom prst="ellipse">
            <a:avLst/>
          </a:prstGeom>
          <a:solidFill>
            <a:schemeClr val="accent2"/>
          </a:solidFill>
          <a:ln cap="sq">
            <a:noFill/>
            <a:prstDash val="solid"/>
            <a:miter/>
          </a:ln>
        </p:spPr>
        <p:txBody>
          <a:bodyPr lIns="68580" tIns="34290" rIns="68580" bIns="34290" anchor="ctr"/>
          <a:lstStyle/>
          <a:p>
            <a:pPr marR="0" algn="ctr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350" kern="1200" cap="none" spc="0" normalizeH="0" baseline="0" noProof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6" name="标题 1"/>
          <p:cNvSpPr txBox="1"/>
          <p:nvPr/>
        </p:nvSpPr>
        <p:spPr>
          <a:xfrm>
            <a:off x="7143750" y="4437063"/>
            <a:ext cx="400050" cy="3889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/>
          <a:p>
            <a:pPr marR="0" algn="ctr" defTabSz="6858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100" kern="1200" cap="none" spc="0" normalizeH="0" baseline="0" noProof="0" dirty="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03</a:t>
            </a:r>
            <a:endParaRPr kumimoji="1" lang="zh-CN" altLang="en-US" sz="1350" kern="1200" cap="none" spc="0" normalizeH="0" baseline="0" noProof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7" name="标题 1"/>
          <p:cNvSpPr txBox="1"/>
          <p:nvPr/>
        </p:nvSpPr>
        <p:spPr>
          <a:xfrm>
            <a:off x="6439869" y="5228922"/>
            <a:ext cx="2084186" cy="4093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R="0" algn="ct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kern="1200" cap="none" spc="0" normalizeH="0" baseline="0" noProof="0" dirty="0" err="1">
                <a:solidFill>
                  <a:srgbClr val="262626">
                    <a:alpha val="100000"/>
                  </a:srgbClr>
                </a:solidFill>
                <a:highlight>
                  <a:srgbClr val="FFFF00"/>
                </a:highlight>
                <a:latin typeface="Source Han Sans CN Bold"/>
                <a:ea typeface="Source Han Sans CN Bold"/>
                <a:cs typeface="+mn-cs"/>
              </a:rPr>
              <a:t>医疗优势</a:t>
            </a:r>
            <a:endParaRPr kumimoji="1" lang="zh-CN" altLang="en-US" sz="1600" kern="1200" cap="none" spc="0" normalizeH="0" baseline="0" noProof="0" dirty="0">
              <a:solidFill>
                <a:srgbClr val="262626">
                  <a:alpha val="100000"/>
                </a:srgbClr>
              </a:solidFill>
              <a:highlight>
                <a:srgbClr val="FFFF00"/>
              </a:highlight>
              <a:latin typeface="Source Han Sans CN Bold"/>
              <a:ea typeface="Source Han Sans CN Bold"/>
              <a:cs typeface="+mn-cs"/>
            </a:endParaRPr>
          </a:p>
        </p:txBody>
      </p:sp>
      <p:sp>
        <p:nvSpPr>
          <p:cNvPr id="28" name="标题 1"/>
          <p:cNvSpPr txBox="1"/>
          <p:nvPr/>
        </p:nvSpPr>
        <p:spPr>
          <a:xfrm>
            <a:off x="3620394" y="5208293"/>
            <a:ext cx="2084186" cy="4093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R="0" algn="ct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kern="1200" cap="none" spc="0" normalizeH="0" baseline="0" noProof="0" dirty="0" err="1">
                <a:solidFill>
                  <a:srgbClr val="262626">
                    <a:alpha val="100000"/>
                  </a:srgbClr>
                </a:solidFill>
                <a:highlight>
                  <a:srgbClr val="FFFF00"/>
                </a:highlight>
                <a:latin typeface="Source Han Sans CN Bold"/>
                <a:ea typeface="Source Han Sans CN Bold"/>
                <a:cs typeface="+mn-cs"/>
              </a:rPr>
              <a:t>康复训练</a:t>
            </a:r>
            <a:endParaRPr kumimoji="1" lang="zh-CN" altLang="en-US" sz="1600" kern="1200" cap="none" spc="0" normalizeH="0" baseline="0" noProof="0" dirty="0">
              <a:solidFill>
                <a:srgbClr val="262626">
                  <a:alpha val="100000"/>
                </a:srgbClr>
              </a:solidFill>
              <a:highlight>
                <a:srgbClr val="FFFF00"/>
              </a:highlight>
              <a:latin typeface="Source Han Sans CN Bold"/>
              <a:ea typeface="Source Han Sans CN Bold"/>
              <a:cs typeface="+mn-cs"/>
            </a:endParaRPr>
          </a:p>
        </p:txBody>
      </p:sp>
      <p:sp>
        <p:nvSpPr>
          <p:cNvPr id="29" name="标题 1"/>
          <p:cNvSpPr txBox="1"/>
          <p:nvPr/>
        </p:nvSpPr>
        <p:spPr>
          <a:xfrm>
            <a:off x="638112" y="5244045"/>
            <a:ext cx="2084186" cy="4093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R="0" algn="ctr" defTabSz="685800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kern="1200" cap="none" spc="0" normalizeH="0" baseline="0" noProof="0" dirty="0" err="1">
                <a:solidFill>
                  <a:srgbClr val="262626">
                    <a:alpha val="100000"/>
                  </a:srgbClr>
                </a:solidFill>
                <a:highlight>
                  <a:srgbClr val="FFFF00"/>
                </a:highlight>
                <a:latin typeface="Source Han Sans CN Bold"/>
                <a:ea typeface="Source Han Sans CN Bold"/>
                <a:cs typeface="Source Han Sans CN Bold"/>
              </a:rPr>
              <a:t>手术模拟</a:t>
            </a:r>
            <a:endParaRPr kumimoji="1" lang="zh-CN" altLang="en-US" sz="1600" kern="1200" cap="none" spc="0" normalizeH="0" baseline="0" noProof="0" dirty="0">
              <a:solidFill>
                <a:srgbClr val="000000"/>
              </a:solidFill>
              <a:highlight>
                <a:srgbClr val="FFFF00"/>
              </a:highlight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0" name="标题 1"/>
          <p:cNvSpPr txBox="1"/>
          <p:nvPr/>
        </p:nvSpPr>
        <p:spPr>
          <a:xfrm>
            <a:off x="566738" y="-34925"/>
            <a:ext cx="8004175" cy="3508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marR="0" defTabSz="685800" eaLnBrk="1" fontAlgn="auto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2100" kern="1200" cap="none" spc="0" normalizeH="0" baseline="0" noProof="0" dirty="0" err="1">
                <a:solidFill>
                  <a:srgbClr val="262626">
                    <a:alpha val="100000"/>
                  </a:srgbClr>
                </a:solidFill>
                <a:latin typeface="Source Han Sans CN Bold"/>
                <a:ea typeface="Source Han Sans CN Bold"/>
                <a:cs typeface="Source Han Sans CN Bold"/>
              </a:rPr>
              <a:t>医疗领域</a:t>
            </a:r>
            <a:endParaRPr kumimoji="1" lang="zh-CN" altLang="en-US" sz="1350" kern="1200" cap="none" spc="0" normalizeH="0" baseline="0" noProof="0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32799" name="组合 30"/>
          <p:cNvGrpSpPr/>
          <p:nvPr/>
        </p:nvGrpSpPr>
        <p:grpSpPr>
          <a:xfrm>
            <a:off x="55563" y="0"/>
            <a:ext cx="439737" cy="381000"/>
            <a:chOff x="215900" y="406400"/>
            <a:chExt cx="586739" cy="508000"/>
          </a:xfrm>
        </p:grpSpPr>
        <p:sp>
          <p:nvSpPr>
            <p:cNvPr id="32" name="标题 1"/>
            <p:cNvSpPr txBox="1"/>
            <p:nvPr/>
          </p:nvSpPr>
          <p:spPr>
            <a:xfrm>
              <a:off x="292155" y="726017"/>
              <a:ext cx="510484" cy="188383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28575" cap="sq">
              <a:noFill/>
              <a:miter/>
            </a:ln>
          </p:spPr>
          <p:txBody>
            <a:bodyPr lIns="68580" tIns="34290" rIns="68580" bIns="34290" anchor="ctr"/>
            <a:lstStyle/>
            <a:p>
              <a:pPr marR="0" algn="ctr" defTabSz="685800" eaLnBrk="1" fontAlgn="auto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350" kern="1200" cap="none" spc="0" normalizeH="0" baseline="0" noProof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" name="标题 1"/>
            <p:cNvSpPr txBox="1"/>
            <p:nvPr/>
          </p:nvSpPr>
          <p:spPr>
            <a:xfrm>
              <a:off x="215900" y="406400"/>
              <a:ext cx="508366" cy="508000"/>
            </a:xfrm>
            <a:prstGeom prst="ellipse">
              <a:avLst/>
            </a:prstGeom>
            <a:solidFill>
              <a:schemeClr val="accent1"/>
            </a:solidFill>
            <a:ln w="12700" cap="sq">
              <a:noFill/>
              <a:miter/>
            </a:ln>
          </p:spPr>
          <p:txBody>
            <a:bodyPr lIns="68580" tIns="34290" rIns="68580" bIns="34290" anchor="ctr"/>
            <a:lstStyle/>
            <a:p>
              <a:pPr marR="0" algn="ctr" defTabSz="685800" eaLnBrk="1" fontAlgn="auto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350" kern="1200" cap="none" spc="0" normalizeH="0" baseline="0" noProof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3794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23850" y="-387350"/>
            <a:ext cx="9791700" cy="71294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raight Edge">
  <a:themeElements>
    <a:clrScheme name="Straight Edge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Straight Edg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traight Edge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ight Edge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76843"/>
      </a:accent1>
      <a:accent2>
        <a:srgbClr val="C9A369"/>
      </a:accent2>
      <a:accent3>
        <a:srgbClr val="7B7B7B"/>
      </a:accent3>
      <a:accent4>
        <a:srgbClr val="9B9F44"/>
      </a:accent4>
      <a:accent5>
        <a:srgbClr val="E43529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Designs\Straight Edge.pot</Template>
  <TotalTime>0</TotalTime>
  <Words>3932</Words>
  <Application>WPS 演示</Application>
  <PresentationFormat/>
  <Paragraphs>250</Paragraphs>
  <Slides>25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53" baseType="lpstr">
      <vt:lpstr>Arial</vt:lpstr>
      <vt:lpstr>宋体</vt:lpstr>
      <vt:lpstr>Wingdings</vt:lpstr>
      <vt:lpstr>Times New Roman</vt:lpstr>
      <vt:lpstr>等线</vt:lpstr>
      <vt:lpstr>等线 Light</vt:lpstr>
      <vt:lpstr>华文新魏</vt:lpstr>
      <vt:lpstr>华文彩云</vt:lpstr>
      <vt:lpstr>Wingdings 2</vt:lpstr>
      <vt:lpstr>方正舒体</vt:lpstr>
      <vt:lpstr>隶书</vt:lpstr>
      <vt:lpstr>Source Han Serif SC Bold</vt:lpstr>
      <vt:lpstr>Source Han Sans CN Bold</vt:lpstr>
      <vt:lpstr>Source Han Sans</vt:lpstr>
      <vt:lpstr>OPPOSans H</vt:lpstr>
      <vt:lpstr>Inter</vt:lpstr>
      <vt:lpstr>ESRI AMFM Electric</vt:lpstr>
      <vt:lpstr>微软雅黑</vt:lpstr>
      <vt:lpstr>仿宋</vt:lpstr>
      <vt:lpstr>OPPOSans B</vt:lpstr>
      <vt:lpstr>Source Han Serif SC Bold</vt:lpstr>
      <vt:lpstr>Source Han Sans CN Bold</vt:lpstr>
      <vt:lpstr>Source Han Sans</vt:lpstr>
      <vt:lpstr>OPPOSans H</vt:lpstr>
      <vt:lpstr>OPPOSans B</vt:lpstr>
      <vt:lpstr>Arial Unicode MS</vt:lpstr>
      <vt:lpstr>Straight Edge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 虚拟地理环境概念、特征及其技术框架</dc:title>
  <dc:creator>cici</dc:creator>
  <cp:lastModifiedBy>许愿</cp:lastModifiedBy>
  <cp:revision>94</cp:revision>
  <dcterms:created xsi:type="dcterms:W3CDTF">2005-03-26T12:59:15Z</dcterms:created>
  <dcterms:modified xsi:type="dcterms:W3CDTF">2026-05-25T16:04:01Z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  <property fmtid="{D5CDD505-2E9C-101B-9397-08002B2CF9AE}" pid="3" name="ICV">
    <vt:lpwstr>39037BE9FC404E1B9A90CD4F9F81CA3C_13</vt:lpwstr>
  </property>
  <property fmtid="{D5CDD505-2E9C-101B-9397-08002B2CF9AE}" pid="4" name="KSOProductBuildVer">
    <vt:lpwstr>2052-12.1.0.26375</vt:lpwstr>
  </property>
</Properties>
</file>