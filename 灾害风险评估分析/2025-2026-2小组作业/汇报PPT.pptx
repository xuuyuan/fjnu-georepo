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emf" ContentType="image/x-emf"/>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6"/>
  </p:notesMasterIdLst>
  <p:sldIdLst>
    <p:sldId id="256" r:id="rId4"/>
    <p:sldId id="297" r:id="rId5"/>
    <p:sldId id="282" r:id="rId7"/>
    <p:sldId id="291" r:id="rId8"/>
    <p:sldId id="292" r:id="rId9"/>
    <p:sldId id="260" r:id="rId10"/>
    <p:sldId id="261" r:id="rId11"/>
    <p:sldId id="298" r:id="rId12"/>
    <p:sldId id="263" r:id="rId13"/>
    <p:sldId id="294" r:id="rId14"/>
    <p:sldId id="300" r:id="rId15"/>
    <p:sldId id="301" r:id="rId16"/>
    <p:sldId id="302" r:id="rId17"/>
    <p:sldId id="306" r:id="rId18"/>
    <p:sldId id="303" r:id="rId19"/>
    <p:sldId id="305" r:id="rId20"/>
    <p:sldId id="323" r:id="rId21"/>
    <p:sldId id="307" r:id="rId22"/>
    <p:sldId id="262" r:id="rId23"/>
    <p:sldId id="308" r:id="rId24"/>
    <p:sldId id="309" r:id="rId25"/>
    <p:sldId id="310" r:id="rId26"/>
    <p:sldId id="311" r:id="rId27"/>
    <p:sldId id="312" r:id="rId28"/>
    <p:sldId id="313" r:id="rId29"/>
    <p:sldId id="314" r:id="rId30"/>
    <p:sldId id="315" r:id="rId31"/>
    <p:sldId id="283" r:id="rId32"/>
    <p:sldId id="319" r:id="rId33"/>
    <p:sldId id="316" r:id="rId34"/>
    <p:sldId id="317" r:id="rId35"/>
    <p:sldId id="318" r:id="rId36"/>
    <p:sldId id="267" r:id="rId37"/>
    <p:sldId id="320" r:id="rId38"/>
    <p:sldId id="321" r:id="rId39"/>
    <p:sldId id="322"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9"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776D"/>
    <a:srgbClr val="8C9677"/>
    <a:srgbClr val="D4F9FF"/>
    <a:srgbClr val="9DC0BC"/>
    <a:srgbClr val="E9F5F5"/>
    <a:srgbClr val="3E7871"/>
    <a:srgbClr val="9DD5D6"/>
    <a:srgbClr val="93BBD7"/>
    <a:srgbClr val="0077C1"/>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ACE2EB90-7189-40AD-8506-3E954BF66239}" styleName="表样式 1 12">
    <a:wholeTbl>
      <a:tcTxStyle>
        <a:fontRef idx="none">
          <a:srgbClr val="000000"/>
        </a:fontRef>
      </a:tcTxStyle>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rgbClr val="FFFFFF"/>
          </a:solidFill>
        </a:fill>
      </a:tcStyle>
    </a:wholeTbl>
    <a:band2H>
      <a:tcStyle>
        <a:tcBdr/>
        <a:fill>
          <a:solidFill>
            <a:schemeClr val="dk1">
              <a:lumMod val="10000"/>
              <a:lumOff val="90000"/>
            </a:schemeClr>
          </a:solidFill>
        </a:fill>
      </a:tcStyle>
    </a:band2H>
    <a:band1V>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10000"/>
              <a:lumOff val="90000"/>
            </a:schemeClr>
          </a:solidFill>
        </a:fill>
      </a:tcStyle>
    </a:band1V>
    <a:lastCol>
      <a:tcTxStyle b="on">
        <a:fontRef idx="none">
          <a:srgbClr val="08090C"/>
        </a:fontRef>
      </a:tcTxStyle>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lastCol>
    <a:firstCol>
      <a:tcTxStyle b="on">
        <a:fontRef idx="none">
          <a:srgbClr val="08090C"/>
        </a:fontRef>
      </a:tcTxStyle>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firstCol>
    <a:lastRow>
      <a:tcTxStyle b="on">
        <a:fontRef idx="none">
          <a:schemeClr val="dk1"/>
        </a:fontRef>
      </a:tcTxStyle>
      <a:tcStyle>
        <a:tcBdr>
          <a:left>
            <a:ln>
              <a:noFill/>
            </a:ln>
          </a:left>
          <a:right>
            <a:ln>
              <a:noFill/>
            </a:ln>
          </a:right>
          <a:top>
            <a:ln w="9525" cmpd="sng">
              <a:solidFill>
                <a:schemeClr val="dk1">
                  <a:lumMod val="40000"/>
                  <a:lumOff val="60000"/>
                </a:schemeClr>
              </a:solidFill>
              <a:prstDash val="solid"/>
            </a:ln>
          </a:top>
          <a:bottom>
            <a:ln w="12700" cmpd="sng">
              <a:solidFill>
                <a:schemeClr val="dk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dk1">
                  <a:lumMod val="40000"/>
                  <a:lumOff val="60000"/>
                </a:schemeClr>
              </a:solidFill>
              <a:prstDash val="solid"/>
            </a:ln>
          </a:top>
          <a:bottom>
            <a:ln w="12700" cmpd="sng">
              <a:solidFill>
                <a:schemeClr val="dk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dk1">
                  <a:lumMod val="40000"/>
                  <a:lumOff val="60000"/>
                </a:schemeClr>
              </a:solidFill>
              <a:prstDash val="solid"/>
            </a:ln>
          </a:top>
          <a:bottom>
            <a:ln w="12700" cmpd="sng">
              <a:solidFill>
                <a:schemeClr val="dk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fill>
          <a:solidFill>
            <a:schemeClr val="dk1"/>
          </a:solidFill>
        </a:fill>
      </a:tcStyle>
    </a:firstRow>
  </a:tblStyle>
  <a:tblStyle styleId="{707F6E89-564A-4F93-9213-9C0623A6A274}" styleName="表样式 1">
    <a:wholeTbl>
      <a:tcTxStyle>
        <a:fontRef idx="none">
          <a:srgbClr val="000000"/>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rgbClr val="FFFFFF"/>
          </a:solidFill>
        </a:fill>
      </a:tcStyle>
    </a:wholeTbl>
    <a:band2H>
      <a:tcStyle>
        <a:tcBdr/>
        <a:fill>
          <a:solidFill>
            <a:schemeClr val="dk1">
              <a:lumMod val="10000"/>
              <a:lumOff val="90000"/>
            </a:schemeClr>
          </a:solidFill>
        </a:fill>
      </a:tcStyle>
    </a:band2H>
    <a:band1V>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dk1"/>
              </a:solidFill>
              <a:prstDash val="solid"/>
            </a:ln>
          </a:top>
          <a:bottom>
            <a:ln w="9525" cmpd="sng">
              <a:solidFill>
                <a:schemeClr val="dk1"/>
              </a:solidFill>
              <a:prstDash val="solid"/>
            </a:ln>
          </a:bottom>
          <a:insideH>
            <a:ln>
              <a:noFill/>
            </a:ln>
          </a:insideH>
          <a:insideV>
            <a:ln>
              <a:noFill/>
            </a:ln>
          </a:insideV>
        </a:tcBdr>
        <a:fill>
          <a:solidFill>
            <a:schemeClr val="dk1">
              <a:lumMod val="20000"/>
              <a:lumOff val="80000"/>
            </a:schemeClr>
          </a:solidFill>
        </a:fill>
      </a:tcStyle>
    </a:firstCol>
    <a:la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dk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dk1"/>
          </a:solidFill>
        </a:fill>
      </a:tcStyle>
    </a:firstRow>
  </a:tblStyle>
  <a:tblStyle styleId="{7B14B4A9-AB97-45E6-8364-B7BE8BFF0F06}" styleName="表样式 1 12">
    <a:wholeTbl>
      <a:tcTxStyle>
        <a:fontRef idx="none">
          <a:srgbClr val="000000"/>
        </a:fontRef>
      </a:tcTxStyle>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rgbClr val="FFFFFF"/>
          </a:solidFill>
        </a:fill>
      </a:tcStyle>
    </a:wholeTbl>
    <a:band2H>
      <a:tcStyle>
        <a:tcBdr/>
        <a:fill>
          <a:solidFill>
            <a:schemeClr val="dk1">
              <a:lumMod val="10000"/>
              <a:lumOff val="90000"/>
            </a:schemeClr>
          </a:solidFill>
        </a:fill>
      </a:tcStyle>
    </a:band2H>
    <a:band1V>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10000"/>
              <a:lumOff val="90000"/>
            </a:schemeClr>
          </a:solidFill>
        </a:fill>
      </a:tcStyle>
    </a:band1V>
    <a:lastCol>
      <a:tcTxStyle b="on">
        <a:fontRef idx="none">
          <a:srgbClr val="08090C"/>
        </a:fontRef>
      </a:tcTxStyle>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lastCol>
    <a:firstCol>
      <a:tcTxStyle b="on">
        <a:fontRef idx="none">
          <a:srgbClr val="08090C"/>
        </a:fontRef>
      </a:tcTxStyle>
      <a:tcStyle>
        <a:tcBdr>
          <a:left>
            <a:ln>
              <a:noFill/>
            </a:ln>
          </a:left>
          <a:right>
            <a:ln>
              <a:noFill/>
            </a:ln>
          </a:right>
          <a:top>
            <a:ln w="12700" cmpd="sng">
              <a:solidFill>
                <a:schemeClr val="dk1"/>
              </a:solidFill>
              <a:prstDash val="solid"/>
            </a:ln>
          </a:top>
          <a:bottom>
            <a:ln w="12700" cmpd="sng">
              <a:solidFill>
                <a:schemeClr val="dk1"/>
              </a:solidFill>
              <a:prstDash val="solid"/>
            </a:ln>
          </a:bottom>
          <a:insideH>
            <a:ln w="9525" cmpd="sng">
              <a:solidFill>
                <a:schemeClr val="dk1">
                  <a:lumMod val="40000"/>
                  <a:lumOff val="60000"/>
                </a:schemeClr>
              </a:solidFill>
              <a:prstDash val="solid"/>
            </a:ln>
          </a:insideH>
          <a:insideV>
            <a:ln>
              <a:noFill/>
            </a:ln>
          </a:insideV>
        </a:tcBdr>
        <a:fill>
          <a:solidFill>
            <a:schemeClr val="dk1">
              <a:lumMod val="20000"/>
              <a:lumOff val="80000"/>
            </a:schemeClr>
          </a:solidFill>
        </a:fill>
      </a:tcStyle>
    </a:firstCol>
    <a:lastRow>
      <a:tcTxStyle b="on">
        <a:fontRef idx="none">
          <a:schemeClr val="dk1"/>
        </a:fontRef>
      </a:tcTxStyle>
      <a:tcStyle>
        <a:tcBdr>
          <a:left>
            <a:ln>
              <a:noFill/>
            </a:ln>
          </a:left>
          <a:right>
            <a:ln>
              <a:noFill/>
            </a:ln>
          </a:right>
          <a:top>
            <a:ln w="9525" cmpd="sng">
              <a:solidFill>
                <a:schemeClr val="dk1">
                  <a:lumMod val="40000"/>
                  <a:lumOff val="60000"/>
                </a:schemeClr>
              </a:solidFill>
              <a:prstDash val="solid"/>
            </a:ln>
          </a:top>
          <a:bottom>
            <a:ln w="12700" cmpd="sng">
              <a:solidFill>
                <a:schemeClr val="dk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dk1">
                  <a:lumMod val="40000"/>
                  <a:lumOff val="60000"/>
                </a:schemeClr>
              </a:solidFill>
              <a:prstDash val="solid"/>
            </a:ln>
          </a:top>
          <a:bottom>
            <a:ln w="12700" cmpd="sng">
              <a:solidFill>
                <a:schemeClr val="dk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dk1">
                  <a:lumMod val="40000"/>
                  <a:lumOff val="60000"/>
                </a:schemeClr>
              </a:solidFill>
              <a:prstDash val="solid"/>
            </a:ln>
          </a:top>
          <a:bottom>
            <a:ln w="12700" cmpd="sng">
              <a:solidFill>
                <a:schemeClr val="dk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66" d="100"/>
          <a:sy n="66" d="100"/>
        </p:scale>
        <p:origin x="-2256" y="-1146"/>
      </p:cViewPr>
      <p:guideLst>
        <p:guide orient="horz" pos="2339"/>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93BBD7"/>
            </a:solidFill>
          </c:spPr>
          <c:explosion val="0"/>
          <c:dPt>
            <c:idx val="0"/>
            <c:bubble3D val="0"/>
            <c:spPr>
              <a:solidFill>
                <a:srgbClr val="9DC0BC"/>
              </a:solidFill>
              <a:ln w="19050">
                <a:solidFill>
                  <a:schemeClr val="lt1"/>
                </a:solidFill>
              </a:ln>
              <a:effectLst/>
            </c:spPr>
          </c:dPt>
          <c:dPt>
            <c:idx val="1"/>
            <c:bubble3D val="0"/>
            <c:spPr>
              <a:solidFill>
                <a:srgbClr val="27776D"/>
              </a:solidFill>
              <a:ln w="19050">
                <a:solidFill>
                  <a:schemeClr val="lt1"/>
                </a:solidFill>
              </a:ln>
              <a:effectLst/>
            </c:spPr>
          </c:dPt>
          <c:dPt>
            <c:idx val="2"/>
            <c:bubble3D val="0"/>
            <c:spPr>
              <a:solidFill>
                <a:srgbClr val="9DC0BC"/>
              </a:solidFill>
              <a:ln w="19050">
                <a:solidFill>
                  <a:schemeClr val="lt1"/>
                </a:solidFill>
              </a:ln>
              <a:effectLst/>
            </c:spPr>
          </c:dPt>
          <c:dPt>
            <c:idx val="3"/>
            <c:bubble3D val="0"/>
            <c:spPr>
              <a:solidFill>
                <a:srgbClr val="27776D"/>
              </a:solidFill>
              <a:ln w="19050">
                <a:solidFill>
                  <a:schemeClr val="lt1"/>
                </a:solidFill>
              </a:ln>
              <a:effectLst/>
            </c:spPr>
          </c:dPt>
          <c:dLbls>
            <c:delete val="1"/>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8.2</c:v>
                </c:pt>
                <c:pt idx="1">
                  <c:v>3.2</c:v>
                </c:pt>
                <c:pt idx="2">
                  <c:v>1.4</c:v>
                </c:pt>
                <c:pt idx="3">
                  <c:v>1.2</c:v>
                </c:pt>
              </c:numCache>
            </c:numRef>
          </c:val>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uri="{0b15fc19-7d7d-44ad-8c2d-2c3a37ce22c3}">
        <chartProps xmlns="https://web.wps.cn/et/2018/main" chartId="{6429a490-086b-4105-82b9-925b23f4fccf}"/>
      </c:ext>
    </c:extLst>
  </c:chart>
  <c:spPr>
    <a:noFill/>
    <a:ln>
      <a:noFill/>
    </a:ln>
    <a:effectLst/>
  </c:spPr>
  <c:txPr>
    <a:bodyPr/>
    <a:lstStyle/>
    <a:p>
      <a:pPr>
        <a:defRPr lang="zh-CN">
          <a:latin typeface="+mn-lt"/>
          <a:ea typeface="+mn-ea"/>
          <a:cs typeface="+mn-ea"/>
          <a:sym typeface="+mn-lt"/>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11" name="TextBox 10"/>
          <p:cNvSpPr txBox="1"/>
          <p:nvPr userDrawn="1"/>
        </p:nvSpPr>
        <p:spPr>
          <a:xfrm>
            <a:off x="615934" y="6739570"/>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black"/>
                </a:solidFill>
                <a:effectLst/>
                <a:uLnTx/>
                <a:uFillTx/>
                <a:hlinkClick r:id="rId2"/>
              </a:rPr>
              <a:t>PPT</a:t>
            </a:r>
            <a:r>
              <a:rPr kumimoji="0" lang="zh-CN" altLang="en-US" sz="100" b="0" i="0" u="none" strike="noStrike" kern="0" cap="none" spc="0" normalizeH="0" baseline="0" noProof="0" dirty="0" smtClean="0">
                <a:ln>
                  <a:noFill/>
                </a:ln>
                <a:solidFill>
                  <a:prstClr val="black"/>
                </a:solidFill>
                <a:effectLst/>
                <a:uLnTx/>
                <a:uFillTx/>
                <a:hlinkClick r:id="rId2"/>
              </a:rPr>
              <a:t>模板</a:t>
            </a:r>
            <a:r>
              <a:rPr kumimoji="0" lang="zh-CN" altLang="en-US" sz="100" b="0" i="0" u="none" strike="noStrike" kern="0" cap="none" spc="0" normalizeH="0" baseline="0" noProof="0" dirty="0" smtClean="0">
                <a:ln>
                  <a:noFill/>
                </a:ln>
                <a:solidFill>
                  <a:prstClr val="black"/>
                </a:solidFill>
                <a:effectLst/>
                <a:uLnTx/>
                <a:uFillTx/>
              </a:rPr>
              <a:t> </a:t>
            </a:r>
            <a:r>
              <a:rPr kumimoji="0" lang="en-US" altLang="zh-CN" sz="100" b="0" i="0" u="none" strike="noStrike" kern="0" cap="none" spc="0" normalizeH="0" baseline="0" noProof="0" dirty="0" smtClean="0">
                <a:ln>
                  <a:noFill/>
                </a:ln>
                <a:solidFill>
                  <a:prstClr val="black"/>
                </a:solidFill>
                <a:effectLst/>
                <a:uLnTx/>
                <a:uFillTx/>
              </a:rPr>
              <a:t>http://www.1ppt.com/moban/</a:t>
            </a:r>
            <a:r>
              <a:rPr kumimoji="0" lang="zh-CN" altLang="en-US" sz="100" b="0" i="0" u="none" strike="noStrike" kern="0" cap="none" spc="0" normalizeH="0" baseline="0" noProof="0" dirty="0" smtClean="0">
                <a:ln>
                  <a:noFill/>
                </a:ln>
                <a:solidFill>
                  <a:prstClr val="black"/>
                </a:solidFill>
                <a:effectLst/>
                <a:uLnTx/>
                <a:uFillTx/>
              </a:rPr>
              <a:t> </a:t>
            </a:r>
            <a:endParaRPr kumimoji="0" lang="en-US" altLang="zh-CN" sz="100" b="0" i="0" u="none" strike="noStrike" kern="0" cap="none" spc="0" normalizeH="0" baseline="0" noProof="0" dirty="0" smtClean="0">
              <a:ln>
                <a:noFill/>
              </a:ln>
              <a:solidFill>
                <a:prstClr val="black"/>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000"/>
    </mc:Choice>
    <mc:Fallback>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mc:AlternateContent xmlns:mc="http://schemas.openxmlformats.org/markup-compatibility/2006">
    <mc:Choice xmlns:p14="http://schemas.microsoft.com/office/powerpoint/2010/main" Requires="p14">
      <p:transition spd="slow" p14:dur="1000"/>
    </mc:Choice>
    <mc:Fallback>
      <p:transition spd="slow"/>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1" Type="http://schemas.openxmlformats.org/officeDocument/2006/relationships/notesSlide" Target="../notesSlides/notesSlide1.xml"/><Relationship Id="rId20" Type="http://schemas.openxmlformats.org/officeDocument/2006/relationships/slideLayout" Target="../slideLayouts/slideLayout8.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5" Type="http://schemas.openxmlformats.org/officeDocument/2006/relationships/slideLayout" Target="../slideLayouts/slideLayout8.xml"/><Relationship Id="rId44" Type="http://schemas.openxmlformats.org/officeDocument/2006/relationships/tags" Target="../tags/tag64.xml"/><Relationship Id="rId43" Type="http://schemas.openxmlformats.org/officeDocument/2006/relationships/tags" Target="../tags/tag63.xml"/><Relationship Id="rId42" Type="http://schemas.openxmlformats.org/officeDocument/2006/relationships/tags" Target="../tags/tag62.xml"/><Relationship Id="rId41" Type="http://schemas.openxmlformats.org/officeDocument/2006/relationships/tags" Target="../tags/tag61.xml"/><Relationship Id="rId40" Type="http://schemas.openxmlformats.org/officeDocument/2006/relationships/tags" Target="../tags/tag60.xml"/><Relationship Id="rId4" Type="http://schemas.openxmlformats.org/officeDocument/2006/relationships/tags" Target="../tags/tag24.xml"/><Relationship Id="rId39" Type="http://schemas.openxmlformats.org/officeDocument/2006/relationships/tags" Target="../tags/tag59.xml"/><Relationship Id="rId38" Type="http://schemas.openxmlformats.org/officeDocument/2006/relationships/tags" Target="../tags/tag58.xml"/><Relationship Id="rId37" Type="http://schemas.openxmlformats.org/officeDocument/2006/relationships/tags" Target="../tags/tag57.xml"/><Relationship Id="rId36" Type="http://schemas.openxmlformats.org/officeDocument/2006/relationships/tags" Target="../tags/tag56.xml"/><Relationship Id="rId35" Type="http://schemas.openxmlformats.org/officeDocument/2006/relationships/tags" Target="../tags/tag55.xml"/><Relationship Id="rId34" Type="http://schemas.openxmlformats.org/officeDocument/2006/relationships/tags" Target="../tags/tag54.xml"/><Relationship Id="rId33" Type="http://schemas.openxmlformats.org/officeDocument/2006/relationships/tags" Target="../tags/tag53.xml"/><Relationship Id="rId32" Type="http://schemas.openxmlformats.org/officeDocument/2006/relationships/tags" Target="../tags/tag52.xml"/><Relationship Id="rId31" Type="http://schemas.openxmlformats.org/officeDocument/2006/relationships/tags" Target="../tags/tag51.xml"/><Relationship Id="rId30" Type="http://schemas.openxmlformats.org/officeDocument/2006/relationships/tags" Target="../tags/tag50.xml"/><Relationship Id="rId3" Type="http://schemas.openxmlformats.org/officeDocument/2006/relationships/tags" Target="../tags/tag23.xml"/><Relationship Id="rId29" Type="http://schemas.openxmlformats.org/officeDocument/2006/relationships/tags" Target="../tags/tag49.xml"/><Relationship Id="rId28" Type="http://schemas.openxmlformats.org/officeDocument/2006/relationships/tags" Target="../tags/tag48.xml"/><Relationship Id="rId27" Type="http://schemas.openxmlformats.org/officeDocument/2006/relationships/tags" Target="../tags/tag47.xml"/><Relationship Id="rId26" Type="http://schemas.openxmlformats.org/officeDocument/2006/relationships/tags" Target="../tags/tag46.xml"/><Relationship Id="rId25" Type="http://schemas.openxmlformats.org/officeDocument/2006/relationships/tags" Target="../tags/tag45.xml"/><Relationship Id="rId24" Type="http://schemas.openxmlformats.org/officeDocument/2006/relationships/tags" Target="../tags/tag44.xml"/><Relationship Id="rId23" Type="http://schemas.openxmlformats.org/officeDocument/2006/relationships/tags" Target="../tags/tag43.xml"/><Relationship Id="rId22" Type="http://schemas.openxmlformats.org/officeDocument/2006/relationships/tags" Target="../tags/tag42.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tags" Target="../tags/tag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image" Target="../media/image1.emf"/><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4" Type="http://schemas.openxmlformats.org/officeDocument/2006/relationships/slideLayout" Target="../slideLayouts/slideLayout8.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tags" Target="../tags/tag6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7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1" Type="http://schemas.openxmlformats.org/officeDocument/2006/relationships/slideLayout" Target="../slideLayouts/slideLayout8.xml"/><Relationship Id="rId40" Type="http://schemas.openxmlformats.org/officeDocument/2006/relationships/tags" Target="../tags/tag117.xml"/><Relationship Id="rId4" Type="http://schemas.openxmlformats.org/officeDocument/2006/relationships/tags" Target="../tags/tag81.xml"/><Relationship Id="rId39" Type="http://schemas.openxmlformats.org/officeDocument/2006/relationships/tags" Target="../tags/tag116.xml"/><Relationship Id="rId38" Type="http://schemas.openxmlformats.org/officeDocument/2006/relationships/tags" Target="../tags/tag115.xml"/><Relationship Id="rId37" Type="http://schemas.openxmlformats.org/officeDocument/2006/relationships/tags" Target="../tags/tag114.xml"/><Relationship Id="rId36" Type="http://schemas.openxmlformats.org/officeDocument/2006/relationships/tags" Target="../tags/tag113.xml"/><Relationship Id="rId35" Type="http://schemas.openxmlformats.org/officeDocument/2006/relationships/tags" Target="../tags/tag112.xml"/><Relationship Id="rId34" Type="http://schemas.openxmlformats.org/officeDocument/2006/relationships/tags" Target="../tags/tag111.xml"/><Relationship Id="rId33" Type="http://schemas.openxmlformats.org/officeDocument/2006/relationships/tags" Target="../tags/tag110.xml"/><Relationship Id="rId32" Type="http://schemas.openxmlformats.org/officeDocument/2006/relationships/tags" Target="../tags/tag109.xml"/><Relationship Id="rId31" Type="http://schemas.openxmlformats.org/officeDocument/2006/relationships/tags" Target="../tags/tag108.xml"/><Relationship Id="rId30" Type="http://schemas.openxmlformats.org/officeDocument/2006/relationships/tags" Target="../tags/tag107.xml"/><Relationship Id="rId3" Type="http://schemas.openxmlformats.org/officeDocument/2006/relationships/tags" Target="../tags/tag80.xml"/><Relationship Id="rId29" Type="http://schemas.openxmlformats.org/officeDocument/2006/relationships/tags" Target="../tags/tag106.xml"/><Relationship Id="rId28" Type="http://schemas.openxmlformats.org/officeDocument/2006/relationships/tags" Target="../tags/tag105.xml"/><Relationship Id="rId27" Type="http://schemas.openxmlformats.org/officeDocument/2006/relationships/tags" Target="../tags/tag104.xml"/><Relationship Id="rId26" Type="http://schemas.openxmlformats.org/officeDocument/2006/relationships/tags" Target="../tags/tag103.xml"/><Relationship Id="rId25" Type="http://schemas.openxmlformats.org/officeDocument/2006/relationships/tags" Target="../tags/tag102.xml"/><Relationship Id="rId24" Type="http://schemas.openxmlformats.org/officeDocument/2006/relationships/tags" Target="../tags/tag101.xml"/><Relationship Id="rId23" Type="http://schemas.openxmlformats.org/officeDocument/2006/relationships/tags" Target="../tags/tag100.xml"/><Relationship Id="rId22" Type="http://schemas.openxmlformats.org/officeDocument/2006/relationships/tags" Target="../tags/tag99.xml"/><Relationship Id="rId21" Type="http://schemas.openxmlformats.org/officeDocument/2006/relationships/tags" Target="../tags/tag98.xml"/><Relationship Id="rId20" Type="http://schemas.openxmlformats.org/officeDocument/2006/relationships/tags" Target="../tags/tag97.xml"/><Relationship Id="rId2" Type="http://schemas.openxmlformats.org/officeDocument/2006/relationships/tags" Target="../tags/tag79.xml"/><Relationship Id="rId19" Type="http://schemas.openxmlformats.org/officeDocument/2006/relationships/tags" Target="../tags/tag96.xml"/><Relationship Id="rId18" Type="http://schemas.openxmlformats.org/officeDocument/2006/relationships/tags" Target="../tags/tag95.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tags" Target="../tags/tag78.xml"/></Relationships>
</file>

<file path=ppt/slides/_rels/slide10.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4" Type="http://schemas.openxmlformats.org/officeDocument/2006/relationships/slideLayout" Target="../slideLayouts/slideLayout8.xml"/><Relationship Id="rId43" Type="http://schemas.openxmlformats.org/officeDocument/2006/relationships/tags" Target="../tags/tag160.xml"/><Relationship Id="rId42" Type="http://schemas.openxmlformats.org/officeDocument/2006/relationships/tags" Target="../tags/tag159.xml"/><Relationship Id="rId41" Type="http://schemas.openxmlformats.org/officeDocument/2006/relationships/tags" Target="../tags/tag158.xml"/><Relationship Id="rId40" Type="http://schemas.openxmlformats.org/officeDocument/2006/relationships/tags" Target="../tags/tag157.xml"/><Relationship Id="rId4" Type="http://schemas.openxmlformats.org/officeDocument/2006/relationships/tags" Target="../tags/tag121.xml"/><Relationship Id="rId39" Type="http://schemas.openxmlformats.org/officeDocument/2006/relationships/tags" Target="../tags/tag156.xml"/><Relationship Id="rId38" Type="http://schemas.openxmlformats.org/officeDocument/2006/relationships/tags" Target="../tags/tag155.xml"/><Relationship Id="rId37" Type="http://schemas.openxmlformats.org/officeDocument/2006/relationships/tags" Target="../tags/tag154.xml"/><Relationship Id="rId36" Type="http://schemas.openxmlformats.org/officeDocument/2006/relationships/tags" Target="../tags/tag153.xml"/><Relationship Id="rId35" Type="http://schemas.openxmlformats.org/officeDocument/2006/relationships/tags" Target="../tags/tag152.xml"/><Relationship Id="rId34" Type="http://schemas.openxmlformats.org/officeDocument/2006/relationships/tags" Target="../tags/tag151.xml"/><Relationship Id="rId33" Type="http://schemas.openxmlformats.org/officeDocument/2006/relationships/tags" Target="../tags/tag150.xml"/><Relationship Id="rId32" Type="http://schemas.openxmlformats.org/officeDocument/2006/relationships/tags" Target="../tags/tag149.xml"/><Relationship Id="rId31" Type="http://schemas.openxmlformats.org/officeDocument/2006/relationships/tags" Target="../tags/tag148.xml"/><Relationship Id="rId30" Type="http://schemas.openxmlformats.org/officeDocument/2006/relationships/tags" Target="../tags/tag147.xml"/><Relationship Id="rId3" Type="http://schemas.openxmlformats.org/officeDocument/2006/relationships/tags" Target="../tags/tag120.xml"/><Relationship Id="rId29" Type="http://schemas.openxmlformats.org/officeDocument/2006/relationships/tags" Target="../tags/tag146.xml"/><Relationship Id="rId28" Type="http://schemas.openxmlformats.org/officeDocument/2006/relationships/tags" Target="../tags/tag145.xml"/><Relationship Id="rId27" Type="http://schemas.openxmlformats.org/officeDocument/2006/relationships/tags" Target="../tags/tag144.xml"/><Relationship Id="rId26" Type="http://schemas.openxmlformats.org/officeDocument/2006/relationships/tags" Target="../tags/tag143.xml"/><Relationship Id="rId25" Type="http://schemas.openxmlformats.org/officeDocument/2006/relationships/tags" Target="../tags/tag142.xml"/><Relationship Id="rId24" Type="http://schemas.openxmlformats.org/officeDocument/2006/relationships/tags" Target="../tags/tag141.xml"/><Relationship Id="rId23" Type="http://schemas.openxmlformats.org/officeDocument/2006/relationships/tags" Target="../tags/tag140.xml"/><Relationship Id="rId22" Type="http://schemas.openxmlformats.org/officeDocument/2006/relationships/tags" Target="../tags/tag139.xml"/><Relationship Id="rId21" Type="http://schemas.openxmlformats.org/officeDocument/2006/relationships/tags" Target="../tags/tag138.xml"/><Relationship Id="rId20" Type="http://schemas.openxmlformats.org/officeDocument/2006/relationships/tags" Target="../tags/tag137.xml"/><Relationship Id="rId2" Type="http://schemas.openxmlformats.org/officeDocument/2006/relationships/tags" Target="../tags/tag119.xml"/><Relationship Id="rId19" Type="http://schemas.openxmlformats.org/officeDocument/2006/relationships/tags" Target="../tags/tag136.xml"/><Relationship Id="rId18" Type="http://schemas.openxmlformats.org/officeDocument/2006/relationships/tags" Target="../tags/tag135.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tags" Target="../tags/tag131.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image" Target="../media/image4.emf"/><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 Type="http://schemas.openxmlformats.org/officeDocument/2006/relationships/tags" Target="../tags/tag161.xml"/><Relationship Id="rId11" Type="http://schemas.openxmlformats.org/officeDocument/2006/relationships/slideLayout" Target="../slideLayouts/slideLayout8.xml"/><Relationship Id="rId10" Type="http://schemas.openxmlformats.org/officeDocument/2006/relationships/tags" Target="../tags/tag168.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image" Target="../media/image4.emf"/><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2" Type="http://schemas.openxmlformats.org/officeDocument/2006/relationships/slideLayout" Target="../slideLayouts/slideLayout8.xml"/><Relationship Id="rId11" Type="http://schemas.openxmlformats.org/officeDocument/2006/relationships/tags" Target="../tags/tag176.xml"/><Relationship Id="rId10"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17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78.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79.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image" Target="../media/image9.emf"/><Relationship Id="rId3" Type="http://schemas.openxmlformats.org/officeDocument/2006/relationships/tags" Target="../tags/tag181.xml"/><Relationship Id="rId2" Type="http://schemas.openxmlformats.org/officeDocument/2006/relationships/tags" Target="../tags/tag180.xml"/><Relationship Id="rId13" Type="http://schemas.openxmlformats.org/officeDocument/2006/relationships/slideLayout" Target="../slideLayouts/slideLayout8.xml"/><Relationship Id="rId12" Type="http://schemas.openxmlformats.org/officeDocument/2006/relationships/tags" Target="../tags/tag188.xml"/><Relationship Id="rId11" Type="http://schemas.openxmlformats.org/officeDocument/2006/relationships/image" Target="../media/image10.png"/><Relationship Id="rId10" Type="http://schemas.openxmlformats.org/officeDocument/2006/relationships/tags" Target="../tags/tag187.xml"/><Relationship Id="rId1"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90.xml"/><Relationship Id="rId1" Type="http://schemas.openxmlformats.org/officeDocument/2006/relationships/tags" Target="../tags/tag189.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19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191.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193.xml"/><Relationship Id="rId2" Type="http://schemas.openxmlformats.org/officeDocument/2006/relationships/image" Target="../media/image15.png"/><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195.xml"/><Relationship Id="rId4" Type="http://schemas.openxmlformats.org/officeDocument/2006/relationships/image" Target="../media/image18.png"/><Relationship Id="rId3" Type="http://schemas.microsoft.com/office/2007/relationships/hdphoto" Target="../media/image17.wdp"/><Relationship Id="rId2" Type="http://schemas.openxmlformats.org/officeDocument/2006/relationships/image" Target="../media/image16.jpeg"/><Relationship Id="rId1" Type="http://schemas.openxmlformats.org/officeDocument/2006/relationships/tags" Target="../tags/tag19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97.xml"/><Relationship Id="rId1" Type="http://schemas.openxmlformats.org/officeDocument/2006/relationships/tags" Target="../tags/tag19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99.xml"/><Relationship Id="rId1" Type="http://schemas.openxmlformats.org/officeDocument/2006/relationships/tags" Target="../tags/tag198.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200.xml"/><Relationship Id="rId2" Type="http://schemas.openxmlformats.org/officeDocument/2006/relationships/image" Target="../media/image20.png"/><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7" Type="http://schemas.openxmlformats.org/officeDocument/2006/relationships/slideLayout" Target="../slideLayouts/slideLayout8.xml"/><Relationship Id="rId16" Type="http://schemas.openxmlformats.org/officeDocument/2006/relationships/tags" Target="../tags/tag213.xml"/><Relationship Id="rId15" Type="http://schemas.openxmlformats.org/officeDocument/2006/relationships/image" Target="../media/image23.png"/><Relationship Id="rId14" Type="http://schemas.openxmlformats.org/officeDocument/2006/relationships/image" Target="../media/image22.png"/><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image" Target="../media/image21.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15.xml"/><Relationship Id="rId1" Type="http://schemas.openxmlformats.org/officeDocument/2006/relationships/tags" Target="../tags/tag214.xml"/></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216.xml"/><Relationship Id="rId2" Type="http://schemas.openxmlformats.org/officeDocument/2006/relationships/image" Target="../media/image25.pn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9" Type="http://schemas.openxmlformats.org/officeDocument/2006/relationships/tags" Target="../tags/tag225.xml"/><Relationship Id="rId8" Type="http://schemas.openxmlformats.org/officeDocument/2006/relationships/tags" Target="../tags/tag224.xml"/><Relationship Id="rId7" Type="http://schemas.openxmlformats.org/officeDocument/2006/relationships/tags" Target="../tags/tag223.xml"/><Relationship Id="rId6" Type="http://schemas.openxmlformats.org/officeDocument/2006/relationships/tags" Target="../tags/tag222.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7" Type="http://schemas.openxmlformats.org/officeDocument/2006/relationships/slideLayout" Target="../slideLayouts/slideLayout8.xml"/><Relationship Id="rId16" Type="http://schemas.openxmlformats.org/officeDocument/2006/relationships/tags" Target="../tags/tag232.xml"/><Relationship Id="rId15" Type="http://schemas.openxmlformats.org/officeDocument/2006/relationships/tags" Target="../tags/tag231.xml"/><Relationship Id="rId14" Type="http://schemas.openxmlformats.org/officeDocument/2006/relationships/tags" Target="../tags/tag230.xml"/><Relationship Id="rId13" Type="http://schemas.openxmlformats.org/officeDocument/2006/relationships/tags" Target="../tags/tag229.xml"/><Relationship Id="rId12" Type="http://schemas.openxmlformats.org/officeDocument/2006/relationships/tags" Target="../tags/tag228.xml"/><Relationship Id="rId11" Type="http://schemas.openxmlformats.org/officeDocument/2006/relationships/tags" Target="../tags/tag227.xml"/><Relationship Id="rId10" Type="http://schemas.openxmlformats.org/officeDocument/2006/relationships/tags" Target="../tags/tag226.xml"/><Relationship Id="rId1" Type="http://schemas.openxmlformats.org/officeDocument/2006/relationships/tags" Target="../tags/tag217.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36.xml"/><Relationship Id="rId4" Type="http://schemas.openxmlformats.org/officeDocument/2006/relationships/image" Target="../media/image26.png"/><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240.xml"/><Relationship Id="rId5" Type="http://schemas.openxmlformats.org/officeDocument/2006/relationships/image" Target="../media/image27.png"/><Relationship Id="rId4" Type="http://schemas.openxmlformats.org/officeDocument/2006/relationships/hyperlink" Target="https://zaihai.nekoark.com/" TargetMode="Externa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4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椭圆 48"/>
          <p:cNvSpPr/>
          <p:nvPr/>
        </p:nvSpPr>
        <p:spPr>
          <a:xfrm>
            <a:off x="-1699937" y="773989"/>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1492250" y="2812291"/>
            <a:ext cx="9213850" cy="1014730"/>
          </a:xfrm>
          <a:prstGeom prst="rect">
            <a:avLst/>
          </a:prstGeom>
          <a:noFill/>
        </p:spPr>
        <p:txBody>
          <a:bodyPr wrap="square" rtlCol="0">
            <a:spAutoFit/>
          </a:bodyPr>
          <a:lstStyle/>
          <a:p>
            <a:r>
              <a:rPr lang="zh-CN" altLang="en-US" sz="6000" spc="300" dirty="0">
                <a:latin typeface="方正正黑简体" panose="02000000000000000000" pitchFamily="2" charset="-122"/>
                <a:ea typeface="方正正黑简体" panose="02000000000000000000" pitchFamily="2" charset="-122"/>
                <a:cs typeface="+mn-ea"/>
                <a:sym typeface="+mn-lt"/>
              </a:rPr>
              <a:t>廷坪乡地质灾害风险评估</a:t>
            </a:r>
            <a:endParaRPr lang="zh-CN" altLang="en-US" sz="6000" spc="300" dirty="0">
              <a:latin typeface="方正正黑简体" panose="02000000000000000000" pitchFamily="2" charset="-122"/>
              <a:ea typeface="方正正黑简体" panose="02000000000000000000" pitchFamily="2" charset="-122"/>
              <a:cs typeface="+mn-ea"/>
              <a:sym typeface="+mn-lt"/>
            </a:endParaRPr>
          </a:p>
        </p:txBody>
      </p:sp>
      <p:sp>
        <p:nvSpPr>
          <p:cNvPr id="32" name="椭圆 31"/>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57"/>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矩形: 圆角 64"/>
          <p:cNvSpPr/>
          <p:nvPr/>
        </p:nvSpPr>
        <p:spPr>
          <a:xfrm>
            <a:off x="1654175" y="4752340"/>
            <a:ext cx="2203450" cy="400050"/>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1" name="矩形: 圆角 70"/>
          <p:cNvSpPr/>
          <p:nvPr/>
        </p:nvSpPr>
        <p:spPr>
          <a:xfrm>
            <a:off x="1654175" y="5422265"/>
            <a:ext cx="2673350" cy="400050"/>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9" name="组合 78"/>
          <p:cNvGrpSpPr/>
          <p:nvPr/>
        </p:nvGrpSpPr>
        <p:grpSpPr>
          <a:xfrm>
            <a:off x="9065986" y="774133"/>
            <a:ext cx="2691765" cy="712583"/>
            <a:chOff x="9065986" y="774133"/>
            <a:chExt cx="2691765" cy="712583"/>
          </a:xfrm>
        </p:grpSpPr>
        <p:sp>
          <p:nvSpPr>
            <p:cNvPr id="73" name="矩形: 圆角 72"/>
            <p:cNvSpPr/>
            <p:nvPr/>
          </p:nvSpPr>
          <p:spPr>
            <a:xfrm>
              <a:off x="9065986" y="774133"/>
              <a:ext cx="2500322" cy="712583"/>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74" name="文本框 73"/>
            <p:cNvSpPr txBox="1"/>
            <p:nvPr/>
          </p:nvSpPr>
          <p:spPr>
            <a:xfrm>
              <a:off x="9709241" y="868748"/>
              <a:ext cx="2048510" cy="521970"/>
            </a:xfrm>
            <a:prstGeom prst="rect">
              <a:avLst/>
            </a:prstGeom>
            <a:noFill/>
          </p:spPr>
          <p:txBody>
            <a:bodyPr wrap="square" rtlCol="0">
              <a:spAutoFit/>
            </a:bodyPr>
            <a:lstStyle/>
            <a:p>
              <a:r>
                <a:rPr lang="zh-CN" altLang="en-US" sz="2800" dirty="0">
                  <a:solidFill>
                    <a:schemeClr val="bg1"/>
                  </a:solidFill>
                  <a:cs typeface="+mn-ea"/>
                  <a:sym typeface="+mn-lt"/>
                </a:rPr>
                <a:t>第二组</a:t>
              </a:r>
              <a:endParaRPr lang="zh-CN" altLang="en-US" sz="2800" dirty="0">
                <a:solidFill>
                  <a:schemeClr val="bg1"/>
                </a:solidFill>
                <a:cs typeface="+mn-ea"/>
                <a:sym typeface="+mn-lt"/>
              </a:endParaRPr>
            </a:p>
          </p:txBody>
        </p:sp>
      </p:grpSp>
      <p:sp>
        <p:nvSpPr>
          <p:cNvPr id="77" name="椭圆 7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1771650"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灾</a:t>
            </a:r>
            <a:endParaRPr lang="zh-CN" altLang="en-US" sz="2400">
              <a:cs typeface="+mn-ea"/>
              <a:sym typeface="+mn-lt"/>
            </a:endParaRPr>
          </a:p>
        </p:txBody>
      </p:sp>
      <p:sp>
        <p:nvSpPr>
          <p:cNvPr id="6" name="椭圆 5"/>
          <p:cNvSpPr/>
          <p:nvPr/>
        </p:nvSpPr>
        <p:spPr>
          <a:xfrm>
            <a:off x="2352675"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2933700"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a:off x="4095750"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评</a:t>
            </a:r>
            <a:endParaRPr lang="zh-CN" altLang="en-US" sz="2400">
              <a:cs typeface="+mn-ea"/>
              <a:sym typeface="+mn-lt"/>
            </a:endParaRPr>
          </a:p>
        </p:txBody>
      </p:sp>
      <p:sp>
        <p:nvSpPr>
          <p:cNvPr id="9" name="椭圆 8"/>
          <p:cNvSpPr/>
          <p:nvPr/>
        </p:nvSpPr>
        <p:spPr>
          <a:xfrm>
            <a:off x="3514725"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2441575" y="1858010"/>
            <a:ext cx="381000" cy="46037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cs typeface="+mn-ea"/>
                <a:sym typeface="+mn-lt"/>
              </a:rPr>
              <a:t>害</a:t>
            </a:r>
            <a:endParaRPr lang="zh-CN" altLang="en-US" sz="2400" dirty="0">
              <a:solidFill>
                <a:schemeClr val="bg1"/>
              </a:solidFill>
              <a:effectLst>
                <a:outerShdw blurRad="38100" dist="38100" dir="2700000" algn="tl">
                  <a:srgbClr val="000000">
                    <a:alpha val="43137"/>
                  </a:srgbClr>
                </a:outerShdw>
              </a:effectLst>
              <a:cs typeface="+mn-ea"/>
              <a:sym typeface="+mn-lt"/>
            </a:endParaRPr>
          </a:p>
        </p:txBody>
      </p:sp>
      <p:sp>
        <p:nvSpPr>
          <p:cNvPr id="14" name="文本框 13"/>
          <p:cNvSpPr txBox="1"/>
          <p:nvPr/>
        </p:nvSpPr>
        <p:spPr>
          <a:xfrm>
            <a:off x="3022600" y="1851025"/>
            <a:ext cx="381000" cy="46037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cs typeface="+mn-ea"/>
                <a:sym typeface="+mn-lt"/>
              </a:rPr>
              <a:t>风</a:t>
            </a:r>
            <a:endParaRPr lang="zh-CN" altLang="en-US" sz="2400" dirty="0">
              <a:solidFill>
                <a:schemeClr val="bg1"/>
              </a:solidFill>
              <a:effectLst>
                <a:outerShdw blurRad="38100" dist="38100" dir="2700000" algn="tl">
                  <a:srgbClr val="000000">
                    <a:alpha val="43137"/>
                  </a:srgbClr>
                </a:outerShdw>
              </a:effectLst>
              <a:cs typeface="+mn-ea"/>
              <a:sym typeface="+mn-lt"/>
            </a:endParaRPr>
          </a:p>
        </p:txBody>
      </p:sp>
      <p:sp>
        <p:nvSpPr>
          <p:cNvPr id="15" name="文本框 14"/>
          <p:cNvSpPr txBox="1"/>
          <p:nvPr/>
        </p:nvSpPr>
        <p:spPr>
          <a:xfrm>
            <a:off x="3603625" y="1858010"/>
            <a:ext cx="381000" cy="46037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cs typeface="+mn-ea"/>
                <a:sym typeface="+mn-lt"/>
              </a:rPr>
              <a:t>险</a:t>
            </a:r>
            <a:endParaRPr lang="zh-CN" altLang="en-US" sz="2400" dirty="0">
              <a:solidFill>
                <a:schemeClr val="bg1"/>
              </a:solidFill>
              <a:effectLst>
                <a:outerShdw blurRad="38100" dist="38100" dir="2700000" algn="tl">
                  <a:srgbClr val="000000">
                    <a:alpha val="43137"/>
                  </a:srgbClr>
                </a:outerShdw>
              </a:effectLst>
              <a:cs typeface="+mn-ea"/>
              <a:sym typeface="+mn-lt"/>
            </a:endParaRPr>
          </a:p>
        </p:txBody>
      </p:sp>
      <p:sp>
        <p:nvSpPr>
          <p:cNvPr id="18" name="椭圆 17"/>
          <p:cNvSpPr/>
          <p:nvPr/>
        </p:nvSpPr>
        <p:spPr>
          <a:xfrm>
            <a:off x="4676775" y="180213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估</a:t>
            </a:r>
            <a:endParaRPr lang="zh-CN" altLang="en-US" sz="2400">
              <a:cs typeface="+mn-ea"/>
              <a:sym typeface="+mn-lt"/>
            </a:endParaRPr>
          </a:p>
        </p:txBody>
      </p:sp>
      <p:sp>
        <p:nvSpPr>
          <p:cNvPr id="20" name="矩形: 圆角 64"/>
          <p:cNvSpPr/>
          <p:nvPr/>
        </p:nvSpPr>
        <p:spPr>
          <a:xfrm>
            <a:off x="4196080" y="4767580"/>
            <a:ext cx="4869815" cy="400050"/>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96108" y="-2115004"/>
            <a:ext cx="4363358" cy="43633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299455" y="272"/>
            <a:ext cx="1326144" cy="1326144"/>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p:cNvGrpSpPr/>
          <p:nvPr/>
        </p:nvGrpSpPr>
        <p:grpSpPr>
          <a:xfrm>
            <a:off x="2053347" y="313360"/>
            <a:ext cx="3315942" cy="877799"/>
            <a:chOff x="2112402" y="975030"/>
            <a:chExt cx="3315942" cy="877799"/>
          </a:xfrm>
        </p:grpSpPr>
        <p:sp>
          <p:nvSpPr>
            <p:cNvPr id="5" name="矩形: 圆角 4"/>
            <p:cNvSpPr/>
            <p:nvPr/>
          </p:nvSpPr>
          <p:spPr>
            <a:xfrm>
              <a:off x="2112402" y="975030"/>
              <a:ext cx="3315942" cy="877799"/>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文本框 5"/>
            <p:cNvSpPr txBox="1"/>
            <p:nvPr/>
          </p:nvSpPr>
          <p:spPr>
            <a:xfrm>
              <a:off x="2417716" y="1059986"/>
              <a:ext cx="1232264" cy="707886"/>
            </a:xfrm>
            <a:prstGeom prst="rect">
              <a:avLst/>
            </a:prstGeom>
            <a:noFill/>
          </p:spPr>
          <p:txBody>
            <a:bodyPr wrap="square" rtlCol="0">
              <a:spAutoFit/>
            </a:bodyPr>
            <a:lstStyle/>
            <a:p>
              <a:r>
                <a:rPr lang="zh-CN" altLang="en-US" sz="4000" dirty="0">
                  <a:solidFill>
                    <a:schemeClr val="bg1"/>
                  </a:solidFill>
                  <a:effectLst>
                    <a:outerShdw blurRad="38100" dist="38100" dir="2700000" algn="tl">
                      <a:srgbClr val="000000">
                        <a:alpha val="43137"/>
                      </a:srgbClr>
                    </a:outerShdw>
                  </a:effectLst>
                  <a:cs typeface="+mn-ea"/>
                  <a:sym typeface="+mn-lt"/>
                </a:rPr>
                <a:t>目录</a:t>
              </a:r>
              <a:endParaRPr lang="zh-CN" altLang="en-US" sz="4000" dirty="0">
                <a:solidFill>
                  <a:schemeClr val="bg1"/>
                </a:solidFill>
                <a:effectLst>
                  <a:outerShdw blurRad="38100" dist="38100" dir="2700000" algn="tl">
                    <a:srgbClr val="000000">
                      <a:alpha val="43137"/>
                    </a:srgbClr>
                  </a:outerShdw>
                </a:effectLst>
                <a:cs typeface="+mn-ea"/>
                <a:sym typeface="+mn-lt"/>
              </a:endParaRPr>
            </a:p>
          </p:txBody>
        </p:sp>
        <p:cxnSp>
          <p:nvCxnSpPr>
            <p:cNvPr id="8" name="直接连接符 7"/>
            <p:cNvCxnSpPr/>
            <p:nvPr/>
          </p:nvCxnSpPr>
          <p:spPr>
            <a:xfrm flipV="1">
              <a:off x="3649980" y="1190914"/>
              <a:ext cx="123825" cy="491737"/>
            </a:xfrm>
            <a:prstGeom prst="line">
              <a:avLst/>
            </a:prstGeom>
            <a:ln w="1587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800121" y="1280269"/>
              <a:ext cx="1628223" cy="368300"/>
            </a:xfrm>
            <a:prstGeom prst="rect">
              <a:avLst/>
            </a:prstGeom>
            <a:noFill/>
          </p:spPr>
          <p:txBody>
            <a:bodyPr wrap="square" rtlCol="0">
              <a:spAutoFit/>
            </a:bodyPr>
            <a:lstStyle/>
            <a:p>
              <a:r>
                <a:rPr lang="en-US" altLang="zh-CN"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mn-lt"/>
                </a:rPr>
                <a:t>CONTENTS</a:t>
              </a:r>
              <a:endParaRPr lang="zh-CN" altLang="en-US"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sym typeface="+mn-lt"/>
              </a:endParaRPr>
            </a:p>
          </p:txBody>
        </p:sp>
      </p:grpSp>
      <p:sp>
        <p:nvSpPr>
          <p:cNvPr id="42" name="椭圆 41"/>
          <p:cNvSpPr/>
          <p:nvPr/>
        </p:nvSpPr>
        <p:spPr>
          <a:xfrm>
            <a:off x="10299343" y="5470946"/>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custDataLst>
              <p:tags r:id="rId1"/>
            </p:custDataLst>
          </p:nvPr>
        </p:nvSpPr>
        <p:spPr>
          <a:xfrm>
            <a:off x="11660072" y="4507969"/>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椭圆 43"/>
          <p:cNvSpPr/>
          <p:nvPr/>
        </p:nvSpPr>
        <p:spPr>
          <a:xfrm>
            <a:off x="9983151" y="5171760"/>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Bullet1"/>
          <p:cNvSpPr/>
          <p:nvPr>
            <p:custDataLst>
              <p:tags r:id="rId2"/>
            </p:custDataLst>
          </p:nvPr>
        </p:nvSpPr>
        <p:spPr>
          <a:xfrm>
            <a:off x="941922" y="2038387"/>
            <a:ext cx="4812480" cy="878458"/>
          </a:xfrm>
          <a:prstGeom prst="roundRect">
            <a:avLst>
              <a:gd name="adj" fmla="val 50000"/>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72000" rIns="180000" rtlCol="0" anchor="ctr">
            <a:normAutofit/>
          </a:bodyPr>
          <a:p>
            <a:endParaRPr lang="zh-CN" altLang="en-US" b="1" dirty="0">
              <a:solidFill>
                <a:schemeClr val="tx1"/>
              </a:solidFill>
              <a:latin typeface="+mn-ea"/>
              <a:sym typeface="Arial" panose="020B0604020202020204" pitchFamily="34" charset="0"/>
            </a:endParaRPr>
          </a:p>
        </p:txBody>
      </p:sp>
      <p:sp>
        <p:nvSpPr>
          <p:cNvPr id="15" name="序号"/>
          <p:cNvSpPr txBox="1"/>
          <p:nvPr>
            <p:custDataLst>
              <p:tags r:id="rId3"/>
            </p:custDataLst>
          </p:nvPr>
        </p:nvSpPr>
        <p:spPr>
          <a:xfrm>
            <a:off x="1055572" y="2122831"/>
            <a:ext cx="709111" cy="709111"/>
          </a:xfrm>
          <a:prstGeom prst="ellipse">
            <a:avLst/>
          </a:prstGeom>
          <a:solidFill>
            <a:srgbClr val="27776D"/>
          </a:solidFill>
        </p:spPr>
        <p:txBody>
          <a:bodyPr wrap="none" lIns="0" tIns="0" rIns="0" bIns="0" rtlCol="0" anchor="ctr" anchorCtr="0">
            <a:noAutofit/>
          </a:bodyPr>
          <a:p>
            <a:pPr algn="ctr">
              <a:lnSpc>
                <a:spcPct val="100000"/>
              </a:lnSpc>
            </a:pPr>
            <a:r>
              <a:rPr lang="en-US" sz="2400" b="1" dirty="0">
                <a:solidFill>
                  <a:schemeClr val="bg1"/>
                </a:solidFill>
              </a:rPr>
              <a:t>01</a:t>
            </a:r>
            <a:endParaRPr lang="en-US" sz="2400" b="1" dirty="0">
              <a:solidFill>
                <a:schemeClr val="bg1"/>
              </a:solidFill>
            </a:endParaRPr>
          </a:p>
        </p:txBody>
      </p:sp>
      <p:sp>
        <p:nvSpPr>
          <p:cNvPr id="17" name="项标题"/>
          <p:cNvSpPr txBox="1"/>
          <p:nvPr>
            <p:custDataLst>
              <p:tags r:id="rId4"/>
            </p:custDataLst>
          </p:nvPr>
        </p:nvSpPr>
        <p:spPr>
          <a:xfrm>
            <a:off x="1847215" y="2136140"/>
            <a:ext cx="3907155" cy="682625"/>
          </a:xfrm>
          <a:prstGeom prst="rect">
            <a:avLst/>
          </a:prstGeom>
          <a:noFill/>
        </p:spPr>
        <p:txBody>
          <a:bodyPr wrap="square" lIns="0" tIns="0" rIns="0" bIns="0" rtlCol="0" anchor="ctr">
            <a:noAutofit/>
          </a:bodyPr>
          <a:p>
            <a:pPr>
              <a:lnSpc>
                <a:spcPct val="100000"/>
              </a:lnSpc>
            </a:pPr>
            <a:r>
              <a:rPr lang="zh-CN" altLang="en-US" sz="2800" b="1" spc="300" dirty="0">
                <a:solidFill>
                  <a:schemeClr val="tx1">
                    <a:lumMod val="85000"/>
                    <a:lumOff val="15000"/>
                  </a:schemeClr>
                </a:solidFill>
                <a:latin typeface="+mn-ea"/>
              </a:rPr>
              <a:t>组员分工</a:t>
            </a:r>
            <a:endParaRPr lang="zh-CN" altLang="en-US" sz="2800" b="1" spc="300" dirty="0">
              <a:solidFill>
                <a:schemeClr val="tx1">
                  <a:lumMod val="85000"/>
                  <a:lumOff val="15000"/>
                </a:schemeClr>
              </a:solidFill>
              <a:latin typeface="+mn-ea"/>
            </a:endParaRPr>
          </a:p>
        </p:txBody>
      </p:sp>
      <p:sp>
        <p:nvSpPr>
          <p:cNvPr id="24" name="Bullet1"/>
          <p:cNvSpPr/>
          <p:nvPr>
            <p:custDataLst>
              <p:tags r:id="rId5"/>
            </p:custDataLst>
          </p:nvPr>
        </p:nvSpPr>
        <p:spPr>
          <a:xfrm>
            <a:off x="6324775" y="2038387"/>
            <a:ext cx="4812480" cy="878458"/>
          </a:xfrm>
          <a:prstGeom prst="roundRect">
            <a:avLst>
              <a:gd name="adj" fmla="val 50000"/>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72000" rIns="180000" rtlCol="0" anchor="ctr">
            <a:normAutofit/>
          </a:bodyPr>
          <a:p>
            <a:endParaRPr lang="zh-CN" altLang="en-US" b="1" dirty="0">
              <a:solidFill>
                <a:schemeClr val="tx1"/>
              </a:solidFill>
              <a:latin typeface="+mn-ea"/>
              <a:sym typeface="Arial" panose="020B0604020202020204" pitchFamily="34" charset="0"/>
            </a:endParaRPr>
          </a:p>
        </p:txBody>
      </p:sp>
      <p:sp>
        <p:nvSpPr>
          <p:cNvPr id="25" name="序号"/>
          <p:cNvSpPr txBox="1"/>
          <p:nvPr>
            <p:custDataLst>
              <p:tags r:id="rId6"/>
            </p:custDataLst>
          </p:nvPr>
        </p:nvSpPr>
        <p:spPr>
          <a:xfrm>
            <a:off x="6438425" y="2122831"/>
            <a:ext cx="709111" cy="709111"/>
          </a:xfrm>
          <a:prstGeom prst="ellipse">
            <a:avLst/>
          </a:prstGeom>
          <a:solidFill>
            <a:srgbClr val="27776D"/>
          </a:solidFill>
        </p:spPr>
        <p:txBody>
          <a:bodyPr wrap="none" lIns="0" tIns="0" rIns="0" bIns="0" rtlCol="0" anchor="ctr" anchorCtr="0">
            <a:noAutofit/>
          </a:bodyPr>
          <a:p>
            <a:pPr algn="ctr">
              <a:lnSpc>
                <a:spcPct val="100000"/>
              </a:lnSpc>
            </a:pPr>
            <a:r>
              <a:rPr lang="en-US" sz="2400" b="1" dirty="0">
                <a:solidFill>
                  <a:schemeClr val="lt1">
                    <a:lumMod val="85000"/>
                    <a:lumOff val="15000"/>
                  </a:schemeClr>
                </a:solidFill>
              </a:rPr>
              <a:t>02</a:t>
            </a:r>
            <a:endParaRPr lang="en-US" sz="2400" b="1" dirty="0">
              <a:solidFill>
                <a:schemeClr val="lt1">
                  <a:lumMod val="85000"/>
                  <a:lumOff val="15000"/>
                </a:schemeClr>
              </a:solidFill>
            </a:endParaRPr>
          </a:p>
        </p:txBody>
      </p:sp>
      <p:sp>
        <p:nvSpPr>
          <p:cNvPr id="26" name="项标题"/>
          <p:cNvSpPr txBox="1"/>
          <p:nvPr>
            <p:custDataLst>
              <p:tags r:id="rId7"/>
            </p:custDataLst>
          </p:nvPr>
        </p:nvSpPr>
        <p:spPr>
          <a:xfrm>
            <a:off x="7230171" y="2136165"/>
            <a:ext cx="3907016" cy="682601"/>
          </a:xfrm>
          <a:prstGeom prst="rect">
            <a:avLst/>
          </a:prstGeom>
          <a:noFill/>
        </p:spPr>
        <p:txBody>
          <a:bodyPr wrap="square" lIns="0" tIns="0" rIns="0" bIns="0" rtlCol="0" anchor="ctr">
            <a:noAutofit/>
          </a:bodyPr>
          <a:p>
            <a:pPr>
              <a:lnSpc>
                <a:spcPct val="100000"/>
              </a:lnSpc>
            </a:pPr>
            <a:r>
              <a:rPr lang="zh-CN" altLang="en-US" sz="2800" b="1" spc="300" dirty="0">
                <a:solidFill>
                  <a:schemeClr val="tx1">
                    <a:lumMod val="85000"/>
                    <a:lumOff val="15000"/>
                  </a:schemeClr>
                </a:solidFill>
                <a:latin typeface="+mn-ea"/>
              </a:rPr>
              <a:t>项目概况</a:t>
            </a:r>
            <a:endParaRPr lang="zh-CN" altLang="en-US" sz="2800" b="1" spc="300" dirty="0">
              <a:solidFill>
                <a:schemeClr val="tx1">
                  <a:lumMod val="85000"/>
                  <a:lumOff val="15000"/>
                </a:schemeClr>
              </a:solidFill>
              <a:latin typeface="+mn-ea"/>
            </a:endParaRPr>
          </a:p>
        </p:txBody>
      </p:sp>
      <p:sp>
        <p:nvSpPr>
          <p:cNvPr id="27" name="Bullet1"/>
          <p:cNvSpPr/>
          <p:nvPr>
            <p:custDataLst>
              <p:tags r:id="rId8"/>
            </p:custDataLst>
          </p:nvPr>
        </p:nvSpPr>
        <p:spPr>
          <a:xfrm>
            <a:off x="941922" y="3252354"/>
            <a:ext cx="4812480" cy="878458"/>
          </a:xfrm>
          <a:prstGeom prst="roundRect">
            <a:avLst>
              <a:gd name="adj" fmla="val 50000"/>
            </a:avLst>
          </a:prstGeom>
          <a:solidFill>
            <a:srgbClr val="038BE7">
              <a:alpha val="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72000" rIns="180000" rtlCol="0" anchor="ctr">
            <a:normAutofit/>
          </a:bodyPr>
          <a:p>
            <a:endParaRPr lang="zh-CN" altLang="en-US" b="1" dirty="0">
              <a:solidFill>
                <a:schemeClr val="tx1"/>
              </a:solidFill>
              <a:latin typeface="+mn-ea"/>
              <a:sym typeface="Arial" panose="020B0604020202020204" pitchFamily="34" charset="0"/>
            </a:endParaRPr>
          </a:p>
        </p:txBody>
      </p:sp>
      <p:sp>
        <p:nvSpPr>
          <p:cNvPr id="28" name="序号"/>
          <p:cNvSpPr txBox="1"/>
          <p:nvPr>
            <p:custDataLst>
              <p:tags r:id="rId9"/>
            </p:custDataLst>
          </p:nvPr>
        </p:nvSpPr>
        <p:spPr>
          <a:xfrm>
            <a:off x="1055572" y="3337434"/>
            <a:ext cx="709111" cy="709111"/>
          </a:xfrm>
          <a:prstGeom prst="ellipse">
            <a:avLst/>
          </a:prstGeom>
          <a:solidFill>
            <a:srgbClr val="27776D"/>
          </a:solidFill>
        </p:spPr>
        <p:txBody>
          <a:bodyPr wrap="none" lIns="0" tIns="0" rIns="0" bIns="0" rtlCol="0" anchor="ctr" anchorCtr="0">
            <a:noAutofit/>
          </a:bodyPr>
          <a:p>
            <a:pPr algn="ctr">
              <a:lnSpc>
                <a:spcPct val="100000"/>
              </a:lnSpc>
            </a:pPr>
            <a:r>
              <a:rPr lang="en-US" sz="2400" b="1" dirty="0">
                <a:solidFill>
                  <a:schemeClr val="lt1">
                    <a:lumMod val="85000"/>
                    <a:lumOff val="15000"/>
                  </a:schemeClr>
                </a:solidFill>
              </a:rPr>
              <a:t>03</a:t>
            </a:r>
            <a:endParaRPr lang="en-US" sz="2400" b="1" dirty="0">
              <a:solidFill>
                <a:schemeClr val="lt1">
                  <a:lumMod val="85000"/>
                  <a:lumOff val="15000"/>
                </a:schemeClr>
              </a:solidFill>
            </a:endParaRPr>
          </a:p>
        </p:txBody>
      </p:sp>
      <p:sp>
        <p:nvSpPr>
          <p:cNvPr id="29" name="项标题"/>
          <p:cNvSpPr txBox="1"/>
          <p:nvPr>
            <p:custDataLst>
              <p:tags r:id="rId10"/>
            </p:custDataLst>
          </p:nvPr>
        </p:nvSpPr>
        <p:spPr>
          <a:xfrm>
            <a:off x="1847318" y="3350132"/>
            <a:ext cx="3907016" cy="682601"/>
          </a:xfrm>
          <a:prstGeom prst="rect">
            <a:avLst/>
          </a:prstGeom>
          <a:noFill/>
        </p:spPr>
        <p:txBody>
          <a:bodyPr wrap="square" lIns="0" tIns="0" rIns="0" bIns="0" rtlCol="0" anchor="ctr">
            <a:noAutofit/>
          </a:bodyPr>
          <a:p>
            <a:pPr>
              <a:lnSpc>
                <a:spcPct val="100000"/>
              </a:lnSpc>
            </a:pPr>
            <a:r>
              <a:rPr lang="zh-CN" altLang="en-US" sz="2800" b="1" spc="300" dirty="0">
                <a:solidFill>
                  <a:schemeClr val="tx1">
                    <a:lumMod val="85000"/>
                    <a:lumOff val="15000"/>
                  </a:schemeClr>
                </a:solidFill>
                <a:latin typeface="+mn-ea"/>
              </a:rPr>
              <a:t>研究思路与技术路线</a:t>
            </a:r>
            <a:endParaRPr lang="zh-CN" altLang="en-US" sz="2800" b="1" spc="300" dirty="0">
              <a:solidFill>
                <a:schemeClr val="tx1">
                  <a:lumMod val="85000"/>
                  <a:lumOff val="15000"/>
                </a:schemeClr>
              </a:solidFill>
              <a:latin typeface="+mn-ea"/>
            </a:endParaRPr>
          </a:p>
        </p:txBody>
      </p:sp>
      <p:sp>
        <p:nvSpPr>
          <p:cNvPr id="30" name="Bullet1"/>
          <p:cNvSpPr/>
          <p:nvPr>
            <p:custDataLst>
              <p:tags r:id="rId11"/>
            </p:custDataLst>
          </p:nvPr>
        </p:nvSpPr>
        <p:spPr>
          <a:xfrm>
            <a:off x="6324140" y="3252354"/>
            <a:ext cx="4812480" cy="878458"/>
          </a:xfrm>
          <a:prstGeom prst="roundRect">
            <a:avLst>
              <a:gd name="adj" fmla="val 50000"/>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72000" rIns="180000" rtlCol="0" anchor="ctr">
            <a:normAutofit/>
          </a:bodyPr>
          <a:p>
            <a:endParaRPr lang="zh-CN" altLang="en-US" b="1" dirty="0">
              <a:solidFill>
                <a:schemeClr val="tx1"/>
              </a:solidFill>
              <a:latin typeface="+mn-ea"/>
              <a:sym typeface="Arial" panose="020B0604020202020204" pitchFamily="34" charset="0"/>
            </a:endParaRPr>
          </a:p>
        </p:txBody>
      </p:sp>
      <p:sp>
        <p:nvSpPr>
          <p:cNvPr id="31" name="序号"/>
          <p:cNvSpPr txBox="1"/>
          <p:nvPr>
            <p:custDataLst>
              <p:tags r:id="rId12"/>
            </p:custDataLst>
          </p:nvPr>
        </p:nvSpPr>
        <p:spPr>
          <a:xfrm>
            <a:off x="6438425" y="3337434"/>
            <a:ext cx="709111" cy="709111"/>
          </a:xfrm>
          <a:prstGeom prst="ellipse">
            <a:avLst/>
          </a:prstGeom>
          <a:solidFill>
            <a:srgbClr val="27776D"/>
          </a:solidFill>
        </p:spPr>
        <p:txBody>
          <a:bodyPr wrap="none" lIns="0" tIns="0" rIns="0" bIns="0" rtlCol="0" anchor="ctr" anchorCtr="0">
            <a:noAutofit/>
          </a:bodyPr>
          <a:p>
            <a:pPr algn="ctr">
              <a:lnSpc>
                <a:spcPct val="100000"/>
              </a:lnSpc>
            </a:pPr>
            <a:r>
              <a:rPr lang="en-US" sz="2400" b="1" dirty="0">
                <a:solidFill>
                  <a:schemeClr val="lt1">
                    <a:lumMod val="85000"/>
                    <a:lumOff val="15000"/>
                  </a:schemeClr>
                </a:solidFill>
              </a:rPr>
              <a:t>04</a:t>
            </a:r>
            <a:endParaRPr lang="en-US" sz="2400" b="1" dirty="0">
              <a:solidFill>
                <a:schemeClr val="lt1">
                  <a:lumMod val="85000"/>
                  <a:lumOff val="15000"/>
                </a:schemeClr>
              </a:solidFill>
            </a:endParaRPr>
          </a:p>
        </p:txBody>
      </p:sp>
      <p:sp>
        <p:nvSpPr>
          <p:cNvPr id="32" name="项标题"/>
          <p:cNvSpPr txBox="1"/>
          <p:nvPr>
            <p:custDataLst>
              <p:tags r:id="rId13"/>
            </p:custDataLst>
          </p:nvPr>
        </p:nvSpPr>
        <p:spPr>
          <a:xfrm>
            <a:off x="7230171" y="3350132"/>
            <a:ext cx="3907016" cy="682601"/>
          </a:xfrm>
          <a:prstGeom prst="rect">
            <a:avLst/>
          </a:prstGeom>
          <a:noFill/>
        </p:spPr>
        <p:txBody>
          <a:bodyPr wrap="square" lIns="0" tIns="0" rIns="0" bIns="0" rtlCol="0" anchor="ctr">
            <a:noAutofit/>
          </a:bodyPr>
          <a:p>
            <a:pPr>
              <a:lnSpc>
                <a:spcPct val="100000"/>
              </a:lnSpc>
            </a:pPr>
            <a:r>
              <a:rPr lang="zh-CN" altLang="en-US" sz="2800" b="1" spc="300" dirty="0">
                <a:solidFill>
                  <a:schemeClr val="tx1">
                    <a:lumMod val="85000"/>
                    <a:lumOff val="15000"/>
                  </a:schemeClr>
                </a:solidFill>
                <a:latin typeface="+mn-ea"/>
              </a:rPr>
              <a:t>三大指标构建过程</a:t>
            </a:r>
            <a:endParaRPr lang="zh-CN" altLang="en-US" sz="2800" b="1" spc="300" dirty="0">
              <a:solidFill>
                <a:schemeClr val="tx1">
                  <a:lumMod val="85000"/>
                  <a:lumOff val="15000"/>
                </a:schemeClr>
              </a:solidFill>
              <a:latin typeface="+mn-ea"/>
            </a:endParaRPr>
          </a:p>
        </p:txBody>
      </p:sp>
      <p:sp>
        <p:nvSpPr>
          <p:cNvPr id="33" name="Bullet1"/>
          <p:cNvSpPr/>
          <p:nvPr>
            <p:custDataLst>
              <p:tags r:id="rId14"/>
            </p:custDataLst>
          </p:nvPr>
        </p:nvSpPr>
        <p:spPr>
          <a:xfrm>
            <a:off x="941922" y="4466957"/>
            <a:ext cx="4812480" cy="878458"/>
          </a:xfrm>
          <a:prstGeom prst="roundRect">
            <a:avLst>
              <a:gd name="adj" fmla="val 50000"/>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72000" rIns="180000" rtlCol="0" anchor="ctr">
            <a:normAutofit/>
          </a:bodyPr>
          <a:p>
            <a:endParaRPr lang="zh-CN" altLang="en-US" b="1" dirty="0">
              <a:solidFill>
                <a:schemeClr val="tx1"/>
              </a:solidFill>
              <a:latin typeface="+mn-ea"/>
              <a:sym typeface="Arial" panose="020B0604020202020204" pitchFamily="34" charset="0"/>
            </a:endParaRPr>
          </a:p>
        </p:txBody>
      </p:sp>
      <p:sp>
        <p:nvSpPr>
          <p:cNvPr id="34" name="序号"/>
          <p:cNvSpPr txBox="1"/>
          <p:nvPr>
            <p:custDataLst>
              <p:tags r:id="rId15"/>
            </p:custDataLst>
          </p:nvPr>
        </p:nvSpPr>
        <p:spPr>
          <a:xfrm>
            <a:off x="1055572" y="4551401"/>
            <a:ext cx="709111" cy="709111"/>
          </a:xfrm>
          <a:prstGeom prst="ellipse">
            <a:avLst/>
          </a:prstGeom>
          <a:solidFill>
            <a:srgbClr val="27776D"/>
          </a:solidFill>
        </p:spPr>
        <p:txBody>
          <a:bodyPr wrap="none" lIns="0" tIns="0" rIns="0" bIns="0" rtlCol="0" anchor="ctr" anchorCtr="0">
            <a:noAutofit/>
          </a:bodyPr>
          <a:p>
            <a:pPr algn="ctr">
              <a:lnSpc>
                <a:spcPct val="100000"/>
              </a:lnSpc>
            </a:pPr>
            <a:r>
              <a:rPr lang="en-US" sz="2400" b="1" dirty="0">
                <a:solidFill>
                  <a:schemeClr val="lt1">
                    <a:lumMod val="85000"/>
                    <a:lumOff val="15000"/>
                  </a:schemeClr>
                </a:solidFill>
              </a:rPr>
              <a:t>05</a:t>
            </a:r>
            <a:endParaRPr lang="en-US" sz="2400" b="1" dirty="0">
              <a:solidFill>
                <a:schemeClr val="lt1">
                  <a:lumMod val="85000"/>
                  <a:lumOff val="15000"/>
                </a:schemeClr>
              </a:solidFill>
            </a:endParaRPr>
          </a:p>
        </p:txBody>
      </p:sp>
      <p:sp>
        <p:nvSpPr>
          <p:cNvPr id="35" name="项标题"/>
          <p:cNvSpPr txBox="1"/>
          <p:nvPr>
            <p:custDataLst>
              <p:tags r:id="rId16"/>
            </p:custDataLst>
          </p:nvPr>
        </p:nvSpPr>
        <p:spPr>
          <a:xfrm>
            <a:off x="1847318" y="4564734"/>
            <a:ext cx="3907016" cy="682601"/>
          </a:xfrm>
          <a:prstGeom prst="rect">
            <a:avLst/>
          </a:prstGeom>
          <a:noFill/>
        </p:spPr>
        <p:txBody>
          <a:bodyPr wrap="square" lIns="0" tIns="0" rIns="0" bIns="0" rtlCol="0" anchor="ctr">
            <a:noAutofit/>
          </a:bodyPr>
          <a:p>
            <a:pPr>
              <a:lnSpc>
                <a:spcPct val="100000"/>
              </a:lnSpc>
            </a:pPr>
            <a:r>
              <a:rPr lang="zh-CN" altLang="en-US" sz="2800" b="1" spc="300" dirty="0">
                <a:solidFill>
                  <a:schemeClr val="tx1">
                    <a:lumMod val="85000"/>
                    <a:lumOff val="15000"/>
                  </a:schemeClr>
                </a:solidFill>
                <a:latin typeface="+mn-ea"/>
              </a:rPr>
              <a:t>综合风险评价结果</a:t>
            </a:r>
            <a:endParaRPr lang="zh-CN" altLang="en-US" sz="2800" b="1" spc="300" dirty="0">
              <a:solidFill>
                <a:schemeClr val="tx1">
                  <a:lumMod val="85000"/>
                  <a:lumOff val="15000"/>
                </a:schemeClr>
              </a:solidFill>
              <a:latin typeface="+mn-ea"/>
            </a:endParaRPr>
          </a:p>
        </p:txBody>
      </p:sp>
      <p:sp>
        <p:nvSpPr>
          <p:cNvPr id="36" name="Bullet1"/>
          <p:cNvSpPr/>
          <p:nvPr>
            <p:custDataLst>
              <p:tags r:id="rId17"/>
            </p:custDataLst>
          </p:nvPr>
        </p:nvSpPr>
        <p:spPr>
          <a:xfrm>
            <a:off x="6324140" y="4466957"/>
            <a:ext cx="4812480" cy="878458"/>
          </a:xfrm>
          <a:prstGeom prst="roundRect">
            <a:avLst>
              <a:gd name="adj" fmla="val 50000"/>
            </a:avLst>
          </a:prstGeom>
          <a:solidFill>
            <a:schemeClr val="accent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72000" rIns="180000" rtlCol="0" anchor="ctr">
            <a:normAutofit/>
          </a:bodyPr>
          <a:p>
            <a:endParaRPr lang="zh-CN" altLang="en-US" b="1" dirty="0">
              <a:solidFill>
                <a:schemeClr val="tx1"/>
              </a:solidFill>
              <a:latin typeface="+mn-ea"/>
              <a:sym typeface="Arial" panose="020B0604020202020204" pitchFamily="34" charset="0"/>
            </a:endParaRPr>
          </a:p>
        </p:txBody>
      </p:sp>
      <p:sp>
        <p:nvSpPr>
          <p:cNvPr id="37" name="序号"/>
          <p:cNvSpPr txBox="1"/>
          <p:nvPr>
            <p:custDataLst>
              <p:tags r:id="rId18"/>
            </p:custDataLst>
          </p:nvPr>
        </p:nvSpPr>
        <p:spPr>
          <a:xfrm>
            <a:off x="6438425" y="4551401"/>
            <a:ext cx="709111" cy="709111"/>
          </a:xfrm>
          <a:prstGeom prst="ellipse">
            <a:avLst/>
          </a:prstGeom>
          <a:solidFill>
            <a:srgbClr val="27776D"/>
          </a:solidFill>
        </p:spPr>
        <p:txBody>
          <a:bodyPr wrap="none" lIns="0" tIns="0" rIns="0" bIns="0" rtlCol="0" anchor="ctr" anchorCtr="0">
            <a:noAutofit/>
          </a:bodyPr>
          <a:p>
            <a:pPr algn="ctr">
              <a:lnSpc>
                <a:spcPct val="100000"/>
              </a:lnSpc>
            </a:pPr>
            <a:r>
              <a:rPr lang="en-US" sz="2400" b="1" dirty="0">
                <a:solidFill>
                  <a:schemeClr val="lt1">
                    <a:lumMod val="85000"/>
                    <a:lumOff val="15000"/>
                  </a:schemeClr>
                </a:solidFill>
              </a:rPr>
              <a:t>06</a:t>
            </a:r>
            <a:endParaRPr lang="en-US" sz="2400" b="1" dirty="0">
              <a:solidFill>
                <a:schemeClr val="lt1">
                  <a:lumMod val="85000"/>
                  <a:lumOff val="15000"/>
                </a:schemeClr>
              </a:solidFill>
            </a:endParaRPr>
          </a:p>
        </p:txBody>
      </p:sp>
      <p:sp>
        <p:nvSpPr>
          <p:cNvPr id="38" name="项标题"/>
          <p:cNvSpPr txBox="1"/>
          <p:nvPr>
            <p:custDataLst>
              <p:tags r:id="rId19"/>
            </p:custDataLst>
          </p:nvPr>
        </p:nvSpPr>
        <p:spPr>
          <a:xfrm>
            <a:off x="7230171" y="4564734"/>
            <a:ext cx="3907016" cy="682601"/>
          </a:xfrm>
          <a:prstGeom prst="rect">
            <a:avLst/>
          </a:prstGeom>
          <a:noFill/>
        </p:spPr>
        <p:txBody>
          <a:bodyPr wrap="square" lIns="0" tIns="0" rIns="0" bIns="0" rtlCol="0" anchor="ctr">
            <a:noAutofit/>
          </a:bodyPr>
          <a:p>
            <a:pPr>
              <a:lnSpc>
                <a:spcPct val="100000"/>
              </a:lnSpc>
            </a:pPr>
            <a:r>
              <a:rPr lang="en-US" altLang="en-US" sz="2800" b="1" spc="300" dirty="0">
                <a:solidFill>
                  <a:schemeClr val="tx1">
                    <a:lumMod val="85000"/>
                    <a:lumOff val="15000"/>
                  </a:schemeClr>
                </a:solidFill>
                <a:latin typeface="Arial" panose="020B0604020202020204" pitchFamily="34" charset="0"/>
                <a:cs typeface="Arial" panose="020B0604020202020204" pitchFamily="34" charset="0"/>
              </a:rPr>
              <a:t>WebGIS</a:t>
            </a:r>
            <a:r>
              <a:rPr lang="zh-CN" altLang="en-US" sz="2800" b="1" spc="300" dirty="0">
                <a:solidFill>
                  <a:schemeClr val="tx1">
                    <a:lumMod val="85000"/>
                    <a:lumOff val="15000"/>
                  </a:schemeClr>
                </a:solidFill>
                <a:latin typeface="+mn-ea"/>
              </a:rPr>
              <a:t>设计</a:t>
            </a:r>
            <a:endParaRPr lang="zh-CN" altLang="en-US" sz="2800" b="1" spc="300" dirty="0">
              <a:solidFill>
                <a:schemeClr val="tx1">
                  <a:lumMod val="85000"/>
                  <a:lumOff val="15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987675" y="2817585"/>
            <a:ext cx="5870074" cy="1318985"/>
            <a:chOff x="2540000" y="2817585"/>
            <a:chExt cx="5870074" cy="1318985"/>
          </a:xfrm>
        </p:grpSpPr>
        <p:sp>
          <p:nvSpPr>
            <p:cNvPr id="4" name="矩形: 圆角 3"/>
            <p:cNvSpPr/>
            <p:nvPr/>
          </p:nvSpPr>
          <p:spPr>
            <a:xfrm>
              <a:off x="2540000" y="2817585"/>
              <a:ext cx="5870074" cy="131898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4010552" y="3023107"/>
              <a:ext cx="3966213" cy="76835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组员分工</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sp>
          <p:nvSpPr>
            <p:cNvPr id="12" name="文本框 11"/>
            <p:cNvSpPr txBox="1"/>
            <p:nvPr/>
          </p:nvSpPr>
          <p:spPr>
            <a:xfrm>
              <a:off x="2859313" y="2875002"/>
              <a:ext cx="1194781" cy="1107996"/>
            </a:xfrm>
            <a:prstGeom prst="rect">
              <a:avLst/>
            </a:prstGeom>
            <a:noFill/>
          </p:spPr>
          <p:txBody>
            <a:bodyPr wrap="square" rtlCol="0">
              <a:spAutoFit/>
            </a:bodyPr>
            <a:lstStyle/>
            <a:p>
              <a:pPr algn="ctr"/>
              <a:r>
                <a:rPr lang="en-US" altLang="zh-CN" sz="6600" dirty="0">
                  <a:solidFill>
                    <a:schemeClr val="bg1"/>
                  </a:solidFill>
                  <a:effectLst>
                    <a:outerShdw blurRad="38100" dist="38100" dir="2700000" algn="tl">
                      <a:srgbClr val="000000">
                        <a:alpha val="43137"/>
                      </a:srgbClr>
                    </a:outerShdw>
                  </a:effectLst>
                  <a:cs typeface="+mn-ea"/>
                  <a:sym typeface="+mn-lt"/>
                </a:rPr>
                <a:t>01</a:t>
              </a:r>
              <a:endParaRPr lang="zh-CN" altLang="en-US" sz="6600" dirty="0">
                <a:solidFill>
                  <a:schemeClr val="bg1"/>
                </a:solidFill>
                <a:effectLst>
                  <a:outerShdw blurRad="38100" dist="38100" dir="2700000" algn="tl">
                    <a:srgbClr val="000000">
                      <a:alpha val="43137"/>
                    </a:srgb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custDataLst>
              <p:tags r:id="rId1"/>
            </p:custDataLst>
          </p:nvPr>
        </p:nvGrpSpPr>
        <p:grpSpPr>
          <a:xfrm>
            <a:off x="9614202" y="4088595"/>
            <a:ext cx="3295250" cy="3942035"/>
            <a:chOff x="9614202" y="4088595"/>
            <a:chExt cx="3295250" cy="3942035"/>
          </a:xfrm>
        </p:grpSpPr>
        <p:sp>
          <p:nvSpPr>
            <p:cNvPr id="101" name="椭圆 100"/>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2" name="椭圆 101"/>
            <p:cNvSpPr/>
            <p:nvPr>
              <p:custDataLst>
                <p:tags r:id="rId2"/>
              </p:custDataLst>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3" name="椭圆 102"/>
            <p:cNvSpPr/>
            <p:nvPr>
              <p:custDataLst>
                <p:tags r:id="rId3"/>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6" name="组合 15"/>
          <p:cNvGrpSpPr/>
          <p:nvPr>
            <p:custDataLst>
              <p:tags r:id="rId4"/>
            </p:custDataLst>
          </p:nvPr>
        </p:nvGrpSpPr>
        <p:grpSpPr>
          <a:xfrm>
            <a:off x="4211215" y="1993361"/>
            <a:ext cx="1231900" cy="1231900"/>
            <a:chOff x="1479550" y="3302000"/>
            <a:chExt cx="1231900" cy="1231900"/>
          </a:xfrm>
        </p:grpSpPr>
        <p:grpSp>
          <p:nvGrpSpPr>
            <p:cNvPr id="17" name="组合 16"/>
            <p:cNvGrpSpPr/>
            <p:nvPr/>
          </p:nvGrpSpPr>
          <p:grpSpPr>
            <a:xfrm>
              <a:off x="1479550" y="3302000"/>
              <a:ext cx="1231900" cy="1231900"/>
              <a:chOff x="1479550" y="3302000"/>
              <a:chExt cx="1231900" cy="1231900"/>
            </a:xfrm>
          </p:grpSpPr>
          <p:sp>
            <p:nvSpPr>
              <p:cNvPr id="20" name="椭圆 19"/>
              <p:cNvSpPr/>
              <p:nvPr>
                <p:custDataLst>
                  <p:tags r:id="rId5"/>
                </p:custDataLst>
              </p:nvPr>
            </p:nvSpPr>
            <p:spPr>
              <a:xfrm>
                <a:off x="1543050" y="3365500"/>
                <a:ext cx="1123950" cy="1123950"/>
              </a:xfrm>
              <a:prstGeom prst="ellipse">
                <a:avLst/>
              </a:prstGeom>
              <a:solidFill>
                <a:srgbClr val="27776D">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9" name="椭圆 18"/>
              <p:cNvSpPr/>
              <p:nvPr>
                <p:custDataLst>
                  <p:tags r:id="rId6"/>
                </p:custDataLst>
              </p:nvPr>
            </p:nvSpPr>
            <p:spPr>
              <a:xfrm>
                <a:off x="1708150" y="3530600"/>
                <a:ext cx="793750" cy="793750"/>
              </a:xfrm>
              <a:prstGeom prst="ellipse">
                <a:avLst/>
              </a:prstGeom>
              <a:solidFill>
                <a:srgbClr val="27776D">
                  <a:alpha val="9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custDataLst>
                  <p:tags r:id="rId7"/>
                </p:custDataLst>
              </p:nvPr>
            </p:nvSpPr>
            <p:spPr>
              <a:xfrm>
                <a:off x="1498600" y="3321050"/>
                <a:ext cx="1212850" cy="121285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椭圆 21"/>
              <p:cNvSpPr/>
              <p:nvPr>
                <p:custDataLst>
                  <p:tags r:id="rId8"/>
                </p:custDataLst>
              </p:nvPr>
            </p:nvSpPr>
            <p:spPr>
              <a:xfrm>
                <a:off x="1479550" y="3765550"/>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椭圆 22"/>
              <p:cNvSpPr/>
              <p:nvPr>
                <p:custDataLst>
                  <p:tags r:id="rId9"/>
                </p:custDataLst>
              </p:nvPr>
            </p:nvSpPr>
            <p:spPr>
              <a:xfrm>
                <a:off x="2158206" y="3302000"/>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8" name="文本框 17"/>
            <p:cNvSpPr txBox="1"/>
            <p:nvPr>
              <p:custDataLst>
                <p:tags r:id="rId10"/>
              </p:custDataLst>
            </p:nvPr>
          </p:nvSpPr>
          <p:spPr>
            <a:xfrm>
              <a:off x="1609725" y="3611653"/>
              <a:ext cx="990600" cy="58477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cs typeface="+mn-ea"/>
                  <a:sym typeface="+mn-lt"/>
                </a:rPr>
                <a:t>01</a:t>
              </a:r>
              <a:endParaRPr lang="zh-CN" altLang="en-US" sz="3200" dirty="0">
                <a:solidFill>
                  <a:schemeClr val="bg1"/>
                </a:solidFill>
                <a:effectLst>
                  <a:outerShdw blurRad="38100" dist="38100" dir="2700000" algn="tl">
                    <a:srgbClr val="000000">
                      <a:alpha val="43137"/>
                    </a:srgbClr>
                  </a:outerShdw>
                </a:effectLst>
                <a:cs typeface="+mn-ea"/>
                <a:sym typeface="+mn-lt"/>
              </a:endParaRPr>
            </a:p>
          </p:txBody>
        </p:sp>
      </p:grpSp>
      <p:grpSp>
        <p:nvGrpSpPr>
          <p:cNvPr id="24" name="组合 23"/>
          <p:cNvGrpSpPr/>
          <p:nvPr>
            <p:custDataLst>
              <p:tags r:id="rId11"/>
            </p:custDataLst>
          </p:nvPr>
        </p:nvGrpSpPr>
        <p:grpSpPr>
          <a:xfrm>
            <a:off x="4211215" y="3665567"/>
            <a:ext cx="1231900" cy="1212850"/>
            <a:chOff x="1498600" y="3321050"/>
            <a:chExt cx="1231900" cy="1212850"/>
          </a:xfrm>
        </p:grpSpPr>
        <p:grpSp>
          <p:nvGrpSpPr>
            <p:cNvPr id="25" name="组合 24"/>
            <p:cNvGrpSpPr/>
            <p:nvPr/>
          </p:nvGrpSpPr>
          <p:grpSpPr>
            <a:xfrm>
              <a:off x="1498600" y="3321050"/>
              <a:ext cx="1231900" cy="1212850"/>
              <a:chOff x="1498600" y="3321050"/>
              <a:chExt cx="1231900" cy="1212850"/>
            </a:xfrm>
          </p:grpSpPr>
          <p:sp>
            <p:nvSpPr>
              <p:cNvPr id="28" name="椭圆 27"/>
              <p:cNvSpPr/>
              <p:nvPr>
                <p:custDataLst>
                  <p:tags r:id="rId12"/>
                </p:custDataLst>
              </p:nvPr>
            </p:nvSpPr>
            <p:spPr>
              <a:xfrm>
                <a:off x="1543050" y="3365500"/>
                <a:ext cx="1123950" cy="1123950"/>
              </a:xfrm>
              <a:prstGeom prst="ellipse">
                <a:avLst/>
              </a:prstGeom>
              <a:solidFill>
                <a:srgbClr val="0077C1">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7" name="椭圆 26"/>
              <p:cNvSpPr/>
              <p:nvPr>
                <p:custDataLst>
                  <p:tags r:id="rId13"/>
                </p:custDataLst>
              </p:nvPr>
            </p:nvSpPr>
            <p:spPr>
              <a:xfrm>
                <a:off x="1708150" y="3530600"/>
                <a:ext cx="793750" cy="79375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椭圆 28"/>
              <p:cNvSpPr/>
              <p:nvPr>
                <p:custDataLst>
                  <p:tags r:id="rId14"/>
                </p:custDataLst>
              </p:nvPr>
            </p:nvSpPr>
            <p:spPr>
              <a:xfrm>
                <a:off x="1498600" y="3321050"/>
                <a:ext cx="1212850" cy="121285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custDataLst>
                  <p:tags r:id="rId15"/>
                </p:custDataLst>
              </p:nvPr>
            </p:nvSpPr>
            <p:spPr>
              <a:xfrm>
                <a:off x="2667000" y="4051300"/>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椭圆 30"/>
              <p:cNvSpPr/>
              <p:nvPr>
                <p:custDataLst>
                  <p:tags r:id="rId16"/>
                </p:custDataLst>
              </p:nvPr>
            </p:nvSpPr>
            <p:spPr>
              <a:xfrm>
                <a:off x="2519362" y="3483731"/>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6" name="文本框 25"/>
            <p:cNvSpPr txBox="1"/>
            <p:nvPr>
              <p:custDataLst>
                <p:tags r:id="rId17"/>
              </p:custDataLst>
            </p:nvPr>
          </p:nvSpPr>
          <p:spPr>
            <a:xfrm>
              <a:off x="1609725" y="3611653"/>
              <a:ext cx="990600" cy="58356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cs typeface="+mn-ea"/>
                  <a:sym typeface="+mn-lt"/>
                </a:rPr>
                <a:t>03</a:t>
              </a:r>
              <a:endParaRPr lang="zh-CN" altLang="en-US" sz="3200" dirty="0">
                <a:solidFill>
                  <a:schemeClr val="bg1"/>
                </a:solidFill>
                <a:effectLst>
                  <a:outerShdw blurRad="38100" dist="38100" dir="2700000" algn="tl">
                    <a:srgbClr val="000000">
                      <a:alpha val="43137"/>
                    </a:srgbClr>
                  </a:outerShdw>
                </a:effectLst>
                <a:cs typeface="+mn-ea"/>
                <a:sym typeface="+mn-lt"/>
              </a:endParaRPr>
            </a:p>
          </p:txBody>
        </p:sp>
      </p:grpSp>
      <p:grpSp>
        <p:nvGrpSpPr>
          <p:cNvPr id="32" name="组合 31"/>
          <p:cNvGrpSpPr/>
          <p:nvPr>
            <p:custDataLst>
              <p:tags r:id="rId18"/>
            </p:custDataLst>
          </p:nvPr>
        </p:nvGrpSpPr>
        <p:grpSpPr>
          <a:xfrm>
            <a:off x="6419427" y="2011820"/>
            <a:ext cx="1212850" cy="1212850"/>
            <a:chOff x="1498600" y="3321050"/>
            <a:chExt cx="1212850" cy="1212850"/>
          </a:xfrm>
        </p:grpSpPr>
        <p:grpSp>
          <p:nvGrpSpPr>
            <p:cNvPr id="33" name="组合 32"/>
            <p:cNvGrpSpPr/>
            <p:nvPr/>
          </p:nvGrpSpPr>
          <p:grpSpPr>
            <a:xfrm>
              <a:off x="1498600" y="3321050"/>
              <a:ext cx="1212850" cy="1212850"/>
              <a:chOff x="1498600" y="3321050"/>
              <a:chExt cx="1212850" cy="1212850"/>
            </a:xfrm>
          </p:grpSpPr>
          <p:sp>
            <p:nvSpPr>
              <p:cNvPr id="36" name="椭圆 35"/>
              <p:cNvSpPr/>
              <p:nvPr>
                <p:custDataLst>
                  <p:tags r:id="rId19"/>
                </p:custDataLst>
              </p:nvPr>
            </p:nvSpPr>
            <p:spPr>
              <a:xfrm>
                <a:off x="1543050" y="3365500"/>
                <a:ext cx="1123950" cy="1123950"/>
              </a:xfrm>
              <a:prstGeom prst="ellipse">
                <a:avLst/>
              </a:prstGeom>
              <a:solidFill>
                <a:srgbClr val="0077C1">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5" name="椭圆 34"/>
              <p:cNvSpPr/>
              <p:nvPr>
                <p:custDataLst>
                  <p:tags r:id="rId20"/>
                </p:custDataLst>
              </p:nvPr>
            </p:nvSpPr>
            <p:spPr>
              <a:xfrm>
                <a:off x="1708150" y="3530600"/>
                <a:ext cx="793750" cy="79375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custDataLst>
                  <p:tags r:id="rId21"/>
                </p:custDataLst>
              </p:nvPr>
            </p:nvSpPr>
            <p:spPr>
              <a:xfrm>
                <a:off x="1498600" y="3321050"/>
                <a:ext cx="1212850" cy="121285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custDataLst>
                  <p:tags r:id="rId22"/>
                </p:custDataLst>
              </p:nvPr>
            </p:nvSpPr>
            <p:spPr>
              <a:xfrm>
                <a:off x="1704975" y="4372769"/>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custDataLst>
                  <p:tags r:id="rId23"/>
                </p:custDataLst>
              </p:nvPr>
            </p:nvSpPr>
            <p:spPr>
              <a:xfrm>
                <a:off x="2501900" y="4324350"/>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4" name="文本框 33"/>
            <p:cNvSpPr txBox="1"/>
            <p:nvPr>
              <p:custDataLst>
                <p:tags r:id="rId24"/>
              </p:custDataLst>
            </p:nvPr>
          </p:nvSpPr>
          <p:spPr>
            <a:xfrm>
              <a:off x="1609725" y="3611653"/>
              <a:ext cx="990600" cy="58356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cs typeface="+mn-ea"/>
                  <a:sym typeface="+mn-lt"/>
                </a:rPr>
                <a:t>02</a:t>
              </a:r>
              <a:endParaRPr lang="zh-CN" altLang="en-US" sz="3200" dirty="0">
                <a:solidFill>
                  <a:schemeClr val="bg1"/>
                </a:solidFill>
                <a:effectLst>
                  <a:outerShdw blurRad="38100" dist="38100" dir="2700000" algn="tl">
                    <a:srgbClr val="000000">
                      <a:alpha val="43137"/>
                    </a:srgbClr>
                  </a:outerShdw>
                </a:effectLst>
                <a:cs typeface="+mn-ea"/>
                <a:sym typeface="+mn-lt"/>
              </a:endParaRPr>
            </a:p>
          </p:txBody>
        </p:sp>
      </p:grpSp>
      <p:grpSp>
        <p:nvGrpSpPr>
          <p:cNvPr id="40" name="组合 39"/>
          <p:cNvGrpSpPr/>
          <p:nvPr>
            <p:custDataLst>
              <p:tags r:id="rId25"/>
            </p:custDataLst>
          </p:nvPr>
        </p:nvGrpSpPr>
        <p:grpSpPr>
          <a:xfrm>
            <a:off x="6419427" y="3684026"/>
            <a:ext cx="1212850" cy="1212850"/>
            <a:chOff x="1498600" y="3321050"/>
            <a:chExt cx="1212850" cy="1212850"/>
          </a:xfrm>
        </p:grpSpPr>
        <p:grpSp>
          <p:nvGrpSpPr>
            <p:cNvPr id="41" name="组合 40"/>
            <p:cNvGrpSpPr/>
            <p:nvPr/>
          </p:nvGrpSpPr>
          <p:grpSpPr>
            <a:xfrm>
              <a:off x="1498600" y="3321050"/>
              <a:ext cx="1212850" cy="1212850"/>
              <a:chOff x="1498600" y="3321050"/>
              <a:chExt cx="1212850" cy="1212850"/>
            </a:xfrm>
          </p:grpSpPr>
          <p:sp>
            <p:nvSpPr>
              <p:cNvPr id="44" name="椭圆 43"/>
              <p:cNvSpPr/>
              <p:nvPr>
                <p:custDataLst>
                  <p:tags r:id="rId26"/>
                </p:custDataLst>
              </p:nvPr>
            </p:nvSpPr>
            <p:spPr>
              <a:xfrm>
                <a:off x="1543050" y="3365500"/>
                <a:ext cx="1123950" cy="1123950"/>
              </a:xfrm>
              <a:prstGeom prst="ellipse">
                <a:avLst/>
              </a:prstGeom>
              <a:solidFill>
                <a:srgbClr val="0077C1">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3" name="椭圆 42"/>
              <p:cNvSpPr/>
              <p:nvPr>
                <p:custDataLst>
                  <p:tags r:id="rId27"/>
                </p:custDataLst>
              </p:nvPr>
            </p:nvSpPr>
            <p:spPr>
              <a:xfrm>
                <a:off x="1708150" y="3530600"/>
                <a:ext cx="793750" cy="79375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椭圆 44"/>
              <p:cNvSpPr/>
              <p:nvPr>
                <p:custDataLst>
                  <p:tags r:id="rId28"/>
                </p:custDataLst>
              </p:nvPr>
            </p:nvSpPr>
            <p:spPr>
              <a:xfrm>
                <a:off x="1498600" y="3321050"/>
                <a:ext cx="1212850" cy="1212850"/>
              </a:xfrm>
              <a:prstGeom prst="ellipse">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custDataLst>
                  <p:tags r:id="rId29"/>
                </p:custDataLst>
              </p:nvPr>
            </p:nvSpPr>
            <p:spPr>
              <a:xfrm>
                <a:off x="1577975" y="3548153"/>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custDataLst>
                  <p:tags r:id="rId30"/>
                </p:custDataLst>
              </p:nvPr>
            </p:nvSpPr>
            <p:spPr>
              <a:xfrm>
                <a:off x="1511300" y="4164678"/>
                <a:ext cx="63500" cy="6350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2" name="文本框 41"/>
            <p:cNvSpPr txBox="1"/>
            <p:nvPr>
              <p:custDataLst>
                <p:tags r:id="rId31"/>
              </p:custDataLst>
            </p:nvPr>
          </p:nvSpPr>
          <p:spPr>
            <a:xfrm>
              <a:off x="1609725" y="3611653"/>
              <a:ext cx="990600" cy="583565"/>
            </a:xfrm>
            <a:prstGeom prst="rect">
              <a:avLst/>
            </a:prstGeom>
            <a:noFill/>
          </p:spPr>
          <p:txBody>
            <a:bodyPr wrap="square" rtlCol="0">
              <a:spAutoFit/>
            </a:bodyPr>
            <a:lstStyle/>
            <a:p>
              <a:pPr algn="ctr"/>
              <a:r>
                <a:rPr lang="en-US" altLang="zh-CN" sz="3200" dirty="0">
                  <a:solidFill>
                    <a:schemeClr val="bg1"/>
                  </a:solidFill>
                  <a:effectLst>
                    <a:outerShdw blurRad="38100" dist="38100" dir="2700000" algn="tl">
                      <a:srgbClr val="000000">
                        <a:alpha val="43137"/>
                      </a:srgbClr>
                    </a:outerShdw>
                  </a:effectLst>
                  <a:cs typeface="+mn-ea"/>
                  <a:sym typeface="+mn-lt"/>
                </a:rPr>
                <a:t>04</a:t>
              </a:r>
              <a:endParaRPr lang="zh-CN" altLang="en-US" sz="3200" dirty="0">
                <a:solidFill>
                  <a:schemeClr val="bg1"/>
                </a:solidFill>
                <a:effectLst>
                  <a:outerShdw blurRad="38100" dist="38100" dir="2700000" algn="tl">
                    <a:srgbClr val="000000">
                      <a:alpha val="43137"/>
                    </a:srgbClr>
                  </a:outerShdw>
                </a:effectLst>
                <a:cs typeface="+mn-ea"/>
                <a:sym typeface="+mn-lt"/>
              </a:endParaRPr>
            </a:p>
          </p:txBody>
        </p:sp>
      </p:grpSp>
      <p:grpSp>
        <p:nvGrpSpPr>
          <p:cNvPr id="48" name="组合 47"/>
          <p:cNvGrpSpPr/>
          <p:nvPr>
            <p:custDataLst>
              <p:tags r:id="rId32"/>
            </p:custDataLst>
          </p:nvPr>
        </p:nvGrpSpPr>
        <p:grpSpPr>
          <a:xfrm>
            <a:off x="853335" y="2156127"/>
            <a:ext cx="2999899" cy="922020"/>
            <a:chOff x="-272345" y="4317883"/>
            <a:chExt cx="2999899" cy="922020"/>
          </a:xfrm>
        </p:grpSpPr>
        <p:sp>
          <p:nvSpPr>
            <p:cNvPr id="49" name="文本框 48"/>
            <p:cNvSpPr txBox="1"/>
            <p:nvPr>
              <p:custDataLst>
                <p:tags r:id="rId33"/>
              </p:custDataLst>
            </p:nvPr>
          </p:nvSpPr>
          <p:spPr>
            <a:xfrm>
              <a:off x="940821" y="4317883"/>
              <a:ext cx="1786733" cy="398780"/>
            </a:xfrm>
            <a:prstGeom prst="rect">
              <a:avLst/>
            </a:prstGeom>
            <a:noFill/>
          </p:spPr>
          <p:txBody>
            <a:bodyPr wrap="square" rtlCol="0">
              <a:spAutoFit/>
            </a:bodyPr>
            <a:lstStyle/>
            <a:p>
              <a:pPr algn="r"/>
              <a:r>
                <a:rPr lang="en-US" altLang="zh-CN" sz="2000" dirty="0">
                  <a:solidFill>
                    <a:schemeClr val="tx1">
                      <a:lumMod val="85000"/>
                      <a:lumOff val="15000"/>
                    </a:schemeClr>
                  </a:solidFill>
                  <a:cs typeface="+mn-ea"/>
                  <a:sym typeface="+mn-lt"/>
                </a:rPr>
                <a:t>XXX</a:t>
              </a:r>
              <a:endParaRPr lang="en-US" altLang="zh-CN" sz="2000" dirty="0">
                <a:solidFill>
                  <a:schemeClr val="tx1">
                    <a:lumMod val="85000"/>
                    <a:lumOff val="15000"/>
                  </a:schemeClr>
                </a:solidFill>
                <a:cs typeface="+mn-ea"/>
                <a:sym typeface="+mn-lt"/>
              </a:endParaRPr>
            </a:p>
          </p:txBody>
        </p:sp>
        <p:sp>
          <p:nvSpPr>
            <p:cNvPr id="50" name="文本框 49"/>
            <p:cNvSpPr txBox="1"/>
            <p:nvPr>
              <p:custDataLst>
                <p:tags r:id="rId34"/>
              </p:custDataLst>
            </p:nvPr>
          </p:nvSpPr>
          <p:spPr>
            <a:xfrm>
              <a:off x="-272345" y="4717933"/>
              <a:ext cx="2999740" cy="521970"/>
            </a:xfrm>
            <a:prstGeom prst="rect">
              <a:avLst/>
            </a:prstGeom>
            <a:noFill/>
          </p:spPr>
          <p:txBody>
            <a:bodyPr wrap="square" rtlCol="0">
              <a:spAutoFit/>
            </a:bodyPr>
            <a:lstStyle/>
            <a:p>
              <a:pPr algn="l"/>
              <a:r>
                <a:rPr lang="zh-CN" altLang="en-US" sz="1400" dirty="0">
                  <a:solidFill>
                    <a:schemeClr val="tx1">
                      <a:lumMod val="85000"/>
                      <a:lumOff val="15000"/>
                    </a:schemeClr>
                  </a:solidFill>
                  <a:cs typeface="+mn-ea"/>
                  <a:sym typeface="+mn-lt"/>
                </a:rPr>
                <a:t>负责项目选题、研究区概况、总体技术路线设计、最终汇报逻辑整合。</a:t>
              </a:r>
              <a:endParaRPr lang="zh-CN" altLang="en-US" sz="1400" dirty="0">
                <a:solidFill>
                  <a:schemeClr val="tx1">
                    <a:lumMod val="85000"/>
                    <a:lumOff val="15000"/>
                  </a:schemeClr>
                </a:solidFill>
                <a:cs typeface="+mn-ea"/>
                <a:sym typeface="+mn-lt"/>
              </a:endParaRPr>
            </a:p>
          </p:txBody>
        </p:sp>
      </p:grpSp>
      <p:grpSp>
        <p:nvGrpSpPr>
          <p:cNvPr id="51" name="组合 50"/>
          <p:cNvGrpSpPr/>
          <p:nvPr>
            <p:custDataLst>
              <p:tags r:id="rId35"/>
            </p:custDataLst>
          </p:nvPr>
        </p:nvGrpSpPr>
        <p:grpSpPr>
          <a:xfrm>
            <a:off x="525675" y="3828248"/>
            <a:ext cx="3327559" cy="922020"/>
            <a:chOff x="-600005" y="4317883"/>
            <a:chExt cx="3327559" cy="922020"/>
          </a:xfrm>
        </p:grpSpPr>
        <p:sp>
          <p:nvSpPr>
            <p:cNvPr id="52" name="文本框 51"/>
            <p:cNvSpPr txBox="1"/>
            <p:nvPr>
              <p:custDataLst>
                <p:tags r:id="rId36"/>
              </p:custDataLst>
            </p:nvPr>
          </p:nvSpPr>
          <p:spPr>
            <a:xfrm>
              <a:off x="940821" y="4317883"/>
              <a:ext cx="1786733" cy="398780"/>
            </a:xfrm>
            <a:prstGeom prst="rect">
              <a:avLst/>
            </a:prstGeom>
            <a:noFill/>
          </p:spPr>
          <p:txBody>
            <a:bodyPr wrap="square" rtlCol="0">
              <a:spAutoFit/>
            </a:bodyPr>
            <a:lstStyle/>
            <a:p>
              <a:pPr algn="r"/>
              <a:r>
                <a:rPr lang="en-US" altLang="zh-CN" sz="2000" dirty="0">
                  <a:solidFill>
                    <a:schemeClr val="tx1">
                      <a:lumMod val="85000"/>
                      <a:lumOff val="15000"/>
                    </a:schemeClr>
                  </a:solidFill>
                  <a:cs typeface="+mn-ea"/>
                  <a:sym typeface="+mn-lt"/>
                </a:rPr>
                <a:t>XXX</a:t>
              </a:r>
              <a:endParaRPr lang="en-US" altLang="zh-CN" sz="2000" dirty="0">
                <a:solidFill>
                  <a:schemeClr val="tx1">
                    <a:lumMod val="85000"/>
                    <a:lumOff val="15000"/>
                  </a:schemeClr>
                </a:solidFill>
                <a:cs typeface="+mn-ea"/>
                <a:sym typeface="+mn-lt"/>
              </a:endParaRPr>
            </a:p>
          </p:txBody>
        </p:sp>
        <p:sp>
          <p:nvSpPr>
            <p:cNvPr id="53" name="文本框 52"/>
            <p:cNvSpPr txBox="1"/>
            <p:nvPr>
              <p:custDataLst>
                <p:tags r:id="rId37"/>
              </p:custDataLst>
            </p:nvPr>
          </p:nvSpPr>
          <p:spPr>
            <a:xfrm>
              <a:off x="-600005" y="4717933"/>
              <a:ext cx="3327400" cy="521970"/>
            </a:xfrm>
            <a:prstGeom prst="rect">
              <a:avLst/>
            </a:prstGeom>
            <a:noFill/>
          </p:spPr>
          <p:txBody>
            <a:bodyPr wrap="square" rtlCol="0">
              <a:spAutoFit/>
            </a:bodyPr>
            <a:lstStyle/>
            <a:p>
              <a:pPr algn="l"/>
              <a:r>
                <a:rPr lang="zh-CN" altLang="en-US" sz="1400" dirty="0">
                  <a:solidFill>
                    <a:schemeClr val="tx1">
                      <a:lumMod val="85000"/>
                      <a:lumOff val="15000"/>
                    </a:schemeClr>
                  </a:solidFill>
                  <a:cs typeface="+mn-ea"/>
                  <a:sym typeface="+mn-lt"/>
                </a:rPr>
                <a:t>负责居民点暴露度计算、防灾减灾能力指标构建、能力指数计算与结果分析。</a:t>
              </a:r>
              <a:endParaRPr lang="zh-CN" altLang="en-US" sz="1400" dirty="0">
                <a:solidFill>
                  <a:schemeClr val="tx1">
                    <a:lumMod val="85000"/>
                    <a:lumOff val="15000"/>
                  </a:schemeClr>
                </a:solidFill>
                <a:cs typeface="+mn-ea"/>
                <a:sym typeface="+mn-lt"/>
              </a:endParaRPr>
            </a:p>
          </p:txBody>
        </p:sp>
      </p:grpSp>
      <p:grpSp>
        <p:nvGrpSpPr>
          <p:cNvPr id="54" name="组合 53"/>
          <p:cNvGrpSpPr/>
          <p:nvPr>
            <p:custDataLst>
              <p:tags r:id="rId38"/>
            </p:custDataLst>
          </p:nvPr>
        </p:nvGrpSpPr>
        <p:grpSpPr>
          <a:xfrm>
            <a:off x="8028955" y="2156127"/>
            <a:ext cx="3510915" cy="922020"/>
            <a:chOff x="15310" y="4317883"/>
            <a:chExt cx="3510915" cy="922020"/>
          </a:xfrm>
        </p:grpSpPr>
        <p:sp>
          <p:nvSpPr>
            <p:cNvPr id="55" name="文本框 54"/>
            <p:cNvSpPr txBox="1"/>
            <p:nvPr>
              <p:custDataLst>
                <p:tags r:id="rId39"/>
              </p:custDataLst>
            </p:nvPr>
          </p:nvSpPr>
          <p:spPr>
            <a:xfrm>
              <a:off x="15310" y="4317883"/>
              <a:ext cx="1786733" cy="398780"/>
            </a:xfrm>
            <a:prstGeom prst="rect">
              <a:avLst/>
            </a:prstGeom>
            <a:noFill/>
          </p:spPr>
          <p:txBody>
            <a:bodyPr wrap="square" rtlCol="0">
              <a:spAutoFit/>
            </a:bodyPr>
            <a:lstStyle/>
            <a:p>
              <a:r>
                <a:rPr lang="en-US" altLang="zh-CN" sz="2000" dirty="0">
                  <a:solidFill>
                    <a:schemeClr val="tx1">
                      <a:lumMod val="85000"/>
                      <a:lumOff val="15000"/>
                    </a:schemeClr>
                  </a:solidFill>
                  <a:cs typeface="+mn-ea"/>
                  <a:sym typeface="+mn-lt"/>
                </a:rPr>
                <a:t>XXX</a:t>
              </a:r>
              <a:endParaRPr lang="en-US" altLang="zh-CN" sz="2000" dirty="0">
                <a:solidFill>
                  <a:schemeClr val="tx1">
                    <a:lumMod val="85000"/>
                    <a:lumOff val="15000"/>
                  </a:schemeClr>
                </a:solidFill>
                <a:cs typeface="+mn-ea"/>
                <a:sym typeface="+mn-lt"/>
              </a:endParaRPr>
            </a:p>
          </p:txBody>
        </p:sp>
        <p:sp>
          <p:nvSpPr>
            <p:cNvPr id="56" name="文本框 55"/>
            <p:cNvSpPr txBox="1"/>
            <p:nvPr>
              <p:custDataLst>
                <p:tags r:id="rId40"/>
              </p:custDataLst>
            </p:nvPr>
          </p:nvSpPr>
          <p:spPr>
            <a:xfrm>
              <a:off x="15310" y="4717933"/>
              <a:ext cx="3510915" cy="521970"/>
            </a:xfrm>
            <a:prstGeom prst="rect">
              <a:avLst/>
            </a:prstGeom>
            <a:noFill/>
          </p:spPr>
          <p:txBody>
            <a:bodyPr wrap="square" rtlCol="0">
              <a:spAutoFit/>
            </a:bodyPr>
            <a:lstStyle/>
            <a:p>
              <a:r>
                <a:rPr lang="zh-CN" altLang="en-US" sz="1400" dirty="0">
                  <a:solidFill>
                    <a:schemeClr val="tx1">
                      <a:lumMod val="85000"/>
                      <a:lumOff val="15000"/>
                    </a:schemeClr>
                  </a:solidFill>
                  <a:cs typeface="+mn-ea"/>
                  <a:sym typeface="+mn-lt"/>
                </a:rPr>
                <a:t>负责易发性评价因子整理、</a:t>
              </a:r>
              <a:r>
                <a:rPr lang="en-US" altLang="zh-CN" sz="1400" dirty="0">
                  <a:solidFill>
                    <a:schemeClr val="tx1">
                      <a:lumMod val="85000"/>
                      <a:lumOff val="15000"/>
                    </a:schemeClr>
                  </a:solidFill>
                  <a:cs typeface="+mn-ea"/>
                  <a:sym typeface="+mn-lt"/>
                </a:rPr>
                <a:t>FR</a:t>
              </a:r>
              <a:r>
                <a:rPr lang="zh-CN" altLang="en-US" sz="1400" dirty="0">
                  <a:solidFill>
                    <a:schemeClr val="tx1">
                      <a:lumMod val="85000"/>
                      <a:lumOff val="15000"/>
                    </a:schemeClr>
                  </a:solidFill>
                  <a:cs typeface="+mn-ea"/>
                  <a:sym typeface="+mn-lt"/>
                </a:rPr>
                <a:t>频率比分析、因子筛选与易发性指数构建。</a:t>
              </a:r>
              <a:endParaRPr lang="zh-CN" altLang="en-US" sz="1400" dirty="0">
                <a:solidFill>
                  <a:schemeClr val="tx1">
                    <a:lumMod val="85000"/>
                    <a:lumOff val="15000"/>
                  </a:schemeClr>
                </a:solidFill>
                <a:cs typeface="+mn-ea"/>
                <a:sym typeface="+mn-lt"/>
              </a:endParaRPr>
            </a:p>
          </p:txBody>
        </p:sp>
      </p:grpSp>
      <p:grpSp>
        <p:nvGrpSpPr>
          <p:cNvPr id="57" name="组合 56"/>
          <p:cNvGrpSpPr/>
          <p:nvPr>
            <p:custDataLst>
              <p:tags r:id="rId41"/>
            </p:custDataLst>
          </p:nvPr>
        </p:nvGrpSpPr>
        <p:grpSpPr>
          <a:xfrm>
            <a:off x="8028955" y="3828248"/>
            <a:ext cx="3628390" cy="922020"/>
            <a:chOff x="15310" y="4317883"/>
            <a:chExt cx="3628390" cy="922020"/>
          </a:xfrm>
        </p:grpSpPr>
        <p:sp>
          <p:nvSpPr>
            <p:cNvPr id="58" name="文本框 57"/>
            <p:cNvSpPr txBox="1"/>
            <p:nvPr>
              <p:custDataLst>
                <p:tags r:id="rId42"/>
              </p:custDataLst>
            </p:nvPr>
          </p:nvSpPr>
          <p:spPr>
            <a:xfrm>
              <a:off x="15310" y="4317883"/>
              <a:ext cx="1786733" cy="398780"/>
            </a:xfrm>
            <a:prstGeom prst="rect">
              <a:avLst/>
            </a:prstGeom>
            <a:noFill/>
          </p:spPr>
          <p:txBody>
            <a:bodyPr wrap="square" rtlCol="0">
              <a:spAutoFit/>
            </a:bodyPr>
            <a:lstStyle/>
            <a:p>
              <a:r>
                <a:rPr lang="en-US" altLang="zh-CN" sz="2000" dirty="0">
                  <a:solidFill>
                    <a:schemeClr val="tx1">
                      <a:lumMod val="85000"/>
                      <a:lumOff val="15000"/>
                    </a:schemeClr>
                  </a:solidFill>
                  <a:cs typeface="+mn-ea"/>
                  <a:sym typeface="+mn-lt"/>
                </a:rPr>
                <a:t>XXX</a:t>
              </a:r>
              <a:endParaRPr lang="en-US" altLang="zh-CN" sz="2000" dirty="0">
                <a:solidFill>
                  <a:schemeClr val="tx1">
                    <a:lumMod val="85000"/>
                    <a:lumOff val="15000"/>
                  </a:schemeClr>
                </a:solidFill>
                <a:cs typeface="+mn-ea"/>
                <a:sym typeface="+mn-lt"/>
              </a:endParaRPr>
            </a:p>
          </p:txBody>
        </p:sp>
        <p:sp>
          <p:nvSpPr>
            <p:cNvPr id="59" name="文本框 58"/>
            <p:cNvSpPr txBox="1"/>
            <p:nvPr>
              <p:custDataLst>
                <p:tags r:id="rId43"/>
              </p:custDataLst>
            </p:nvPr>
          </p:nvSpPr>
          <p:spPr>
            <a:xfrm>
              <a:off x="15310" y="4717933"/>
              <a:ext cx="3628390" cy="521970"/>
            </a:xfrm>
            <a:prstGeom prst="rect">
              <a:avLst/>
            </a:prstGeom>
            <a:noFill/>
          </p:spPr>
          <p:txBody>
            <a:bodyPr wrap="square" rtlCol="0">
              <a:spAutoFit/>
            </a:bodyPr>
            <a:lstStyle/>
            <a:p>
              <a:r>
                <a:rPr lang="zh-CN" altLang="en-US" sz="1400" dirty="0">
                  <a:solidFill>
                    <a:schemeClr val="tx1">
                      <a:lumMod val="85000"/>
                      <a:lumOff val="15000"/>
                    </a:schemeClr>
                  </a:solidFill>
                  <a:cs typeface="+mn-ea"/>
                  <a:sym typeface="+mn-lt"/>
                </a:rPr>
                <a:t>负责综合风险指数构建、最终风险结果分析、</a:t>
              </a:r>
              <a:r>
                <a:rPr lang="en-US" altLang="zh-CN" sz="1400" dirty="0">
                  <a:solidFill>
                    <a:schemeClr val="tx1">
                      <a:lumMod val="85000"/>
                      <a:lumOff val="15000"/>
                    </a:schemeClr>
                  </a:solidFill>
                  <a:latin typeface="Arial" panose="020B0604020202020204" pitchFamily="34" charset="0"/>
                  <a:cs typeface="Arial" panose="020B0604020202020204" pitchFamily="34" charset="0"/>
                  <a:sym typeface="+mn-lt"/>
                </a:rPr>
                <a:t>WebGIS</a:t>
              </a:r>
              <a:r>
                <a:rPr lang="zh-CN" altLang="en-US" sz="1400" dirty="0">
                  <a:solidFill>
                    <a:schemeClr val="tx1">
                      <a:lumMod val="85000"/>
                      <a:lumOff val="15000"/>
                    </a:schemeClr>
                  </a:solidFill>
                  <a:cs typeface="+mn-ea"/>
                  <a:sym typeface="+mn-lt"/>
                </a:rPr>
                <a:t>成果展示与总结展望。</a:t>
              </a:r>
              <a:endParaRPr lang="zh-CN" altLang="en-US" sz="1400" dirty="0">
                <a:solidFill>
                  <a:schemeClr val="tx1">
                    <a:lumMod val="85000"/>
                    <a:lumOff val="15000"/>
                  </a:schemeClr>
                </a:solidFill>
                <a:cs typeface="+mn-ea"/>
                <a:sym typeface="+mn-lt"/>
              </a:endParaRPr>
            </a:p>
          </p:txBody>
        </p:sp>
      </p:grpSp>
      <p:sp>
        <p:nvSpPr>
          <p:cNvPr id="104" name="文本框 103"/>
          <p:cNvSpPr txBox="1"/>
          <p:nvPr/>
        </p:nvSpPr>
        <p:spPr>
          <a:xfrm>
            <a:off x="1224640" y="335911"/>
            <a:ext cx="321310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组员分工</a:t>
            </a:r>
            <a:endParaRPr lang="zh-CN" altLang="en-US" sz="3200" spc="400" dirty="0">
              <a:solidFill>
                <a:schemeClr val="tx1">
                  <a:lumMod val="85000"/>
                  <a:lumOff val="15000"/>
                </a:schemeClr>
              </a:solidFill>
              <a:cs typeface="+mn-ea"/>
              <a:sym typeface="+mn-lt"/>
            </a:endParaRPr>
          </a:p>
        </p:txBody>
      </p:sp>
      <p:grpSp>
        <p:nvGrpSpPr>
          <p:cNvPr id="105" name="组合 104"/>
          <p:cNvGrpSpPr/>
          <p:nvPr/>
        </p:nvGrpSpPr>
        <p:grpSpPr>
          <a:xfrm>
            <a:off x="420106" y="300845"/>
            <a:ext cx="760161" cy="654908"/>
            <a:chOff x="401056" y="200808"/>
            <a:chExt cx="760161" cy="654908"/>
          </a:xfrm>
        </p:grpSpPr>
        <p:sp>
          <p:nvSpPr>
            <p:cNvPr id="106" name="椭圆 105"/>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7" name="椭圆 106"/>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ustDataLst>
      <p:tags r:id="rId44"/>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1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987675" y="2817585"/>
            <a:ext cx="5870074" cy="1318985"/>
            <a:chOff x="2540000" y="2817585"/>
            <a:chExt cx="5870074" cy="1318985"/>
          </a:xfrm>
        </p:grpSpPr>
        <p:sp>
          <p:nvSpPr>
            <p:cNvPr id="4" name="矩形: 圆角 3"/>
            <p:cNvSpPr/>
            <p:nvPr/>
          </p:nvSpPr>
          <p:spPr>
            <a:xfrm>
              <a:off x="2540000" y="2817585"/>
              <a:ext cx="5870074" cy="131898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4010552" y="3023107"/>
              <a:ext cx="3966213" cy="76835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项目概况</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sp>
          <p:nvSpPr>
            <p:cNvPr id="12" name="文本框 11"/>
            <p:cNvSpPr txBox="1"/>
            <p:nvPr/>
          </p:nvSpPr>
          <p:spPr>
            <a:xfrm>
              <a:off x="2859313" y="2875002"/>
              <a:ext cx="1194781" cy="1106805"/>
            </a:xfrm>
            <a:prstGeom prst="rect">
              <a:avLst/>
            </a:prstGeom>
            <a:noFill/>
          </p:spPr>
          <p:txBody>
            <a:bodyPr wrap="square" rtlCol="0">
              <a:spAutoFit/>
            </a:bodyPr>
            <a:lstStyle/>
            <a:p>
              <a:pPr algn="ctr"/>
              <a:r>
                <a:rPr lang="en-US" altLang="zh-CN" sz="6600" dirty="0">
                  <a:solidFill>
                    <a:schemeClr val="bg1"/>
                  </a:solidFill>
                  <a:effectLst>
                    <a:outerShdw blurRad="38100" dist="38100" dir="2700000" algn="tl">
                      <a:srgbClr val="000000">
                        <a:alpha val="43137"/>
                      </a:srgbClr>
                    </a:outerShdw>
                  </a:effectLst>
                  <a:cs typeface="+mn-ea"/>
                  <a:sym typeface="+mn-lt"/>
                </a:rPr>
                <a:t>02</a:t>
              </a:r>
              <a:endParaRPr lang="zh-CN" altLang="en-US" sz="6600" dirty="0">
                <a:solidFill>
                  <a:schemeClr val="bg1"/>
                </a:solidFill>
                <a:effectLst>
                  <a:outerShdw blurRad="38100" dist="38100" dir="2700000" algn="tl">
                    <a:srgbClr val="000000">
                      <a:alpha val="43137"/>
                    </a:srgb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椭圆 4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custDataLst>
              <p:tags r:id="rId1"/>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文本框 5"/>
          <p:cNvSpPr txBox="1"/>
          <p:nvPr/>
        </p:nvSpPr>
        <p:spPr>
          <a:xfrm>
            <a:off x="1224640" y="335911"/>
            <a:ext cx="3213100" cy="583565"/>
          </a:xfrm>
          <a:prstGeom prst="rect">
            <a:avLst/>
          </a:prstGeom>
          <a:noFill/>
        </p:spPr>
        <p:txBody>
          <a:bodyPr wrap="square">
            <a:spAutoFit/>
          </a:bodyPr>
          <a:lstStyle/>
          <a:p>
            <a:r>
              <a:rPr lang="en-US" altLang="zh-CN" sz="3200" spc="400" dirty="0">
                <a:solidFill>
                  <a:schemeClr val="tx1">
                    <a:lumMod val="85000"/>
                    <a:lumOff val="15000"/>
                  </a:schemeClr>
                </a:solidFill>
                <a:cs typeface="+mn-ea"/>
                <a:sym typeface="+mn-lt"/>
              </a:rPr>
              <a:t>01</a:t>
            </a:r>
            <a:r>
              <a:rPr lang="zh-CN" altLang="en-US" sz="3200" spc="400" dirty="0">
                <a:solidFill>
                  <a:schemeClr val="tx1">
                    <a:lumMod val="85000"/>
                    <a:lumOff val="15000"/>
                  </a:schemeClr>
                </a:solidFill>
                <a:cs typeface="+mn-ea"/>
                <a:sym typeface="+mn-lt"/>
              </a:rPr>
              <a:t>项目概况</a:t>
            </a:r>
            <a:endParaRPr lang="zh-CN" altLang="en-US" sz="3200" spc="400" dirty="0">
              <a:solidFill>
                <a:schemeClr val="tx1">
                  <a:lumMod val="85000"/>
                  <a:lumOff val="15000"/>
                </a:schemeClr>
              </a:solidFill>
              <a:cs typeface="+mn-ea"/>
              <a:sym typeface="+mn-lt"/>
            </a:endParaRPr>
          </a:p>
        </p:txBody>
      </p:sp>
      <p:grpSp>
        <p:nvGrpSpPr>
          <p:cNvPr id="74" name="组合 73"/>
          <p:cNvGrpSpPr/>
          <p:nvPr>
            <p:custDataLst>
              <p:tags r:id="rId2"/>
            </p:custDataLst>
          </p:nvPr>
        </p:nvGrpSpPr>
        <p:grpSpPr>
          <a:xfrm>
            <a:off x="1037590" y="1328420"/>
            <a:ext cx="7867650" cy="1953895"/>
            <a:chOff x="1037769" y="1876197"/>
            <a:chExt cx="8403059" cy="1953844"/>
          </a:xfrm>
        </p:grpSpPr>
        <p:sp>
          <p:nvSpPr>
            <p:cNvPr id="75" name="矩形 74"/>
            <p:cNvSpPr/>
            <p:nvPr>
              <p:custDataLst>
                <p:tags r:id="rId3"/>
              </p:custDataLst>
            </p:nvPr>
          </p:nvSpPr>
          <p:spPr>
            <a:xfrm>
              <a:off x="1037769" y="2336560"/>
              <a:ext cx="8403059" cy="1493481"/>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6" name="组合 75"/>
            <p:cNvGrpSpPr/>
            <p:nvPr/>
          </p:nvGrpSpPr>
          <p:grpSpPr>
            <a:xfrm>
              <a:off x="1395187" y="1876197"/>
              <a:ext cx="921204" cy="921204"/>
              <a:chOff x="1395187" y="1876197"/>
              <a:chExt cx="921204" cy="921204"/>
            </a:xfrm>
          </p:grpSpPr>
          <p:sp>
            <p:nvSpPr>
              <p:cNvPr id="82" name="椭圆 81"/>
              <p:cNvSpPr/>
              <p:nvPr>
                <p:custDataLst>
                  <p:tags r:id="rId4"/>
                </p:custDataLst>
              </p:nvPr>
            </p:nvSpPr>
            <p:spPr>
              <a:xfrm>
                <a:off x="1395187" y="1876197"/>
                <a:ext cx="921204" cy="921204"/>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83" name="图片 82"/>
              <p:cNvPicPr>
                <a:picLocks noChangeAspect="1"/>
              </p:cNvPicPr>
              <p:nvPr>
                <p:custDataLst>
                  <p:tags r:id="rId5"/>
                </p:custDataLst>
              </p:nvPr>
            </p:nvPicPr>
            <p:blipFill>
              <a:blip r:embed="rId6" cstate="screen"/>
              <a:stretch>
                <a:fillRect/>
              </a:stretch>
            </p:blipFill>
            <p:spPr>
              <a:xfrm>
                <a:off x="1567014" y="2031037"/>
                <a:ext cx="577551" cy="611524"/>
              </a:xfrm>
              <a:prstGeom prst="rect">
                <a:avLst/>
              </a:prstGeom>
            </p:spPr>
          </p:pic>
        </p:grpSp>
        <p:grpSp>
          <p:nvGrpSpPr>
            <p:cNvPr id="77" name="组合 76"/>
            <p:cNvGrpSpPr/>
            <p:nvPr/>
          </p:nvGrpSpPr>
          <p:grpSpPr>
            <a:xfrm>
              <a:off x="1225096" y="2517484"/>
              <a:ext cx="8083621" cy="1130906"/>
              <a:chOff x="1225096" y="2517484"/>
              <a:chExt cx="8083621" cy="1130906"/>
            </a:xfrm>
          </p:grpSpPr>
          <p:sp>
            <p:nvSpPr>
              <p:cNvPr id="78" name="文本框 77"/>
              <p:cNvSpPr txBox="1"/>
              <p:nvPr>
                <p:custDataLst>
                  <p:tags r:id="rId7"/>
                </p:custDataLst>
              </p:nvPr>
            </p:nvSpPr>
            <p:spPr>
              <a:xfrm>
                <a:off x="1225096" y="2921979"/>
                <a:ext cx="2127704" cy="460363"/>
              </a:xfrm>
              <a:prstGeom prst="rect">
                <a:avLst/>
              </a:prstGeom>
              <a:noFill/>
            </p:spPr>
            <p:txBody>
              <a:bodyPr wrap="square" rtlCol="0">
                <a:spAutoFit/>
              </a:bodyPr>
              <a:lstStyle/>
              <a:p>
                <a:r>
                  <a:rPr lang="zh-CN" altLang="en-US" sz="2400" dirty="0">
                    <a:cs typeface="+mn-ea"/>
                    <a:sym typeface="+mn-lt"/>
                  </a:rPr>
                  <a:t>项目背景</a:t>
                </a:r>
                <a:endParaRPr lang="zh-CN" altLang="en-US" sz="2400" dirty="0">
                  <a:cs typeface="+mn-ea"/>
                  <a:sym typeface="+mn-lt"/>
                </a:endParaRPr>
              </a:p>
            </p:txBody>
          </p:sp>
          <p:sp>
            <p:nvSpPr>
              <p:cNvPr id="79" name="文本框 78"/>
              <p:cNvSpPr txBox="1"/>
              <p:nvPr>
                <p:custDataLst>
                  <p:tags r:id="rId8"/>
                </p:custDataLst>
              </p:nvPr>
            </p:nvSpPr>
            <p:spPr>
              <a:xfrm>
                <a:off x="2903673" y="2517484"/>
                <a:ext cx="6405044" cy="1130906"/>
              </a:xfrm>
              <a:prstGeom prst="rect">
                <a:avLst/>
              </a:prstGeom>
              <a:noFill/>
            </p:spPr>
            <p:txBody>
              <a:bodyPr wrap="square" rtlCol="0">
                <a:noAutofit/>
              </a:bodyPr>
              <a:lstStyle/>
              <a:p>
                <a:r>
                  <a:rPr lang="zh-CN" altLang="en-US" sz="1400" spc="300" dirty="0">
                    <a:cs typeface="+mn-ea"/>
                    <a:sym typeface="+mn-lt"/>
                  </a:rPr>
                  <a:t>廷坪乡位于福州市闽侯县北部山区，区域内地形起伏明显，</a:t>
                </a:r>
                <a:endParaRPr lang="zh-CN" altLang="en-US" sz="1400" spc="300" dirty="0">
                  <a:cs typeface="+mn-ea"/>
                  <a:sym typeface="+mn-lt"/>
                </a:endParaRPr>
              </a:p>
              <a:p>
                <a:r>
                  <a:rPr lang="zh-CN" altLang="en-US" sz="1400" spc="300" dirty="0">
                    <a:cs typeface="+mn-ea"/>
                    <a:sym typeface="+mn-lt"/>
                  </a:rPr>
                  <a:t>山地、丘陵、河谷和道路切坡等空间要素交错分布。</a:t>
                </a:r>
                <a:endParaRPr lang="zh-CN" altLang="en-US" sz="1400" spc="300" dirty="0">
                  <a:cs typeface="+mn-ea"/>
                  <a:sym typeface="+mn-lt"/>
                </a:endParaRPr>
              </a:p>
              <a:p>
                <a:endParaRPr lang="zh-CN" altLang="en-US" sz="1400" spc="300" dirty="0">
                  <a:cs typeface="+mn-ea"/>
                  <a:sym typeface="+mn-lt"/>
                </a:endParaRPr>
              </a:p>
              <a:p>
                <a:r>
                  <a:rPr lang="zh-CN" altLang="en-US" sz="1400" spc="300" dirty="0">
                    <a:cs typeface="+mn-ea"/>
                    <a:sym typeface="+mn-lt"/>
                  </a:rPr>
                  <a:t>受地形条件、降雨背景、人类工程活动和居民点分布影响，</a:t>
                </a:r>
                <a:endParaRPr lang="zh-CN" altLang="en-US" sz="1400" spc="300" dirty="0">
                  <a:cs typeface="+mn-ea"/>
                  <a:sym typeface="+mn-lt"/>
                </a:endParaRPr>
              </a:p>
              <a:p>
                <a:r>
                  <a:rPr lang="zh-CN" altLang="en-US" sz="1400" spc="300" dirty="0">
                    <a:cs typeface="+mn-ea"/>
                    <a:sym typeface="+mn-lt"/>
                  </a:rPr>
                  <a:t>地质灾害风险具有一定空间差异。</a:t>
                </a:r>
                <a:endParaRPr lang="zh-CN" altLang="en-US" sz="1400" spc="300" dirty="0">
                  <a:cs typeface="+mn-ea"/>
                  <a:sym typeface="+mn-lt"/>
                </a:endParaRPr>
              </a:p>
            </p:txBody>
          </p:sp>
        </p:grpSp>
      </p:grpSp>
      <p:grpSp>
        <p:nvGrpSpPr>
          <p:cNvPr id="5" name="组合 4"/>
          <p:cNvGrpSpPr/>
          <p:nvPr/>
        </p:nvGrpSpPr>
        <p:grpSpPr>
          <a:xfrm>
            <a:off x="420106" y="300845"/>
            <a:ext cx="760161" cy="654908"/>
            <a:chOff x="401056" y="200808"/>
            <a:chExt cx="760161" cy="654908"/>
          </a:xfrm>
        </p:grpSpPr>
        <p:sp>
          <p:nvSpPr>
            <p:cNvPr id="43" name="椭圆 42"/>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椭圆 41"/>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 name="组合 1"/>
          <p:cNvGrpSpPr/>
          <p:nvPr>
            <p:custDataLst>
              <p:tags r:id="rId9"/>
            </p:custDataLst>
          </p:nvPr>
        </p:nvGrpSpPr>
        <p:grpSpPr>
          <a:xfrm>
            <a:off x="1037590" y="3901440"/>
            <a:ext cx="7867650" cy="1493520"/>
            <a:chOff x="1037769" y="2336560"/>
            <a:chExt cx="8403059" cy="1493481"/>
          </a:xfrm>
        </p:grpSpPr>
        <p:sp>
          <p:nvSpPr>
            <p:cNvPr id="3" name="矩形 2"/>
            <p:cNvSpPr/>
            <p:nvPr>
              <p:custDataLst>
                <p:tags r:id="rId10"/>
              </p:custDataLst>
            </p:nvPr>
          </p:nvSpPr>
          <p:spPr>
            <a:xfrm>
              <a:off x="1037769" y="2336560"/>
              <a:ext cx="8403059" cy="1493481"/>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9" name="组合 8"/>
            <p:cNvGrpSpPr/>
            <p:nvPr/>
          </p:nvGrpSpPr>
          <p:grpSpPr>
            <a:xfrm>
              <a:off x="1190507" y="2739729"/>
              <a:ext cx="8118210" cy="744201"/>
              <a:chOff x="1190507" y="2739729"/>
              <a:chExt cx="8118210" cy="744201"/>
            </a:xfrm>
          </p:grpSpPr>
          <p:sp>
            <p:nvSpPr>
              <p:cNvPr id="10" name="文本框 9"/>
              <p:cNvSpPr txBox="1"/>
              <p:nvPr>
                <p:custDataLst>
                  <p:tags r:id="rId11"/>
                </p:custDataLst>
              </p:nvPr>
            </p:nvSpPr>
            <p:spPr>
              <a:xfrm>
                <a:off x="1190507" y="2787362"/>
                <a:ext cx="2127704" cy="460363"/>
              </a:xfrm>
              <a:prstGeom prst="rect">
                <a:avLst/>
              </a:prstGeom>
              <a:noFill/>
            </p:spPr>
            <p:txBody>
              <a:bodyPr wrap="square" rtlCol="0">
                <a:spAutoFit/>
              </a:bodyPr>
              <a:lstStyle/>
              <a:p>
                <a:r>
                  <a:rPr lang="zh-CN" altLang="en-US" sz="2400" dirty="0">
                    <a:cs typeface="+mn-ea"/>
                    <a:sym typeface="+mn-lt"/>
                  </a:rPr>
                  <a:t>研究意义</a:t>
                </a:r>
                <a:endParaRPr lang="zh-CN" altLang="en-US" sz="2400" dirty="0">
                  <a:cs typeface="+mn-ea"/>
                  <a:sym typeface="+mn-lt"/>
                </a:endParaRPr>
              </a:p>
            </p:txBody>
          </p:sp>
          <p:sp>
            <p:nvSpPr>
              <p:cNvPr id="11" name="文本框 10"/>
              <p:cNvSpPr txBox="1"/>
              <p:nvPr>
                <p:custDataLst>
                  <p:tags r:id="rId12"/>
                </p:custDataLst>
              </p:nvPr>
            </p:nvSpPr>
            <p:spPr>
              <a:xfrm>
                <a:off x="2903673" y="2739729"/>
                <a:ext cx="6405044" cy="744201"/>
              </a:xfrm>
              <a:prstGeom prst="rect">
                <a:avLst/>
              </a:prstGeom>
              <a:noFill/>
            </p:spPr>
            <p:txBody>
              <a:bodyPr wrap="square" rtlCol="0">
                <a:noAutofit/>
              </a:bodyPr>
              <a:lstStyle/>
              <a:p>
                <a:r>
                  <a:rPr lang="zh-CN" altLang="en-US" sz="1200" spc="300" dirty="0">
                    <a:cs typeface="+mn-ea"/>
                    <a:sym typeface="+mn-lt"/>
                  </a:rPr>
                  <a:t>本项目以</a:t>
                </a:r>
                <a:r>
                  <a:rPr lang="zh-CN" altLang="en-US" sz="1200" spc="300" dirty="0">
                    <a:cs typeface="+mn-ea"/>
                    <a:sym typeface="+mn-lt"/>
                  </a:rPr>
                  <a:t>廷坪乡为研究</a:t>
                </a:r>
                <a:r>
                  <a:rPr lang="zh-CN" altLang="en-US" sz="1200" spc="300" dirty="0">
                    <a:cs typeface="+mn-ea"/>
                    <a:sym typeface="+mn-lt"/>
                  </a:rPr>
                  <a:t>区域，围绕村庄和居民点安全，构建</a:t>
                </a:r>
                <a:endParaRPr lang="zh-CN" altLang="en-US" sz="1200" spc="300" dirty="0">
                  <a:cs typeface="+mn-ea"/>
                  <a:sym typeface="+mn-lt"/>
                </a:endParaRPr>
              </a:p>
              <a:p>
                <a:r>
                  <a:rPr lang="zh-CN" altLang="en-US" sz="1200" b="1" spc="300" dirty="0">
                    <a:solidFill>
                      <a:srgbClr val="C00000"/>
                    </a:solidFill>
                    <a:cs typeface="+mn-ea"/>
                    <a:sym typeface="+mn-lt"/>
                  </a:rPr>
                  <a:t>“易发性评价</a:t>
                </a:r>
                <a:r>
                  <a:rPr lang="en-US" altLang="zh-CN" sz="1200" b="1" spc="300" dirty="0">
                    <a:solidFill>
                      <a:srgbClr val="C00000"/>
                    </a:solidFill>
                    <a:cs typeface="+mn-ea"/>
                    <a:sym typeface="+mn-lt"/>
                  </a:rPr>
                  <a:t>-</a:t>
                </a:r>
                <a:r>
                  <a:rPr lang="zh-CN" altLang="en-US" sz="1200" b="1" spc="300" dirty="0">
                    <a:solidFill>
                      <a:srgbClr val="C00000"/>
                    </a:solidFill>
                    <a:cs typeface="+mn-ea"/>
                    <a:sym typeface="+mn-lt"/>
                  </a:rPr>
                  <a:t>暴露度评价</a:t>
                </a:r>
                <a:r>
                  <a:rPr lang="en-US" altLang="zh-CN" sz="1200" b="1" spc="300" dirty="0">
                    <a:solidFill>
                      <a:srgbClr val="C00000"/>
                    </a:solidFill>
                    <a:cs typeface="+mn-ea"/>
                    <a:sym typeface="+mn-lt"/>
                  </a:rPr>
                  <a:t>-</a:t>
                </a:r>
                <a:r>
                  <a:rPr lang="zh-CN" altLang="en-US" sz="1200" b="1" spc="300" dirty="0">
                    <a:solidFill>
                      <a:srgbClr val="C00000"/>
                    </a:solidFill>
                    <a:cs typeface="+mn-ea"/>
                    <a:sym typeface="+mn-lt"/>
                  </a:rPr>
                  <a:t>防灾减灾能力评价</a:t>
                </a:r>
                <a:r>
                  <a:rPr lang="en-US" altLang="zh-CN" sz="1200" b="1" spc="300" dirty="0">
                    <a:solidFill>
                      <a:srgbClr val="C00000"/>
                    </a:solidFill>
                    <a:cs typeface="+mn-ea"/>
                    <a:sym typeface="+mn-lt"/>
                  </a:rPr>
                  <a:t>-</a:t>
                </a:r>
                <a:r>
                  <a:rPr lang="zh-CN" altLang="en-US" sz="1200" b="1" spc="300" dirty="0">
                    <a:solidFill>
                      <a:srgbClr val="C00000"/>
                    </a:solidFill>
                    <a:cs typeface="+mn-ea"/>
                    <a:sym typeface="+mn-lt"/>
                  </a:rPr>
                  <a:t>综合风险评价”</a:t>
                </a:r>
                <a:endParaRPr lang="zh-CN" altLang="en-US" sz="1200" b="1" spc="300" dirty="0">
                  <a:solidFill>
                    <a:srgbClr val="C00000"/>
                  </a:solidFill>
                  <a:cs typeface="+mn-ea"/>
                  <a:sym typeface="+mn-lt"/>
                </a:endParaRPr>
              </a:p>
              <a:p>
                <a:r>
                  <a:rPr lang="zh-CN" altLang="en-US" sz="1200" spc="300" dirty="0">
                    <a:cs typeface="+mn-ea"/>
                    <a:sym typeface="+mn-lt"/>
                  </a:rPr>
                  <a:t>的完整流程，为乡镇尺度地质灾害风险识别和防灾减灾管理提供参考。</a:t>
                </a:r>
                <a:endParaRPr lang="zh-CN" altLang="en-US" sz="1200" spc="300" dirty="0">
                  <a:cs typeface="+mn-ea"/>
                  <a:sym typeface="+mn-lt"/>
                </a:endParaRPr>
              </a:p>
            </p:txBody>
          </p:sp>
        </p:grpSp>
      </p:gr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9930394" y="427814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331516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0" name="组合 19"/>
          <p:cNvGrpSpPr/>
          <p:nvPr/>
        </p:nvGrpSpPr>
        <p:grpSpPr>
          <a:xfrm>
            <a:off x="6143955" y="1274587"/>
            <a:ext cx="782053" cy="544778"/>
            <a:chOff x="6346655" y="2177716"/>
            <a:chExt cx="782053" cy="544778"/>
          </a:xfrm>
        </p:grpSpPr>
        <p:sp>
          <p:nvSpPr>
            <p:cNvPr id="21" name="矩形 20"/>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6346655" y="2199274"/>
              <a:ext cx="782053" cy="523220"/>
            </a:xfrm>
            <a:prstGeom prst="rect">
              <a:avLst/>
            </a:prstGeom>
            <a:noFill/>
          </p:spPr>
          <p:txBody>
            <a:bodyPr wrap="square" rtlCol="0">
              <a:spAutoFit/>
            </a:bodyPr>
            <a:lstStyle/>
            <a:p>
              <a:pPr algn="ctr"/>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sp>
        <p:nvSpPr>
          <p:cNvPr id="26" name="文本框 25"/>
          <p:cNvSpPr txBox="1"/>
          <p:nvPr/>
        </p:nvSpPr>
        <p:spPr>
          <a:xfrm>
            <a:off x="6454775" y="1925955"/>
            <a:ext cx="5283835" cy="737235"/>
          </a:xfrm>
          <a:prstGeom prst="rect">
            <a:avLst/>
          </a:prstGeom>
          <a:noFill/>
        </p:spPr>
        <p:txBody>
          <a:bodyPr wrap="square" rtlCol="0">
            <a:spAutoFit/>
          </a:bodyPr>
          <a:lstStyle/>
          <a:p>
            <a:pPr indent="0">
              <a:buFont typeface="Arial" panose="020B0604020202020204" pitchFamily="34" charset="0"/>
              <a:buNone/>
            </a:pPr>
            <a:r>
              <a:rPr lang="zh-CN" altLang="en-US" sz="1400" spc="300" dirty="0">
                <a:solidFill>
                  <a:schemeClr val="tx1">
                    <a:lumMod val="85000"/>
                    <a:lumOff val="15000"/>
                  </a:schemeClr>
                </a:solidFill>
                <a:cs typeface="+mn-ea"/>
                <a:sym typeface="+mn-lt"/>
              </a:rPr>
              <a:t>廷坪乡位于闽侯县北部，整体以山地丘陵地貌为主，</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区域内地形破碎、坡地广布，</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居民点多沿道路、河谷和相对平缓区域分布。</a:t>
            </a:r>
            <a:endParaRPr lang="zh-CN" altLang="en-US" sz="1400" spc="300" dirty="0">
              <a:solidFill>
                <a:schemeClr val="tx1">
                  <a:lumMod val="85000"/>
                  <a:lumOff val="15000"/>
                </a:schemeClr>
              </a:solidFill>
              <a:cs typeface="+mn-ea"/>
              <a:sym typeface="+mn-lt"/>
            </a:endParaRPr>
          </a:p>
        </p:txBody>
      </p:sp>
      <p:sp>
        <p:nvSpPr>
          <p:cNvPr id="27" name="文本框 26"/>
          <p:cNvSpPr txBox="1"/>
          <p:nvPr/>
        </p:nvSpPr>
        <p:spPr>
          <a:xfrm>
            <a:off x="6914515" y="1329690"/>
            <a:ext cx="2711450"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研究区概况</a:t>
            </a:r>
            <a:endParaRPr lang="zh-CN" altLang="en-US" sz="2400" dirty="0">
              <a:solidFill>
                <a:schemeClr val="tx1">
                  <a:lumMod val="85000"/>
                  <a:lumOff val="15000"/>
                </a:schemeClr>
              </a:solidFill>
              <a:cs typeface="+mn-ea"/>
              <a:sym typeface="+mn-lt"/>
            </a:endParaRPr>
          </a:p>
        </p:txBody>
      </p:sp>
      <p:sp>
        <p:nvSpPr>
          <p:cNvPr id="5" name="矩形 4"/>
          <p:cNvSpPr/>
          <p:nvPr/>
        </p:nvSpPr>
        <p:spPr>
          <a:xfrm>
            <a:off x="385445" y="1193800"/>
            <a:ext cx="5401310" cy="6718935"/>
          </a:xfrm>
          <a:prstGeom prst="rect">
            <a:avLst/>
          </a:prstGeom>
          <a:noFill/>
          <a:ln w="38100">
            <a:solidFill>
              <a:srgbClr val="9DC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1224640" y="335911"/>
            <a:ext cx="321310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项目概况</a:t>
            </a:r>
            <a:endParaRPr lang="zh-CN" altLang="en-US" sz="3200" spc="400" dirty="0">
              <a:solidFill>
                <a:schemeClr val="tx1">
                  <a:lumMod val="85000"/>
                  <a:lumOff val="15000"/>
                </a:schemeClr>
              </a:solidFill>
              <a:cs typeface="+mn-ea"/>
              <a:sym typeface="+mn-lt"/>
            </a:endParaRPr>
          </a:p>
        </p:txBody>
      </p:sp>
      <p:grpSp>
        <p:nvGrpSpPr>
          <p:cNvPr id="33" name="组合 32"/>
          <p:cNvGrpSpPr/>
          <p:nvPr/>
        </p:nvGrpSpPr>
        <p:grpSpPr>
          <a:xfrm>
            <a:off x="420106" y="300845"/>
            <a:ext cx="760161" cy="654908"/>
            <a:chOff x="401056" y="200808"/>
            <a:chExt cx="760161" cy="654908"/>
          </a:xfrm>
        </p:grpSpPr>
        <p:sp>
          <p:nvSpPr>
            <p:cNvPr id="34" name="椭圆 33"/>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3" name="图片 2" descr="C:/Users/lxh123/Pictures/廷坪乡范围1.png廷坪乡范围1"/>
          <p:cNvPicPr>
            <a:picLocks noChangeAspect="1"/>
          </p:cNvPicPr>
          <p:nvPr/>
        </p:nvPicPr>
        <p:blipFill>
          <a:blip r:embed="rId1"/>
          <a:srcRect l="830" r="830"/>
          <a:stretch>
            <a:fillRect/>
          </a:stretch>
        </p:blipFill>
        <p:spPr>
          <a:xfrm>
            <a:off x="651510" y="1390015"/>
            <a:ext cx="4869815" cy="5353685"/>
          </a:xfrm>
          <a:prstGeom prst="rect">
            <a:avLst/>
          </a:prstGeom>
        </p:spPr>
      </p:pic>
      <p:sp>
        <p:nvSpPr>
          <p:cNvPr id="4" name="文本框 3"/>
          <p:cNvSpPr txBox="1"/>
          <p:nvPr/>
        </p:nvSpPr>
        <p:spPr>
          <a:xfrm>
            <a:off x="6454775" y="2799080"/>
            <a:ext cx="5497195" cy="2338070"/>
          </a:xfrm>
          <a:prstGeom prst="rect">
            <a:avLst/>
          </a:prstGeom>
          <a:noFill/>
        </p:spPr>
        <p:txBody>
          <a:bodyPr wrap="square" rtlCol="0">
            <a:spAutoFit/>
          </a:bodyPr>
          <a:lstStyle/>
          <a:p>
            <a:pPr indent="0">
              <a:buFont typeface="Arial" panose="020B0604020202020204" pitchFamily="34" charset="0"/>
              <a:buNone/>
            </a:pPr>
            <a:r>
              <a:rPr lang="zh-CN" altLang="en-US" b="1" spc="300" dirty="0">
                <a:solidFill>
                  <a:schemeClr val="tx1">
                    <a:lumMod val="85000"/>
                    <a:lumOff val="15000"/>
                  </a:schemeClr>
                </a:solidFill>
                <a:cs typeface="+mn-ea"/>
                <a:sym typeface="+mn-lt"/>
              </a:rPr>
              <a:t>空间特征</a:t>
            </a:r>
            <a:endParaRPr lang="zh-CN" altLang="en-US" b="1" spc="300" dirty="0">
              <a:solidFill>
                <a:schemeClr val="tx1">
                  <a:lumMod val="85000"/>
                  <a:lumOff val="15000"/>
                </a:schemeClr>
              </a:solidFill>
              <a:cs typeface="+mn-ea"/>
              <a:sym typeface="+mn-lt"/>
            </a:endParaRPr>
          </a:p>
          <a:p>
            <a:pPr indent="0">
              <a:buFont typeface="Arial" panose="020B0604020202020204" pitchFamily="34" charset="0"/>
              <a:buNone/>
            </a:pPr>
            <a:endParaRPr lang="zh-CN" altLang="en-US" sz="1600" b="1"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【地形条件】</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高程变化明显，局部坡度较大，地形起伏度较高。</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【水文条件】</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河流和沟谷发育，对坡脚冲刷和汇流过程具有影响。</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【人类活动】</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道路建设、居民点分布与坡地环境交织。</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【承灾体分布】</a:t>
            </a:r>
            <a:endParaRPr lang="zh-CN" altLang="en-US"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居民点和建筑斑块是本次风险评价的重点对象。</a:t>
            </a:r>
            <a:endParaRPr lang="zh-CN" altLang="en-US" sz="1400" spc="300" dirty="0">
              <a:solidFill>
                <a:schemeClr val="tx1">
                  <a:lumMod val="85000"/>
                  <a:lumOff val="15000"/>
                </a:schemeClr>
              </a:solidFill>
              <a:cs typeface="+mn-ea"/>
              <a:sym typeface="+mn-lt"/>
            </a:endParaRPr>
          </a:p>
        </p:txBody>
      </p:sp>
      <p:sp>
        <p:nvSpPr>
          <p:cNvPr id="8" name="文本框 7"/>
          <p:cNvSpPr txBox="1"/>
          <p:nvPr/>
        </p:nvSpPr>
        <p:spPr>
          <a:xfrm>
            <a:off x="6454775" y="5241925"/>
            <a:ext cx="5386705" cy="829945"/>
          </a:xfrm>
          <a:prstGeom prst="rect">
            <a:avLst/>
          </a:prstGeom>
          <a:noFill/>
        </p:spPr>
        <p:txBody>
          <a:bodyPr wrap="square" rtlCol="0">
            <a:spAutoFit/>
          </a:bodyPr>
          <a:lstStyle/>
          <a:p>
            <a:pPr indent="0">
              <a:buFont typeface="Arial" panose="020B0604020202020204" pitchFamily="34" charset="0"/>
              <a:buNone/>
            </a:pPr>
            <a:r>
              <a:rPr lang="zh-CN" altLang="en-US" b="1" spc="300" dirty="0">
                <a:solidFill>
                  <a:schemeClr val="tx1">
                    <a:lumMod val="85000"/>
                    <a:lumOff val="15000"/>
                  </a:schemeClr>
                </a:solidFill>
                <a:cs typeface="+mn-ea"/>
                <a:sym typeface="+mn-lt"/>
              </a:rPr>
              <a:t>评价单元</a:t>
            </a:r>
            <a:endParaRPr lang="zh-CN" altLang="en-US" b="1" spc="300" dirty="0">
              <a:solidFill>
                <a:schemeClr val="tx1">
                  <a:lumMod val="85000"/>
                  <a:lumOff val="15000"/>
                </a:schemeClr>
              </a:solidFill>
              <a:cs typeface="+mn-ea"/>
              <a:sym typeface="+mn-lt"/>
            </a:endParaRPr>
          </a:p>
          <a:p>
            <a:pPr indent="0">
              <a:buFont typeface="Arial" panose="020B0604020202020204" pitchFamily="34" charset="0"/>
              <a:buNone/>
            </a:pPr>
            <a:endParaRPr lang="zh-CN" altLang="en-US" sz="1600" b="1"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400" spc="300" dirty="0">
                <a:solidFill>
                  <a:schemeClr val="tx1">
                    <a:lumMod val="85000"/>
                    <a:lumOff val="15000"/>
                  </a:schemeClr>
                </a:solidFill>
                <a:cs typeface="+mn-ea"/>
                <a:sym typeface="+mn-lt"/>
              </a:rPr>
              <a:t>本项目最终以</a:t>
            </a:r>
            <a:r>
              <a:rPr lang="en-US" altLang="zh-CN" sz="1400" b="1" spc="300" dirty="0">
                <a:solidFill>
                  <a:srgbClr val="C00000"/>
                </a:solidFill>
                <a:cs typeface="+mn-ea"/>
                <a:sym typeface="+mn-lt"/>
              </a:rPr>
              <a:t>“</a:t>
            </a:r>
            <a:r>
              <a:rPr lang="zh-CN" altLang="en-US" sz="1400" b="1" spc="300" dirty="0">
                <a:solidFill>
                  <a:srgbClr val="C00000"/>
                </a:solidFill>
                <a:cs typeface="+mn-ea"/>
                <a:sym typeface="+mn-lt"/>
              </a:rPr>
              <a:t>村级行政单元</a:t>
            </a:r>
            <a:r>
              <a:rPr lang="en-US" altLang="zh-CN" sz="1400" b="1" spc="300" dirty="0">
                <a:solidFill>
                  <a:srgbClr val="C00000"/>
                </a:solidFill>
                <a:cs typeface="+mn-ea"/>
                <a:sym typeface="+mn-lt"/>
              </a:rPr>
              <a:t>”</a:t>
            </a:r>
            <a:r>
              <a:rPr lang="zh-CN" altLang="en-US" sz="1400" spc="300" dirty="0">
                <a:solidFill>
                  <a:schemeClr val="tx1">
                    <a:lumMod val="85000"/>
                    <a:lumOff val="15000"/>
                  </a:schemeClr>
                </a:solidFill>
                <a:cs typeface="+mn-ea"/>
                <a:sym typeface="+mn-lt"/>
              </a:rPr>
              <a:t>作为综合风险表达单元。</a:t>
            </a:r>
            <a:endParaRPr lang="zh-CN" altLang="en-US" sz="1400" spc="300" dirty="0">
              <a:solidFill>
                <a:schemeClr val="tx1">
                  <a:lumMod val="85000"/>
                  <a:lumOff val="15000"/>
                </a:schemeClr>
              </a:solidFill>
              <a:cs typeface="+mn-ea"/>
              <a:sym typeface="+mn-lt"/>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6" grpId="0"/>
      <p:bldP spid="27" grpId="0"/>
      <p:bldP spid="32" grpId="0"/>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677795" y="2817495"/>
            <a:ext cx="7935595" cy="1319312"/>
            <a:chOff x="2540000" y="2817585"/>
            <a:chExt cx="5870074" cy="1318985"/>
          </a:xfrm>
        </p:grpSpPr>
        <p:sp>
          <p:nvSpPr>
            <p:cNvPr id="4" name="矩形: 圆角 3"/>
            <p:cNvSpPr/>
            <p:nvPr/>
          </p:nvSpPr>
          <p:spPr>
            <a:xfrm>
              <a:off x="2540000" y="2817585"/>
              <a:ext cx="5870074" cy="131898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4010689" y="3023274"/>
              <a:ext cx="4233574" cy="76816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研究思路与技术路线</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sp>
          <p:nvSpPr>
            <p:cNvPr id="12" name="文本框 11"/>
            <p:cNvSpPr txBox="1"/>
            <p:nvPr/>
          </p:nvSpPr>
          <p:spPr>
            <a:xfrm>
              <a:off x="2859313" y="2875002"/>
              <a:ext cx="1194781" cy="1106531"/>
            </a:xfrm>
            <a:prstGeom prst="rect">
              <a:avLst/>
            </a:prstGeom>
            <a:noFill/>
          </p:spPr>
          <p:txBody>
            <a:bodyPr wrap="square" rtlCol="0">
              <a:spAutoFit/>
            </a:bodyPr>
            <a:lstStyle/>
            <a:p>
              <a:pPr algn="ctr"/>
              <a:r>
                <a:rPr lang="en-US" altLang="zh-CN" sz="6600" dirty="0">
                  <a:solidFill>
                    <a:schemeClr val="bg1"/>
                  </a:solidFill>
                  <a:effectLst>
                    <a:outerShdw blurRad="38100" dist="38100" dir="2700000" algn="tl">
                      <a:srgbClr val="000000">
                        <a:alpha val="43137"/>
                      </a:srgbClr>
                    </a:outerShdw>
                  </a:effectLst>
                  <a:cs typeface="+mn-ea"/>
                  <a:sym typeface="+mn-lt"/>
                </a:rPr>
                <a:t>03</a:t>
              </a:r>
              <a:endParaRPr lang="zh-CN" altLang="en-US" sz="6600" dirty="0">
                <a:solidFill>
                  <a:schemeClr val="bg1"/>
                </a:solidFill>
                <a:effectLst>
                  <a:outerShdw blurRad="38100" dist="38100" dir="2700000" algn="tl">
                    <a:srgbClr val="000000">
                      <a:alpha val="43137"/>
                    </a:srgb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custDataLst>
              <p:tags r:id="rId1"/>
            </p:custDataLst>
          </p:nvPr>
        </p:nvGrpSpPr>
        <p:grpSpPr>
          <a:xfrm>
            <a:off x="9593882" y="4020650"/>
            <a:ext cx="3295250" cy="3942035"/>
            <a:chOff x="9614202" y="4088595"/>
            <a:chExt cx="3295250" cy="3942035"/>
          </a:xfrm>
        </p:grpSpPr>
        <p:sp>
          <p:nvSpPr>
            <p:cNvPr id="69" name="椭圆 68"/>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0" name="椭圆 69"/>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1" name="椭圆 70"/>
            <p:cNvSpPr/>
            <p:nvPr>
              <p:custDataLst>
                <p:tags r:id="rId2"/>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0" name="组合 59"/>
          <p:cNvGrpSpPr/>
          <p:nvPr>
            <p:custDataLst>
              <p:tags r:id="rId3"/>
            </p:custDataLst>
          </p:nvPr>
        </p:nvGrpSpPr>
        <p:grpSpPr>
          <a:xfrm>
            <a:off x="7613146" y="3706706"/>
            <a:ext cx="1387880" cy="36000"/>
            <a:chOff x="7660771" y="4049606"/>
            <a:chExt cx="1387880" cy="36000"/>
          </a:xfrm>
        </p:grpSpPr>
        <p:cxnSp>
          <p:nvCxnSpPr>
            <p:cNvPr id="20" name="直接连接符 19"/>
            <p:cNvCxnSpPr/>
            <p:nvPr>
              <p:custDataLst>
                <p:tags r:id="rId4"/>
              </p:custDataLst>
            </p:nvPr>
          </p:nvCxnSpPr>
          <p:spPr>
            <a:xfrm flipH="1">
              <a:off x="7660771" y="4067606"/>
              <a:ext cx="1379414" cy="0"/>
            </a:xfrm>
            <a:prstGeom prst="line">
              <a:avLst/>
            </a:prstGeom>
            <a:solidFill>
              <a:schemeClr val="tx1">
                <a:lumMod val="50000"/>
                <a:lumOff val="50000"/>
              </a:schemeClr>
            </a:solidFill>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1" name="椭圆 20"/>
            <p:cNvSpPr/>
            <p:nvPr>
              <p:custDataLst>
                <p:tags r:id="rId5"/>
              </p:custDataLst>
            </p:nvPr>
          </p:nvSpPr>
          <p:spPr>
            <a:xfrm flipH="1">
              <a:off x="9012656" y="4049606"/>
              <a:ext cx="35995" cy="36000"/>
            </a:xfrm>
            <a:prstGeom prst="ellipse">
              <a:avLst/>
            </a:prstGeom>
            <a:solidFill>
              <a:schemeClr val="tx1">
                <a:lumMod val="50000"/>
                <a:lumOff val="5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grpSp>
      <p:grpSp>
        <p:nvGrpSpPr>
          <p:cNvPr id="58" name="组合 57"/>
          <p:cNvGrpSpPr/>
          <p:nvPr>
            <p:custDataLst>
              <p:tags r:id="rId6"/>
            </p:custDataLst>
          </p:nvPr>
        </p:nvGrpSpPr>
        <p:grpSpPr>
          <a:xfrm>
            <a:off x="2687438" y="1764034"/>
            <a:ext cx="1387880" cy="36000"/>
            <a:chOff x="2735063" y="2106934"/>
            <a:chExt cx="1387880" cy="36000"/>
          </a:xfrm>
        </p:grpSpPr>
        <p:cxnSp>
          <p:nvCxnSpPr>
            <p:cNvPr id="23" name="直接连接符 22"/>
            <p:cNvCxnSpPr/>
            <p:nvPr>
              <p:custDataLst>
                <p:tags r:id="rId7"/>
              </p:custDataLst>
            </p:nvPr>
          </p:nvCxnSpPr>
          <p:spPr>
            <a:xfrm>
              <a:off x="2743529" y="2124934"/>
              <a:ext cx="1379414" cy="0"/>
            </a:xfrm>
            <a:prstGeom prst="line">
              <a:avLst/>
            </a:prstGeom>
            <a:solidFill>
              <a:schemeClr val="tx1">
                <a:lumMod val="50000"/>
                <a:lumOff val="50000"/>
              </a:schemeClr>
            </a:solidFill>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4" name="椭圆 23"/>
            <p:cNvSpPr/>
            <p:nvPr>
              <p:custDataLst>
                <p:tags r:id="rId8"/>
              </p:custDataLst>
            </p:nvPr>
          </p:nvSpPr>
          <p:spPr>
            <a:xfrm>
              <a:off x="2735063" y="2106934"/>
              <a:ext cx="35995" cy="36000"/>
            </a:xfrm>
            <a:prstGeom prst="ellipse">
              <a:avLst/>
            </a:prstGeom>
            <a:solidFill>
              <a:schemeClr val="tx1">
                <a:lumMod val="50000"/>
                <a:lumOff val="5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grpSp>
      <p:grpSp>
        <p:nvGrpSpPr>
          <p:cNvPr id="59" name="组合 58"/>
          <p:cNvGrpSpPr/>
          <p:nvPr>
            <p:custDataLst>
              <p:tags r:id="rId9"/>
            </p:custDataLst>
          </p:nvPr>
        </p:nvGrpSpPr>
        <p:grpSpPr>
          <a:xfrm>
            <a:off x="3860358" y="3706706"/>
            <a:ext cx="1387880" cy="36000"/>
            <a:chOff x="3907983" y="4049606"/>
            <a:chExt cx="1387880" cy="36000"/>
          </a:xfrm>
        </p:grpSpPr>
        <p:cxnSp>
          <p:nvCxnSpPr>
            <p:cNvPr id="26" name="直接连接符 25"/>
            <p:cNvCxnSpPr/>
            <p:nvPr>
              <p:custDataLst>
                <p:tags r:id="rId10"/>
              </p:custDataLst>
            </p:nvPr>
          </p:nvCxnSpPr>
          <p:spPr>
            <a:xfrm>
              <a:off x="3916449" y="4067606"/>
              <a:ext cx="1379414" cy="0"/>
            </a:xfrm>
            <a:prstGeom prst="line">
              <a:avLst/>
            </a:prstGeom>
            <a:solidFill>
              <a:schemeClr val="tx1">
                <a:lumMod val="50000"/>
                <a:lumOff val="50000"/>
              </a:schemeClr>
            </a:solidFill>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椭圆 26"/>
            <p:cNvSpPr/>
            <p:nvPr>
              <p:custDataLst>
                <p:tags r:id="rId11"/>
              </p:custDataLst>
            </p:nvPr>
          </p:nvSpPr>
          <p:spPr>
            <a:xfrm>
              <a:off x="3907983" y="4049606"/>
              <a:ext cx="35995" cy="36000"/>
            </a:xfrm>
            <a:prstGeom prst="ellipse">
              <a:avLst/>
            </a:prstGeom>
            <a:solidFill>
              <a:schemeClr val="tx1">
                <a:lumMod val="50000"/>
                <a:lumOff val="5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grpSp>
      <p:grpSp>
        <p:nvGrpSpPr>
          <p:cNvPr id="57" name="组合 56"/>
          <p:cNvGrpSpPr/>
          <p:nvPr>
            <p:custDataLst>
              <p:tags r:id="rId12"/>
            </p:custDataLst>
          </p:nvPr>
        </p:nvGrpSpPr>
        <p:grpSpPr>
          <a:xfrm>
            <a:off x="6225266" y="1764034"/>
            <a:ext cx="1387880" cy="36000"/>
            <a:chOff x="6272891" y="2106934"/>
            <a:chExt cx="1387880" cy="36000"/>
          </a:xfrm>
        </p:grpSpPr>
        <p:cxnSp>
          <p:nvCxnSpPr>
            <p:cNvPr id="17" name="直接连接符 16"/>
            <p:cNvCxnSpPr/>
            <p:nvPr>
              <p:custDataLst>
                <p:tags r:id="rId13"/>
              </p:custDataLst>
            </p:nvPr>
          </p:nvCxnSpPr>
          <p:spPr>
            <a:xfrm flipH="1">
              <a:off x="6272891" y="2124934"/>
              <a:ext cx="1379414" cy="0"/>
            </a:xfrm>
            <a:prstGeom prst="line">
              <a:avLst/>
            </a:prstGeom>
            <a:solidFill>
              <a:schemeClr val="tx1">
                <a:lumMod val="50000"/>
                <a:lumOff val="50000"/>
              </a:schemeClr>
            </a:solidFill>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椭圆 17"/>
            <p:cNvSpPr/>
            <p:nvPr>
              <p:custDataLst>
                <p:tags r:id="rId14"/>
              </p:custDataLst>
            </p:nvPr>
          </p:nvSpPr>
          <p:spPr>
            <a:xfrm flipH="1">
              <a:off x="7624776" y="2106934"/>
              <a:ext cx="35995" cy="36000"/>
            </a:xfrm>
            <a:prstGeom prst="ellipse">
              <a:avLst/>
            </a:prstGeom>
            <a:solidFill>
              <a:schemeClr val="tx1">
                <a:lumMod val="50000"/>
                <a:lumOff val="5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grpSp>
      <p:grpSp>
        <p:nvGrpSpPr>
          <p:cNvPr id="64" name="组合 63"/>
          <p:cNvGrpSpPr/>
          <p:nvPr>
            <p:custDataLst>
              <p:tags r:id="rId15"/>
            </p:custDataLst>
          </p:nvPr>
        </p:nvGrpSpPr>
        <p:grpSpPr>
          <a:xfrm>
            <a:off x="3567588" y="1536732"/>
            <a:ext cx="5393991" cy="3659562"/>
            <a:chOff x="3615213" y="1879632"/>
            <a:chExt cx="5393991" cy="3659562"/>
          </a:xfrm>
        </p:grpSpPr>
        <p:sp>
          <p:nvSpPr>
            <p:cNvPr id="32" name="等腰三角形 22"/>
            <p:cNvSpPr>
              <a:spLocks noChangeArrowheads="1"/>
            </p:cNvSpPr>
            <p:nvPr>
              <p:custDataLst>
                <p:tags r:id="rId16"/>
              </p:custDataLst>
            </p:nvPr>
          </p:nvSpPr>
          <p:spPr bwMode="auto">
            <a:xfrm>
              <a:off x="4965193" y="1885982"/>
              <a:ext cx="2660373" cy="1799373"/>
            </a:xfrm>
            <a:prstGeom prst="triangle">
              <a:avLst>
                <a:gd name="adj" fmla="val 50000"/>
              </a:avLst>
            </a:prstGeom>
            <a:solidFill>
              <a:srgbClr val="9DC0BC"/>
            </a:solidFill>
            <a:ln w="12700" cap="flat" cmpd="sng">
              <a:solidFill>
                <a:schemeClr val="bg1"/>
              </a:solidFill>
              <a:bevel/>
            </a:ln>
          </p:spPr>
          <p:txBody>
            <a:bodyPr anchor="ctr"/>
            <a:lstStyle/>
            <a:p>
              <a:pPr algn="ctr"/>
              <a:endParaRPr lang="zh-CN" altLang="zh-CN" sz="2400" dirty="0">
                <a:solidFill>
                  <a:schemeClr val="bg1"/>
                </a:solidFill>
                <a:cs typeface="+mn-ea"/>
                <a:sym typeface="+mn-lt"/>
              </a:endParaRPr>
            </a:p>
          </p:txBody>
        </p:sp>
        <p:sp>
          <p:nvSpPr>
            <p:cNvPr id="33" name="文本框 23"/>
            <p:cNvSpPr>
              <a:spLocks noChangeArrowheads="1"/>
            </p:cNvSpPr>
            <p:nvPr>
              <p:custDataLst>
                <p:tags r:id="rId17"/>
              </p:custDataLst>
            </p:nvPr>
          </p:nvSpPr>
          <p:spPr bwMode="auto">
            <a:xfrm>
              <a:off x="5901681" y="2622240"/>
              <a:ext cx="787395" cy="706755"/>
            </a:xfrm>
            <a:prstGeom prst="rect">
              <a:avLst/>
            </a:prstGeom>
            <a:noFill/>
            <a:ln>
              <a:noFill/>
            </a:ln>
          </p:spPr>
          <p:txBody>
            <a:bodyPr wrap="square">
              <a:spAutoFit/>
            </a:bodyPr>
            <a:lstStyle/>
            <a:p>
              <a:pPr algn="ctr"/>
              <a:r>
                <a:rPr lang="en-US" sz="4000" dirty="0">
                  <a:solidFill>
                    <a:schemeClr val="bg1"/>
                  </a:solidFill>
                  <a:cs typeface="+mn-ea"/>
                  <a:sym typeface="+mn-lt"/>
                </a:rPr>
                <a:t>02</a:t>
              </a:r>
              <a:endParaRPr lang="zh-CN" altLang="en-US" sz="4000" dirty="0">
                <a:solidFill>
                  <a:schemeClr val="bg1"/>
                </a:solidFill>
                <a:cs typeface="+mn-ea"/>
                <a:sym typeface="+mn-lt"/>
              </a:endParaRPr>
            </a:p>
          </p:txBody>
        </p:sp>
        <p:sp>
          <p:nvSpPr>
            <p:cNvPr id="29" name="等腰三角形 19"/>
            <p:cNvSpPr>
              <a:spLocks noChangeArrowheads="1"/>
            </p:cNvSpPr>
            <p:nvPr>
              <p:custDataLst>
                <p:tags r:id="rId18"/>
              </p:custDataLst>
            </p:nvPr>
          </p:nvSpPr>
          <p:spPr bwMode="auto">
            <a:xfrm flipH="1" flipV="1">
              <a:off x="3615213" y="1879632"/>
              <a:ext cx="2658356" cy="1799373"/>
            </a:xfrm>
            <a:prstGeom prst="triangle">
              <a:avLst>
                <a:gd name="adj" fmla="val 50000"/>
              </a:avLst>
            </a:prstGeom>
            <a:solidFill>
              <a:srgbClr val="27776D"/>
            </a:solidFill>
            <a:ln w="12700" cap="flat" cmpd="sng">
              <a:solidFill>
                <a:schemeClr val="bg1"/>
              </a:solidFill>
              <a:bevel/>
            </a:ln>
          </p:spPr>
          <p:txBody>
            <a:bodyPr anchor="ctr"/>
            <a:lstStyle/>
            <a:p>
              <a:pPr algn="ctr"/>
              <a:endParaRPr lang="zh-CN" altLang="zh-CN" sz="2400" dirty="0">
                <a:solidFill>
                  <a:schemeClr val="bg1"/>
                </a:solidFill>
                <a:cs typeface="+mn-ea"/>
                <a:sym typeface="+mn-lt"/>
              </a:endParaRPr>
            </a:p>
          </p:txBody>
        </p:sp>
        <p:sp>
          <p:nvSpPr>
            <p:cNvPr id="30" name="文本框 20"/>
            <p:cNvSpPr>
              <a:spLocks noChangeArrowheads="1"/>
            </p:cNvSpPr>
            <p:nvPr>
              <p:custDataLst>
                <p:tags r:id="rId19"/>
              </p:custDataLst>
            </p:nvPr>
          </p:nvSpPr>
          <p:spPr bwMode="auto">
            <a:xfrm>
              <a:off x="4547554" y="2035177"/>
              <a:ext cx="787395" cy="706755"/>
            </a:xfrm>
            <a:prstGeom prst="rect">
              <a:avLst/>
            </a:prstGeom>
            <a:noFill/>
            <a:ln>
              <a:noFill/>
            </a:ln>
          </p:spPr>
          <p:txBody>
            <a:bodyPr wrap="square">
              <a:spAutoFit/>
            </a:bodyPr>
            <a:lstStyle/>
            <a:p>
              <a:pPr algn="ctr"/>
              <a:r>
                <a:rPr lang="en-US" sz="4000" dirty="0">
                  <a:solidFill>
                    <a:schemeClr val="bg1"/>
                  </a:solidFill>
                  <a:cs typeface="+mn-ea"/>
                  <a:sym typeface="+mn-lt"/>
                </a:rPr>
                <a:t>01</a:t>
              </a:r>
              <a:endParaRPr lang="zh-CN" altLang="en-US" sz="4000" dirty="0">
                <a:solidFill>
                  <a:schemeClr val="bg1"/>
                </a:solidFill>
                <a:cs typeface="+mn-ea"/>
                <a:sym typeface="+mn-lt"/>
              </a:endParaRPr>
            </a:p>
          </p:txBody>
        </p:sp>
        <p:sp>
          <p:nvSpPr>
            <p:cNvPr id="35" name="等腰三角形 25"/>
            <p:cNvSpPr>
              <a:spLocks noChangeArrowheads="1"/>
            </p:cNvSpPr>
            <p:nvPr>
              <p:custDataLst>
                <p:tags r:id="rId20"/>
              </p:custDataLst>
            </p:nvPr>
          </p:nvSpPr>
          <p:spPr bwMode="auto">
            <a:xfrm flipH="1" flipV="1">
              <a:off x="4965193" y="3739821"/>
              <a:ext cx="2660373" cy="1799373"/>
            </a:xfrm>
            <a:prstGeom prst="triangle">
              <a:avLst>
                <a:gd name="adj" fmla="val 50000"/>
              </a:avLst>
            </a:prstGeom>
            <a:solidFill>
              <a:srgbClr val="27776D"/>
            </a:solidFill>
            <a:ln w="12700" cap="flat" cmpd="sng">
              <a:solidFill>
                <a:schemeClr val="bg1"/>
              </a:solidFill>
              <a:bevel/>
            </a:ln>
          </p:spPr>
          <p:txBody>
            <a:bodyPr anchor="ctr"/>
            <a:lstStyle/>
            <a:p>
              <a:pPr algn="ctr"/>
              <a:endParaRPr lang="zh-CN" altLang="zh-CN" sz="2400" dirty="0">
                <a:solidFill>
                  <a:schemeClr val="bg1"/>
                </a:solidFill>
                <a:cs typeface="+mn-ea"/>
                <a:sym typeface="+mn-lt"/>
              </a:endParaRPr>
            </a:p>
          </p:txBody>
        </p:sp>
        <p:sp>
          <p:nvSpPr>
            <p:cNvPr id="36" name="文本框 26"/>
            <p:cNvSpPr>
              <a:spLocks noChangeArrowheads="1"/>
            </p:cNvSpPr>
            <p:nvPr>
              <p:custDataLst>
                <p:tags r:id="rId21"/>
              </p:custDataLst>
            </p:nvPr>
          </p:nvSpPr>
          <p:spPr bwMode="auto">
            <a:xfrm>
              <a:off x="5901679" y="3968700"/>
              <a:ext cx="787396" cy="706755"/>
            </a:xfrm>
            <a:prstGeom prst="rect">
              <a:avLst/>
            </a:prstGeom>
            <a:noFill/>
            <a:ln>
              <a:noFill/>
            </a:ln>
          </p:spPr>
          <p:txBody>
            <a:bodyPr wrap="square">
              <a:spAutoFit/>
            </a:bodyPr>
            <a:lstStyle/>
            <a:p>
              <a:pPr algn="ctr"/>
              <a:r>
                <a:rPr lang="en-US" sz="4000" dirty="0">
                  <a:solidFill>
                    <a:schemeClr val="bg1"/>
                  </a:solidFill>
                  <a:cs typeface="+mn-ea"/>
                  <a:sym typeface="+mn-lt"/>
                </a:rPr>
                <a:t>03</a:t>
              </a:r>
              <a:endParaRPr lang="zh-CN" altLang="en-US" sz="4000" dirty="0">
                <a:solidFill>
                  <a:schemeClr val="bg1"/>
                </a:solidFill>
                <a:cs typeface="+mn-ea"/>
                <a:sym typeface="+mn-lt"/>
              </a:endParaRPr>
            </a:p>
          </p:txBody>
        </p:sp>
        <p:sp>
          <p:nvSpPr>
            <p:cNvPr id="38" name="等腰三角形 28"/>
            <p:cNvSpPr>
              <a:spLocks noChangeArrowheads="1"/>
            </p:cNvSpPr>
            <p:nvPr>
              <p:custDataLst>
                <p:tags r:id="rId22"/>
              </p:custDataLst>
            </p:nvPr>
          </p:nvSpPr>
          <p:spPr bwMode="auto">
            <a:xfrm>
              <a:off x="6350848" y="3739821"/>
              <a:ext cx="2658356" cy="1799373"/>
            </a:xfrm>
            <a:prstGeom prst="triangle">
              <a:avLst>
                <a:gd name="adj" fmla="val 50000"/>
              </a:avLst>
            </a:prstGeom>
            <a:solidFill>
              <a:srgbClr val="9DC0BC"/>
            </a:solidFill>
            <a:ln w="12700" cap="flat" cmpd="sng">
              <a:solidFill>
                <a:schemeClr val="bg1"/>
              </a:solidFill>
              <a:bevel/>
            </a:ln>
          </p:spPr>
          <p:txBody>
            <a:bodyPr anchor="ctr"/>
            <a:lstStyle/>
            <a:p>
              <a:pPr algn="ctr"/>
              <a:endParaRPr lang="zh-CN" altLang="zh-CN" sz="2400" dirty="0">
                <a:solidFill>
                  <a:schemeClr val="bg1"/>
                </a:solidFill>
                <a:cs typeface="+mn-ea"/>
                <a:sym typeface="+mn-lt"/>
              </a:endParaRPr>
            </a:p>
          </p:txBody>
        </p:sp>
        <p:sp>
          <p:nvSpPr>
            <p:cNvPr id="39" name="文本框 29"/>
            <p:cNvSpPr>
              <a:spLocks noChangeArrowheads="1"/>
            </p:cNvSpPr>
            <p:nvPr>
              <p:custDataLst>
                <p:tags r:id="rId23"/>
              </p:custDataLst>
            </p:nvPr>
          </p:nvSpPr>
          <p:spPr bwMode="auto">
            <a:xfrm>
              <a:off x="7286327" y="4400624"/>
              <a:ext cx="787395" cy="706755"/>
            </a:xfrm>
            <a:prstGeom prst="rect">
              <a:avLst/>
            </a:prstGeom>
            <a:noFill/>
            <a:ln>
              <a:noFill/>
            </a:ln>
          </p:spPr>
          <p:txBody>
            <a:bodyPr wrap="square">
              <a:spAutoFit/>
            </a:bodyPr>
            <a:lstStyle/>
            <a:p>
              <a:pPr algn="ctr"/>
              <a:r>
                <a:rPr lang="en-US" sz="4000" dirty="0">
                  <a:solidFill>
                    <a:schemeClr val="bg1"/>
                  </a:solidFill>
                  <a:cs typeface="+mn-ea"/>
                  <a:sym typeface="+mn-lt"/>
                </a:rPr>
                <a:t>04</a:t>
              </a:r>
              <a:endParaRPr lang="zh-CN" altLang="en-US" sz="4000" dirty="0">
                <a:solidFill>
                  <a:schemeClr val="bg1"/>
                </a:solidFill>
                <a:cs typeface="+mn-ea"/>
                <a:sym typeface="+mn-lt"/>
              </a:endParaRPr>
            </a:p>
          </p:txBody>
        </p:sp>
      </p:grpSp>
      <p:grpSp>
        <p:nvGrpSpPr>
          <p:cNvPr id="67" name="组合 66"/>
          <p:cNvGrpSpPr/>
          <p:nvPr>
            <p:custDataLst>
              <p:tags r:id="rId24"/>
            </p:custDataLst>
          </p:nvPr>
        </p:nvGrpSpPr>
        <p:grpSpPr>
          <a:xfrm>
            <a:off x="420134" y="1475667"/>
            <a:ext cx="2978895" cy="1277835"/>
            <a:chOff x="467759" y="1818567"/>
            <a:chExt cx="2978895" cy="1277835"/>
          </a:xfrm>
        </p:grpSpPr>
        <p:grpSp>
          <p:nvGrpSpPr>
            <p:cNvPr id="65" name="组合 64"/>
            <p:cNvGrpSpPr/>
            <p:nvPr/>
          </p:nvGrpSpPr>
          <p:grpSpPr>
            <a:xfrm>
              <a:off x="1083819" y="1818567"/>
              <a:ext cx="2362835" cy="584364"/>
              <a:chOff x="1083819" y="1818567"/>
              <a:chExt cx="2362835" cy="584364"/>
            </a:xfrm>
          </p:grpSpPr>
          <p:sp>
            <p:nvSpPr>
              <p:cNvPr id="40" name="圆角矩形 12"/>
              <p:cNvSpPr/>
              <p:nvPr>
                <p:custDataLst>
                  <p:tags r:id="rId25"/>
                </p:custDataLst>
              </p:nvPr>
            </p:nvSpPr>
            <p:spPr>
              <a:xfrm>
                <a:off x="1083819" y="1879691"/>
                <a:ext cx="1503822" cy="523240"/>
              </a:xfrm>
              <a:prstGeom prst="round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41" name="TextBox 224"/>
              <p:cNvSpPr txBox="1"/>
              <p:nvPr>
                <p:custDataLst>
                  <p:tags r:id="rId26"/>
                </p:custDataLst>
              </p:nvPr>
            </p:nvSpPr>
            <p:spPr>
              <a:xfrm>
                <a:off x="1227964" y="1818567"/>
                <a:ext cx="2218690" cy="584200"/>
              </a:xfrm>
              <a:prstGeom prst="rect">
                <a:avLst/>
              </a:prstGeom>
              <a:noFill/>
            </p:spPr>
            <p:txBody>
              <a:bodyPr wrap="square" lIns="91403" tIns="0" rIns="91403" bIns="0" rtlCol="0" anchor="t">
                <a:noAutofit/>
              </a:bodyPr>
              <a:lstStyle/>
              <a:p>
                <a:pPr>
                  <a:lnSpc>
                    <a:spcPct val="150000"/>
                  </a:lnSpc>
                </a:pPr>
                <a:r>
                  <a:rPr lang="zh-CN" altLang="en-US" sz="2400" dirty="0">
                    <a:solidFill>
                      <a:schemeClr val="bg1"/>
                    </a:solidFill>
                    <a:cs typeface="+mn-ea"/>
                    <a:sym typeface="+mn-lt"/>
                  </a:rPr>
                  <a:t>易发地</a:t>
                </a:r>
                <a:endParaRPr lang="zh-CN" altLang="en-US" sz="2400" dirty="0">
                  <a:solidFill>
                    <a:schemeClr val="bg1"/>
                  </a:solidFill>
                  <a:cs typeface="+mn-ea"/>
                  <a:sym typeface="+mn-lt"/>
                </a:endParaRPr>
              </a:p>
            </p:txBody>
          </p:sp>
        </p:grpSp>
        <p:sp>
          <p:nvSpPr>
            <p:cNvPr id="52" name="文本框 51"/>
            <p:cNvSpPr txBox="1"/>
            <p:nvPr>
              <p:custDataLst>
                <p:tags r:id="rId27"/>
              </p:custDataLst>
            </p:nvPr>
          </p:nvSpPr>
          <p:spPr>
            <a:xfrm>
              <a:off x="467759" y="2574432"/>
              <a:ext cx="2626633" cy="521970"/>
            </a:xfrm>
            <a:prstGeom prst="rect">
              <a:avLst/>
            </a:prstGeom>
            <a:noFill/>
          </p:spPr>
          <p:txBody>
            <a:bodyPr wrap="square" rtlCol="0">
              <a:spAutoFit/>
            </a:bodyPr>
            <a:lstStyle/>
            <a:p>
              <a:pPr algn="l"/>
              <a:r>
                <a:rPr lang="zh-CN" altLang="en-US" sz="1400" spc="300" dirty="0">
                  <a:cs typeface="+mn-ea"/>
                  <a:sym typeface="+mn-lt"/>
                </a:rPr>
                <a:t>构建地质灾害易发性指数，识别易发性较高区域。</a:t>
              </a:r>
              <a:endParaRPr lang="zh-CN" altLang="en-US" sz="1400" spc="300" dirty="0">
                <a:cs typeface="+mn-ea"/>
                <a:sym typeface="+mn-lt"/>
              </a:endParaRPr>
            </a:p>
          </p:txBody>
        </p:sp>
      </p:grpSp>
      <p:grpSp>
        <p:nvGrpSpPr>
          <p:cNvPr id="68" name="组合 67"/>
          <p:cNvGrpSpPr/>
          <p:nvPr>
            <p:custDataLst>
              <p:tags r:id="rId28"/>
            </p:custDataLst>
          </p:nvPr>
        </p:nvGrpSpPr>
        <p:grpSpPr>
          <a:xfrm>
            <a:off x="350952" y="3455966"/>
            <a:ext cx="5340350" cy="1248410"/>
            <a:chOff x="398577" y="3798866"/>
            <a:chExt cx="5340350" cy="1248410"/>
          </a:xfrm>
        </p:grpSpPr>
        <p:grpSp>
          <p:nvGrpSpPr>
            <p:cNvPr id="66" name="组合 65"/>
            <p:cNvGrpSpPr/>
            <p:nvPr/>
          </p:nvGrpSpPr>
          <p:grpSpPr>
            <a:xfrm>
              <a:off x="2196974" y="3798866"/>
              <a:ext cx="1716679" cy="564945"/>
              <a:chOff x="2196974" y="3798866"/>
              <a:chExt cx="1716679" cy="564945"/>
            </a:xfrm>
          </p:grpSpPr>
          <p:sp>
            <p:nvSpPr>
              <p:cNvPr id="46" name="圆角矩形 90"/>
              <p:cNvSpPr/>
              <p:nvPr>
                <p:custDataLst>
                  <p:tags r:id="rId29"/>
                </p:custDataLst>
              </p:nvPr>
            </p:nvSpPr>
            <p:spPr>
              <a:xfrm>
                <a:off x="2196974" y="3840571"/>
                <a:ext cx="1503822" cy="523240"/>
              </a:xfrm>
              <a:prstGeom prst="round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47" name="TextBox 91"/>
              <p:cNvSpPr txBox="1"/>
              <p:nvPr>
                <p:custDataLst>
                  <p:tags r:id="rId30"/>
                </p:custDataLst>
              </p:nvPr>
            </p:nvSpPr>
            <p:spPr>
              <a:xfrm>
                <a:off x="2231472" y="3798866"/>
                <a:ext cx="1682181" cy="553720"/>
              </a:xfrm>
              <a:prstGeom prst="rect">
                <a:avLst/>
              </a:prstGeom>
              <a:noFill/>
            </p:spPr>
            <p:txBody>
              <a:bodyPr wrap="square" lIns="91403" tIns="0" rIns="91403" bIns="0" rtlCol="0" anchor="t">
                <a:spAutoFit/>
              </a:bodyPr>
              <a:lstStyle/>
              <a:p>
                <a:pPr>
                  <a:lnSpc>
                    <a:spcPct val="150000"/>
                  </a:lnSpc>
                </a:pPr>
                <a:r>
                  <a:rPr lang="zh-CN" altLang="en-US" sz="2400" dirty="0">
                    <a:solidFill>
                      <a:schemeClr val="bg1"/>
                    </a:solidFill>
                    <a:cs typeface="+mn-ea"/>
                    <a:sym typeface="+mn-lt"/>
                  </a:rPr>
                  <a:t>防灾能力</a:t>
                </a:r>
                <a:endParaRPr lang="zh-CN" altLang="en-US" sz="2400" dirty="0">
                  <a:solidFill>
                    <a:schemeClr val="bg1"/>
                  </a:solidFill>
                  <a:cs typeface="+mn-ea"/>
                  <a:sym typeface="+mn-lt"/>
                </a:endParaRPr>
              </a:p>
            </p:txBody>
          </p:sp>
        </p:grpSp>
        <p:sp>
          <p:nvSpPr>
            <p:cNvPr id="53" name="文本框 52"/>
            <p:cNvSpPr txBox="1"/>
            <p:nvPr>
              <p:custDataLst>
                <p:tags r:id="rId31"/>
              </p:custDataLst>
            </p:nvPr>
          </p:nvSpPr>
          <p:spPr>
            <a:xfrm>
              <a:off x="398577" y="4525306"/>
              <a:ext cx="5340350" cy="521970"/>
            </a:xfrm>
            <a:prstGeom prst="rect">
              <a:avLst/>
            </a:prstGeom>
            <a:noFill/>
          </p:spPr>
          <p:txBody>
            <a:bodyPr wrap="square" rtlCol="0">
              <a:spAutoFit/>
            </a:bodyPr>
            <a:lstStyle/>
            <a:p>
              <a:pPr algn="l"/>
              <a:r>
                <a:rPr lang="zh-CN" altLang="en-US" sz="1400" spc="300" dirty="0">
                  <a:cs typeface="+mn-ea"/>
                  <a:sym typeface="+mn-lt"/>
                </a:rPr>
                <a:t>基于医疗、交通、乡镇中心和村委会等可达性指标，</a:t>
              </a:r>
              <a:endParaRPr lang="zh-CN" altLang="en-US" sz="1400" spc="300" dirty="0">
                <a:cs typeface="+mn-ea"/>
                <a:sym typeface="+mn-lt"/>
              </a:endParaRPr>
            </a:p>
            <a:p>
              <a:pPr algn="l"/>
              <a:r>
                <a:rPr lang="zh-CN" altLang="en-US" sz="1400" spc="300" dirty="0">
                  <a:cs typeface="+mn-ea"/>
                  <a:sym typeface="+mn-lt"/>
                </a:rPr>
                <a:t>构建防灾减灾能力指数。</a:t>
              </a:r>
              <a:endParaRPr lang="zh-CN" altLang="en-US" sz="1400" spc="300" dirty="0">
                <a:cs typeface="+mn-ea"/>
                <a:sym typeface="+mn-lt"/>
              </a:endParaRPr>
            </a:p>
          </p:txBody>
        </p:sp>
      </p:grpSp>
      <p:grpSp>
        <p:nvGrpSpPr>
          <p:cNvPr id="11" name="组合 10"/>
          <p:cNvGrpSpPr/>
          <p:nvPr>
            <p:custDataLst>
              <p:tags r:id="rId32"/>
            </p:custDataLst>
          </p:nvPr>
        </p:nvGrpSpPr>
        <p:grpSpPr>
          <a:xfrm>
            <a:off x="6944908" y="1475196"/>
            <a:ext cx="4325620" cy="1253490"/>
            <a:chOff x="6992533" y="1818096"/>
            <a:chExt cx="4325620" cy="1253490"/>
          </a:xfrm>
        </p:grpSpPr>
        <p:sp>
          <p:nvSpPr>
            <p:cNvPr id="42" name="圆角矩形 86"/>
            <p:cNvSpPr/>
            <p:nvPr>
              <p:custDataLst>
                <p:tags r:id="rId33"/>
              </p:custDataLst>
            </p:nvPr>
          </p:nvSpPr>
          <p:spPr>
            <a:xfrm>
              <a:off x="7857505" y="1879691"/>
              <a:ext cx="1682181" cy="523240"/>
            </a:xfrm>
            <a:prstGeom prst="round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43" name="TextBox 87"/>
            <p:cNvSpPr txBox="1"/>
            <p:nvPr>
              <p:custDataLst>
                <p:tags r:id="rId34"/>
              </p:custDataLst>
            </p:nvPr>
          </p:nvSpPr>
          <p:spPr>
            <a:xfrm>
              <a:off x="7958970" y="1818096"/>
              <a:ext cx="1682181" cy="553720"/>
            </a:xfrm>
            <a:prstGeom prst="rect">
              <a:avLst/>
            </a:prstGeom>
            <a:noFill/>
          </p:spPr>
          <p:txBody>
            <a:bodyPr wrap="square" lIns="91403" tIns="0" rIns="91403" bIns="0" rtlCol="0" anchor="t">
              <a:spAutoFit/>
            </a:bodyPr>
            <a:lstStyle/>
            <a:p>
              <a:pPr>
                <a:lnSpc>
                  <a:spcPct val="150000"/>
                </a:lnSpc>
              </a:pPr>
              <a:r>
                <a:rPr lang="zh-CN" altLang="en-US" sz="2400" dirty="0">
                  <a:solidFill>
                    <a:schemeClr val="bg1"/>
                  </a:solidFill>
                  <a:cs typeface="+mn-ea"/>
                  <a:sym typeface="+mn-lt"/>
                </a:rPr>
                <a:t>高暴露度</a:t>
              </a:r>
              <a:endParaRPr lang="zh-CN" altLang="en-US" sz="2400" dirty="0">
                <a:solidFill>
                  <a:schemeClr val="bg1"/>
                </a:solidFill>
                <a:cs typeface="+mn-ea"/>
                <a:sym typeface="+mn-lt"/>
              </a:endParaRPr>
            </a:p>
          </p:txBody>
        </p:sp>
        <p:sp>
          <p:nvSpPr>
            <p:cNvPr id="54" name="文本框 53"/>
            <p:cNvSpPr txBox="1"/>
            <p:nvPr>
              <p:custDataLst>
                <p:tags r:id="rId35"/>
              </p:custDataLst>
            </p:nvPr>
          </p:nvSpPr>
          <p:spPr>
            <a:xfrm>
              <a:off x="6992533" y="2549616"/>
              <a:ext cx="4325620" cy="521970"/>
            </a:xfrm>
            <a:prstGeom prst="rect">
              <a:avLst/>
            </a:prstGeom>
            <a:noFill/>
          </p:spPr>
          <p:txBody>
            <a:bodyPr wrap="square" rtlCol="0">
              <a:spAutoFit/>
            </a:bodyPr>
            <a:lstStyle/>
            <a:p>
              <a:pPr algn="r"/>
              <a:r>
                <a:rPr lang="zh-CN" altLang="en-US" sz="1400" spc="300" dirty="0">
                  <a:cs typeface="+mn-ea"/>
                  <a:sym typeface="+mn-lt"/>
                </a:rPr>
                <a:t>结合建筑斑块、居民点分布和易发性结果，</a:t>
              </a:r>
              <a:endParaRPr lang="zh-CN" altLang="en-US" sz="1400" spc="300" dirty="0">
                <a:cs typeface="+mn-ea"/>
                <a:sym typeface="+mn-lt"/>
              </a:endParaRPr>
            </a:p>
            <a:p>
              <a:pPr algn="r"/>
              <a:r>
                <a:rPr lang="zh-CN" altLang="en-US" sz="1400" spc="300" dirty="0">
                  <a:cs typeface="+mn-ea"/>
                  <a:sym typeface="+mn-lt"/>
                </a:rPr>
                <a:t>构建居民点暴露度指数。</a:t>
              </a:r>
              <a:endParaRPr lang="zh-CN" altLang="en-US" sz="1400" spc="300" dirty="0">
                <a:cs typeface="+mn-ea"/>
                <a:sym typeface="+mn-lt"/>
              </a:endParaRPr>
            </a:p>
          </p:txBody>
        </p:sp>
      </p:grpSp>
      <p:grpSp>
        <p:nvGrpSpPr>
          <p:cNvPr id="56" name="组合 55"/>
          <p:cNvGrpSpPr/>
          <p:nvPr>
            <p:custDataLst>
              <p:tags r:id="rId36"/>
            </p:custDataLst>
          </p:nvPr>
        </p:nvGrpSpPr>
        <p:grpSpPr>
          <a:xfrm>
            <a:off x="8231856" y="3381641"/>
            <a:ext cx="3185160" cy="1303020"/>
            <a:chOff x="8279481" y="3724541"/>
            <a:chExt cx="3185160" cy="1303020"/>
          </a:xfrm>
        </p:grpSpPr>
        <p:sp>
          <p:nvSpPr>
            <p:cNvPr id="44" name="圆角矩形 88"/>
            <p:cNvSpPr/>
            <p:nvPr>
              <p:custDataLst>
                <p:tags r:id="rId37"/>
              </p:custDataLst>
            </p:nvPr>
          </p:nvSpPr>
          <p:spPr>
            <a:xfrm>
              <a:off x="9163065" y="3787866"/>
              <a:ext cx="1682181" cy="523240"/>
            </a:xfrm>
            <a:prstGeom prst="round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cs typeface="+mn-ea"/>
                <a:sym typeface="+mn-lt"/>
              </a:endParaRPr>
            </a:p>
          </p:txBody>
        </p:sp>
        <p:sp>
          <p:nvSpPr>
            <p:cNvPr id="45" name="TextBox 89"/>
            <p:cNvSpPr txBox="1"/>
            <p:nvPr>
              <p:custDataLst>
                <p:tags r:id="rId38"/>
              </p:custDataLst>
            </p:nvPr>
          </p:nvSpPr>
          <p:spPr>
            <a:xfrm>
              <a:off x="9177753" y="3724541"/>
              <a:ext cx="1682181" cy="553720"/>
            </a:xfrm>
            <a:prstGeom prst="rect">
              <a:avLst/>
            </a:prstGeom>
            <a:noFill/>
          </p:spPr>
          <p:txBody>
            <a:bodyPr wrap="square" lIns="91403" tIns="0" rIns="91403" bIns="0" rtlCol="0" anchor="t">
              <a:spAutoFit/>
            </a:bodyPr>
            <a:lstStyle/>
            <a:p>
              <a:pPr algn="ctr">
                <a:lnSpc>
                  <a:spcPct val="150000"/>
                </a:lnSpc>
              </a:pPr>
              <a:r>
                <a:rPr lang="zh-CN" altLang="en-US" sz="2400" dirty="0">
                  <a:solidFill>
                    <a:schemeClr val="bg1"/>
                  </a:solidFill>
                  <a:cs typeface="+mn-ea"/>
                  <a:sym typeface="+mn-lt"/>
                </a:rPr>
                <a:t>最终评估</a:t>
              </a:r>
              <a:endParaRPr lang="zh-CN" altLang="en-US" sz="2400" dirty="0">
                <a:solidFill>
                  <a:schemeClr val="bg1"/>
                </a:solidFill>
                <a:cs typeface="+mn-ea"/>
                <a:sym typeface="+mn-lt"/>
              </a:endParaRPr>
            </a:p>
          </p:txBody>
        </p:sp>
        <p:sp>
          <p:nvSpPr>
            <p:cNvPr id="55" name="文本框 54"/>
            <p:cNvSpPr txBox="1"/>
            <p:nvPr>
              <p:custDataLst>
                <p:tags r:id="rId39"/>
              </p:custDataLst>
            </p:nvPr>
          </p:nvSpPr>
          <p:spPr>
            <a:xfrm>
              <a:off x="8279481" y="4505591"/>
              <a:ext cx="3185160" cy="521970"/>
            </a:xfrm>
            <a:prstGeom prst="rect">
              <a:avLst/>
            </a:prstGeom>
            <a:noFill/>
          </p:spPr>
          <p:txBody>
            <a:bodyPr wrap="square" rtlCol="0">
              <a:spAutoFit/>
            </a:bodyPr>
            <a:lstStyle/>
            <a:p>
              <a:pPr algn="r"/>
              <a:r>
                <a:rPr lang="zh-CN" altLang="en-US" sz="1400" spc="300" dirty="0">
                  <a:cs typeface="+mn-ea"/>
                  <a:sym typeface="+mn-lt"/>
                </a:rPr>
                <a:t>将三个指标加权、耦合，</a:t>
              </a:r>
              <a:endParaRPr lang="zh-CN" altLang="en-US" sz="1400" spc="300" dirty="0">
                <a:cs typeface="+mn-ea"/>
                <a:sym typeface="+mn-lt"/>
              </a:endParaRPr>
            </a:p>
            <a:p>
              <a:pPr algn="r"/>
              <a:r>
                <a:rPr lang="zh-CN" altLang="en-US" sz="1400" spc="300" dirty="0">
                  <a:cs typeface="+mn-ea"/>
                  <a:sym typeface="+mn-lt"/>
                </a:rPr>
                <a:t>得到最终综合风险评估结果。</a:t>
              </a:r>
              <a:endParaRPr lang="zh-CN" altLang="en-US" sz="1400" spc="300" dirty="0">
                <a:cs typeface="+mn-ea"/>
                <a:sym typeface="+mn-lt"/>
              </a:endParaRPr>
            </a:p>
          </p:txBody>
        </p:sp>
      </p:grpSp>
      <p:sp>
        <p:nvSpPr>
          <p:cNvPr id="51" name="文本框 50"/>
          <p:cNvSpPr txBox="1"/>
          <p:nvPr/>
        </p:nvSpPr>
        <p:spPr>
          <a:xfrm>
            <a:off x="1224640" y="335911"/>
            <a:ext cx="321310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评价目标</a:t>
            </a:r>
            <a:endParaRPr lang="zh-CN" altLang="en-US" sz="3200" spc="400" dirty="0">
              <a:solidFill>
                <a:schemeClr val="tx1">
                  <a:lumMod val="85000"/>
                  <a:lumOff val="15000"/>
                </a:schemeClr>
              </a:solidFill>
              <a:cs typeface="+mn-ea"/>
              <a:sym typeface="+mn-lt"/>
            </a:endParaRPr>
          </a:p>
        </p:txBody>
      </p:sp>
      <p:grpSp>
        <p:nvGrpSpPr>
          <p:cNvPr id="61" name="组合 60"/>
          <p:cNvGrpSpPr/>
          <p:nvPr/>
        </p:nvGrpSpPr>
        <p:grpSpPr>
          <a:xfrm>
            <a:off x="420106" y="300845"/>
            <a:ext cx="760161" cy="654908"/>
            <a:chOff x="401056" y="200808"/>
            <a:chExt cx="760161" cy="654908"/>
          </a:xfrm>
        </p:grpSpPr>
        <p:sp>
          <p:nvSpPr>
            <p:cNvPr id="62" name="椭圆 61"/>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3" name="椭圆 62"/>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ustDataLst>
      <p:tags r:id="rId4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1224640" y="335911"/>
            <a:ext cx="321310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技术路线</a:t>
            </a:r>
            <a:endParaRPr lang="zh-CN" altLang="en-US" sz="3200" spc="400" dirty="0">
              <a:solidFill>
                <a:schemeClr val="tx1">
                  <a:lumMod val="85000"/>
                  <a:lumOff val="15000"/>
                </a:schemeClr>
              </a:solidFill>
              <a:cs typeface="+mn-ea"/>
              <a:sym typeface="+mn-lt"/>
            </a:endParaRPr>
          </a:p>
        </p:txBody>
      </p:sp>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5" name="组合 64"/>
          <p:cNvGrpSpPr/>
          <p:nvPr>
            <p:custDataLst>
              <p:tags r:id="rId1"/>
            </p:custDataLst>
          </p:nvPr>
        </p:nvGrpSpPr>
        <p:grpSpPr>
          <a:xfrm>
            <a:off x="7428012" y="1156970"/>
            <a:ext cx="3042500" cy="480695"/>
            <a:chOff x="1427369" y="1552372"/>
            <a:chExt cx="2083799" cy="480642"/>
          </a:xfrm>
        </p:grpSpPr>
        <p:sp>
          <p:nvSpPr>
            <p:cNvPr id="16" name="矩形: 圆角 5"/>
            <p:cNvSpPr/>
            <p:nvPr>
              <p:custDataLst>
                <p:tags r:id="rId2"/>
              </p:custDataLst>
            </p:nvPr>
          </p:nvSpPr>
          <p:spPr>
            <a:xfrm>
              <a:off x="1443610" y="1552373"/>
              <a:ext cx="2027775" cy="480641"/>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cs typeface="+mn-ea"/>
                <a:sym typeface="+mn-lt"/>
              </a:endParaRPr>
            </a:p>
          </p:txBody>
        </p:sp>
        <p:sp>
          <p:nvSpPr>
            <p:cNvPr id="20" name="文本框 19"/>
            <p:cNvSpPr txBox="1"/>
            <p:nvPr>
              <p:custDataLst>
                <p:tags r:id="rId3"/>
              </p:custDataLst>
            </p:nvPr>
          </p:nvSpPr>
          <p:spPr>
            <a:xfrm>
              <a:off x="1427369" y="1552372"/>
              <a:ext cx="2083799" cy="460324"/>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cs typeface="+mn-ea"/>
                  <a:sym typeface="+mn-lt"/>
                </a:rPr>
                <a:t>防灾减灾能力评价</a:t>
              </a:r>
              <a:endParaRPr lang="zh-CN" altLang="en-US" sz="2400" b="1" dirty="0">
                <a:solidFill>
                  <a:schemeClr val="bg1"/>
                </a:solidFill>
                <a:cs typeface="+mn-ea"/>
                <a:sym typeface="+mn-lt"/>
              </a:endParaRPr>
            </a:p>
          </p:txBody>
        </p:sp>
      </p:grpSp>
      <p:grpSp>
        <p:nvGrpSpPr>
          <p:cNvPr id="2" name="组合 1"/>
          <p:cNvGrpSpPr/>
          <p:nvPr>
            <p:custDataLst>
              <p:tags r:id="rId4"/>
            </p:custDataLst>
          </p:nvPr>
        </p:nvGrpSpPr>
        <p:grpSpPr>
          <a:xfrm>
            <a:off x="7498080" y="2740660"/>
            <a:ext cx="2969894" cy="480528"/>
            <a:chOff x="1443610" y="1552373"/>
            <a:chExt cx="2031709" cy="480641"/>
          </a:xfrm>
        </p:grpSpPr>
        <p:sp>
          <p:nvSpPr>
            <p:cNvPr id="3" name="矩形: 圆角 5"/>
            <p:cNvSpPr/>
            <p:nvPr>
              <p:custDataLst>
                <p:tags r:id="rId5"/>
              </p:custDataLst>
            </p:nvPr>
          </p:nvSpPr>
          <p:spPr>
            <a:xfrm>
              <a:off x="1443610" y="1552373"/>
              <a:ext cx="2027775" cy="480641"/>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cs typeface="+mn-ea"/>
                <a:sym typeface="+mn-lt"/>
              </a:endParaRPr>
            </a:p>
          </p:txBody>
        </p:sp>
        <p:sp>
          <p:nvSpPr>
            <p:cNvPr id="4" name="文本框 3"/>
            <p:cNvSpPr txBox="1"/>
            <p:nvPr>
              <p:custDataLst>
                <p:tags r:id="rId6"/>
              </p:custDataLst>
            </p:nvPr>
          </p:nvSpPr>
          <p:spPr>
            <a:xfrm>
              <a:off x="1457032" y="1561943"/>
              <a:ext cx="2018287" cy="460483"/>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cs typeface="+mn-ea"/>
                  <a:sym typeface="+mn-lt"/>
                </a:rPr>
                <a:t>综合风险评价表达</a:t>
              </a:r>
              <a:endParaRPr lang="en-US" altLang="zh-CN" sz="2400" b="1" dirty="0">
                <a:solidFill>
                  <a:schemeClr val="bg1"/>
                </a:solidFill>
                <a:cs typeface="+mn-ea"/>
                <a:sym typeface="+mn-lt"/>
              </a:endParaRPr>
            </a:p>
          </p:txBody>
        </p:sp>
      </p:grpSp>
      <p:grpSp>
        <p:nvGrpSpPr>
          <p:cNvPr id="8" name="组合 7"/>
          <p:cNvGrpSpPr/>
          <p:nvPr>
            <p:custDataLst>
              <p:tags r:id="rId7"/>
            </p:custDataLst>
          </p:nvPr>
        </p:nvGrpSpPr>
        <p:grpSpPr>
          <a:xfrm>
            <a:off x="1111249" y="4569460"/>
            <a:ext cx="2995930" cy="480572"/>
            <a:chOff x="-2945380" y="3977152"/>
            <a:chExt cx="2041733" cy="480641"/>
          </a:xfrm>
        </p:grpSpPr>
        <p:sp>
          <p:nvSpPr>
            <p:cNvPr id="9" name="矩形: 圆角 5"/>
            <p:cNvSpPr/>
            <p:nvPr>
              <p:custDataLst>
                <p:tags r:id="rId8"/>
              </p:custDataLst>
            </p:nvPr>
          </p:nvSpPr>
          <p:spPr>
            <a:xfrm>
              <a:off x="-2945380" y="3977152"/>
              <a:ext cx="2027775" cy="480641"/>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cs typeface="+mn-ea"/>
                <a:sym typeface="+mn-lt"/>
              </a:endParaRPr>
            </a:p>
          </p:txBody>
        </p:sp>
        <p:sp>
          <p:nvSpPr>
            <p:cNvPr id="10" name="文本框 9"/>
            <p:cNvSpPr txBox="1"/>
            <p:nvPr>
              <p:custDataLst>
                <p:tags r:id="rId9"/>
              </p:custDataLst>
            </p:nvPr>
          </p:nvSpPr>
          <p:spPr>
            <a:xfrm>
              <a:off x="-2945380" y="3984138"/>
              <a:ext cx="2041733" cy="460441"/>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cs typeface="+mn-ea"/>
                  <a:sym typeface="+mn-lt"/>
                </a:rPr>
                <a:t>居民点暴露度评价</a:t>
              </a:r>
              <a:endParaRPr lang="zh-CN" altLang="en-US" sz="2400" b="1" dirty="0">
                <a:solidFill>
                  <a:schemeClr val="bg1"/>
                </a:solidFill>
                <a:cs typeface="+mn-ea"/>
                <a:sym typeface="+mn-lt"/>
              </a:endParaRPr>
            </a:p>
          </p:txBody>
        </p:sp>
      </p:grpSp>
      <p:grpSp>
        <p:nvGrpSpPr>
          <p:cNvPr id="11" name="组合 10"/>
          <p:cNvGrpSpPr/>
          <p:nvPr>
            <p:custDataLst>
              <p:tags r:id="rId10"/>
            </p:custDataLst>
          </p:nvPr>
        </p:nvGrpSpPr>
        <p:grpSpPr>
          <a:xfrm>
            <a:off x="177802" y="1262380"/>
            <a:ext cx="4669155" cy="488896"/>
            <a:chOff x="919781" y="1544118"/>
            <a:chExt cx="3065780" cy="488896"/>
          </a:xfrm>
        </p:grpSpPr>
        <p:sp>
          <p:nvSpPr>
            <p:cNvPr id="12" name="矩形: 圆角 5"/>
            <p:cNvSpPr/>
            <p:nvPr>
              <p:custDataLst>
                <p:tags r:id="rId11"/>
              </p:custDataLst>
            </p:nvPr>
          </p:nvSpPr>
          <p:spPr>
            <a:xfrm>
              <a:off x="1443610" y="1552373"/>
              <a:ext cx="2027775" cy="480641"/>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cs typeface="+mn-ea"/>
                <a:sym typeface="+mn-lt"/>
              </a:endParaRPr>
            </a:p>
          </p:txBody>
        </p:sp>
        <p:sp>
          <p:nvSpPr>
            <p:cNvPr id="13" name="文本框 12"/>
            <p:cNvSpPr txBox="1"/>
            <p:nvPr>
              <p:custDataLst>
                <p:tags r:id="rId12"/>
              </p:custDataLst>
            </p:nvPr>
          </p:nvSpPr>
          <p:spPr>
            <a:xfrm>
              <a:off x="919781" y="1544118"/>
              <a:ext cx="3065780" cy="460375"/>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cs typeface="+mn-ea"/>
                  <a:sym typeface="+mn-lt"/>
                </a:rPr>
                <a:t>数据准备与预处理</a:t>
              </a:r>
              <a:endParaRPr lang="zh-CN" altLang="en-US" sz="2400" b="1" dirty="0">
                <a:solidFill>
                  <a:schemeClr val="bg1"/>
                </a:solidFill>
                <a:cs typeface="+mn-ea"/>
                <a:sym typeface="+mn-lt"/>
              </a:endParaRPr>
            </a:p>
          </p:txBody>
        </p:sp>
      </p:grpSp>
      <p:grpSp>
        <p:nvGrpSpPr>
          <p:cNvPr id="14" name="组合 13"/>
          <p:cNvGrpSpPr/>
          <p:nvPr>
            <p:custDataLst>
              <p:tags r:id="rId13"/>
            </p:custDataLst>
          </p:nvPr>
        </p:nvGrpSpPr>
        <p:grpSpPr>
          <a:xfrm>
            <a:off x="7149464" y="4413885"/>
            <a:ext cx="3823849" cy="480695"/>
            <a:chOff x="1333628" y="1552373"/>
            <a:chExt cx="2377704" cy="480724"/>
          </a:xfrm>
        </p:grpSpPr>
        <p:sp>
          <p:nvSpPr>
            <p:cNvPr id="15" name="矩形: 圆角 5"/>
            <p:cNvSpPr/>
            <p:nvPr>
              <p:custDataLst>
                <p:tags r:id="rId14"/>
              </p:custDataLst>
            </p:nvPr>
          </p:nvSpPr>
          <p:spPr>
            <a:xfrm>
              <a:off x="1443610" y="1552373"/>
              <a:ext cx="2203832" cy="480724"/>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cs typeface="+mn-ea"/>
                <a:sym typeface="+mn-lt"/>
              </a:endParaRPr>
            </a:p>
          </p:txBody>
        </p:sp>
        <p:sp>
          <p:nvSpPr>
            <p:cNvPr id="17" name="文本框 16"/>
            <p:cNvSpPr txBox="1"/>
            <p:nvPr>
              <p:custDataLst>
                <p:tags r:id="rId15"/>
              </p:custDataLst>
            </p:nvPr>
          </p:nvSpPr>
          <p:spPr>
            <a:xfrm>
              <a:off x="1333628" y="1568885"/>
              <a:ext cx="2377704" cy="460403"/>
            </a:xfrm>
            <a:prstGeom prst="rect">
              <a:avLst/>
            </a:prstGeom>
            <a:noFill/>
          </p:spPr>
          <p:txBody>
            <a:bodyPr wrap="square" rtlCol="0">
              <a:spAutoFit/>
              <a:scene3d>
                <a:camera prst="orthographicFront"/>
                <a:lightRig rig="threePt" dir="t"/>
              </a:scene3d>
              <a:sp3d contourW="12700"/>
            </a:bodyPr>
            <a:lstStyle/>
            <a:p>
              <a:pPr algn="ctr"/>
              <a:r>
                <a:rPr lang="en-US" altLang="zh-CN" sz="2400" b="1" dirty="0">
                  <a:solidFill>
                    <a:schemeClr val="bg1"/>
                  </a:solidFill>
                  <a:cs typeface="+mn-ea"/>
                  <a:sym typeface="+mn-lt"/>
                </a:rPr>
                <a:t>WebGIS</a:t>
              </a:r>
              <a:r>
                <a:rPr lang="zh-CN" altLang="en-US" sz="2400" b="1" dirty="0">
                  <a:solidFill>
                    <a:schemeClr val="bg1"/>
                  </a:solidFill>
                  <a:cs typeface="+mn-ea"/>
                  <a:sym typeface="+mn-lt"/>
                </a:rPr>
                <a:t>开发与结果表达</a:t>
              </a:r>
              <a:endParaRPr lang="en-US" altLang="zh-CN" sz="2400" b="1" dirty="0">
                <a:solidFill>
                  <a:schemeClr val="bg1"/>
                </a:solidFill>
                <a:cs typeface="+mn-ea"/>
                <a:sym typeface="+mn-lt"/>
              </a:endParaRPr>
            </a:p>
          </p:txBody>
        </p:sp>
      </p:grpSp>
      <p:grpSp>
        <p:nvGrpSpPr>
          <p:cNvPr id="18" name="组合 17"/>
          <p:cNvGrpSpPr/>
          <p:nvPr>
            <p:custDataLst>
              <p:tags r:id="rId16"/>
            </p:custDataLst>
          </p:nvPr>
        </p:nvGrpSpPr>
        <p:grpSpPr>
          <a:xfrm>
            <a:off x="997585" y="2897505"/>
            <a:ext cx="3055850" cy="480584"/>
            <a:chOff x="1443610" y="1552373"/>
            <a:chExt cx="2027775" cy="480641"/>
          </a:xfrm>
        </p:grpSpPr>
        <p:sp>
          <p:nvSpPr>
            <p:cNvPr id="19" name="矩形: 圆角 5"/>
            <p:cNvSpPr/>
            <p:nvPr>
              <p:custDataLst>
                <p:tags r:id="rId17"/>
              </p:custDataLst>
            </p:nvPr>
          </p:nvSpPr>
          <p:spPr>
            <a:xfrm>
              <a:off x="1443610" y="1552373"/>
              <a:ext cx="2027775" cy="480641"/>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cs typeface="+mn-ea"/>
                <a:sym typeface="+mn-lt"/>
              </a:endParaRPr>
            </a:p>
          </p:txBody>
        </p:sp>
        <p:sp>
          <p:nvSpPr>
            <p:cNvPr id="21" name="文本框 20"/>
            <p:cNvSpPr txBox="1"/>
            <p:nvPr>
              <p:custDataLst>
                <p:tags r:id="rId18"/>
              </p:custDataLst>
            </p:nvPr>
          </p:nvSpPr>
          <p:spPr>
            <a:xfrm>
              <a:off x="1451682" y="1561947"/>
              <a:ext cx="2018287" cy="460429"/>
            </a:xfrm>
            <a:prstGeom prst="rect">
              <a:avLst/>
            </a:prstGeom>
            <a:noFill/>
          </p:spPr>
          <p:txBody>
            <a:bodyPr wrap="square" rtlCol="0">
              <a:spAutoFit/>
              <a:scene3d>
                <a:camera prst="orthographicFront"/>
                <a:lightRig rig="threePt" dir="t"/>
              </a:scene3d>
              <a:sp3d contourW="12700"/>
            </a:bodyPr>
            <a:lstStyle/>
            <a:p>
              <a:pPr algn="ctr"/>
              <a:r>
                <a:rPr lang="zh-CN" altLang="en-US" sz="2400" b="1" dirty="0">
                  <a:solidFill>
                    <a:schemeClr val="bg1"/>
                  </a:solidFill>
                  <a:cs typeface="+mn-ea"/>
                  <a:sym typeface="+mn-lt"/>
                </a:rPr>
                <a:t>地质灾害易发性评价</a:t>
              </a:r>
              <a:endParaRPr lang="zh-CN" altLang="en-US" sz="2400" b="1" dirty="0">
                <a:solidFill>
                  <a:schemeClr val="bg1"/>
                </a:solidFill>
                <a:cs typeface="+mn-ea"/>
                <a:sym typeface="+mn-lt"/>
              </a:endParaRPr>
            </a:p>
          </p:txBody>
        </p:sp>
      </p:grpSp>
      <p:grpSp>
        <p:nvGrpSpPr>
          <p:cNvPr id="74" name="组合 73"/>
          <p:cNvGrpSpPr/>
          <p:nvPr>
            <p:custDataLst>
              <p:tags r:id="rId19"/>
            </p:custDataLst>
          </p:nvPr>
        </p:nvGrpSpPr>
        <p:grpSpPr>
          <a:xfrm>
            <a:off x="612775" y="1847850"/>
            <a:ext cx="4161319" cy="1324610"/>
            <a:chOff x="599874" y="2057802"/>
            <a:chExt cx="6240147" cy="1324540"/>
          </a:xfrm>
        </p:grpSpPr>
        <p:sp>
          <p:nvSpPr>
            <p:cNvPr id="23" name="矩形 22"/>
            <p:cNvSpPr/>
            <p:nvPr>
              <p:custDataLst>
                <p:tags r:id="rId20"/>
              </p:custDataLst>
            </p:nvPr>
          </p:nvSpPr>
          <p:spPr>
            <a:xfrm>
              <a:off x="599874" y="2057802"/>
              <a:ext cx="6215144" cy="941046"/>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7" name="组合 76"/>
            <p:cNvGrpSpPr/>
            <p:nvPr/>
          </p:nvGrpSpPr>
          <p:grpSpPr>
            <a:xfrm>
              <a:off x="888702" y="2150463"/>
              <a:ext cx="5951319" cy="1231879"/>
              <a:chOff x="888702" y="2150463"/>
              <a:chExt cx="5951319" cy="1231879"/>
            </a:xfrm>
          </p:grpSpPr>
          <p:sp>
            <p:nvSpPr>
              <p:cNvPr id="78" name="文本框 77"/>
              <p:cNvSpPr txBox="1"/>
              <p:nvPr>
                <p:custDataLst>
                  <p:tags r:id="rId21"/>
                </p:custDataLst>
              </p:nvPr>
            </p:nvSpPr>
            <p:spPr>
              <a:xfrm>
                <a:off x="1225096" y="2921979"/>
                <a:ext cx="2127704" cy="460363"/>
              </a:xfrm>
              <a:prstGeom prst="rect">
                <a:avLst/>
              </a:prstGeom>
              <a:noFill/>
            </p:spPr>
            <p:txBody>
              <a:bodyPr wrap="square" rtlCol="0">
                <a:spAutoFit/>
              </a:bodyPr>
              <a:lstStyle/>
              <a:p>
                <a:endParaRPr lang="zh-CN" altLang="en-US" sz="2400" dirty="0">
                  <a:cs typeface="+mn-ea"/>
                  <a:sym typeface="+mn-lt"/>
                </a:endParaRPr>
              </a:p>
            </p:txBody>
          </p:sp>
          <p:sp>
            <p:nvSpPr>
              <p:cNvPr id="79" name="文本框 78"/>
              <p:cNvSpPr txBox="1"/>
              <p:nvPr>
                <p:custDataLst>
                  <p:tags r:id="rId22"/>
                </p:custDataLst>
              </p:nvPr>
            </p:nvSpPr>
            <p:spPr>
              <a:xfrm>
                <a:off x="888702" y="2150463"/>
                <a:ext cx="5951319" cy="739121"/>
              </a:xfrm>
              <a:prstGeom prst="rect">
                <a:avLst/>
              </a:prstGeom>
              <a:noFill/>
            </p:spPr>
            <p:txBody>
              <a:bodyPr wrap="square" rtlCol="0">
                <a:noAutofit/>
              </a:bodyPr>
              <a:lstStyle/>
              <a:p>
                <a:r>
                  <a:rPr lang="zh-CN" altLang="en-US" sz="1200" spc="300" dirty="0">
                    <a:cs typeface="+mn-ea"/>
                    <a:sym typeface="+mn-lt"/>
                  </a:rPr>
                  <a:t>整理研究区边界、</a:t>
                </a:r>
                <a:r>
                  <a:rPr lang="en-US" altLang="zh-CN" sz="1200" spc="300" dirty="0">
                    <a:latin typeface="Arial" panose="020B0604020202020204" pitchFamily="34" charset="0"/>
                    <a:cs typeface="Arial" panose="020B0604020202020204" pitchFamily="34" charset="0"/>
                    <a:sym typeface="+mn-lt"/>
                  </a:rPr>
                  <a:t>DEM</a:t>
                </a:r>
                <a:r>
                  <a:rPr lang="en-US" altLang="zh-CN" sz="1200" spc="300" dirty="0">
                    <a:cs typeface="+mn-ea"/>
                    <a:sym typeface="+mn-lt"/>
                  </a:rPr>
                  <a:t>、</a:t>
                </a:r>
                <a:r>
                  <a:rPr lang="zh-CN" altLang="en-US" sz="1200" spc="300" dirty="0">
                    <a:cs typeface="+mn-ea"/>
                    <a:sym typeface="+mn-lt"/>
                  </a:rPr>
                  <a:t>道路、水系、居民点、建筑斑块、隐患点、土地覆盖、</a:t>
                </a:r>
                <a:r>
                  <a:rPr lang="en-US" altLang="zh-CN" sz="1200" spc="300" dirty="0">
                    <a:latin typeface="Arial" panose="020B0604020202020204" pitchFamily="34" charset="0"/>
                    <a:cs typeface="Arial" panose="020B0604020202020204" pitchFamily="34" charset="0"/>
                    <a:sym typeface="+mn-lt"/>
                  </a:rPr>
                  <a:t>NDVI</a:t>
                </a:r>
                <a:r>
                  <a:rPr lang="zh-CN" altLang="en-US" sz="1200" spc="300" dirty="0">
                    <a:cs typeface="+mn-ea"/>
                    <a:sym typeface="+mn-lt"/>
                  </a:rPr>
                  <a:t>等数据（从天地图、</a:t>
                </a:r>
                <a:r>
                  <a:rPr lang="en-US" altLang="zh-CN" sz="1200" spc="300" dirty="0">
                    <a:latin typeface="Arial" panose="020B0604020202020204" pitchFamily="34" charset="0"/>
                    <a:cs typeface="Arial" panose="020B0604020202020204" pitchFamily="34" charset="0"/>
                    <a:sym typeface="+mn-lt"/>
                  </a:rPr>
                  <a:t>OSM</a:t>
                </a:r>
                <a:r>
                  <a:rPr lang="zh-CN" altLang="en-US" sz="1200" spc="300" dirty="0">
                    <a:cs typeface="+mn-ea"/>
                    <a:sym typeface="+mn-lt"/>
                  </a:rPr>
                  <a:t>、</a:t>
                </a:r>
                <a:r>
                  <a:rPr lang="en-US" altLang="zh-CN" sz="1200" spc="300" dirty="0">
                    <a:latin typeface="Arial" panose="020B0604020202020204" pitchFamily="34" charset="0"/>
                    <a:cs typeface="Arial" panose="020B0604020202020204" pitchFamily="34" charset="0"/>
                    <a:sym typeface="+mn-lt"/>
                  </a:rPr>
                  <a:t>POI</a:t>
                </a:r>
                <a:r>
                  <a:rPr lang="zh-CN" altLang="en-US" sz="1200" spc="300" dirty="0">
                    <a:cs typeface="+mn-ea"/>
                    <a:sym typeface="+mn-lt"/>
                  </a:rPr>
                  <a:t>等网站获取）</a:t>
                </a:r>
                <a:endParaRPr lang="zh-CN" altLang="en-US" sz="1200" spc="300" dirty="0">
                  <a:cs typeface="+mn-ea"/>
                  <a:sym typeface="+mn-lt"/>
                </a:endParaRPr>
              </a:p>
            </p:txBody>
          </p:sp>
        </p:grpSp>
      </p:grpSp>
      <p:grpSp>
        <p:nvGrpSpPr>
          <p:cNvPr id="24" name="组合 23"/>
          <p:cNvGrpSpPr/>
          <p:nvPr>
            <p:custDataLst>
              <p:tags r:id="rId23"/>
            </p:custDataLst>
          </p:nvPr>
        </p:nvGrpSpPr>
        <p:grpSpPr>
          <a:xfrm>
            <a:off x="612775" y="3486785"/>
            <a:ext cx="4144645" cy="1260475"/>
            <a:chOff x="781748" y="2121933"/>
            <a:chExt cx="6215144" cy="1260409"/>
          </a:xfrm>
        </p:grpSpPr>
        <p:sp>
          <p:nvSpPr>
            <p:cNvPr id="25" name="矩形 24"/>
            <p:cNvSpPr/>
            <p:nvPr>
              <p:custDataLst>
                <p:tags r:id="rId24"/>
              </p:custDataLst>
            </p:nvPr>
          </p:nvSpPr>
          <p:spPr>
            <a:xfrm>
              <a:off x="781748" y="2121933"/>
              <a:ext cx="6215144" cy="941046"/>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888702" y="2150463"/>
              <a:ext cx="5951319" cy="1231879"/>
              <a:chOff x="888702" y="2150463"/>
              <a:chExt cx="5951319" cy="1231879"/>
            </a:xfrm>
          </p:grpSpPr>
          <p:sp>
            <p:nvSpPr>
              <p:cNvPr id="27" name="文本框 26"/>
              <p:cNvSpPr txBox="1"/>
              <p:nvPr>
                <p:custDataLst>
                  <p:tags r:id="rId25"/>
                </p:custDataLst>
              </p:nvPr>
            </p:nvSpPr>
            <p:spPr>
              <a:xfrm>
                <a:off x="1225096" y="2921979"/>
                <a:ext cx="2127704" cy="460363"/>
              </a:xfrm>
              <a:prstGeom prst="rect">
                <a:avLst/>
              </a:prstGeom>
              <a:noFill/>
            </p:spPr>
            <p:txBody>
              <a:bodyPr wrap="square" rtlCol="0">
                <a:spAutoFit/>
              </a:bodyPr>
              <a:lstStyle/>
              <a:p>
                <a:endParaRPr lang="zh-CN" altLang="en-US" sz="2400" dirty="0">
                  <a:cs typeface="+mn-ea"/>
                  <a:sym typeface="+mn-lt"/>
                </a:endParaRPr>
              </a:p>
            </p:txBody>
          </p:sp>
          <p:sp>
            <p:nvSpPr>
              <p:cNvPr id="28" name="文本框 27"/>
              <p:cNvSpPr txBox="1"/>
              <p:nvPr>
                <p:custDataLst>
                  <p:tags r:id="rId26"/>
                </p:custDataLst>
              </p:nvPr>
            </p:nvSpPr>
            <p:spPr>
              <a:xfrm>
                <a:off x="888702" y="2150463"/>
                <a:ext cx="5951319" cy="739121"/>
              </a:xfrm>
              <a:prstGeom prst="rect">
                <a:avLst/>
              </a:prstGeom>
              <a:noFill/>
            </p:spPr>
            <p:txBody>
              <a:bodyPr wrap="square" rtlCol="0">
                <a:noAutofit/>
              </a:bodyPr>
              <a:lstStyle/>
              <a:p>
                <a:r>
                  <a:rPr lang="zh-CN" altLang="en-US" sz="1200" spc="300" dirty="0">
                    <a:cs typeface="+mn-ea"/>
                    <a:sym typeface="+mn-lt"/>
                  </a:rPr>
                  <a:t>基于</a:t>
                </a:r>
                <a:r>
                  <a:rPr lang="en-US" altLang="zh-CN" sz="1200" spc="300" dirty="0">
                    <a:latin typeface="Arial" panose="020B0604020202020204" pitchFamily="34" charset="0"/>
                    <a:cs typeface="Arial" panose="020B0604020202020204" pitchFamily="34" charset="0"/>
                    <a:sym typeface="+mn-lt"/>
                  </a:rPr>
                  <a:t>DEM</a:t>
                </a:r>
                <a:r>
                  <a:rPr lang="zh-CN" altLang="en-US" sz="1200" spc="300" dirty="0">
                    <a:cs typeface="+mn-ea"/>
                    <a:sym typeface="+mn-lt"/>
                  </a:rPr>
                  <a:t>数据提取派生因子，</a:t>
                </a:r>
                <a:endParaRPr lang="zh-CN" altLang="en-US" sz="1200" spc="300" dirty="0">
                  <a:cs typeface="+mn-ea"/>
                  <a:sym typeface="+mn-lt"/>
                </a:endParaRPr>
              </a:p>
              <a:p>
                <a:r>
                  <a:rPr lang="zh-CN" altLang="en-US" sz="1200" spc="300" dirty="0">
                    <a:cs typeface="+mn-ea"/>
                    <a:sym typeface="+mn-lt"/>
                  </a:rPr>
                  <a:t>用</a:t>
                </a:r>
                <a:r>
                  <a:rPr lang="en-US" altLang="zh-CN" sz="1200" spc="300" dirty="0">
                    <a:latin typeface="Arial" panose="020B0604020202020204" pitchFamily="34" charset="0"/>
                    <a:cs typeface="Arial" panose="020B0604020202020204" pitchFamily="34" charset="0"/>
                    <a:sym typeface="+mn-lt"/>
                  </a:rPr>
                  <a:t>FR</a:t>
                </a:r>
                <a:r>
                  <a:rPr lang="zh-CN" altLang="en-US" sz="1200" spc="300" dirty="0">
                    <a:cs typeface="+mn-ea"/>
                    <a:sym typeface="+mn-lt"/>
                  </a:rPr>
                  <a:t>频率比法构建易发性指数：</a:t>
                </a:r>
                <a:endParaRPr lang="zh-CN" altLang="en-US" sz="1200" spc="300" dirty="0">
                  <a:cs typeface="+mn-ea"/>
                  <a:sym typeface="+mn-lt"/>
                </a:endParaRPr>
              </a:p>
              <a:p>
                <a:r>
                  <a:rPr lang="zh-CN" altLang="en-US" sz="1200" spc="300" dirty="0">
                    <a:cs typeface="+mn-ea"/>
                    <a:sym typeface="+mn-lt"/>
                  </a:rPr>
                  <a:t>主因子叠加+辅助因子弱修正</a:t>
                </a:r>
                <a:endParaRPr lang="zh-CN" altLang="en-US" sz="1200" spc="300" dirty="0">
                  <a:cs typeface="+mn-ea"/>
                  <a:sym typeface="+mn-lt"/>
                </a:endParaRPr>
              </a:p>
            </p:txBody>
          </p:sp>
        </p:grpSp>
      </p:grpSp>
      <p:grpSp>
        <p:nvGrpSpPr>
          <p:cNvPr id="30" name="组合 29"/>
          <p:cNvGrpSpPr/>
          <p:nvPr>
            <p:custDataLst>
              <p:tags r:id="rId27"/>
            </p:custDataLst>
          </p:nvPr>
        </p:nvGrpSpPr>
        <p:grpSpPr>
          <a:xfrm>
            <a:off x="612775" y="5166995"/>
            <a:ext cx="4144645" cy="1260475"/>
            <a:chOff x="781748" y="2121933"/>
            <a:chExt cx="6215144" cy="1260409"/>
          </a:xfrm>
        </p:grpSpPr>
        <p:sp>
          <p:nvSpPr>
            <p:cNvPr id="31" name="矩形 30"/>
            <p:cNvSpPr/>
            <p:nvPr>
              <p:custDataLst>
                <p:tags r:id="rId28"/>
              </p:custDataLst>
            </p:nvPr>
          </p:nvSpPr>
          <p:spPr>
            <a:xfrm>
              <a:off x="781748" y="2121933"/>
              <a:ext cx="6215144" cy="941046"/>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2" name="组合 31"/>
            <p:cNvGrpSpPr/>
            <p:nvPr/>
          </p:nvGrpSpPr>
          <p:grpSpPr>
            <a:xfrm>
              <a:off x="888702" y="2150463"/>
              <a:ext cx="5951319" cy="1231879"/>
              <a:chOff x="888702" y="2150463"/>
              <a:chExt cx="5951319" cy="1231879"/>
            </a:xfrm>
          </p:grpSpPr>
          <p:sp>
            <p:nvSpPr>
              <p:cNvPr id="33" name="文本框 32"/>
              <p:cNvSpPr txBox="1"/>
              <p:nvPr>
                <p:custDataLst>
                  <p:tags r:id="rId29"/>
                </p:custDataLst>
              </p:nvPr>
            </p:nvSpPr>
            <p:spPr>
              <a:xfrm>
                <a:off x="1225096" y="2921979"/>
                <a:ext cx="2127704" cy="460363"/>
              </a:xfrm>
              <a:prstGeom prst="rect">
                <a:avLst/>
              </a:prstGeom>
              <a:noFill/>
            </p:spPr>
            <p:txBody>
              <a:bodyPr wrap="square" rtlCol="0">
                <a:spAutoFit/>
              </a:bodyPr>
              <a:lstStyle/>
              <a:p>
                <a:endParaRPr lang="zh-CN" altLang="en-US" sz="2400" dirty="0">
                  <a:cs typeface="+mn-ea"/>
                  <a:sym typeface="+mn-lt"/>
                </a:endParaRPr>
              </a:p>
            </p:txBody>
          </p:sp>
          <p:sp>
            <p:nvSpPr>
              <p:cNvPr id="34" name="文本框 33"/>
              <p:cNvSpPr txBox="1"/>
              <p:nvPr>
                <p:custDataLst>
                  <p:tags r:id="rId30"/>
                </p:custDataLst>
              </p:nvPr>
            </p:nvSpPr>
            <p:spPr>
              <a:xfrm>
                <a:off x="888702" y="2150463"/>
                <a:ext cx="5951319" cy="739121"/>
              </a:xfrm>
              <a:prstGeom prst="rect">
                <a:avLst/>
              </a:prstGeom>
              <a:noFill/>
            </p:spPr>
            <p:txBody>
              <a:bodyPr wrap="square" rtlCol="0">
                <a:noAutofit/>
              </a:bodyPr>
              <a:lstStyle/>
              <a:p>
                <a:r>
                  <a:rPr lang="zh-CN" altLang="en-US" sz="1200" spc="300" dirty="0">
                    <a:cs typeface="+mn-ea"/>
                    <a:sym typeface="+mn-lt"/>
                  </a:rPr>
                  <a:t>基于易发性评估结果计算：</a:t>
                </a:r>
                <a:endParaRPr lang="zh-CN" altLang="en-US" sz="1200" spc="300" dirty="0">
                  <a:cs typeface="+mn-ea"/>
                  <a:sym typeface="+mn-lt"/>
                </a:endParaRPr>
              </a:p>
              <a:p>
                <a:r>
                  <a:rPr lang="zh-CN" altLang="en-US" sz="1200" spc="300" dirty="0">
                    <a:cs typeface="+mn-ea"/>
                    <a:sym typeface="+mn-lt"/>
                  </a:rPr>
                  <a:t>村级基础暴露度、居民点密度、居民点占比，</a:t>
                </a:r>
                <a:endParaRPr lang="zh-CN" altLang="en-US" sz="1200" spc="300" dirty="0">
                  <a:cs typeface="+mn-ea"/>
                  <a:sym typeface="+mn-lt"/>
                </a:endParaRPr>
              </a:p>
              <a:p>
                <a:r>
                  <a:rPr lang="zh-CN" altLang="en-US" sz="1200" spc="300" dirty="0">
                    <a:cs typeface="+mn-ea"/>
                    <a:sym typeface="+mn-lt"/>
                  </a:rPr>
                  <a:t>最后加权得到结果</a:t>
                </a:r>
                <a:endParaRPr lang="zh-CN" altLang="en-US" sz="1200" spc="300" dirty="0">
                  <a:cs typeface="+mn-ea"/>
                  <a:sym typeface="+mn-lt"/>
                </a:endParaRPr>
              </a:p>
            </p:txBody>
          </p:sp>
        </p:grpSp>
      </p:grpSp>
      <p:grpSp>
        <p:nvGrpSpPr>
          <p:cNvPr id="40" name="组合 39"/>
          <p:cNvGrpSpPr/>
          <p:nvPr>
            <p:custDataLst>
              <p:tags r:id="rId31"/>
            </p:custDataLst>
          </p:nvPr>
        </p:nvGrpSpPr>
        <p:grpSpPr>
          <a:xfrm>
            <a:off x="6931660" y="1689100"/>
            <a:ext cx="4144645" cy="1324610"/>
            <a:chOff x="599874" y="2057802"/>
            <a:chExt cx="6215144" cy="1324540"/>
          </a:xfrm>
        </p:grpSpPr>
        <p:sp>
          <p:nvSpPr>
            <p:cNvPr id="41" name="矩形 40"/>
            <p:cNvSpPr/>
            <p:nvPr>
              <p:custDataLst>
                <p:tags r:id="rId32"/>
              </p:custDataLst>
            </p:nvPr>
          </p:nvSpPr>
          <p:spPr>
            <a:xfrm>
              <a:off x="599874" y="2057802"/>
              <a:ext cx="6215144" cy="941046"/>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2" name="组合 41"/>
            <p:cNvGrpSpPr/>
            <p:nvPr/>
          </p:nvGrpSpPr>
          <p:grpSpPr>
            <a:xfrm>
              <a:off x="731586" y="2150463"/>
              <a:ext cx="5951319" cy="1231879"/>
              <a:chOff x="731586" y="2150463"/>
              <a:chExt cx="5951319" cy="1231879"/>
            </a:xfrm>
          </p:grpSpPr>
          <p:sp>
            <p:nvSpPr>
              <p:cNvPr id="43" name="文本框 42"/>
              <p:cNvSpPr txBox="1"/>
              <p:nvPr>
                <p:custDataLst>
                  <p:tags r:id="rId33"/>
                </p:custDataLst>
              </p:nvPr>
            </p:nvSpPr>
            <p:spPr>
              <a:xfrm>
                <a:off x="1225096" y="2921979"/>
                <a:ext cx="2127704" cy="460363"/>
              </a:xfrm>
              <a:prstGeom prst="rect">
                <a:avLst/>
              </a:prstGeom>
              <a:noFill/>
            </p:spPr>
            <p:txBody>
              <a:bodyPr wrap="square" rtlCol="0">
                <a:spAutoFit/>
              </a:bodyPr>
              <a:lstStyle/>
              <a:p>
                <a:endParaRPr lang="zh-CN" altLang="en-US" sz="2400" dirty="0">
                  <a:cs typeface="+mn-ea"/>
                  <a:sym typeface="+mn-lt"/>
                </a:endParaRPr>
              </a:p>
            </p:txBody>
          </p:sp>
          <p:sp>
            <p:nvSpPr>
              <p:cNvPr id="44" name="文本框 43"/>
              <p:cNvSpPr txBox="1"/>
              <p:nvPr>
                <p:custDataLst>
                  <p:tags r:id="rId34"/>
                </p:custDataLst>
              </p:nvPr>
            </p:nvSpPr>
            <p:spPr>
              <a:xfrm>
                <a:off x="731586" y="2150463"/>
                <a:ext cx="5951319" cy="739121"/>
              </a:xfrm>
              <a:prstGeom prst="rect">
                <a:avLst/>
              </a:prstGeom>
              <a:noFill/>
            </p:spPr>
            <p:txBody>
              <a:bodyPr wrap="square" rtlCol="0">
                <a:noAutofit/>
              </a:bodyPr>
              <a:lstStyle/>
              <a:p>
                <a:r>
                  <a:rPr lang="zh-CN" altLang="en-US" sz="1200" spc="300" dirty="0">
                    <a:cs typeface="+mn-ea"/>
                    <a:sym typeface="+mn-lt"/>
                  </a:rPr>
                  <a:t>通过欧氏距离计算得到数据，</a:t>
                </a:r>
                <a:endParaRPr lang="zh-CN" altLang="en-US" sz="1200" spc="300" dirty="0">
                  <a:cs typeface="+mn-ea"/>
                  <a:sym typeface="+mn-lt"/>
                </a:endParaRPr>
              </a:p>
              <a:p>
                <a:r>
                  <a:rPr lang="zh-CN" altLang="en-US" sz="1200" spc="300" dirty="0">
                    <a:cs typeface="+mn-ea"/>
                    <a:sym typeface="+mn-lt"/>
                  </a:rPr>
                  <a:t>利用</a:t>
                </a:r>
                <a:r>
                  <a:rPr lang="en-US" altLang="zh-CN" sz="1200" spc="300" dirty="0">
                    <a:latin typeface="Arial" panose="020B0604020202020204" pitchFamily="34" charset="0"/>
                    <a:cs typeface="Arial" panose="020B0604020202020204" pitchFamily="34" charset="0"/>
                    <a:sym typeface="+mn-lt"/>
                  </a:rPr>
                  <a:t>AHP</a:t>
                </a:r>
                <a:r>
                  <a:rPr lang="zh-CN" altLang="en-US" sz="1200" spc="300" dirty="0">
                    <a:cs typeface="+mn-ea"/>
                    <a:sym typeface="+mn-lt"/>
                  </a:rPr>
                  <a:t>主观赋权和熵权法客观赋权，</a:t>
                </a:r>
                <a:endParaRPr lang="zh-CN" altLang="en-US" sz="1200" spc="300" dirty="0">
                  <a:cs typeface="+mn-ea"/>
                  <a:sym typeface="+mn-lt"/>
                </a:endParaRPr>
              </a:p>
              <a:p>
                <a:r>
                  <a:rPr lang="zh-CN" altLang="en-US" sz="1200" spc="300" dirty="0">
                    <a:cs typeface="+mn-ea"/>
                    <a:sym typeface="+mn-lt"/>
                  </a:rPr>
                  <a:t>得到综合的防灾减灾能力评估指。</a:t>
                </a:r>
                <a:endParaRPr lang="zh-CN" altLang="en-US" sz="1200" spc="300" dirty="0">
                  <a:cs typeface="+mn-ea"/>
                  <a:sym typeface="+mn-lt"/>
                </a:endParaRPr>
              </a:p>
            </p:txBody>
          </p:sp>
        </p:grpSp>
      </p:grpSp>
      <p:grpSp>
        <p:nvGrpSpPr>
          <p:cNvPr id="45" name="组合 44"/>
          <p:cNvGrpSpPr/>
          <p:nvPr>
            <p:custDataLst>
              <p:tags r:id="rId35"/>
            </p:custDataLst>
          </p:nvPr>
        </p:nvGrpSpPr>
        <p:grpSpPr>
          <a:xfrm>
            <a:off x="6931660" y="3292475"/>
            <a:ext cx="4144645" cy="1324610"/>
            <a:chOff x="599874" y="2057802"/>
            <a:chExt cx="6215144" cy="1324540"/>
          </a:xfrm>
        </p:grpSpPr>
        <p:sp>
          <p:nvSpPr>
            <p:cNvPr id="46" name="矩形 45"/>
            <p:cNvSpPr/>
            <p:nvPr>
              <p:custDataLst>
                <p:tags r:id="rId36"/>
              </p:custDataLst>
            </p:nvPr>
          </p:nvSpPr>
          <p:spPr>
            <a:xfrm>
              <a:off x="599874" y="2057802"/>
              <a:ext cx="6215144" cy="941046"/>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7" name="组合 46"/>
            <p:cNvGrpSpPr/>
            <p:nvPr/>
          </p:nvGrpSpPr>
          <p:grpSpPr>
            <a:xfrm>
              <a:off x="731586" y="2150463"/>
              <a:ext cx="5951319" cy="1231879"/>
              <a:chOff x="731586" y="2150463"/>
              <a:chExt cx="5951319" cy="1231879"/>
            </a:xfrm>
          </p:grpSpPr>
          <p:sp>
            <p:nvSpPr>
              <p:cNvPr id="48" name="文本框 47"/>
              <p:cNvSpPr txBox="1"/>
              <p:nvPr>
                <p:custDataLst>
                  <p:tags r:id="rId37"/>
                </p:custDataLst>
              </p:nvPr>
            </p:nvSpPr>
            <p:spPr>
              <a:xfrm>
                <a:off x="1225096" y="2921979"/>
                <a:ext cx="2127704" cy="460363"/>
              </a:xfrm>
              <a:prstGeom prst="rect">
                <a:avLst/>
              </a:prstGeom>
              <a:noFill/>
            </p:spPr>
            <p:txBody>
              <a:bodyPr wrap="square" rtlCol="0">
                <a:spAutoFit/>
              </a:bodyPr>
              <a:lstStyle/>
              <a:p>
                <a:endParaRPr lang="zh-CN" altLang="en-US" sz="2400" dirty="0">
                  <a:cs typeface="+mn-ea"/>
                  <a:sym typeface="+mn-lt"/>
                </a:endParaRPr>
              </a:p>
            </p:txBody>
          </p:sp>
          <p:sp>
            <p:nvSpPr>
              <p:cNvPr id="49" name="文本框 48"/>
              <p:cNvSpPr txBox="1"/>
              <p:nvPr>
                <p:custDataLst>
                  <p:tags r:id="rId38"/>
                </p:custDataLst>
              </p:nvPr>
            </p:nvSpPr>
            <p:spPr>
              <a:xfrm>
                <a:off x="731586" y="2150463"/>
                <a:ext cx="5951319" cy="739121"/>
              </a:xfrm>
              <a:prstGeom prst="rect">
                <a:avLst/>
              </a:prstGeom>
              <a:noFill/>
            </p:spPr>
            <p:txBody>
              <a:bodyPr wrap="square" rtlCol="0">
                <a:noAutofit/>
              </a:bodyPr>
              <a:lstStyle/>
              <a:p>
                <a:r>
                  <a:rPr lang="zh-CN" altLang="en-US" sz="1200" spc="300" dirty="0">
                    <a:cs typeface="+mn-ea"/>
                    <a:sym typeface="+mn-lt"/>
                  </a:rPr>
                  <a:t>通过欧氏距离计算得到数据，</a:t>
                </a:r>
                <a:endParaRPr lang="zh-CN" altLang="en-US" sz="1200" spc="300" dirty="0">
                  <a:cs typeface="+mn-ea"/>
                  <a:sym typeface="+mn-lt"/>
                </a:endParaRPr>
              </a:p>
              <a:p>
                <a:r>
                  <a:rPr lang="zh-CN" altLang="en-US" sz="1200" spc="300" dirty="0">
                    <a:cs typeface="+mn-ea"/>
                    <a:sym typeface="+mn-lt"/>
                  </a:rPr>
                  <a:t>利用</a:t>
                </a:r>
                <a:r>
                  <a:rPr lang="en-US" altLang="zh-CN" sz="1200" spc="300" dirty="0">
                    <a:latin typeface="Arial" panose="020B0604020202020204" pitchFamily="34" charset="0"/>
                    <a:cs typeface="Arial" panose="020B0604020202020204" pitchFamily="34" charset="0"/>
                    <a:sym typeface="+mn-lt"/>
                  </a:rPr>
                  <a:t>AHP</a:t>
                </a:r>
                <a:r>
                  <a:rPr lang="zh-CN" altLang="en-US" sz="1200" spc="300" dirty="0">
                    <a:cs typeface="+mn-ea"/>
                    <a:sym typeface="+mn-lt"/>
                  </a:rPr>
                  <a:t>主观赋权和熵权法客观赋权，</a:t>
                </a:r>
                <a:endParaRPr lang="zh-CN" altLang="en-US" sz="1200" spc="300" dirty="0">
                  <a:cs typeface="+mn-ea"/>
                  <a:sym typeface="+mn-lt"/>
                </a:endParaRPr>
              </a:p>
              <a:p>
                <a:r>
                  <a:rPr lang="zh-CN" altLang="en-US" sz="1200" spc="300" dirty="0">
                    <a:cs typeface="+mn-ea"/>
                    <a:sym typeface="+mn-lt"/>
                  </a:rPr>
                  <a:t>得到综合的防灾减灾能力评估指数。</a:t>
                </a:r>
                <a:endParaRPr lang="zh-CN" altLang="en-US" sz="1200" spc="300" dirty="0">
                  <a:cs typeface="+mn-ea"/>
                  <a:sym typeface="+mn-lt"/>
                </a:endParaRPr>
              </a:p>
            </p:txBody>
          </p:sp>
        </p:grpSp>
      </p:grpSp>
      <p:grpSp>
        <p:nvGrpSpPr>
          <p:cNvPr id="50" name="组合 49"/>
          <p:cNvGrpSpPr/>
          <p:nvPr>
            <p:custDataLst>
              <p:tags r:id="rId39"/>
            </p:custDataLst>
          </p:nvPr>
        </p:nvGrpSpPr>
        <p:grpSpPr>
          <a:xfrm>
            <a:off x="6931660" y="5074920"/>
            <a:ext cx="4417899" cy="1260475"/>
            <a:chOff x="781748" y="2121933"/>
            <a:chExt cx="6624904" cy="1260409"/>
          </a:xfrm>
        </p:grpSpPr>
        <p:sp>
          <p:nvSpPr>
            <p:cNvPr id="51" name="矩形 50"/>
            <p:cNvSpPr/>
            <p:nvPr>
              <p:custDataLst>
                <p:tags r:id="rId40"/>
              </p:custDataLst>
            </p:nvPr>
          </p:nvSpPr>
          <p:spPr>
            <a:xfrm>
              <a:off x="781748" y="2121933"/>
              <a:ext cx="6371308" cy="1054680"/>
            </a:xfrm>
            <a:prstGeom prst="rect">
              <a:avLst/>
            </a:prstGeom>
            <a:solidFill>
              <a:schemeClr val="bg1"/>
            </a:solidFill>
            <a:ln>
              <a:noFill/>
            </a:ln>
            <a:effectLst>
              <a:outerShdw blurRad="266700" sx="101000" sy="101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2" name="组合 51"/>
            <p:cNvGrpSpPr/>
            <p:nvPr/>
          </p:nvGrpSpPr>
          <p:grpSpPr>
            <a:xfrm>
              <a:off x="888702" y="2150463"/>
              <a:ext cx="6517950" cy="1231879"/>
              <a:chOff x="888702" y="2150463"/>
              <a:chExt cx="6517950" cy="1231879"/>
            </a:xfrm>
          </p:grpSpPr>
          <p:sp>
            <p:nvSpPr>
              <p:cNvPr id="53" name="文本框 52"/>
              <p:cNvSpPr txBox="1"/>
              <p:nvPr>
                <p:custDataLst>
                  <p:tags r:id="rId41"/>
                </p:custDataLst>
              </p:nvPr>
            </p:nvSpPr>
            <p:spPr>
              <a:xfrm>
                <a:off x="1225096" y="2921979"/>
                <a:ext cx="2127704" cy="460363"/>
              </a:xfrm>
              <a:prstGeom prst="rect">
                <a:avLst/>
              </a:prstGeom>
              <a:noFill/>
            </p:spPr>
            <p:txBody>
              <a:bodyPr wrap="square" rtlCol="0">
                <a:spAutoFit/>
              </a:bodyPr>
              <a:lstStyle/>
              <a:p>
                <a:endParaRPr lang="zh-CN" altLang="en-US" sz="2400" dirty="0">
                  <a:cs typeface="+mn-ea"/>
                  <a:sym typeface="+mn-lt"/>
                </a:endParaRPr>
              </a:p>
            </p:txBody>
          </p:sp>
          <p:sp>
            <p:nvSpPr>
              <p:cNvPr id="54" name="文本框 53"/>
              <p:cNvSpPr txBox="1"/>
              <p:nvPr>
                <p:custDataLst>
                  <p:tags r:id="rId42"/>
                </p:custDataLst>
              </p:nvPr>
            </p:nvSpPr>
            <p:spPr>
              <a:xfrm>
                <a:off x="888702" y="2150463"/>
                <a:ext cx="6517950" cy="1005152"/>
              </a:xfrm>
              <a:prstGeom prst="rect">
                <a:avLst/>
              </a:prstGeom>
              <a:noFill/>
            </p:spPr>
            <p:txBody>
              <a:bodyPr wrap="square" rtlCol="0">
                <a:noAutofit/>
              </a:bodyPr>
              <a:lstStyle/>
              <a:p>
                <a:r>
                  <a:rPr lang="zh-CN" altLang="en-US" sz="1200" spc="300" dirty="0">
                    <a:latin typeface="微软雅黑" panose="020B0503020204020204" charset="-122"/>
                    <a:ea typeface="微软雅黑" panose="020B0503020204020204" charset="-122"/>
                    <a:cs typeface="微软雅黑" panose="020B0503020204020204" charset="-122"/>
                    <a:sym typeface="+mn-lt"/>
                  </a:rPr>
                  <a:t>使用</a:t>
                </a:r>
                <a:r>
                  <a:rPr lang="en-US" altLang="zh-CN" sz="1200" spc="300" dirty="0">
                    <a:latin typeface="Arial" panose="020B0604020202020204" pitchFamily="34" charset="0"/>
                    <a:cs typeface="Arial" panose="020B0604020202020204" pitchFamily="34" charset="0"/>
                    <a:sym typeface="+mn-lt"/>
                  </a:rPr>
                  <a:t>ArcGIS Pro</a:t>
                </a:r>
                <a:r>
                  <a:rPr lang="zh-CN" altLang="en-US" sz="1200" spc="300" dirty="0">
                    <a:latin typeface="微软雅黑" panose="020B0503020204020204" charset="-122"/>
                    <a:ea typeface="微软雅黑" panose="020B0503020204020204" charset="-122"/>
                    <a:cs typeface="微软雅黑" panose="020B0503020204020204" charset="-122"/>
                    <a:sym typeface="+mn-lt"/>
                  </a:rPr>
                  <a:t>导出</a:t>
                </a:r>
                <a:r>
                  <a:rPr lang="en-US" altLang="zh-CN" sz="1200" spc="300" dirty="0">
                    <a:latin typeface="Arial" panose="020B0604020202020204" pitchFamily="34" charset="0"/>
                    <a:cs typeface="Arial" panose="020B0604020202020204" pitchFamily="34" charset="0"/>
                    <a:sym typeface="+mn-lt"/>
                  </a:rPr>
                  <a:t>GeoJSON</a:t>
                </a:r>
                <a:r>
                  <a:rPr lang="en-US" altLang="zh-CN" sz="1200" spc="300" dirty="0">
                    <a:latin typeface="微软雅黑" panose="020B0503020204020204" charset="-122"/>
                    <a:ea typeface="微软雅黑" panose="020B0503020204020204" charset="-122"/>
                    <a:cs typeface="微软雅黑" panose="020B0503020204020204" charset="-122"/>
                    <a:sym typeface="+mn-lt"/>
                  </a:rPr>
                  <a:t>，</a:t>
                </a:r>
                <a:endParaRPr lang="en-US" altLang="zh-CN" sz="1200" spc="300" dirty="0">
                  <a:latin typeface="微软雅黑" panose="020B0503020204020204" charset="-122"/>
                  <a:ea typeface="微软雅黑" panose="020B0503020204020204" charset="-122"/>
                  <a:cs typeface="微软雅黑" panose="020B0503020204020204" charset="-122"/>
                  <a:sym typeface="+mn-lt"/>
                </a:endParaRPr>
              </a:p>
              <a:p>
                <a:pPr algn="l" fontAlgn="base"/>
                <a:r>
                  <a:rPr lang="zh-CN" altLang="en-US" sz="1200" spc="300" dirty="0">
                    <a:latin typeface="微软雅黑" panose="020B0503020204020204" charset="-122"/>
                    <a:ea typeface="微软雅黑" panose="020B0503020204020204" charset="-122"/>
                    <a:cs typeface="微软雅黑" panose="020B0503020204020204" charset="-122"/>
                    <a:sym typeface="+mn-lt"/>
                  </a:rPr>
                  <a:t>基于</a:t>
                </a:r>
                <a:r>
                  <a:rPr lang="en-US" altLang="zh-CN" sz="1200" spc="300" dirty="0">
                    <a:latin typeface="Arial" panose="020B0604020202020204" pitchFamily="34" charset="0"/>
                    <a:cs typeface="Arial" panose="020B0604020202020204" pitchFamily="34" charset="0"/>
                    <a:sym typeface="+mn-lt"/>
                  </a:rPr>
                  <a:t>Vite+React+TypeScript+Leaflet</a:t>
                </a:r>
                <a:endParaRPr lang="en-US" altLang="zh-CN" sz="1200" spc="300" dirty="0">
                  <a:latin typeface="Arial" panose="020B0604020202020204" pitchFamily="34" charset="0"/>
                  <a:cs typeface="Arial" panose="020B0604020202020204" pitchFamily="34" charset="0"/>
                  <a:sym typeface="+mn-lt"/>
                </a:endParaRPr>
              </a:p>
              <a:p>
                <a:pPr fontAlgn="base"/>
                <a:r>
                  <a:rPr lang="zh-CN" altLang="en-US" sz="1200" spc="300" dirty="0">
                    <a:latin typeface="微软雅黑" panose="020B0503020204020204" charset="-122"/>
                    <a:ea typeface="微软雅黑" panose="020B0503020204020204" charset="-122"/>
                    <a:cs typeface="微软雅黑" panose="020B0503020204020204" charset="-122"/>
                    <a:sym typeface="+mn-lt"/>
                  </a:rPr>
                  <a:t>构建</a:t>
                </a:r>
                <a:r>
                  <a:rPr lang="en-US" altLang="zh-CN" sz="1200" spc="300" dirty="0">
                    <a:latin typeface="Arial" panose="020B0604020202020204" pitchFamily="34" charset="0"/>
                    <a:cs typeface="Arial" panose="020B0604020202020204" pitchFamily="34" charset="0"/>
                    <a:sym typeface="+mn-lt"/>
                  </a:rPr>
                  <a:t>WebGIS</a:t>
                </a:r>
                <a:r>
                  <a:rPr lang="zh-CN" altLang="en-US" sz="1200" spc="300" dirty="0">
                    <a:latin typeface="微软雅黑" panose="020B0503020204020204" charset="-122"/>
                    <a:ea typeface="微软雅黑" panose="020B0503020204020204" charset="-122"/>
                    <a:cs typeface="微软雅黑" panose="020B0503020204020204" charset="-122"/>
                    <a:sym typeface="+mn-lt"/>
                  </a:rPr>
                  <a:t>原型，</a:t>
                </a:r>
                <a:endParaRPr lang="zh-CN" altLang="en-US" sz="1200" spc="300" dirty="0">
                  <a:latin typeface="微软雅黑" panose="020B0503020204020204" charset="-122"/>
                  <a:ea typeface="微软雅黑" panose="020B0503020204020204" charset="-122"/>
                  <a:cs typeface="微软雅黑" panose="020B0503020204020204" charset="-122"/>
                  <a:sym typeface="+mn-lt"/>
                </a:endParaRPr>
              </a:p>
              <a:p>
                <a:r>
                  <a:rPr lang="zh-CN" altLang="en-US" sz="1200" spc="300" dirty="0">
                    <a:latin typeface="微软雅黑" panose="020B0503020204020204" charset="-122"/>
                    <a:ea typeface="微软雅黑" panose="020B0503020204020204" charset="-122"/>
                    <a:cs typeface="微软雅黑" panose="020B0503020204020204" charset="-122"/>
                    <a:sym typeface="+mn-lt"/>
                  </a:rPr>
                  <a:t>实现风险主图层、隐患点、缓冲区和建筑面</a:t>
                </a:r>
                <a:endParaRPr lang="zh-CN" altLang="en-US" sz="1200" spc="300" dirty="0">
                  <a:latin typeface="微软雅黑" panose="020B0503020204020204" charset="-122"/>
                  <a:ea typeface="微软雅黑" panose="020B0503020204020204" charset="-122"/>
                  <a:cs typeface="微软雅黑" panose="020B0503020204020204" charset="-122"/>
                  <a:sym typeface="+mn-lt"/>
                </a:endParaRPr>
              </a:p>
              <a:p>
                <a:r>
                  <a:rPr lang="zh-CN" altLang="en-US" sz="1200" spc="300" dirty="0">
                    <a:latin typeface="微软雅黑" panose="020B0503020204020204" charset="-122"/>
                    <a:ea typeface="微软雅黑" panose="020B0503020204020204" charset="-122"/>
                    <a:cs typeface="微软雅黑" panose="020B0503020204020204" charset="-122"/>
                    <a:sym typeface="+mn-lt"/>
                  </a:rPr>
                  <a:t>四者</a:t>
                </a:r>
                <a:r>
                  <a:rPr lang="zh-CN" altLang="en-US" sz="1200" spc="300" dirty="0">
                    <a:latin typeface="微软雅黑" panose="020B0503020204020204" charset="-122"/>
                    <a:ea typeface="微软雅黑" panose="020B0503020204020204" charset="-122"/>
                    <a:cs typeface="微软雅黑" panose="020B0503020204020204" charset="-122"/>
                    <a:sym typeface="+mn-lt"/>
                  </a:rPr>
                  <a:t>的联动展示。</a:t>
                </a:r>
                <a:endParaRPr lang="zh-CN" altLang="en-US" sz="1200" spc="300" dirty="0">
                  <a:latin typeface="微软雅黑" panose="020B0503020204020204" charset="-122"/>
                  <a:ea typeface="微软雅黑" panose="020B0503020204020204" charset="-122"/>
                  <a:cs typeface="微软雅黑" panose="020B0503020204020204" charset="-122"/>
                  <a:sym typeface="+mn-lt"/>
                </a:endParaRPr>
              </a:p>
            </p:txBody>
          </p:sp>
        </p:grpSp>
      </p:grpSp>
    </p:spTree>
    <p:custDataLst>
      <p:tags r:id="rId4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3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987675" y="2817585"/>
            <a:ext cx="7031355" cy="1318895"/>
            <a:chOff x="2540000" y="2817585"/>
            <a:chExt cx="7031355" cy="1318895"/>
          </a:xfrm>
        </p:grpSpPr>
        <p:sp>
          <p:nvSpPr>
            <p:cNvPr id="4" name="矩形: 圆角 3"/>
            <p:cNvSpPr/>
            <p:nvPr/>
          </p:nvSpPr>
          <p:spPr>
            <a:xfrm>
              <a:off x="2540000" y="2817585"/>
              <a:ext cx="7031355" cy="131889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4010660" y="3023325"/>
              <a:ext cx="5088890" cy="76835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三大指标构建过程</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sp>
          <p:nvSpPr>
            <p:cNvPr id="12" name="文本框 11"/>
            <p:cNvSpPr txBox="1"/>
            <p:nvPr/>
          </p:nvSpPr>
          <p:spPr>
            <a:xfrm>
              <a:off x="2859313" y="2875002"/>
              <a:ext cx="1194781" cy="1106805"/>
            </a:xfrm>
            <a:prstGeom prst="rect">
              <a:avLst/>
            </a:prstGeom>
            <a:noFill/>
          </p:spPr>
          <p:txBody>
            <a:bodyPr wrap="square" rtlCol="0">
              <a:spAutoFit/>
            </a:bodyPr>
            <a:lstStyle/>
            <a:p>
              <a:pPr algn="ctr"/>
              <a:r>
                <a:rPr lang="en-US" altLang="zh-CN" sz="6600" dirty="0">
                  <a:solidFill>
                    <a:schemeClr val="bg1"/>
                  </a:solidFill>
                  <a:effectLst>
                    <a:outerShdw blurRad="38100" dist="38100" dir="2700000" algn="tl">
                      <a:srgbClr val="000000">
                        <a:alpha val="43137"/>
                      </a:srgbClr>
                    </a:outerShdw>
                  </a:effectLst>
                  <a:cs typeface="+mn-ea"/>
                  <a:sym typeface="+mn-lt"/>
                </a:rPr>
                <a:t>04</a:t>
              </a:r>
              <a:endParaRPr lang="zh-CN" altLang="en-US" sz="6600" dirty="0">
                <a:solidFill>
                  <a:schemeClr val="bg1"/>
                </a:solidFill>
                <a:effectLst>
                  <a:outerShdw blurRad="38100" dist="38100" dir="2700000" algn="tl">
                    <a:srgbClr val="000000">
                      <a:alpha val="43137"/>
                    </a:srgb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987675" y="2817495"/>
            <a:ext cx="6211570" cy="1318895"/>
            <a:chOff x="2540000" y="2817585"/>
            <a:chExt cx="7031355" cy="1318895"/>
          </a:xfrm>
        </p:grpSpPr>
        <p:sp>
          <p:nvSpPr>
            <p:cNvPr id="4" name="矩形: 圆角 3"/>
            <p:cNvSpPr/>
            <p:nvPr/>
          </p:nvSpPr>
          <p:spPr>
            <a:xfrm>
              <a:off x="2540000" y="2817585"/>
              <a:ext cx="7031355" cy="131889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3629025" y="3023325"/>
              <a:ext cx="5088890" cy="76835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易发性指标构建</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77000" y="4972718"/>
            <a:ext cx="5292730" cy="1885282"/>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7" name="图片 16" descr="C:/Users/lxh123/Pictures/山地1.png山地1"/>
          <p:cNvPicPr>
            <a:picLocks noChangeAspect="1"/>
          </p:cNvPicPr>
          <p:nvPr/>
        </p:nvPicPr>
        <p:blipFill rotWithShape="1">
          <a:blip r:embed="rId1"/>
          <a:srcRect t="2949" b="2949"/>
          <a:stretch>
            <a:fillRect/>
          </a:stretch>
        </p:blipFill>
        <p:spPr>
          <a:xfrm>
            <a:off x="6952350" y="1129336"/>
            <a:ext cx="4380130" cy="5495982"/>
          </a:xfrm>
          <a:prstGeom prst="rect">
            <a:avLst/>
          </a:prstGeom>
        </p:spPr>
      </p:pic>
      <p:grpSp>
        <p:nvGrpSpPr>
          <p:cNvPr id="18" name="组合 17"/>
          <p:cNvGrpSpPr/>
          <p:nvPr>
            <p:custDataLst>
              <p:tags r:id="rId2"/>
            </p:custDataLst>
          </p:nvPr>
        </p:nvGrpSpPr>
        <p:grpSpPr>
          <a:xfrm>
            <a:off x="1547403" y="1454145"/>
            <a:ext cx="4325620" cy="4626610"/>
            <a:chOff x="5571129" y="2094077"/>
            <a:chExt cx="4325620" cy="4626610"/>
          </a:xfrm>
        </p:grpSpPr>
        <p:sp>
          <p:nvSpPr>
            <p:cNvPr id="19" name="文本框 18"/>
            <p:cNvSpPr txBox="1"/>
            <p:nvPr>
              <p:custDataLst>
                <p:tags r:id="rId3"/>
              </p:custDataLst>
            </p:nvPr>
          </p:nvSpPr>
          <p:spPr>
            <a:xfrm>
              <a:off x="5628279" y="2094077"/>
              <a:ext cx="1733551" cy="460375"/>
            </a:xfrm>
            <a:prstGeom prst="rect">
              <a:avLst/>
            </a:prstGeom>
            <a:noFill/>
          </p:spPr>
          <p:txBody>
            <a:bodyPr wrap="square" rtlCol="0">
              <a:spAutoFit/>
            </a:bodyPr>
            <a:lstStyle/>
            <a:p>
              <a:r>
                <a:rPr lang="zh-CN" altLang="en-US" sz="2400" b="1" dirty="0">
                  <a:cs typeface="+mn-ea"/>
                  <a:sym typeface="+mn-lt"/>
                </a:rPr>
                <a:t>指标体系</a:t>
              </a:r>
              <a:endParaRPr lang="zh-CN" altLang="en-US" sz="2400" b="1" dirty="0">
                <a:cs typeface="+mn-ea"/>
                <a:sym typeface="+mn-lt"/>
              </a:endParaRPr>
            </a:p>
          </p:txBody>
        </p:sp>
        <p:sp>
          <p:nvSpPr>
            <p:cNvPr id="20" name="文本框 19"/>
            <p:cNvSpPr txBox="1"/>
            <p:nvPr>
              <p:custDataLst>
                <p:tags r:id="rId4"/>
              </p:custDataLst>
            </p:nvPr>
          </p:nvSpPr>
          <p:spPr>
            <a:xfrm>
              <a:off x="5571129" y="2632557"/>
              <a:ext cx="4325620" cy="4088130"/>
            </a:xfrm>
            <a:prstGeom prst="rect">
              <a:avLst/>
            </a:prstGeom>
            <a:noFill/>
          </p:spPr>
          <p:txBody>
            <a:bodyPr wrap="square" rtlCol="0">
              <a:noAutofit/>
            </a:bodyPr>
            <a:lstStyle/>
            <a:p>
              <a:pPr indent="0">
                <a:buFont typeface="Arial" panose="020B0604020202020204" pitchFamily="34" charset="0"/>
                <a:buNone/>
              </a:pPr>
              <a:r>
                <a:rPr lang="zh-CN" altLang="en-US" sz="1200" b="1" spc="300" dirty="0">
                  <a:cs typeface="+mn-ea"/>
                  <a:sym typeface="+mn-lt"/>
                </a:rPr>
                <a:t>地质灾害易发性评价</a:t>
              </a:r>
              <a:r>
                <a:rPr lang="zh-CN" altLang="en-US" sz="1200" spc="300" dirty="0">
                  <a:cs typeface="+mn-ea"/>
                  <a:sym typeface="+mn-lt"/>
                </a:rPr>
                <a:t>用于判断研究区内不同空间位置发生地质灾害的相对可能性。</a:t>
              </a:r>
              <a:endParaRPr lang="zh-CN" altLang="en-US" sz="1200" spc="300" dirty="0">
                <a:cs typeface="+mn-ea"/>
                <a:sym typeface="+mn-lt"/>
              </a:endParaRPr>
            </a:p>
            <a:p>
              <a:pPr marL="171450" indent="-171450">
                <a:buFont typeface="Arial" panose="020B0604020202020204" pitchFamily="34" charset="0"/>
                <a:buChar char="•"/>
              </a:pPr>
              <a:endParaRPr lang="zh-CN" altLang="en-US" sz="1200" spc="300" dirty="0">
                <a:cs typeface="+mn-ea"/>
                <a:sym typeface="+mn-lt"/>
              </a:endParaRPr>
            </a:p>
            <a:p>
              <a:pPr indent="0">
                <a:buFont typeface="Arial" panose="020B0604020202020204" pitchFamily="34" charset="0"/>
                <a:buNone/>
              </a:pPr>
              <a:r>
                <a:rPr lang="zh-CN" altLang="en-US" sz="1200" spc="300" dirty="0">
                  <a:cs typeface="+mn-ea"/>
                  <a:sym typeface="+mn-lt"/>
                </a:rPr>
                <a:t>实验基于隐患点样本与环境因子的空间关系，采用</a:t>
              </a:r>
              <a:r>
                <a:rPr lang="en-US" altLang="zh-CN" sz="1200" b="1" spc="300" dirty="0">
                  <a:solidFill>
                    <a:srgbClr val="C00000"/>
                  </a:solidFill>
                  <a:latin typeface="Arial" panose="020B0604020202020204" pitchFamily="34" charset="0"/>
                  <a:cs typeface="Arial" panose="020B0604020202020204" pitchFamily="34" charset="0"/>
                  <a:sym typeface="+mn-lt"/>
                </a:rPr>
                <a:t>FR</a:t>
              </a:r>
              <a:r>
                <a:rPr lang="zh-CN" altLang="en-US" sz="1200" b="1" spc="300" dirty="0">
                  <a:solidFill>
                    <a:srgbClr val="C00000"/>
                  </a:solidFill>
                  <a:cs typeface="+mn-ea"/>
                  <a:sym typeface="+mn-lt"/>
                </a:rPr>
                <a:t>频率比法</a:t>
              </a:r>
              <a:r>
                <a:rPr lang="zh-CN" altLang="en-US" sz="1200" spc="300" dirty="0">
                  <a:cs typeface="+mn-ea"/>
                  <a:sym typeface="+mn-lt"/>
                </a:rPr>
                <a:t>构建易发性指数。在前期通过对多个指标的相关数据进行采集、计算</a:t>
              </a:r>
              <a:r>
                <a:rPr lang="en-US" altLang="zh-CN" sz="1200" spc="300" dirty="0">
                  <a:latin typeface="Arial" panose="020B0604020202020204" pitchFamily="34" charset="0"/>
                  <a:cs typeface="Arial" panose="020B0604020202020204" pitchFamily="34" charset="0"/>
                  <a:sym typeface="+mn-lt"/>
                </a:rPr>
                <a:t>FR</a:t>
              </a:r>
              <a:r>
                <a:rPr lang="zh-CN" altLang="en-US" sz="1200" spc="300" dirty="0">
                  <a:cs typeface="+mn-ea"/>
                  <a:sym typeface="+mn-lt"/>
                </a:rPr>
                <a:t>指数，根据</a:t>
              </a:r>
              <a:r>
                <a:rPr lang="en-US" altLang="zh-CN" sz="1200" spc="300" dirty="0">
                  <a:latin typeface="Arial" panose="020B0604020202020204" pitchFamily="34" charset="0"/>
                  <a:cs typeface="Arial" panose="020B0604020202020204" pitchFamily="34" charset="0"/>
                  <a:sym typeface="+mn-lt"/>
                </a:rPr>
                <a:t>FR</a:t>
              </a:r>
              <a:r>
                <a:rPr lang="zh-CN" altLang="en-US" sz="1200" spc="300" dirty="0">
                  <a:cs typeface="+mn-ea"/>
                  <a:sym typeface="+mn-lt"/>
                </a:rPr>
                <a:t>结果、图面效果和变量重复性进行筛选。</a:t>
              </a:r>
              <a:endParaRPr lang="zh-CN" altLang="en-US" sz="1200" spc="300" dirty="0">
                <a:cs typeface="+mn-ea"/>
                <a:sym typeface="+mn-lt"/>
              </a:endParaRPr>
            </a:p>
            <a:p>
              <a:pPr marL="171450" indent="-171450">
                <a:buFont typeface="Arial" panose="020B0604020202020204" pitchFamily="34" charset="0"/>
                <a:buChar char="•"/>
              </a:pPr>
              <a:endParaRPr lang="zh-CN" altLang="en-US" sz="1200" spc="300" dirty="0">
                <a:cs typeface="+mn-ea"/>
                <a:sym typeface="+mn-lt"/>
              </a:endParaRPr>
            </a:p>
            <a:p>
              <a:pPr indent="0">
                <a:buFont typeface="Arial" panose="020B0604020202020204" pitchFamily="34" charset="0"/>
                <a:buNone/>
              </a:pPr>
              <a:r>
                <a:rPr lang="zh-CN" altLang="en-US" sz="1200" spc="300" dirty="0">
                  <a:cs typeface="+mn-ea"/>
                  <a:sym typeface="+mn-lt"/>
                </a:rPr>
                <a:t>最终确定以下</a:t>
              </a:r>
              <a:r>
                <a:rPr lang="zh-CN" altLang="en-US" sz="1200" spc="300" dirty="0">
                  <a:cs typeface="+mn-ea"/>
                  <a:sym typeface="+mn-lt"/>
                </a:rPr>
                <a:t>因子：</a:t>
              </a:r>
              <a:endParaRPr lang="zh-CN" altLang="en-US" sz="1200" spc="300" dirty="0">
                <a:cs typeface="+mn-ea"/>
                <a:sym typeface="+mn-lt"/>
              </a:endParaRPr>
            </a:p>
            <a:p>
              <a:pPr marL="171450" indent="-171450">
                <a:buFont typeface="Arial" panose="020B0604020202020204" pitchFamily="34" charset="0"/>
                <a:buChar char="•"/>
              </a:pPr>
              <a:endParaRPr lang="zh-CN" altLang="en-US" sz="1200" spc="300" dirty="0">
                <a:cs typeface="+mn-ea"/>
                <a:sym typeface="+mn-lt"/>
              </a:endParaRPr>
            </a:p>
            <a:p>
              <a:pPr indent="0">
                <a:buFont typeface="Arial" panose="020B0604020202020204" pitchFamily="34" charset="0"/>
                <a:buNone/>
              </a:pPr>
              <a:r>
                <a:rPr lang="zh-CN" altLang="en-US" sz="1400" b="1" spc="300" dirty="0">
                  <a:cs typeface="+mn-ea"/>
                  <a:sym typeface="+mn-lt"/>
                </a:rPr>
                <a:t>【主因子】</a:t>
              </a:r>
              <a:endParaRPr lang="zh-CN" altLang="en-US" sz="1400" b="1" spc="300" dirty="0">
                <a:cs typeface="+mn-ea"/>
                <a:sym typeface="+mn-lt"/>
              </a:endParaRPr>
            </a:p>
            <a:p>
              <a:pPr indent="0">
                <a:buFont typeface="Arial" panose="020B0604020202020204" pitchFamily="34" charset="0"/>
                <a:buNone/>
              </a:pPr>
              <a:r>
                <a:rPr lang="zh-CN" altLang="en-US" sz="1400" spc="300" dirty="0">
                  <a:cs typeface="+mn-ea"/>
                  <a:sym typeface="+mn-lt"/>
                </a:rPr>
                <a:t>坡度、地形起伏度、地表覆盖</a:t>
              </a:r>
              <a:endParaRPr lang="zh-CN" altLang="en-US" sz="1400" spc="300" dirty="0">
                <a:cs typeface="+mn-ea"/>
                <a:sym typeface="+mn-lt"/>
              </a:endParaRPr>
            </a:p>
            <a:p>
              <a:pPr indent="0">
                <a:buFont typeface="Arial" panose="020B0604020202020204" pitchFamily="34" charset="0"/>
                <a:buNone/>
              </a:pPr>
              <a:endParaRPr lang="zh-CN" altLang="en-US" sz="1400" spc="300" dirty="0">
                <a:cs typeface="+mn-ea"/>
                <a:sym typeface="+mn-lt"/>
              </a:endParaRPr>
            </a:p>
            <a:p>
              <a:pPr indent="0">
                <a:buFont typeface="Arial" panose="020B0604020202020204" pitchFamily="34" charset="0"/>
                <a:buNone/>
              </a:pPr>
              <a:r>
                <a:rPr lang="zh-CN" altLang="en-US" sz="1400" b="1" spc="300" dirty="0">
                  <a:cs typeface="+mn-ea"/>
                  <a:sym typeface="+mn-lt"/>
                </a:rPr>
                <a:t>【辅助因子】</a:t>
              </a:r>
              <a:endParaRPr lang="zh-CN" altLang="en-US" sz="1400" b="1" spc="300" dirty="0">
                <a:cs typeface="+mn-ea"/>
                <a:sym typeface="+mn-lt"/>
              </a:endParaRPr>
            </a:p>
            <a:p>
              <a:pPr indent="0">
                <a:buFont typeface="Arial" panose="020B0604020202020204" pitchFamily="34" charset="0"/>
                <a:buNone/>
              </a:pPr>
              <a:r>
                <a:rPr lang="en-US" altLang="zh-CN" sz="1400" spc="300" dirty="0">
                  <a:latin typeface="Arial" panose="020B0604020202020204" pitchFamily="34" charset="0"/>
                  <a:cs typeface="Arial" panose="020B0604020202020204" pitchFamily="34" charset="0"/>
                  <a:sym typeface="+mn-lt"/>
                </a:rPr>
                <a:t>NDVI</a:t>
              </a:r>
              <a:r>
                <a:rPr lang="en-US" altLang="zh-CN" sz="1400" spc="300" dirty="0">
                  <a:cs typeface="+mn-ea"/>
                  <a:sym typeface="+mn-lt"/>
                </a:rPr>
                <a:t>、</a:t>
              </a:r>
              <a:r>
                <a:rPr lang="zh-CN" altLang="en-US" sz="1400" spc="300" dirty="0">
                  <a:cs typeface="+mn-ea"/>
                  <a:sym typeface="+mn-lt"/>
                </a:rPr>
                <a:t>距河流距离、距一般道路距离、</a:t>
              </a:r>
              <a:endParaRPr lang="zh-CN" altLang="en-US" sz="1400" spc="300" dirty="0">
                <a:cs typeface="+mn-ea"/>
                <a:sym typeface="+mn-lt"/>
              </a:endParaRPr>
            </a:p>
            <a:p>
              <a:pPr indent="0">
                <a:buFont typeface="Arial" panose="020B0604020202020204" pitchFamily="34" charset="0"/>
                <a:buNone/>
              </a:pPr>
              <a:r>
                <a:rPr lang="zh-CN" altLang="en-US" sz="1400" spc="300" dirty="0">
                  <a:cs typeface="+mn-ea"/>
                  <a:sym typeface="+mn-lt"/>
                </a:rPr>
                <a:t>坡向、曲率、汇流累积</a:t>
              </a:r>
              <a:endParaRPr lang="zh-CN" altLang="en-US" sz="1400" spc="300" dirty="0">
                <a:cs typeface="+mn-ea"/>
                <a:sym typeface="+mn-lt"/>
              </a:endParaRPr>
            </a:p>
            <a:p>
              <a:pPr indent="0">
                <a:buFont typeface="Arial" panose="020B0604020202020204" pitchFamily="34" charset="0"/>
                <a:buNone/>
              </a:pPr>
              <a:endParaRPr lang="zh-CN" altLang="en-US" sz="1400" spc="300" dirty="0">
                <a:cs typeface="+mn-ea"/>
                <a:sym typeface="+mn-lt"/>
              </a:endParaRPr>
            </a:p>
            <a:p>
              <a:pPr indent="0">
                <a:buFont typeface="Arial" panose="020B0604020202020204" pitchFamily="34" charset="0"/>
                <a:buNone/>
              </a:pPr>
              <a:r>
                <a:rPr lang="zh-CN" altLang="en-US" sz="1400" b="1" spc="300" dirty="0">
                  <a:cs typeface="+mn-ea"/>
                  <a:sym typeface="+mn-lt"/>
                </a:rPr>
                <a:t>【剔除因子】</a:t>
              </a:r>
              <a:endParaRPr lang="zh-CN" altLang="en-US" sz="1400" b="1" spc="300" dirty="0">
                <a:cs typeface="+mn-ea"/>
                <a:sym typeface="+mn-lt"/>
              </a:endParaRPr>
            </a:p>
            <a:p>
              <a:pPr indent="0">
                <a:buFont typeface="Arial" panose="020B0604020202020204" pitchFamily="34" charset="0"/>
                <a:buNone/>
              </a:pPr>
              <a:r>
                <a:rPr lang="zh-CN" altLang="en-US" sz="1400" spc="300" dirty="0">
                  <a:cs typeface="+mn-ea"/>
                  <a:sym typeface="+mn-lt"/>
                </a:rPr>
                <a:t>降雨、岩性、距居民点距离</a:t>
              </a:r>
              <a:endParaRPr lang="zh-CN" altLang="en-US" sz="1400" spc="300" dirty="0">
                <a:cs typeface="+mn-ea"/>
                <a:sym typeface="+mn-lt"/>
              </a:endParaRPr>
            </a:p>
            <a:p>
              <a:endParaRPr lang="zh-CN" altLang="en-US" sz="1200" spc="300" dirty="0">
                <a:cs typeface="+mn-ea"/>
                <a:sym typeface="+mn-lt"/>
              </a:endParaRPr>
            </a:p>
            <a:p>
              <a:endParaRPr lang="zh-CN" altLang="en-US" sz="1200" spc="300" dirty="0">
                <a:cs typeface="+mn-ea"/>
                <a:sym typeface="+mn-lt"/>
              </a:endParaRPr>
            </a:p>
          </p:txBody>
        </p:sp>
      </p:grpSp>
      <p:grpSp>
        <p:nvGrpSpPr>
          <p:cNvPr id="30" name="组合 29"/>
          <p:cNvGrpSpPr/>
          <p:nvPr>
            <p:custDataLst>
              <p:tags r:id="rId5"/>
            </p:custDataLst>
          </p:nvPr>
        </p:nvGrpSpPr>
        <p:grpSpPr>
          <a:xfrm>
            <a:off x="653044" y="1358325"/>
            <a:ext cx="742950" cy="742950"/>
            <a:chOff x="495300" y="2762250"/>
            <a:chExt cx="742950" cy="742950"/>
          </a:xfrm>
        </p:grpSpPr>
        <p:sp>
          <p:nvSpPr>
            <p:cNvPr id="31" name="椭圆 30"/>
            <p:cNvSpPr/>
            <p:nvPr>
              <p:custDataLst>
                <p:tags r:id="rId6"/>
              </p:custDataLst>
            </p:nvPr>
          </p:nvSpPr>
          <p:spPr>
            <a:xfrm>
              <a:off x="495300" y="2762250"/>
              <a:ext cx="742950" cy="74295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2" name="图片 31"/>
            <p:cNvPicPr>
              <a:picLocks noChangeAspect="1"/>
            </p:cNvPicPr>
            <p:nvPr>
              <p:custDataLst>
                <p:tags r:id="rId7"/>
              </p:custDataLst>
            </p:nvPr>
          </p:nvPicPr>
          <p:blipFill>
            <a:blip r:embed="rId8" cstate="screen"/>
            <a:stretch>
              <a:fillRect/>
            </a:stretch>
          </p:blipFill>
          <p:spPr>
            <a:xfrm>
              <a:off x="695325" y="2949087"/>
              <a:ext cx="342900" cy="369277"/>
            </a:xfrm>
            <a:prstGeom prst="rect">
              <a:avLst/>
            </a:prstGeom>
          </p:spPr>
        </p:pic>
      </p:grpSp>
      <p:sp>
        <p:nvSpPr>
          <p:cNvPr id="36" name="文本框 35"/>
          <p:cNvSpPr txBox="1"/>
          <p:nvPr/>
        </p:nvSpPr>
        <p:spPr>
          <a:xfrm>
            <a:off x="1224915" y="335915"/>
            <a:ext cx="456438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地质灾害易发性指标</a:t>
            </a:r>
            <a:endParaRPr lang="zh-CN" altLang="en-US" sz="3200" spc="400" dirty="0">
              <a:solidFill>
                <a:schemeClr val="tx1">
                  <a:lumMod val="85000"/>
                  <a:lumOff val="15000"/>
                </a:schemeClr>
              </a:solidFill>
              <a:cs typeface="+mn-ea"/>
              <a:sym typeface="+mn-lt"/>
            </a:endParaRPr>
          </a:p>
        </p:txBody>
      </p:sp>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 name="矩形 3"/>
          <p:cNvSpPr/>
          <p:nvPr>
            <p:custDataLst>
              <p:tags r:id="rId9"/>
            </p:custDataLst>
          </p:nvPr>
        </p:nvSpPr>
        <p:spPr>
          <a:xfrm>
            <a:off x="1547495" y="1272540"/>
            <a:ext cx="4413250" cy="4874260"/>
          </a:xfrm>
          <a:prstGeom prst="rect">
            <a:avLst/>
          </a:prstGeom>
          <a:noFill/>
          <a:ln w="28575" cmpd="sng">
            <a:solidFill>
              <a:srgbClr val="27776D"/>
            </a:solidFill>
            <a:prstDash val="solid"/>
          </a:ln>
          <a:effectLst>
            <a:outerShdw blurRad="266700" sx="101000" sy="101000" algn="ctr" rotWithShape="0">
              <a:prstClr val="black">
                <a:alpha val="30000"/>
              </a:prstClr>
            </a:outerShdw>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16" grpId="0" bldLvl="0" animBg="1"/>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C:/Users/lxh123/Pictures/fr指标1.pngfr指标1"/>
          <p:cNvPicPr>
            <a:picLocks noChangeAspect="1"/>
          </p:cNvPicPr>
          <p:nvPr/>
        </p:nvPicPr>
        <p:blipFill rotWithShape="1">
          <a:blip r:embed="rId1"/>
          <a:srcRect l="9954" r="9954"/>
          <a:stretch>
            <a:fillRect/>
          </a:stretch>
        </p:blipFill>
        <p:spPr>
          <a:xfrm>
            <a:off x="6951080" y="733731"/>
            <a:ext cx="4380130" cy="5495982"/>
          </a:xfrm>
          <a:prstGeom prst="rect">
            <a:avLst/>
          </a:prstGeom>
        </p:spPr>
      </p:pic>
      <p:grpSp>
        <p:nvGrpSpPr>
          <p:cNvPr id="18" name="组合 17"/>
          <p:cNvGrpSpPr/>
          <p:nvPr>
            <p:custDataLst>
              <p:tags r:id="rId2"/>
            </p:custDataLst>
          </p:nvPr>
        </p:nvGrpSpPr>
        <p:grpSpPr>
          <a:xfrm>
            <a:off x="1547495" y="1454150"/>
            <a:ext cx="4413885" cy="4472305"/>
            <a:chOff x="5571129" y="2094077"/>
            <a:chExt cx="4325620" cy="4189408"/>
          </a:xfrm>
        </p:grpSpPr>
        <p:sp>
          <p:nvSpPr>
            <p:cNvPr id="19" name="文本框 18"/>
            <p:cNvSpPr txBox="1"/>
            <p:nvPr>
              <p:custDataLst>
                <p:tags r:id="rId3"/>
              </p:custDataLst>
            </p:nvPr>
          </p:nvSpPr>
          <p:spPr>
            <a:xfrm>
              <a:off x="5628279" y="2094077"/>
              <a:ext cx="1733551" cy="431254"/>
            </a:xfrm>
            <a:prstGeom prst="rect">
              <a:avLst/>
            </a:prstGeom>
            <a:noFill/>
          </p:spPr>
          <p:txBody>
            <a:bodyPr wrap="square" rtlCol="0">
              <a:spAutoFit/>
            </a:bodyPr>
            <a:lstStyle/>
            <a:p>
              <a:r>
                <a:rPr lang="en-US" altLang="zh-CN" sz="2400" dirty="0">
                  <a:cs typeface="+mn-ea"/>
                  <a:sym typeface="+mn-lt"/>
                </a:rPr>
                <a:t>FR</a:t>
              </a:r>
              <a:r>
                <a:rPr lang="zh-CN" altLang="en-US" sz="2400" dirty="0">
                  <a:cs typeface="+mn-ea"/>
                  <a:sym typeface="+mn-lt"/>
                </a:rPr>
                <a:t>频率比法</a:t>
              </a:r>
              <a:endParaRPr lang="zh-CN" altLang="en-US" sz="2400" dirty="0">
                <a:cs typeface="+mn-ea"/>
                <a:sym typeface="+mn-lt"/>
              </a:endParaRPr>
            </a:p>
          </p:txBody>
        </p:sp>
        <p:sp>
          <p:nvSpPr>
            <p:cNvPr id="20" name="文本框 19"/>
            <p:cNvSpPr txBox="1"/>
            <p:nvPr>
              <p:custDataLst>
                <p:tags r:id="rId4"/>
              </p:custDataLst>
            </p:nvPr>
          </p:nvSpPr>
          <p:spPr>
            <a:xfrm>
              <a:off x="5571129" y="2632401"/>
              <a:ext cx="4325620" cy="3651084"/>
            </a:xfrm>
            <a:prstGeom prst="rect">
              <a:avLst/>
            </a:prstGeom>
            <a:noFill/>
          </p:spPr>
          <p:txBody>
            <a:bodyPr wrap="square" rtlCol="0">
              <a:noAutofit/>
            </a:bodyPr>
            <a:lstStyle/>
            <a:p>
              <a:pPr indent="0">
                <a:buFont typeface="Arial" panose="020B0604020202020204" pitchFamily="34" charset="0"/>
                <a:buNone/>
              </a:pPr>
              <a:r>
                <a:rPr lang="en-US" sz="1400" dirty="0">
                  <a:solidFill>
                    <a:srgbClr val="2F2F2F"/>
                  </a:solidFill>
                  <a:latin typeface="Arial" panose="020B0604020202020204" pitchFamily="34" charset="0"/>
                  <a:ea typeface="微软雅黑" panose="020B0503020204020204" charset="-122"/>
                  <a:cs typeface="Arial" panose="020B0604020202020204" pitchFamily="34" charset="0"/>
                  <a:sym typeface="+mn-ea"/>
                </a:rPr>
                <a:t>FR</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r>
                <a:rPr lang="en-US" sz="1400" dirty="0">
                  <a:solidFill>
                    <a:srgbClr val="2F2F2F"/>
                  </a:solidFill>
                  <a:latin typeface="Arial" panose="020B0604020202020204" pitchFamily="34" charset="0"/>
                  <a:ea typeface="微软雅黑" panose="020B0503020204020204" charset="-122"/>
                  <a:cs typeface="Arial" panose="020B0604020202020204" pitchFamily="34" charset="0"/>
                  <a:sym typeface="+mn-ea"/>
                </a:rPr>
                <a:t>Frequency Ratio</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，频率比法）</a:t>
              </a:r>
              <a:endPar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一种常见的统计型地质灾害易发性评价方法</a:t>
              </a:r>
              <a:r>
                <a:rPr lang="zh-CN" altLang="en-US" sz="1400" spc="300" dirty="0">
                  <a:cs typeface="+mn-ea"/>
                  <a:sym typeface="+mn-lt"/>
                </a:rPr>
                <a:t>。</a:t>
              </a:r>
              <a:endParaRPr lang="zh-CN" altLang="en-US" sz="1400" spc="300" dirty="0">
                <a:cs typeface="+mn-ea"/>
                <a:sym typeface="+mn-lt"/>
              </a:endParaRPr>
            </a:p>
            <a:p>
              <a:pPr marL="171450" indent="-171450">
                <a:buFont typeface="Arial" panose="020B0604020202020204" pitchFamily="34" charset="0"/>
                <a:buChar char="•"/>
              </a:pPr>
              <a:endParaRPr lang="zh-CN" altLang="en-US" sz="1400" spc="300" dirty="0">
                <a:cs typeface="+mn-ea"/>
                <a:sym typeface="+mn-lt"/>
              </a:endParaRPr>
            </a:p>
            <a:p>
              <a:pPr indent="0">
                <a:buFont typeface="Arial" panose="020B0604020202020204" pitchFamily="34" charset="0"/>
                <a:buNone/>
              </a:pPr>
              <a:r>
                <a:rPr lang="zh-CN" altLang="en-US" sz="1400" spc="300" dirty="0">
                  <a:cs typeface="+mn-ea"/>
                  <a:sym typeface="+mn-lt"/>
                </a:rPr>
                <a:t>基本公式为：</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其</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中Nᵢ为第i类中灾害点数，Sᵢ为第i类面积</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marL="171450" indent="-171450">
                <a:buFont typeface="Arial" panose="020B0604020202020204" pitchFamily="34" charset="0"/>
                <a:buChar char="•"/>
              </a:pP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en-US" altLang="zh-CN" sz="1400" dirty="0">
                  <a:solidFill>
                    <a:srgbClr val="2F2F2F"/>
                  </a:solidFill>
                  <a:latin typeface="Arial" panose="020B0604020202020204" pitchFamily="34" charset="0"/>
                  <a:ea typeface="微软雅黑" panose="020B0503020204020204" charset="-122"/>
                  <a:cs typeface="Arial" panose="020B0604020202020204" pitchFamily="34" charset="0"/>
                  <a:sym typeface="+mn-ea"/>
                </a:rPr>
                <a:t>FR</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计算结果的含义：</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marL="171450" indent="-171450">
                <a:buFont typeface="Arial" panose="020B0604020202020204" pitchFamily="34" charset="0"/>
                <a:buChar char="•"/>
              </a:pP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FR &gt; 1：该类与灾害发生呈正相关</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marL="171450" indent="-171450">
                <a:buFont typeface="Arial" panose="020B0604020202020204" pitchFamily="34" charset="0"/>
                <a:buChar char="•"/>
              </a:pP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FR = 1：接近全区平均背景</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marL="171450" indent="-171450">
                <a:buFont typeface="Arial" panose="020B0604020202020204" pitchFamily="34" charset="0"/>
                <a:buChar char="•"/>
              </a:pP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FR &lt; 1：该类对灾害发生的支持较弱</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endParaRPr lang="en-US" sz="1400" dirty="0"/>
            </a:p>
            <a:p>
              <a:pPr marL="171450" indent="-171450">
                <a:buFont typeface="Arial" panose="020B0604020202020204" pitchFamily="34" charset="0"/>
                <a:buChar char="•"/>
              </a:pP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在本项目中，先对各个指标进行重分类与字段统计，</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然后进行</a:t>
              </a:r>
              <a:r>
                <a:rPr lang="en-US" altLang="zh-CN" sz="1400" dirty="0">
                  <a:solidFill>
                    <a:srgbClr val="2F2F2F"/>
                  </a:solidFill>
                  <a:latin typeface="Arial" panose="020B0604020202020204" pitchFamily="34" charset="0"/>
                  <a:ea typeface="微软雅黑" panose="020B0503020204020204" charset="-122"/>
                  <a:cs typeface="Arial" panose="020B0604020202020204" pitchFamily="34" charset="0"/>
                  <a:sym typeface="+mn-ea"/>
                </a:rPr>
                <a:t>FR</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指数计算，</a:t>
              </a:r>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最终通过栅格计算器得到某一类指标的</a:t>
              </a:r>
              <a:r>
                <a:rPr lang="en-US" altLang="zh-CN"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FR</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结果图。</a:t>
              </a:r>
              <a:endParaRPr lang="zh-CN" altLang="en-US" sz="1400" spc="300" dirty="0">
                <a:cs typeface="+mn-ea"/>
                <a:sym typeface="+mn-lt"/>
              </a:endParaRPr>
            </a:p>
            <a:p>
              <a:pPr marL="171450" indent="-171450">
                <a:buFont typeface="Arial" panose="020B0604020202020204" pitchFamily="34" charset="0"/>
                <a:buChar char="•"/>
              </a:pPr>
              <a:endParaRPr lang="zh-CN" altLang="en-US" sz="1200" spc="300" dirty="0">
                <a:cs typeface="+mn-ea"/>
                <a:sym typeface="+mn-lt"/>
              </a:endParaRPr>
            </a:p>
            <a:p>
              <a:endParaRPr lang="zh-CN" altLang="en-US" sz="1200" spc="300" dirty="0">
                <a:cs typeface="+mn-ea"/>
                <a:sym typeface="+mn-lt"/>
              </a:endParaRPr>
            </a:p>
            <a:p>
              <a:endParaRPr lang="zh-CN" altLang="en-US" sz="1200" spc="300" dirty="0">
                <a:cs typeface="+mn-ea"/>
                <a:sym typeface="+mn-lt"/>
              </a:endParaRPr>
            </a:p>
          </p:txBody>
        </p:sp>
      </p:grpSp>
      <p:grpSp>
        <p:nvGrpSpPr>
          <p:cNvPr id="30" name="组合 29"/>
          <p:cNvGrpSpPr/>
          <p:nvPr>
            <p:custDataLst>
              <p:tags r:id="rId5"/>
            </p:custDataLst>
          </p:nvPr>
        </p:nvGrpSpPr>
        <p:grpSpPr>
          <a:xfrm>
            <a:off x="653044" y="1358325"/>
            <a:ext cx="742950" cy="742950"/>
            <a:chOff x="495300" y="2762250"/>
            <a:chExt cx="742950" cy="742950"/>
          </a:xfrm>
        </p:grpSpPr>
        <p:sp>
          <p:nvSpPr>
            <p:cNvPr id="31" name="椭圆 30"/>
            <p:cNvSpPr/>
            <p:nvPr>
              <p:custDataLst>
                <p:tags r:id="rId6"/>
              </p:custDataLst>
            </p:nvPr>
          </p:nvSpPr>
          <p:spPr>
            <a:xfrm>
              <a:off x="495300" y="2762250"/>
              <a:ext cx="742950" cy="742950"/>
            </a:xfrm>
            <a:prstGeom prst="ellipse">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32" name="图片 31"/>
            <p:cNvPicPr>
              <a:picLocks noChangeAspect="1"/>
            </p:cNvPicPr>
            <p:nvPr>
              <p:custDataLst>
                <p:tags r:id="rId7"/>
              </p:custDataLst>
            </p:nvPr>
          </p:nvPicPr>
          <p:blipFill>
            <a:blip r:embed="rId8" cstate="screen"/>
            <a:stretch>
              <a:fillRect/>
            </a:stretch>
          </p:blipFill>
          <p:spPr>
            <a:xfrm>
              <a:off x="695325" y="2949087"/>
              <a:ext cx="342900" cy="369277"/>
            </a:xfrm>
            <a:prstGeom prst="rect">
              <a:avLst/>
            </a:prstGeom>
          </p:spPr>
        </p:pic>
      </p:grpSp>
      <p:sp>
        <p:nvSpPr>
          <p:cNvPr id="36" name="文本框 35"/>
          <p:cNvSpPr txBox="1"/>
          <p:nvPr/>
        </p:nvSpPr>
        <p:spPr>
          <a:xfrm>
            <a:off x="1224915" y="335915"/>
            <a:ext cx="4564380" cy="583565"/>
          </a:xfrm>
          <a:prstGeom prst="rect">
            <a:avLst/>
          </a:prstGeom>
          <a:noFill/>
        </p:spPr>
        <p:txBody>
          <a:bodyPr wrap="square">
            <a:spAutoFit/>
          </a:bodyPr>
          <a:lstStyle/>
          <a:p>
            <a:r>
              <a:rPr lang="en-US" altLang="zh-CN" sz="3200" spc="400" dirty="0">
                <a:solidFill>
                  <a:schemeClr val="tx1">
                    <a:lumMod val="85000"/>
                    <a:lumOff val="15000"/>
                  </a:schemeClr>
                </a:solidFill>
                <a:cs typeface="+mn-ea"/>
                <a:sym typeface="+mn-lt"/>
              </a:rPr>
              <a:t>FR</a:t>
            </a:r>
            <a:r>
              <a:rPr lang="zh-CN" altLang="en-US" sz="3200" spc="400" dirty="0">
                <a:solidFill>
                  <a:schemeClr val="tx1">
                    <a:lumMod val="85000"/>
                    <a:lumOff val="15000"/>
                  </a:schemeClr>
                </a:solidFill>
                <a:cs typeface="+mn-ea"/>
                <a:sym typeface="+mn-lt"/>
              </a:rPr>
              <a:t>频率比法计算思路</a:t>
            </a:r>
            <a:endParaRPr lang="zh-CN" altLang="en-US" sz="3200" spc="400" dirty="0">
              <a:solidFill>
                <a:schemeClr val="tx1">
                  <a:lumMod val="85000"/>
                  <a:lumOff val="15000"/>
                </a:schemeClr>
              </a:solidFill>
              <a:cs typeface="+mn-ea"/>
              <a:sym typeface="+mn-lt"/>
            </a:endParaRPr>
          </a:p>
        </p:txBody>
      </p:sp>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 name="矩形 3"/>
          <p:cNvSpPr/>
          <p:nvPr>
            <p:custDataLst>
              <p:tags r:id="rId9"/>
            </p:custDataLst>
          </p:nvPr>
        </p:nvSpPr>
        <p:spPr>
          <a:xfrm>
            <a:off x="1547495" y="1272540"/>
            <a:ext cx="4413250" cy="4874260"/>
          </a:xfrm>
          <a:prstGeom prst="rect">
            <a:avLst/>
          </a:prstGeom>
          <a:noFill/>
          <a:ln w="28575" cmpd="sng">
            <a:solidFill>
              <a:srgbClr val="27776D"/>
            </a:solidFill>
            <a:prstDash val="solid"/>
          </a:ln>
          <a:effectLst>
            <a:outerShdw blurRad="266700" sx="101000" sy="101000" algn="ctr" rotWithShape="0">
              <a:prstClr val="black">
                <a:alpha val="30000"/>
              </a:prstClr>
            </a:outerShdw>
          </a:effectLst>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Text 5"/>
          <p:cNvSpPr/>
          <p:nvPr/>
        </p:nvSpPr>
        <p:spPr>
          <a:xfrm>
            <a:off x="5960618" y="6393307"/>
            <a:ext cx="6583680" cy="164592"/>
          </a:xfrm>
          <a:prstGeom prst="rect">
            <a:avLst/>
          </a:prstGeom>
          <a:noFill/>
        </p:spPr>
        <p:txBody>
          <a:bodyPr wrap="square" lIns="0" tIns="0" rIns="0" bIns="0" rtlCol="0" anchor="ctr"/>
          <a:lstStyle/>
          <a:p>
            <a:pPr marL="0" indent="0" algn="ctr">
              <a:buNone/>
            </a:pPr>
            <a:r>
              <a:rPr lang="zh-CN" altLang="en-US" sz="1050" dirty="0">
                <a:solidFill>
                  <a:srgbClr val="6C7480"/>
                </a:solidFill>
                <a:latin typeface="微软雅黑" panose="020B0503020204020204" charset="-122"/>
                <a:ea typeface="微软雅黑" panose="020B0503020204020204" charset="-122"/>
                <a:cs typeface="微软雅黑" panose="020B0503020204020204" pitchFamily="34" charset="-120"/>
              </a:rPr>
              <a:t>坡度</a:t>
            </a:r>
            <a:r>
              <a:rPr lang="en-US" altLang="zh-CN" sz="1050" dirty="0">
                <a:solidFill>
                  <a:srgbClr val="6C7480"/>
                </a:solidFill>
                <a:latin typeface="微软雅黑" panose="020B0503020204020204" charset="-122"/>
                <a:ea typeface="微软雅黑" panose="020B0503020204020204" charset="-122"/>
                <a:cs typeface="微软雅黑" panose="020B0503020204020204" pitchFamily="34" charset="-120"/>
              </a:rPr>
              <a:t>FR</a:t>
            </a:r>
            <a:r>
              <a:rPr lang="zh-CN" altLang="en-US" sz="1050" dirty="0">
                <a:solidFill>
                  <a:srgbClr val="6C7480"/>
                </a:solidFill>
                <a:latin typeface="微软雅黑" panose="020B0503020204020204" charset="-122"/>
                <a:ea typeface="微软雅黑" panose="020B0503020204020204" charset="-122"/>
                <a:cs typeface="微软雅黑" panose="020B0503020204020204" pitchFamily="34" charset="-120"/>
              </a:rPr>
              <a:t>结果图示意</a:t>
            </a:r>
            <a:endParaRPr lang="zh-CN" altLang="en-US" sz="1050" dirty="0">
              <a:solidFill>
                <a:srgbClr val="6C7480"/>
              </a:solidFill>
              <a:latin typeface="微软雅黑" panose="020B0503020204020204" charset="-122"/>
              <a:ea typeface="微软雅黑" panose="020B0503020204020204" charset="-122"/>
              <a:cs typeface="微软雅黑" panose="020B0503020204020204" pitchFamily="34" charset="-120"/>
            </a:endParaRPr>
          </a:p>
        </p:txBody>
      </p:sp>
      <p:pic>
        <p:nvPicPr>
          <p:cNvPr id="2" name="图片 1"/>
          <p:cNvPicPr>
            <a:picLocks noChangeAspect="1"/>
          </p:cNvPicPr>
          <p:nvPr/>
        </p:nvPicPr>
        <p:blipFill>
          <a:blip r:embed="rId10"/>
          <a:stretch>
            <a:fillRect/>
          </a:stretch>
        </p:blipFill>
        <p:spPr>
          <a:xfrm>
            <a:off x="3004820" y="2498725"/>
            <a:ext cx="1657985" cy="448945"/>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aphicFrame>
        <p:nvGraphicFramePr>
          <p:cNvPr id="27" name="表格 26"/>
          <p:cNvGraphicFramePr/>
          <p:nvPr/>
        </p:nvGraphicFramePr>
        <p:xfrm>
          <a:off x="697327" y="1179288"/>
          <a:ext cx="10797540" cy="4875530"/>
        </p:xfrm>
        <a:graphic>
          <a:graphicData uri="http://schemas.openxmlformats.org/drawingml/2006/table">
            <a:tbl>
              <a:tblPr firstRow="1" bandRow="1">
                <a:tableStyleId>{ACE2EB90-7189-40AD-8506-3E954BF66239}</a:tableStyleId>
              </a:tblPr>
              <a:tblGrid>
                <a:gridCol w="1574800"/>
                <a:gridCol w="1756410"/>
                <a:gridCol w="2641600"/>
                <a:gridCol w="1826260"/>
                <a:gridCol w="2998470"/>
              </a:tblGrid>
              <a:tr h="466090">
                <a:tc>
                  <a:txBody>
                    <a:bodyPr/>
                    <a:p>
                      <a:pPr algn="ctr">
                        <a:lnSpc>
                          <a:spcPct val="120000"/>
                        </a:lnSpc>
                      </a:pPr>
                      <a:r>
                        <a:rPr lang="zh-CN" altLang="en-US" sz="1600" spc="120"/>
                        <a:t>指标</a:t>
                      </a:r>
                      <a:endParaRPr lang="zh-CN" altLang="en-US" sz="1600" spc="120"/>
                    </a:p>
                  </a:txBody>
                  <a:tcPr marL="254000" marR="254000" marT="76200" marB="76200" anchor="ctr" anchorCtr="0">
                    <a:solidFill>
                      <a:srgbClr val="27776D"/>
                    </a:solidFill>
                  </a:tcPr>
                </a:tc>
                <a:tc>
                  <a:txBody>
                    <a:bodyPr/>
                    <a:p>
                      <a:pPr algn="ctr">
                        <a:lnSpc>
                          <a:spcPct val="120000"/>
                        </a:lnSpc>
                      </a:pPr>
                      <a:r>
                        <a:rPr lang="zh-CN" altLang="en-US" sz="1600" spc="120"/>
                        <a:t>所属模块</a:t>
                      </a:r>
                      <a:endParaRPr lang="zh-CN" altLang="en-US" sz="1600" spc="120"/>
                    </a:p>
                  </a:txBody>
                  <a:tcPr marL="254000" marR="254000" marT="76200" marB="76200" anchor="ctr" anchorCtr="0">
                    <a:solidFill>
                      <a:srgbClr val="27776D"/>
                    </a:solidFill>
                  </a:tcPr>
                </a:tc>
                <a:tc>
                  <a:txBody>
                    <a:bodyPr/>
                    <a:p>
                      <a:pPr algn="ctr">
                        <a:lnSpc>
                          <a:spcPct val="120000"/>
                        </a:lnSpc>
                      </a:pPr>
                      <a:r>
                        <a:rPr lang="zh-CN" altLang="en-US" sz="1600" spc="120"/>
                        <a:t>原始模块方向</a:t>
                      </a:r>
                      <a:endParaRPr lang="zh-CN" altLang="en-US" sz="1600" spc="120"/>
                    </a:p>
                  </a:txBody>
                  <a:tcPr marL="254000" marR="254000" marT="76200" marB="76200" anchor="ctr" anchorCtr="0">
                    <a:solidFill>
                      <a:srgbClr val="27776D"/>
                    </a:solidFill>
                  </a:tcPr>
                </a:tc>
                <a:tc>
                  <a:txBody>
                    <a:bodyPr/>
                    <a:p>
                      <a:pPr algn="ctr">
                        <a:lnSpc>
                          <a:spcPct val="120000"/>
                        </a:lnSpc>
                      </a:pPr>
                      <a:r>
                        <a:rPr lang="zh-CN" altLang="en-US" sz="1600" spc="120"/>
                        <a:t>最终风险方向</a:t>
                      </a:r>
                      <a:endParaRPr lang="zh-CN" altLang="en-US" sz="1600" spc="120"/>
                    </a:p>
                  </a:txBody>
                  <a:tcPr marL="254000" marR="254000" marT="76200" marB="76200" anchor="ctr" anchorCtr="0">
                    <a:solidFill>
                      <a:srgbClr val="27776D"/>
                    </a:solidFill>
                  </a:tcPr>
                </a:tc>
                <a:tc>
                  <a:txBody>
                    <a:bodyPr/>
                    <a:p>
                      <a:pPr algn="l">
                        <a:lnSpc>
                          <a:spcPct val="120000"/>
                        </a:lnSpc>
                      </a:pPr>
                      <a:r>
                        <a:rPr lang="zh-CN" altLang="en-US" sz="1600" spc="120"/>
                        <a:t>备注</a:t>
                      </a:r>
                      <a:endParaRPr lang="zh-CN" altLang="en-US" sz="1600" spc="120"/>
                    </a:p>
                  </a:txBody>
                  <a:tcPr marL="254000" marR="254000" marT="76200" marB="76200" anchor="ctr" anchorCtr="0">
                    <a:solidFill>
                      <a:srgbClr val="27776D"/>
                    </a:solidFill>
                  </a:tcPr>
                </a:tc>
              </a:tr>
              <a:tr h="708025">
                <a:tc>
                  <a:txBody>
                    <a:bodyPr/>
                    <a:p>
                      <a:pPr algn="ctr">
                        <a:lnSpc>
                          <a:spcPct val="120000"/>
                        </a:lnSpc>
                      </a:pPr>
                      <a:r>
                        <a:rPr lang="zh-CN" altLang="en-US" sz="1400"/>
                        <a:t>高程</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条件性</a:t>
                      </a:r>
                      <a:endParaRPr lang="zh-CN" altLang="en-US" sz="1400"/>
                    </a:p>
                  </a:txBody>
                  <a:tcPr marL="254000" marR="254000" marT="76200" marB="76200" anchor="ctr" anchorCtr="0"/>
                </a:tc>
                <a:tc>
                  <a:txBody>
                    <a:bodyPr/>
                    <a:p>
                      <a:pPr algn="ctr">
                        <a:lnSpc>
                          <a:spcPct val="120000"/>
                        </a:lnSpc>
                      </a:pPr>
                      <a:r>
                        <a:rPr lang="zh-CN" altLang="en-US" sz="1400"/>
                        <a:t>条件性</a:t>
                      </a:r>
                      <a:endParaRPr lang="zh-CN" altLang="en-US" sz="1400"/>
                    </a:p>
                  </a:txBody>
                  <a:tcPr marL="254000" marR="254000" marT="76200" marB="76200" anchor="ctr" anchorCtr="0"/>
                </a:tc>
                <a:tc>
                  <a:txBody>
                    <a:bodyPr/>
                    <a:p>
                      <a:pPr algn="l">
                        <a:lnSpc>
                          <a:spcPct val="120000"/>
                        </a:lnSpc>
                      </a:pPr>
                      <a:r>
                        <a:rPr lang="zh-CN" altLang="en-US" sz="1400"/>
                        <a:t>不建议机械判正负，</a:t>
                      </a:r>
                      <a:endParaRPr lang="zh-CN" altLang="en-US" sz="1400"/>
                    </a:p>
                    <a:p>
                      <a:pPr algn="l">
                        <a:lnSpc>
                          <a:spcPct val="120000"/>
                        </a:lnSpc>
                      </a:pPr>
                      <a:r>
                        <a:rPr lang="zh-CN" altLang="en-US" sz="1400"/>
                        <a:t>建议结合样本分布分级赋值</a:t>
                      </a:r>
                      <a:endParaRPr lang="zh-CN" altLang="en-US" sz="1400"/>
                    </a:p>
                  </a:txBody>
                  <a:tcPr marL="254000" marR="254000" marT="76200" marB="76200" anchor="ctr" anchorCtr="0"/>
                </a:tc>
              </a:tr>
              <a:tr h="434975">
                <a:tc>
                  <a:txBody>
                    <a:bodyPr/>
                    <a:p>
                      <a:pPr algn="ctr">
                        <a:lnSpc>
                          <a:spcPct val="120000"/>
                        </a:lnSpc>
                      </a:pPr>
                      <a:r>
                        <a:rPr lang="zh-CN" altLang="en-US" sz="1400"/>
                        <a:t>坡度</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正向</a:t>
                      </a:r>
                      <a:endParaRPr lang="zh-CN" altLang="en-US" sz="1400"/>
                    </a:p>
                  </a:txBody>
                  <a:tcPr marL="254000" marR="254000" marT="76200" marB="76200" anchor="ctr" anchorCtr="0"/>
                </a:tc>
                <a:tc>
                  <a:txBody>
                    <a:bodyPr/>
                    <a:p>
                      <a:pPr algn="ctr">
                        <a:lnSpc>
                          <a:spcPct val="120000"/>
                        </a:lnSpc>
                      </a:pPr>
                      <a:r>
                        <a:rPr lang="zh-CN" altLang="en-US" sz="1400"/>
                        <a:t>正向</a:t>
                      </a:r>
                      <a:endParaRPr lang="zh-CN" altLang="en-US" sz="1400"/>
                    </a:p>
                  </a:txBody>
                  <a:tcPr marL="254000" marR="254000" marT="76200" marB="76200" anchor="ctr" anchorCtr="0"/>
                </a:tc>
                <a:tc>
                  <a:txBody>
                    <a:bodyPr/>
                    <a:p>
                      <a:pPr algn="l">
                        <a:lnSpc>
                          <a:spcPct val="120000"/>
                        </a:lnSpc>
                      </a:pPr>
                      <a:r>
                        <a:rPr lang="zh-CN" altLang="en-US" sz="1400"/>
                        <a:t>坡度越大，通常越易失稳</a:t>
                      </a:r>
                      <a:endParaRPr lang="zh-CN" altLang="en-US" sz="1400"/>
                    </a:p>
                  </a:txBody>
                  <a:tcPr marL="254000" marR="254000" marT="76200" marB="76200" anchor="ctr" anchorCtr="0"/>
                </a:tc>
              </a:tr>
              <a:tr h="708025">
                <a:tc>
                  <a:txBody>
                    <a:bodyPr/>
                    <a:p>
                      <a:pPr algn="ctr">
                        <a:lnSpc>
                          <a:spcPct val="120000"/>
                        </a:lnSpc>
                      </a:pPr>
                      <a:r>
                        <a:rPr lang="zh-CN" altLang="en-US" sz="1400"/>
                        <a:t>坡向</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分类型</a:t>
                      </a:r>
                      <a:endParaRPr lang="zh-CN" altLang="en-US" sz="1400"/>
                    </a:p>
                  </a:txBody>
                  <a:tcPr marL="254000" marR="254000" marT="76200" marB="76200" anchor="ctr" anchorCtr="0"/>
                </a:tc>
                <a:tc>
                  <a:txBody>
                    <a:bodyPr/>
                    <a:p>
                      <a:pPr algn="ctr">
                        <a:lnSpc>
                          <a:spcPct val="120000"/>
                        </a:lnSpc>
                      </a:pPr>
                      <a:r>
                        <a:rPr lang="zh-CN" altLang="en-US" sz="1400"/>
                        <a:t>分级后判定</a:t>
                      </a:r>
                      <a:endParaRPr lang="zh-CN" altLang="en-US" sz="1400"/>
                    </a:p>
                  </a:txBody>
                  <a:tcPr marL="254000" marR="254000" marT="76200" marB="76200" anchor="ctr" anchorCtr="0"/>
                </a:tc>
                <a:tc>
                  <a:txBody>
                    <a:bodyPr/>
                    <a:p>
                      <a:pPr algn="l">
                        <a:lnSpc>
                          <a:spcPct val="120000"/>
                        </a:lnSpc>
                      </a:pPr>
                      <a:r>
                        <a:rPr lang="zh-CN" altLang="en-US" sz="1400"/>
                        <a:t>不宜简单判正负，</a:t>
                      </a:r>
                      <a:endParaRPr lang="zh-CN" altLang="en-US" sz="1400"/>
                    </a:p>
                    <a:p>
                      <a:pPr algn="l">
                        <a:lnSpc>
                          <a:spcPct val="120000"/>
                        </a:lnSpc>
                      </a:pPr>
                      <a:r>
                        <a:rPr lang="zh-CN" altLang="en-US" sz="1400"/>
                        <a:t>建议按分级或样本统计赋值</a:t>
                      </a:r>
                      <a:endParaRPr lang="zh-CN" altLang="en-US" sz="1400"/>
                    </a:p>
                  </a:txBody>
                  <a:tcPr marL="254000" marR="254000" marT="76200" marB="76200" anchor="ctr" anchorCtr="0"/>
                </a:tc>
              </a:tr>
              <a:tr h="707390">
                <a:tc>
                  <a:txBody>
                    <a:bodyPr/>
                    <a:p>
                      <a:pPr algn="ctr">
                        <a:lnSpc>
                          <a:spcPct val="120000"/>
                        </a:lnSpc>
                      </a:pPr>
                      <a:r>
                        <a:rPr lang="zh-CN" altLang="en-US" sz="1400"/>
                        <a:t>曲率</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分类型 </a:t>
                      </a:r>
                      <a:r>
                        <a:rPr lang="en-US" altLang="zh-CN" sz="1400"/>
                        <a:t>/ </a:t>
                      </a:r>
                      <a:r>
                        <a:rPr lang="zh-CN" altLang="en-US" sz="1400"/>
                        <a:t>条件性</a:t>
                      </a:r>
                      <a:endParaRPr lang="zh-CN" altLang="en-US" sz="1400"/>
                    </a:p>
                  </a:txBody>
                  <a:tcPr marL="254000" marR="254000" marT="76200" marB="76200" anchor="ctr" anchorCtr="0"/>
                </a:tc>
                <a:tc>
                  <a:txBody>
                    <a:bodyPr/>
                    <a:p>
                      <a:pPr algn="ctr">
                        <a:lnSpc>
                          <a:spcPct val="120000"/>
                        </a:lnSpc>
                      </a:pPr>
                      <a:r>
                        <a:rPr lang="zh-CN" altLang="en-US" sz="1400"/>
                        <a:t>分级后判定</a:t>
                      </a:r>
                      <a:endParaRPr lang="zh-CN" altLang="en-US" sz="1400"/>
                    </a:p>
                  </a:txBody>
                  <a:tcPr marL="254000" marR="254000" marT="76200" marB="76200" anchor="ctr" anchorCtr="0"/>
                </a:tc>
                <a:tc>
                  <a:txBody>
                    <a:bodyPr/>
                    <a:p>
                      <a:pPr algn="l">
                        <a:lnSpc>
                          <a:spcPct val="120000"/>
                        </a:lnSpc>
                      </a:pPr>
                      <a:r>
                        <a:rPr lang="zh-CN" altLang="en-US" sz="1400"/>
                        <a:t>不同曲率类型作用不同，</a:t>
                      </a:r>
                      <a:endParaRPr lang="zh-CN" altLang="en-US" sz="1400"/>
                    </a:p>
                    <a:p>
                      <a:pPr algn="l">
                        <a:lnSpc>
                          <a:spcPct val="120000"/>
                        </a:lnSpc>
                      </a:pPr>
                      <a:r>
                        <a:rPr lang="zh-CN" altLang="en-US" sz="1400"/>
                        <a:t>建议分类处理</a:t>
                      </a:r>
                      <a:endParaRPr lang="zh-CN" altLang="en-US" sz="1400"/>
                    </a:p>
                  </a:txBody>
                  <a:tcPr marL="254000" marR="254000" marT="76200" marB="76200" anchor="ctr" anchorCtr="0"/>
                </a:tc>
              </a:tr>
              <a:tr h="708025">
                <a:tc>
                  <a:txBody>
                    <a:bodyPr/>
                    <a:p>
                      <a:pPr algn="ctr">
                        <a:lnSpc>
                          <a:spcPct val="120000"/>
                        </a:lnSpc>
                      </a:pPr>
                      <a:r>
                        <a:rPr lang="zh-CN" altLang="en-US" sz="1400"/>
                        <a:t>地形起伏度</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正向</a:t>
                      </a:r>
                      <a:endParaRPr lang="zh-CN" altLang="en-US" sz="1400"/>
                    </a:p>
                  </a:txBody>
                  <a:tcPr marL="254000" marR="254000" marT="76200" marB="76200" anchor="ctr" anchorCtr="0"/>
                </a:tc>
                <a:tc>
                  <a:txBody>
                    <a:bodyPr/>
                    <a:p>
                      <a:pPr algn="ctr">
                        <a:lnSpc>
                          <a:spcPct val="120000"/>
                        </a:lnSpc>
                      </a:pPr>
                      <a:r>
                        <a:rPr lang="zh-CN" altLang="en-US" sz="1400"/>
                        <a:t>正向</a:t>
                      </a:r>
                      <a:endParaRPr lang="zh-CN" altLang="en-US" sz="1400"/>
                    </a:p>
                  </a:txBody>
                  <a:tcPr marL="254000" marR="254000" marT="76200" marB="76200" anchor="ctr" anchorCtr="0"/>
                </a:tc>
                <a:tc>
                  <a:txBody>
                    <a:bodyPr/>
                    <a:p>
                      <a:pPr algn="l">
                        <a:lnSpc>
                          <a:spcPct val="120000"/>
                        </a:lnSpc>
                      </a:pPr>
                      <a:r>
                        <a:rPr lang="zh-CN" altLang="en-US" sz="1400"/>
                        <a:t>起伏越大，地形越破碎，</a:t>
                      </a:r>
                      <a:endParaRPr lang="zh-CN" altLang="en-US" sz="1400"/>
                    </a:p>
                    <a:p>
                      <a:pPr algn="l">
                        <a:lnSpc>
                          <a:spcPct val="120000"/>
                        </a:lnSpc>
                      </a:pPr>
                      <a:r>
                        <a:rPr lang="zh-CN" altLang="en-US" sz="1400"/>
                        <a:t>通常越不稳定</a:t>
                      </a:r>
                      <a:endParaRPr lang="zh-CN" altLang="en-US" sz="1400"/>
                    </a:p>
                  </a:txBody>
                  <a:tcPr marL="254000" marR="254000" marT="76200" marB="76200" anchor="ctr" anchorCtr="0"/>
                </a:tc>
              </a:tr>
              <a:tr h="434975">
                <a:tc>
                  <a:txBody>
                    <a:bodyPr/>
                    <a:p>
                      <a:pPr algn="ctr">
                        <a:lnSpc>
                          <a:spcPct val="120000"/>
                        </a:lnSpc>
                      </a:pPr>
                      <a:r>
                        <a:rPr lang="zh-CN" altLang="en-US" sz="1400"/>
                        <a:t>汇流累积</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正向</a:t>
                      </a:r>
                      <a:endParaRPr lang="zh-CN" altLang="en-US" sz="1400"/>
                    </a:p>
                  </a:txBody>
                  <a:tcPr marL="254000" marR="254000" marT="76200" marB="76200" anchor="ctr" anchorCtr="0"/>
                </a:tc>
                <a:tc>
                  <a:txBody>
                    <a:bodyPr/>
                    <a:p>
                      <a:pPr algn="ctr">
                        <a:lnSpc>
                          <a:spcPct val="120000"/>
                        </a:lnSpc>
                      </a:pPr>
                      <a:r>
                        <a:rPr lang="zh-CN" altLang="en-US" sz="1400"/>
                        <a:t>正向</a:t>
                      </a:r>
                      <a:endParaRPr lang="zh-CN" altLang="en-US" sz="1400"/>
                    </a:p>
                  </a:txBody>
                  <a:tcPr marL="254000" marR="254000" marT="76200" marB="76200" anchor="ctr" anchorCtr="0"/>
                </a:tc>
                <a:tc>
                  <a:txBody>
                    <a:bodyPr/>
                    <a:p>
                      <a:pPr algn="l">
                        <a:lnSpc>
                          <a:spcPct val="120000"/>
                        </a:lnSpc>
                      </a:pPr>
                      <a:r>
                        <a:rPr lang="zh-CN" altLang="en-US" sz="1400"/>
                        <a:t>汇水越强，受水作用越强</a:t>
                      </a:r>
                      <a:endParaRPr lang="zh-CN" altLang="en-US" sz="1400"/>
                    </a:p>
                  </a:txBody>
                  <a:tcPr marL="254000" marR="254000" marT="76200" marB="76200" anchor="ctr" anchorCtr="0"/>
                </a:tc>
              </a:tr>
              <a:tr h="708025">
                <a:tc>
                  <a:txBody>
                    <a:bodyPr/>
                    <a:p>
                      <a:pPr algn="ctr">
                        <a:lnSpc>
                          <a:spcPct val="120000"/>
                        </a:lnSpc>
                      </a:pPr>
                      <a:r>
                        <a:rPr lang="zh-CN" altLang="en-US" sz="1400"/>
                        <a:t>距河流距离</a:t>
                      </a:r>
                      <a:endParaRPr lang="zh-CN" altLang="en-US" sz="1400"/>
                    </a:p>
                  </a:txBody>
                  <a:tcPr marL="254000" marR="254000" marT="76200" marB="76200" anchor="ctr" anchorCtr="0"/>
                </a:tc>
                <a:tc>
                  <a:txBody>
                    <a:bodyPr/>
                    <a:p>
                      <a:pPr algn="ctr">
                        <a:lnSpc>
                          <a:spcPct val="120000"/>
                        </a:lnSpc>
                      </a:pPr>
                      <a:r>
                        <a:rPr lang="zh-CN" altLang="en-US" sz="1400"/>
                        <a:t>危险性</a:t>
                      </a:r>
                      <a:endParaRPr lang="zh-CN" altLang="en-US" sz="1400"/>
                    </a:p>
                  </a:txBody>
                  <a:tcPr marL="254000" marR="254000" marT="76200" marB="76200" anchor="ctr" anchorCtr="0"/>
                </a:tc>
                <a:tc>
                  <a:txBody>
                    <a:bodyPr/>
                    <a:p>
                      <a:pPr algn="ctr">
                        <a:lnSpc>
                          <a:spcPct val="120000"/>
                        </a:lnSpc>
                      </a:pPr>
                      <a:r>
                        <a:rPr lang="zh-CN" altLang="en-US" sz="1400"/>
                        <a:t>负向（距离越大越不危险）</a:t>
                      </a:r>
                      <a:endParaRPr lang="zh-CN" altLang="en-US" sz="1400"/>
                    </a:p>
                  </a:txBody>
                  <a:tcPr marL="254000" marR="254000" marT="76200" marB="76200" anchor="ctr" anchorCtr="0"/>
                </a:tc>
                <a:tc>
                  <a:txBody>
                    <a:bodyPr/>
                    <a:p>
                      <a:pPr algn="ctr">
                        <a:lnSpc>
                          <a:spcPct val="120000"/>
                        </a:lnSpc>
                      </a:pPr>
                      <a:r>
                        <a:rPr lang="zh-CN" altLang="en-US" sz="1400"/>
                        <a:t>正向（反向后）</a:t>
                      </a:r>
                      <a:endParaRPr lang="zh-CN" altLang="en-US" sz="1400"/>
                    </a:p>
                  </a:txBody>
                  <a:tcPr marL="254000" marR="254000" marT="76200" marB="76200" anchor="ctr" anchorCtr="0"/>
                </a:tc>
                <a:tc>
                  <a:txBody>
                    <a:bodyPr/>
                    <a:p>
                      <a:pPr algn="l">
                        <a:lnSpc>
                          <a:spcPct val="120000"/>
                        </a:lnSpc>
                      </a:pPr>
                      <a:r>
                        <a:rPr lang="zh-CN" altLang="en-US" sz="1400"/>
                        <a:t>最终风险表达</a:t>
                      </a:r>
                      <a:endParaRPr lang="zh-CN" altLang="en-US" sz="1400"/>
                    </a:p>
                    <a:p>
                      <a:pPr algn="l">
                        <a:lnSpc>
                          <a:spcPct val="120000"/>
                        </a:lnSpc>
                      </a:pPr>
                      <a:r>
                        <a:rPr lang="zh-CN" altLang="en-US" sz="1400"/>
                        <a:t>应按“越近越危险”</a:t>
                      </a:r>
                      <a:r>
                        <a:rPr lang="zh-CN" altLang="en-US" sz="1400"/>
                        <a:t>来处理</a:t>
                      </a:r>
                      <a:endParaRPr lang="zh-CN" altLang="en-US" sz="1400"/>
                    </a:p>
                  </a:txBody>
                  <a:tcPr marL="254000" marR="254000" marT="76200" marB="76200" anchor="ctr" anchorCtr="0"/>
                </a:tc>
              </a:tr>
            </a:tbl>
          </a:graphicData>
        </a:graphic>
      </p:graphicFrame>
      <p:sp>
        <p:nvSpPr>
          <p:cNvPr id="2" name="文本框 1"/>
          <p:cNvSpPr txBox="1"/>
          <p:nvPr/>
        </p:nvSpPr>
        <p:spPr>
          <a:xfrm>
            <a:off x="1224915" y="335915"/>
            <a:ext cx="456438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地质灾害易发性指标</a:t>
            </a:r>
            <a:endParaRPr lang="zh-CN" altLang="en-US" sz="3200" spc="400" dirty="0">
              <a:solidFill>
                <a:schemeClr val="tx1">
                  <a:lumMod val="85000"/>
                  <a:lumOff val="15000"/>
                </a:schemeClr>
              </a:solidFill>
              <a:cs typeface="+mn-ea"/>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10077079" y="439625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331516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0" name="组合 19"/>
          <p:cNvGrpSpPr/>
          <p:nvPr/>
        </p:nvGrpSpPr>
        <p:grpSpPr>
          <a:xfrm>
            <a:off x="536270" y="1131712"/>
            <a:ext cx="782053" cy="544778"/>
            <a:chOff x="6346655" y="2177716"/>
            <a:chExt cx="782053" cy="544778"/>
          </a:xfrm>
        </p:grpSpPr>
        <p:sp>
          <p:nvSpPr>
            <p:cNvPr id="21" name="矩形 20"/>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6346655" y="2199274"/>
              <a:ext cx="782053" cy="523220"/>
            </a:xfrm>
            <a:prstGeom prst="rect">
              <a:avLst/>
            </a:prstGeom>
            <a:noFill/>
          </p:spPr>
          <p:txBody>
            <a:bodyPr wrap="square" rtlCol="0">
              <a:spAutoFit/>
            </a:bodyPr>
            <a:lstStyle/>
            <a:p>
              <a:pPr algn="ctr"/>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sp>
        <p:nvSpPr>
          <p:cNvPr id="26" name="文本框 25"/>
          <p:cNvSpPr txBox="1"/>
          <p:nvPr/>
        </p:nvSpPr>
        <p:spPr>
          <a:xfrm>
            <a:off x="847090" y="1783080"/>
            <a:ext cx="4984115" cy="2429510"/>
          </a:xfrm>
          <a:prstGeom prst="rect">
            <a:avLst/>
          </a:prstGeom>
          <a:noFill/>
        </p:spPr>
        <p:txBody>
          <a:bodyPr wrap="square" rtlCol="0">
            <a:noAutofit/>
          </a:bodyPr>
          <a:lstStyle/>
          <a:p>
            <a:pPr indent="0">
              <a:buFont typeface="Arial" panose="020B0604020202020204" pitchFamily="34" charset="0"/>
              <a:buNone/>
            </a:pPr>
            <a:r>
              <a:rPr lang="zh-CN" altLang="en-US" b="1">
                <a:sym typeface="+mn-ea"/>
              </a:rPr>
              <a:t>筛选原则</a:t>
            </a:r>
            <a:endParaRPr lang="zh-CN" altLang="en-US" b="1">
              <a:sym typeface="+mn-ea"/>
            </a:endParaRPr>
          </a:p>
          <a:p>
            <a:pPr indent="0">
              <a:buFont typeface="Arial" panose="020B0604020202020204" pitchFamily="34" charset="0"/>
              <a:buNone/>
            </a:pPr>
            <a:endParaRPr lang="zh-CN" altLang="en-US" b="1">
              <a:sym typeface="+mn-ea"/>
            </a:endParaRPr>
          </a:p>
          <a:p>
            <a:pPr indent="0">
              <a:buFont typeface="Arial" panose="020B0604020202020204" pitchFamily="34" charset="0"/>
              <a:buNone/>
            </a:pPr>
            <a:r>
              <a:rPr lang="zh-CN" altLang="en-US" sz="1400">
                <a:sym typeface="+mn-ea"/>
              </a:rPr>
              <a:t>根据成灾机理、</a:t>
            </a:r>
            <a:r>
              <a:rPr lang="en-US" altLang="zh-CN" sz="1400">
                <a:sym typeface="+mn-ea"/>
              </a:rPr>
              <a:t>FR</a:t>
            </a:r>
            <a:r>
              <a:rPr lang="zh-CN" altLang="en-US" sz="1400">
                <a:sym typeface="+mn-ea"/>
              </a:rPr>
              <a:t>区分力、图面稳定性和变量重复性，</a:t>
            </a:r>
            <a:endParaRPr lang="zh-CN" altLang="en-US" sz="1400">
              <a:sym typeface="+mn-ea"/>
            </a:endParaRPr>
          </a:p>
          <a:p>
            <a:pPr indent="0">
              <a:buFont typeface="Arial" panose="020B0604020202020204" pitchFamily="34" charset="0"/>
              <a:buNone/>
            </a:pPr>
            <a:r>
              <a:rPr lang="zh-CN" altLang="en-US" sz="1400">
                <a:sym typeface="+mn-ea"/>
              </a:rPr>
              <a:t>将因子分为</a:t>
            </a:r>
            <a:r>
              <a:rPr lang="zh-CN" altLang="en-US" sz="1400">
                <a:solidFill>
                  <a:srgbClr val="C00000"/>
                </a:solidFill>
                <a:sym typeface="+mn-ea"/>
              </a:rPr>
              <a:t>主因子与辅助因子</a:t>
            </a:r>
            <a:r>
              <a:rPr lang="zh-CN" altLang="en-US" sz="1400">
                <a:sym typeface="+mn-ea"/>
              </a:rPr>
              <a:t>。</a:t>
            </a:r>
            <a:r>
              <a:rPr lang="en-US" altLang="zh-CN" sz="1400">
                <a:sym typeface="+mn-ea"/>
              </a:rPr>
              <a:t>	</a:t>
            </a:r>
            <a:endParaRPr lang="zh-CN" altLang="en-US" sz="1400"/>
          </a:p>
          <a:p>
            <a:pPr indent="0">
              <a:buFont typeface="Arial" panose="020B0604020202020204" pitchFamily="34" charset="0"/>
              <a:buNone/>
            </a:pPr>
            <a:endParaRPr lang="zh-CN" altLang="en-US" sz="1400">
              <a:sym typeface="+mn-ea"/>
            </a:endParaRPr>
          </a:p>
          <a:p>
            <a:pPr indent="0">
              <a:buFont typeface="Arial" panose="020B0604020202020204" pitchFamily="34" charset="0"/>
              <a:buNone/>
            </a:pPr>
            <a:r>
              <a:rPr lang="zh-CN" altLang="en-US" b="1">
                <a:sym typeface="+mn-ea"/>
              </a:rPr>
              <a:t>主因子：决定空间骨架</a:t>
            </a:r>
            <a:endParaRPr lang="zh-CN" altLang="en-US" b="1">
              <a:sym typeface="+mn-ea"/>
            </a:endParaRPr>
          </a:p>
          <a:p>
            <a:pPr indent="0">
              <a:buFont typeface="Arial" panose="020B0604020202020204" pitchFamily="34" charset="0"/>
              <a:buNone/>
            </a:pPr>
            <a:endParaRPr lang="zh-CN" altLang="en-US" sz="1400" b="1">
              <a:sym typeface="+mn-ea"/>
            </a:endParaRPr>
          </a:p>
          <a:p>
            <a:pPr marL="171450" indent="-171450">
              <a:buFont typeface="Arial" panose="020B0604020202020204" pitchFamily="34" charset="0"/>
              <a:buChar char="•"/>
            </a:pPr>
            <a:r>
              <a:rPr lang="zh-CN" altLang="en-US" sz="1200">
                <a:sym typeface="+mn-ea"/>
              </a:rPr>
              <a:t>坡度：直接控制坡体稳定性，是最基础的地形因子。</a:t>
            </a:r>
            <a:endParaRPr lang="zh-CN" altLang="en-US" sz="1200">
              <a:sym typeface="+mn-ea"/>
            </a:endParaRPr>
          </a:p>
          <a:p>
            <a:pPr marL="171450" indent="-171450">
              <a:buFont typeface="Arial" panose="020B0604020202020204" pitchFamily="34" charset="0"/>
              <a:buChar char="•"/>
            </a:pPr>
            <a:r>
              <a:rPr lang="zh-CN" altLang="en-US" sz="1200">
                <a:sym typeface="+mn-ea"/>
              </a:rPr>
              <a:t>地形起伏度：反映地形破碎和沟谷切割，区分力较稳定。</a:t>
            </a:r>
            <a:endParaRPr lang="zh-CN" altLang="en-US" sz="1200">
              <a:sym typeface="+mn-ea"/>
            </a:endParaRPr>
          </a:p>
          <a:p>
            <a:pPr marL="171450" indent="-171450">
              <a:buFont typeface="Arial" panose="020B0604020202020204" pitchFamily="34" charset="0"/>
              <a:buChar char="•"/>
            </a:pPr>
            <a:r>
              <a:rPr lang="zh-CN" altLang="en-US" sz="1200">
                <a:sym typeface="+mn-ea"/>
              </a:rPr>
              <a:t>地表覆盖：反映土地利用、人类活动和植被保护差异，</a:t>
            </a:r>
            <a:r>
              <a:rPr lang="en-US" altLang="zh-CN" sz="1200">
                <a:sym typeface="+mn-ea"/>
              </a:rPr>
              <a:t>FR</a:t>
            </a:r>
            <a:r>
              <a:rPr lang="zh-CN" altLang="en-US" sz="1200">
                <a:sym typeface="+mn-ea"/>
              </a:rPr>
              <a:t>区分力明显。</a:t>
            </a:r>
            <a:endParaRPr lang="zh-CN" altLang="en-US" sz="1200"/>
          </a:p>
          <a:p>
            <a:pPr marL="285750" indent="-285750">
              <a:buFont typeface="Arial" panose="020B0604020202020204" pitchFamily="34" charset="0"/>
              <a:buChar char="•"/>
            </a:pPr>
            <a:endParaRPr lang="zh-CN" altLang="en-US" sz="1200" spc="300" dirty="0">
              <a:solidFill>
                <a:schemeClr val="tx1">
                  <a:lumMod val="85000"/>
                  <a:lumOff val="15000"/>
                </a:schemeClr>
              </a:solidFill>
              <a:cs typeface="+mn-ea"/>
              <a:sym typeface="+mn-lt"/>
            </a:endParaRPr>
          </a:p>
        </p:txBody>
      </p:sp>
      <p:sp>
        <p:nvSpPr>
          <p:cNvPr id="27" name="文本框 26"/>
          <p:cNvSpPr txBox="1"/>
          <p:nvPr/>
        </p:nvSpPr>
        <p:spPr>
          <a:xfrm>
            <a:off x="1306830" y="1186815"/>
            <a:ext cx="2711450"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主因子</a:t>
            </a:r>
            <a:endParaRPr lang="zh-CN" altLang="en-US" sz="2400" dirty="0">
              <a:solidFill>
                <a:schemeClr val="tx1">
                  <a:lumMod val="85000"/>
                  <a:lumOff val="15000"/>
                </a:schemeClr>
              </a:solidFill>
              <a:cs typeface="+mn-ea"/>
              <a:sym typeface="+mn-lt"/>
            </a:endParaRPr>
          </a:p>
        </p:txBody>
      </p:sp>
      <p:sp>
        <p:nvSpPr>
          <p:cNvPr id="32" name="文本框 31"/>
          <p:cNvSpPr txBox="1"/>
          <p:nvPr/>
        </p:nvSpPr>
        <p:spPr>
          <a:xfrm>
            <a:off x="1224915" y="335915"/>
            <a:ext cx="4645025"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主副因子决定思路</a:t>
            </a:r>
            <a:endParaRPr lang="zh-CN" altLang="en-US" sz="3200" spc="400" dirty="0">
              <a:solidFill>
                <a:schemeClr val="tx1">
                  <a:lumMod val="85000"/>
                  <a:lumOff val="15000"/>
                </a:schemeClr>
              </a:solidFill>
              <a:cs typeface="+mn-ea"/>
              <a:sym typeface="+mn-lt"/>
            </a:endParaRPr>
          </a:p>
        </p:txBody>
      </p:sp>
      <p:grpSp>
        <p:nvGrpSpPr>
          <p:cNvPr id="33" name="组合 32"/>
          <p:cNvGrpSpPr/>
          <p:nvPr/>
        </p:nvGrpSpPr>
        <p:grpSpPr>
          <a:xfrm>
            <a:off x="420106" y="300845"/>
            <a:ext cx="760161" cy="654908"/>
            <a:chOff x="401056" y="200808"/>
            <a:chExt cx="760161" cy="654908"/>
          </a:xfrm>
        </p:grpSpPr>
        <p:sp>
          <p:nvSpPr>
            <p:cNvPr id="34" name="椭圆 33"/>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 name="组合 3"/>
          <p:cNvGrpSpPr/>
          <p:nvPr/>
        </p:nvGrpSpPr>
        <p:grpSpPr>
          <a:xfrm>
            <a:off x="5826455" y="1076467"/>
            <a:ext cx="782053" cy="543528"/>
            <a:chOff x="6346655" y="2177716"/>
            <a:chExt cx="782053" cy="543528"/>
          </a:xfrm>
        </p:grpSpPr>
        <p:sp>
          <p:nvSpPr>
            <p:cNvPr id="6" name="矩形 5"/>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a:off x="6346655" y="2199274"/>
              <a:ext cx="782053" cy="521970"/>
            </a:xfrm>
            <a:prstGeom prst="rect">
              <a:avLst/>
            </a:prstGeom>
            <a:noFill/>
          </p:spPr>
          <p:txBody>
            <a:bodyPr wrap="square" rtlCol="0">
              <a:spAutoFit/>
            </a:bodyPr>
            <a:lstStyle/>
            <a:p>
              <a:pPr algn="ctr"/>
              <a:r>
                <a:rPr lang="en-US" altLang="zh-CN" sz="2800" dirty="0">
                  <a:solidFill>
                    <a:schemeClr val="bg1"/>
                  </a:solidFill>
                  <a:cs typeface="+mn-ea"/>
                  <a:sym typeface="+mn-lt"/>
                </a:rPr>
                <a:t>02</a:t>
              </a:r>
              <a:endParaRPr lang="zh-CN" altLang="en-US" sz="2800" dirty="0">
                <a:solidFill>
                  <a:schemeClr val="bg1"/>
                </a:solidFill>
                <a:cs typeface="+mn-ea"/>
                <a:sym typeface="+mn-lt"/>
              </a:endParaRPr>
            </a:p>
          </p:txBody>
        </p:sp>
      </p:grpSp>
      <p:sp>
        <p:nvSpPr>
          <p:cNvPr id="9" name="文本框 8"/>
          <p:cNvSpPr txBox="1"/>
          <p:nvPr/>
        </p:nvSpPr>
        <p:spPr>
          <a:xfrm>
            <a:off x="6137275" y="1727835"/>
            <a:ext cx="5153025" cy="1691640"/>
          </a:xfrm>
          <a:prstGeom prst="rect">
            <a:avLst/>
          </a:prstGeom>
          <a:noFill/>
        </p:spPr>
        <p:txBody>
          <a:bodyPr wrap="square" rtlCol="0">
            <a:spAutoFit/>
          </a:bodyPr>
          <a:lstStyle/>
          <a:p>
            <a:pPr indent="0">
              <a:buFont typeface="Arial" panose="020B0604020202020204" pitchFamily="34" charset="0"/>
              <a:buNone/>
            </a:pPr>
            <a:r>
              <a:rPr lang="zh-CN" altLang="en-US" b="1" spc="300" dirty="0">
                <a:solidFill>
                  <a:schemeClr val="tx1">
                    <a:lumMod val="85000"/>
                    <a:lumOff val="15000"/>
                  </a:schemeClr>
                </a:solidFill>
                <a:cs typeface="+mn-ea"/>
                <a:sym typeface="+mn-lt"/>
              </a:rPr>
              <a:t>辅助因子</a:t>
            </a:r>
            <a:endParaRPr lang="zh-CN" altLang="en-US" b="1" spc="300" dirty="0">
              <a:solidFill>
                <a:schemeClr val="tx1">
                  <a:lumMod val="85000"/>
                  <a:lumOff val="15000"/>
                </a:schemeClr>
              </a:solidFill>
              <a:cs typeface="+mn-ea"/>
              <a:sym typeface="+mn-lt"/>
            </a:endParaRPr>
          </a:p>
          <a:p>
            <a:pPr indent="0">
              <a:buFont typeface="Arial" panose="020B0604020202020204" pitchFamily="34" charset="0"/>
              <a:buNone/>
            </a:pPr>
            <a:endParaRPr lang="zh-CN" altLang="en-US" sz="1400" b="1" spc="300" dirty="0">
              <a:solidFill>
                <a:schemeClr val="tx1">
                  <a:lumMod val="85000"/>
                  <a:lumOff val="15000"/>
                </a:schemeClr>
              </a:solidFill>
              <a:cs typeface="+mn-ea"/>
              <a:sym typeface="+mn-lt"/>
            </a:endParaRPr>
          </a:p>
          <a:p>
            <a:pPr marL="285750" indent="-285750">
              <a:buFont typeface="Arial" panose="020B0604020202020204" pitchFamily="34" charset="0"/>
              <a:buChar char="•"/>
            </a:pPr>
            <a:r>
              <a:rPr lang="en-US" altLang="zh-CN" sz="1200" spc="300" dirty="0">
                <a:solidFill>
                  <a:schemeClr val="tx1">
                    <a:lumMod val="85000"/>
                    <a:lumOff val="15000"/>
                  </a:schemeClr>
                </a:solidFill>
                <a:cs typeface="+mn-ea"/>
                <a:sym typeface="+mn-lt"/>
              </a:rPr>
              <a:t>NDVI：</a:t>
            </a:r>
            <a:r>
              <a:rPr lang="zh-CN" altLang="en-US" sz="1200" spc="300" dirty="0">
                <a:solidFill>
                  <a:schemeClr val="tx1">
                    <a:lumMod val="85000"/>
                    <a:lumOff val="15000"/>
                  </a:schemeClr>
                </a:solidFill>
                <a:cs typeface="+mn-ea"/>
                <a:sym typeface="+mn-lt"/>
              </a:rPr>
              <a:t>信息量较强，但与地表覆盖存在部分重复。</a:t>
            </a:r>
            <a:endParaRPr lang="zh-CN" altLang="en-US" sz="1200" spc="300" dirty="0">
              <a:solidFill>
                <a:schemeClr val="tx1">
                  <a:lumMod val="85000"/>
                  <a:lumOff val="15000"/>
                </a:schemeClr>
              </a:solidFill>
              <a:cs typeface="+mn-ea"/>
              <a:sym typeface="+mn-lt"/>
            </a:endParaRPr>
          </a:p>
          <a:p>
            <a:pPr marL="285750" indent="-285750">
              <a:buFont typeface="Arial" panose="020B0604020202020204" pitchFamily="34" charset="0"/>
              <a:buChar char="•"/>
            </a:pPr>
            <a:r>
              <a:rPr lang="zh-CN" altLang="en-US" sz="1200" spc="300" dirty="0">
                <a:solidFill>
                  <a:schemeClr val="tx1">
                    <a:lumMod val="85000"/>
                    <a:lumOff val="15000"/>
                  </a:schemeClr>
                </a:solidFill>
                <a:cs typeface="+mn-ea"/>
                <a:sym typeface="+mn-lt"/>
              </a:rPr>
              <a:t>河流距离：反映沟谷侵蚀，但易形成河谷骨架。</a:t>
            </a:r>
            <a:endParaRPr lang="zh-CN" altLang="en-US" sz="1200" spc="300" dirty="0">
              <a:solidFill>
                <a:schemeClr val="tx1">
                  <a:lumMod val="85000"/>
                  <a:lumOff val="15000"/>
                </a:schemeClr>
              </a:solidFill>
              <a:cs typeface="+mn-ea"/>
              <a:sym typeface="+mn-lt"/>
            </a:endParaRPr>
          </a:p>
          <a:p>
            <a:pPr marL="285750" indent="-285750">
              <a:buFont typeface="Arial" panose="020B0604020202020204" pitchFamily="34" charset="0"/>
              <a:buChar char="•"/>
            </a:pPr>
            <a:r>
              <a:rPr lang="zh-CN" altLang="en-US" sz="1200" spc="300" dirty="0">
                <a:solidFill>
                  <a:schemeClr val="tx1">
                    <a:lumMod val="85000"/>
                    <a:lumOff val="15000"/>
                  </a:schemeClr>
                </a:solidFill>
                <a:cs typeface="+mn-ea"/>
                <a:sym typeface="+mn-lt"/>
              </a:rPr>
              <a:t>道路距离：反映工程扰动，但易形成道路网络骨架。</a:t>
            </a:r>
            <a:endParaRPr lang="zh-CN" altLang="en-US" sz="1200" spc="300" dirty="0">
              <a:solidFill>
                <a:schemeClr val="tx1">
                  <a:lumMod val="85000"/>
                  <a:lumOff val="15000"/>
                </a:schemeClr>
              </a:solidFill>
              <a:cs typeface="+mn-ea"/>
              <a:sym typeface="+mn-lt"/>
            </a:endParaRPr>
          </a:p>
          <a:p>
            <a:pPr marL="285750" indent="-285750">
              <a:buFont typeface="Arial" panose="020B0604020202020204" pitchFamily="34" charset="0"/>
              <a:buChar char="•"/>
            </a:pPr>
            <a:r>
              <a:rPr lang="zh-CN" altLang="en-US" sz="1200" spc="300" dirty="0">
                <a:solidFill>
                  <a:schemeClr val="tx1">
                    <a:lumMod val="85000"/>
                    <a:lumOff val="15000"/>
                  </a:schemeClr>
                </a:solidFill>
                <a:cs typeface="+mn-ea"/>
                <a:sym typeface="+mn-lt"/>
              </a:rPr>
              <a:t>坡向：有方向性信号，但稳定性弱于主地形因子。</a:t>
            </a:r>
            <a:endParaRPr lang="zh-CN" altLang="en-US" sz="1200" spc="300" dirty="0">
              <a:solidFill>
                <a:schemeClr val="tx1">
                  <a:lumMod val="85000"/>
                  <a:lumOff val="15000"/>
                </a:schemeClr>
              </a:solidFill>
              <a:cs typeface="+mn-ea"/>
              <a:sym typeface="+mn-lt"/>
            </a:endParaRPr>
          </a:p>
          <a:p>
            <a:pPr marL="285750" indent="-285750">
              <a:buFont typeface="Arial" panose="020B0604020202020204" pitchFamily="34" charset="0"/>
              <a:buChar char="•"/>
            </a:pPr>
            <a:r>
              <a:rPr lang="zh-CN" altLang="en-US" sz="1200" spc="300" dirty="0">
                <a:solidFill>
                  <a:schemeClr val="tx1">
                    <a:lumMod val="85000"/>
                    <a:lumOff val="15000"/>
                  </a:schemeClr>
                </a:solidFill>
                <a:cs typeface="+mn-ea"/>
                <a:sym typeface="+mn-lt"/>
              </a:rPr>
              <a:t>曲率：反映坡面形态，合理但贡献较弱。</a:t>
            </a:r>
            <a:endParaRPr lang="zh-CN" altLang="en-US" sz="1200" spc="300" dirty="0">
              <a:solidFill>
                <a:schemeClr val="tx1">
                  <a:lumMod val="85000"/>
                  <a:lumOff val="15000"/>
                </a:schemeClr>
              </a:solidFill>
              <a:cs typeface="+mn-ea"/>
              <a:sym typeface="+mn-lt"/>
            </a:endParaRPr>
          </a:p>
          <a:p>
            <a:pPr marL="285750" indent="-285750">
              <a:buFont typeface="Arial" panose="020B0604020202020204" pitchFamily="34" charset="0"/>
              <a:buChar char="•"/>
            </a:pPr>
            <a:r>
              <a:rPr lang="zh-CN" altLang="en-US" sz="1200" spc="300" dirty="0">
                <a:solidFill>
                  <a:schemeClr val="tx1">
                    <a:lumMod val="85000"/>
                    <a:lumOff val="15000"/>
                  </a:schemeClr>
                </a:solidFill>
                <a:cs typeface="+mn-ea"/>
                <a:sym typeface="+mn-lt"/>
              </a:rPr>
              <a:t>汇流累积：表达汇水条件，但区分力较弱。</a:t>
            </a:r>
            <a:endParaRPr lang="zh-CN" altLang="en-US" sz="1200" spc="300" dirty="0">
              <a:solidFill>
                <a:schemeClr val="tx1">
                  <a:lumMod val="85000"/>
                  <a:lumOff val="15000"/>
                </a:schemeClr>
              </a:solidFill>
              <a:cs typeface="+mn-ea"/>
              <a:sym typeface="+mn-lt"/>
            </a:endParaRPr>
          </a:p>
        </p:txBody>
      </p:sp>
      <p:sp>
        <p:nvSpPr>
          <p:cNvPr id="15" name="文本框 14"/>
          <p:cNvSpPr txBox="1"/>
          <p:nvPr/>
        </p:nvSpPr>
        <p:spPr>
          <a:xfrm>
            <a:off x="6597015" y="1131570"/>
            <a:ext cx="2711450"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辅助因子</a:t>
            </a:r>
            <a:endParaRPr lang="zh-CN" altLang="en-US" sz="2400" dirty="0">
              <a:solidFill>
                <a:schemeClr val="tx1">
                  <a:lumMod val="85000"/>
                  <a:lumOff val="15000"/>
                </a:schemeClr>
              </a:solidFill>
              <a:cs typeface="+mn-ea"/>
              <a:sym typeface="+mn-lt"/>
            </a:endParaRPr>
          </a:p>
        </p:txBody>
      </p:sp>
      <p:grpSp>
        <p:nvGrpSpPr>
          <p:cNvPr id="44" name="组合 43"/>
          <p:cNvGrpSpPr/>
          <p:nvPr/>
        </p:nvGrpSpPr>
        <p:grpSpPr>
          <a:xfrm>
            <a:off x="524205" y="4466097"/>
            <a:ext cx="782053" cy="543528"/>
            <a:chOff x="6346655" y="2177716"/>
            <a:chExt cx="782053" cy="543528"/>
          </a:xfrm>
        </p:grpSpPr>
        <p:sp>
          <p:nvSpPr>
            <p:cNvPr id="45" name="矩形 44"/>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文本框 45"/>
            <p:cNvSpPr txBox="1"/>
            <p:nvPr/>
          </p:nvSpPr>
          <p:spPr>
            <a:xfrm>
              <a:off x="6346655" y="2199274"/>
              <a:ext cx="782053" cy="521970"/>
            </a:xfrm>
            <a:prstGeom prst="rect">
              <a:avLst/>
            </a:prstGeom>
            <a:noFill/>
          </p:spPr>
          <p:txBody>
            <a:bodyPr wrap="square" rtlCol="0">
              <a:spAutoFit/>
            </a:bodyPr>
            <a:lstStyle/>
            <a:p>
              <a:pPr algn="ctr"/>
              <a:r>
                <a:rPr lang="en-US" altLang="zh-CN" sz="2800" dirty="0">
                  <a:solidFill>
                    <a:schemeClr val="bg1"/>
                  </a:solidFill>
                  <a:cs typeface="+mn-ea"/>
                  <a:sym typeface="+mn-lt"/>
                </a:rPr>
                <a:t>03</a:t>
              </a:r>
              <a:endParaRPr lang="zh-CN" altLang="en-US" sz="2800" dirty="0">
                <a:solidFill>
                  <a:schemeClr val="bg1"/>
                </a:solidFill>
                <a:cs typeface="+mn-ea"/>
                <a:sym typeface="+mn-lt"/>
              </a:endParaRPr>
            </a:p>
          </p:txBody>
        </p:sp>
      </p:grpSp>
      <p:sp>
        <p:nvSpPr>
          <p:cNvPr id="47" name="文本框 46"/>
          <p:cNvSpPr txBox="1"/>
          <p:nvPr/>
        </p:nvSpPr>
        <p:spPr>
          <a:xfrm>
            <a:off x="1311910" y="4521200"/>
            <a:ext cx="3357245" cy="460375"/>
          </a:xfrm>
          <a:prstGeom prst="rect">
            <a:avLst/>
          </a:prstGeom>
          <a:noFill/>
        </p:spPr>
        <p:txBody>
          <a:bodyPr wrap="square" rtlCol="0">
            <a:spAutoFit/>
          </a:bodyPr>
          <a:lstStyle/>
          <a:p>
            <a:r>
              <a:rPr lang="en-US" altLang="zh-CN" sz="2400" dirty="0">
                <a:solidFill>
                  <a:schemeClr val="tx1">
                    <a:lumMod val="85000"/>
                    <a:lumOff val="15000"/>
                  </a:schemeClr>
                </a:solidFill>
                <a:cs typeface="+mn-ea"/>
                <a:sym typeface="+mn-lt"/>
              </a:rPr>
              <a:t>FR</a:t>
            </a:r>
            <a:r>
              <a:rPr lang="zh-CN" altLang="en-US" sz="2400" dirty="0">
                <a:solidFill>
                  <a:schemeClr val="tx1">
                    <a:lumMod val="85000"/>
                    <a:lumOff val="15000"/>
                  </a:schemeClr>
                </a:solidFill>
                <a:cs typeface="+mn-ea"/>
                <a:sym typeface="+mn-lt"/>
              </a:rPr>
              <a:t>综合易发性指数</a:t>
            </a:r>
            <a:endParaRPr lang="zh-CN" altLang="en-US" sz="2400" dirty="0">
              <a:solidFill>
                <a:schemeClr val="tx1">
                  <a:lumMod val="85000"/>
                  <a:lumOff val="15000"/>
                </a:schemeClr>
              </a:solidFill>
              <a:cs typeface="+mn-ea"/>
              <a:sym typeface="+mn-lt"/>
            </a:endParaRPr>
          </a:p>
        </p:txBody>
      </p:sp>
      <p:sp>
        <p:nvSpPr>
          <p:cNvPr id="48" name="文本框 47"/>
          <p:cNvSpPr txBox="1"/>
          <p:nvPr/>
        </p:nvSpPr>
        <p:spPr>
          <a:xfrm>
            <a:off x="650240" y="5053330"/>
            <a:ext cx="9753600" cy="368300"/>
          </a:xfrm>
          <a:prstGeom prst="rect">
            <a:avLst/>
          </a:prstGeom>
          <a:noFill/>
        </p:spPr>
        <p:txBody>
          <a:bodyPr wrap="square" rtlCol="0" anchor="t">
            <a:spAutoFit/>
          </a:bodyPr>
          <a:p>
            <a:r>
              <a:rPr lang="zh-CN" altLang="en-US"/>
              <a:t>综合易发性指数 </a:t>
            </a:r>
            <a:endParaRPr lang="zh-CN" altLang="en-US"/>
          </a:p>
        </p:txBody>
      </p:sp>
      <p:pic>
        <p:nvPicPr>
          <p:cNvPr id="2" name="图片 1"/>
          <p:cNvPicPr>
            <a:picLocks noChangeAspect="1"/>
          </p:cNvPicPr>
          <p:nvPr/>
        </p:nvPicPr>
        <p:blipFill>
          <a:blip r:embed="rId1"/>
          <a:stretch>
            <a:fillRect/>
          </a:stretch>
        </p:blipFill>
        <p:spPr>
          <a:xfrm>
            <a:off x="650240" y="5479415"/>
            <a:ext cx="7334250" cy="123825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6" grpId="0"/>
      <p:bldP spid="27" grpId="0"/>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10077079" y="439625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331516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0" name="组合 19"/>
          <p:cNvGrpSpPr/>
          <p:nvPr/>
        </p:nvGrpSpPr>
        <p:grpSpPr>
          <a:xfrm>
            <a:off x="5639130" y="995822"/>
            <a:ext cx="782053" cy="544778"/>
            <a:chOff x="6346655" y="2177716"/>
            <a:chExt cx="782053" cy="544778"/>
          </a:xfrm>
        </p:grpSpPr>
        <p:sp>
          <p:nvSpPr>
            <p:cNvPr id="21" name="矩形 20"/>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6346655" y="2199274"/>
              <a:ext cx="782053" cy="523220"/>
            </a:xfrm>
            <a:prstGeom prst="rect">
              <a:avLst/>
            </a:prstGeom>
            <a:noFill/>
          </p:spPr>
          <p:txBody>
            <a:bodyPr wrap="square" rtlCol="0">
              <a:spAutoFit/>
            </a:bodyPr>
            <a:lstStyle/>
            <a:p>
              <a:pPr algn="ctr"/>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sp>
        <p:nvSpPr>
          <p:cNvPr id="26" name="文本框 25"/>
          <p:cNvSpPr txBox="1"/>
          <p:nvPr/>
        </p:nvSpPr>
        <p:spPr>
          <a:xfrm>
            <a:off x="5949950" y="1647190"/>
            <a:ext cx="5340985" cy="4307840"/>
          </a:xfrm>
          <a:prstGeom prst="rect">
            <a:avLst/>
          </a:prstGeom>
          <a:noFill/>
        </p:spPr>
        <p:txBody>
          <a:bodyPr wrap="square" rtlCol="0">
            <a:spAutoFit/>
          </a:bodyPr>
          <a:lstStyle/>
          <a:p>
            <a:pPr indent="0">
              <a:buFont typeface="Arial" panose="020B0604020202020204" pitchFamily="34" charset="0"/>
              <a:buNone/>
            </a:pPr>
            <a:r>
              <a:rPr lang="zh-CN" altLang="en-US" sz="1600" b="1" spc="300" dirty="0">
                <a:solidFill>
                  <a:schemeClr val="tx1">
                    <a:lumMod val="85000"/>
                    <a:lumOff val="15000"/>
                  </a:schemeClr>
                </a:solidFill>
                <a:cs typeface="+mn-ea"/>
                <a:sym typeface="+mn-lt"/>
              </a:rPr>
              <a:t>图面特征</a:t>
            </a:r>
            <a:endParaRPr lang="zh-CN" altLang="en-US" sz="1600" b="1" spc="300" dirty="0">
              <a:solidFill>
                <a:schemeClr val="tx1">
                  <a:lumMod val="85000"/>
                  <a:lumOff val="15000"/>
                </a:schemeClr>
              </a:solidFill>
              <a:cs typeface="+mn-ea"/>
              <a:sym typeface="+mn-lt"/>
            </a:endParaRPr>
          </a:p>
          <a:p>
            <a:pPr indent="0">
              <a:buFont typeface="Arial" panose="020B0604020202020204" pitchFamily="34" charset="0"/>
              <a:buNone/>
            </a:pPr>
            <a:endParaRPr lang="zh-CN" altLang="en-US" sz="1600" b="1" spc="300" dirty="0">
              <a:solidFill>
                <a:schemeClr val="tx1">
                  <a:lumMod val="85000"/>
                  <a:lumOff val="15000"/>
                </a:schemeClr>
              </a:solidFill>
              <a:cs typeface="+mn-ea"/>
              <a:sym typeface="+mn-lt"/>
            </a:endParaRPr>
          </a:p>
          <a:p>
            <a:pPr marL="342900" indent="-342900">
              <a:buFont typeface="+mj-lt"/>
              <a:buAutoNum type="arabicPeriod"/>
            </a:pPr>
            <a:r>
              <a:rPr lang="zh-CN" altLang="en-US" sz="1400" spc="300" dirty="0">
                <a:solidFill>
                  <a:schemeClr val="tx1">
                    <a:lumMod val="85000"/>
                    <a:lumOff val="15000"/>
                  </a:schemeClr>
                </a:solidFill>
                <a:cs typeface="+mn-ea"/>
                <a:sym typeface="+mn-lt"/>
              </a:rPr>
              <a:t>易发性高值区主要沿山地起伏明显区、沟谷切割区及道路扰动区分布。</a:t>
            </a:r>
            <a:endParaRPr lang="zh-CN" altLang="en-US" sz="1400" spc="300" dirty="0">
              <a:solidFill>
                <a:schemeClr val="tx1">
                  <a:lumMod val="85000"/>
                  <a:lumOff val="15000"/>
                </a:schemeClr>
              </a:solidFill>
              <a:cs typeface="+mn-ea"/>
              <a:sym typeface="+mn-lt"/>
            </a:endParaRPr>
          </a:p>
          <a:p>
            <a:pPr marL="342900" indent="-342900">
              <a:buFont typeface="+mj-lt"/>
              <a:buAutoNum type="arabicPeriod"/>
            </a:pPr>
            <a:r>
              <a:rPr lang="zh-CN" altLang="en-US" sz="1400" spc="300" dirty="0">
                <a:solidFill>
                  <a:schemeClr val="tx1">
                    <a:lumMod val="85000"/>
                    <a:lumOff val="15000"/>
                  </a:schemeClr>
                </a:solidFill>
                <a:cs typeface="+mn-ea"/>
                <a:sym typeface="+mn-lt"/>
              </a:rPr>
              <a:t>隐患点多位于中高易发性背景附近，说明结果与已有隐患点具有一定空间对应关系。</a:t>
            </a:r>
            <a:endParaRPr lang="zh-CN" altLang="en-US" sz="1400" spc="300" dirty="0">
              <a:solidFill>
                <a:schemeClr val="tx1">
                  <a:lumMod val="85000"/>
                  <a:lumOff val="15000"/>
                </a:schemeClr>
              </a:solidFill>
              <a:cs typeface="+mn-ea"/>
              <a:sym typeface="+mn-lt"/>
            </a:endParaRPr>
          </a:p>
          <a:p>
            <a:pPr marL="342900" indent="-342900">
              <a:buFont typeface="+mj-lt"/>
              <a:buAutoNum type="arabicPeriod"/>
            </a:pPr>
            <a:r>
              <a:rPr lang="zh-CN" altLang="en-US" sz="1400" spc="300" dirty="0">
                <a:solidFill>
                  <a:schemeClr val="tx1">
                    <a:lumMod val="85000"/>
                    <a:lumOff val="15000"/>
                  </a:schemeClr>
                </a:solidFill>
                <a:cs typeface="+mn-ea"/>
                <a:sym typeface="+mn-lt"/>
              </a:rPr>
              <a:t>低易发区多出现在地形较平缓、植被覆盖较稳定或人为扰动较弱的区域。</a:t>
            </a:r>
            <a:endParaRPr lang="zh-CN" altLang="en-US" sz="1400" spc="300" dirty="0">
              <a:solidFill>
                <a:schemeClr val="tx1">
                  <a:lumMod val="85000"/>
                  <a:lumOff val="15000"/>
                </a:schemeClr>
              </a:solidFill>
              <a:cs typeface="+mn-ea"/>
              <a:sym typeface="+mn-lt"/>
            </a:endParaRPr>
          </a:p>
          <a:p>
            <a:pPr marL="285750" indent="-285750">
              <a:buFont typeface="Arial" panose="020B0604020202020204" pitchFamily="34" charset="0"/>
              <a:buChar char="•"/>
            </a:pPr>
            <a:endParaRPr lang="en-US" altLang="zh-CN"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600" b="1" spc="300" dirty="0">
                <a:solidFill>
                  <a:schemeClr val="tx1">
                    <a:lumMod val="85000"/>
                    <a:lumOff val="15000"/>
                  </a:schemeClr>
                </a:solidFill>
                <a:cs typeface="+mn-ea"/>
                <a:sym typeface="+mn-lt"/>
              </a:rPr>
              <a:t>原因分析</a:t>
            </a:r>
            <a:endParaRPr lang="zh-CN" altLang="en-US" sz="1600" b="1" spc="300" dirty="0">
              <a:solidFill>
                <a:schemeClr val="tx1">
                  <a:lumMod val="85000"/>
                  <a:lumOff val="15000"/>
                </a:schemeClr>
              </a:solidFill>
              <a:cs typeface="+mn-ea"/>
              <a:sym typeface="+mn-lt"/>
            </a:endParaRPr>
          </a:p>
          <a:p>
            <a:pPr indent="0">
              <a:buFont typeface="Arial" panose="020B0604020202020204" pitchFamily="34" charset="0"/>
              <a:buNone/>
            </a:pPr>
            <a:endParaRPr lang="zh-CN" altLang="en-US" sz="1600" b="1"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zh-CN" altLang="en-US" sz="1400" spc="300" dirty="0">
                <a:solidFill>
                  <a:schemeClr val="tx1">
                    <a:lumMod val="85000"/>
                    <a:lumOff val="15000"/>
                  </a:schemeClr>
                </a:solidFill>
                <a:cs typeface="+mn-ea"/>
                <a:sym typeface="+mn-lt"/>
              </a:rPr>
              <a:t>主因子包括坡度、地形起伏度和地表覆盖，决定整体易发性空间骨架。</a:t>
            </a:r>
            <a:endParaRPr lang="zh-CN" altLang="en-US" sz="1400"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en-US" altLang="zh-CN" sz="1400" spc="300" dirty="0">
                <a:solidFill>
                  <a:schemeClr val="tx1">
                    <a:lumMod val="85000"/>
                    <a:lumOff val="15000"/>
                  </a:schemeClr>
                </a:solidFill>
                <a:cs typeface="+mn-ea"/>
                <a:sym typeface="+mn-lt"/>
              </a:rPr>
              <a:t>NDVI、</a:t>
            </a:r>
            <a:r>
              <a:rPr lang="zh-CN" altLang="en-US" sz="1400" spc="300" dirty="0">
                <a:solidFill>
                  <a:schemeClr val="tx1">
                    <a:lumMod val="85000"/>
                    <a:lumOff val="15000"/>
                  </a:schemeClr>
                </a:solidFill>
                <a:cs typeface="+mn-ea"/>
                <a:sym typeface="+mn-lt"/>
              </a:rPr>
              <a:t>河流距离、道路距离、坡向、曲率和汇流累积作为辅助因子，用于修正局部差异。</a:t>
            </a:r>
            <a:endParaRPr lang="zh-CN" altLang="en-US" sz="1400"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zh-CN" altLang="en-US" sz="1400" spc="300" dirty="0">
                <a:solidFill>
                  <a:schemeClr val="tx1">
                    <a:lumMod val="85000"/>
                    <a:lumOff val="15000"/>
                  </a:schemeClr>
                </a:solidFill>
                <a:cs typeface="+mn-ea"/>
                <a:sym typeface="+mn-lt"/>
              </a:rPr>
              <a:t>采用“</a:t>
            </a:r>
            <a:r>
              <a:rPr lang="en-US" altLang="zh-CN" sz="1400" spc="300" dirty="0">
                <a:solidFill>
                  <a:schemeClr val="tx1">
                    <a:lumMod val="85000"/>
                    <a:lumOff val="15000"/>
                  </a:schemeClr>
                </a:solidFill>
                <a:cs typeface="+mn-ea"/>
                <a:sym typeface="+mn-lt"/>
              </a:rPr>
              <a:t>FR-1”</a:t>
            </a:r>
            <a:r>
              <a:rPr lang="zh-CN" altLang="en-US" sz="1400" spc="300" dirty="0">
                <a:solidFill>
                  <a:schemeClr val="tx1">
                    <a:lumMod val="85000"/>
                    <a:lumOff val="15000"/>
                  </a:schemeClr>
                </a:solidFill>
                <a:cs typeface="+mn-ea"/>
                <a:sym typeface="+mn-lt"/>
              </a:rPr>
              <a:t>的弱修正方式，避免辅助因子裸加造成图面失真。</a:t>
            </a:r>
            <a:endParaRPr lang="zh-CN" altLang="en-US" sz="1400"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zh-CN" altLang="en-US" sz="1400" spc="300" dirty="0">
                <a:solidFill>
                  <a:schemeClr val="tx1">
                    <a:lumMod val="85000"/>
                    <a:lumOff val="15000"/>
                  </a:schemeClr>
                </a:solidFill>
                <a:cs typeface="+mn-ea"/>
                <a:sym typeface="+mn-lt"/>
              </a:rPr>
              <a:t>该结果将作为后续暴露度评价和综合风险评价的危险背景输入。</a:t>
            </a:r>
            <a:endParaRPr lang="zh-CN" altLang="en-US" sz="1400" spc="300" dirty="0">
              <a:solidFill>
                <a:schemeClr val="tx1">
                  <a:lumMod val="85000"/>
                  <a:lumOff val="15000"/>
                </a:schemeClr>
              </a:solidFill>
              <a:cs typeface="+mn-ea"/>
              <a:sym typeface="+mn-lt"/>
            </a:endParaRPr>
          </a:p>
        </p:txBody>
      </p:sp>
      <p:sp>
        <p:nvSpPr>
          <p:cNvPr id="27" name="文本框 26"/>
          <p:cNvSpPr txBox="1"/>
          <p:nvPr/>
        </p:nvSpPr>
        <p:spPr>
          <a:xfrm>
            <a:off x="6409690" y="1050925"/>
            <a:ext cx="2711450"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易发性指标结果图</a:t>
            </a:r>
            <a:endParaRPr lang="zh-CN" altLang="en-US" sz="2400" dirty="0">
              <a:solidFill>
                <a:schemeClr val="tx1">
                  <a:lumMod val="85000"/>
                  <a:lumOff val="15000"/>
                </a:schemeClr>
              </a:solidFill>
              <a:cs typeface="+mn-ea"/>
              <a:sym typeface="+mn-lt"/>
            </a:endParaRPr>
          </a:p>
        </p:txBody>
      </p:sp>
      <p:sp>
        <p:nvSpPr>
          <p:cNvPr id="5" name="矩形 4"/>
          <p:cNvSpPr/>
          <p:nvPr/>
        </p:nvSpPr>
        <p:spPr>
          <a:xfrm>
            <a:off x="464820" y="1406525"/>
            <a:ext cx="4730750" cy="4549140"/>
          </a:xfrm>
          <a:prstGeom prst="rect">
            <a:avLst/>
          </a:prstGeom>
          <a:noFill/>
          <a:ln w="38100">
            <a:solidFill>
              <a:srgbClr val="9DC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1224915" y="335915"/>
            <a:ext cx="4645025"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地质灾害易发性指标</a:t>
            </a:r>
            <a:endParaRPr lang="zh-CN" altLang="en-US" sz="3200" spc="400" dirty="0">
              <a:solidFill>
                <a:schemeClr val="tx1">
                  <a:lumMod val="85000"/>
                  <a:lumOff val="15000"/>
                </a:schemeClr>
              </a:solidFill>
              <a:cs typeface="+mn-ea"/>
              <a:sym typeface="+mn-lt"/>
            </a:endParaRPr>
          </a:p>
        </p:txBody>
      </p:sp>
      <p:grpSp>
        <p:nvGrpSpPr>
          <p:cNvPr id="33" name="组合 32"/>
          <p:cNvGrpSpPr/>
          <p:nvPr/>
        </p:nvGrpSpPr>
        <p:grpSpPr>
          <a:xfrm>
            <a:off x="420106" y="300845"/>
            <a:ext cx="760161" cy="654908"/>
            <a:chOff x="401056" y="200808"/>
            <a:chExt cx="760161" cy="654908"/>
          </a:xfrm>
        </p:grpSpPr>
        <p:sp>
          <p:nvSpPr>
            <p:cNvPr id="34" name="椭圆 33"/>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7" name="Image 0" descr="/mnt/data/59f33b5d-a8d4-4726-a776-d48d5a25c626.png"/>
          <p:cNvPicPr>
            <a:picLocks noChangeAspect="1"/>
          </p:cNvPicPr>
          <p:nvPr/>
        </p:nvPicPr>
        <p:blipFill>
          <a:blip r:embed="rId1"/>
          <a:stretch>
            <a:fillRect/>
          </a:stretch>
        </p:blipFill>
        <p:spPr>
          <a:xfrm>
            <a:off x="718820" y="1527175"/>
            <a:ext cx="4194175" cy="4146550"/>
          </a:xfrm>
          <a:prstGeom prst="rect">
            <a:avLst/>
          </a:prstGeom>
        </p:spPr>
      </p:pic>
      <p:sp>
        <p:nvSpPr>
          <p:cNvPr id="2" name="Text 5"/>
          <p:cNvSpPr/>
          <p:nvPr/>
        </p:nvSpPr>
        <p:spPr>
          <a:xfrm>
            <a:off x="-107315" y="5515610"/>
            <a:ext cx="5765165" cy="440055"/>
          </a:xfrm>
          <a:prstGeom prst="rect">
            <a:avLst/>
          </a:prstGeom>
          <a:noFill/>
        </p:spPr>
        <p:txBody>
          <a:bodyPr wrap="square" lIns="0" tIns="0" rIns="0" bIns="0" rtlCol="0" anchor="ctr"/>
          <a:lstStyle/>
          <a:p>
            <a:pPr marL="0" indent="0" algn="ctr">
              <a:buNone/>
            </a:pPr>
            <a:r>
              <a:rPr lang="en-US" sz="2000" dirty="0">
                <a:solidFill>
                  <a:srgbClr val="6C7480"/>
                </a:solidFill>
                <a:latin typeface="微软雅黑" panose="020B0503020204020204" charset="-122"/>
                <a:ea typeface="微软雅黑" panose="020B0503020204020204" charset="-122"/>
                <a:cs typeface="微软雅黑" panose="020B0503020204020204" pitchFamily="34" charset="-120"/>
              </a:rPr>
              <a:t>最终连续型综合易发性指数图</a:t>
            </a:r>
            <a:endParaRPr lang="en-US" sz="2000"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6" grpId="0"/>
      <p:bldP spid="27" grpId="0"/>
      <p:bldP spid="3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987675" y="2817495"/>
            <a:ext cx="6211570" cy="1318895"/>
            <a:chOff x="2540000" y="2817585"/>
            <a:chExt cx="7031355" cy="1318895"/>
          </a:xfrm>
        </p:grpSpPr>
        <p:sp>
          <p:nvSpPr>
            <p:cNvPr id="4" name="矩形: 圆角 3"/>
            <p:cNvSpPr/>
            <p:nvPr/>
          </p:nvSpPr>
          <p:spPr>
            <a:xfrm>
              <a:off x="2540000" y="2817585"/>
              <a:ext cx="7031355" cy="131889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3629025" y="3023325"/>
              <a:ext cx="5088890" cy="76835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暴露度指标构建</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custDataLst>
              <p:tags r:id="rId2"/>
            </p:custDataLst>
          </p:nvPr>
        </p:nvGrpSpPr>
        <p:grpSpPr>
          <a:xfrm>
            <a:off x="9614202" y="4088595"/>
            <a:ext cx="3295250" cy="3942035"/>
            <a:chOff x="9614202" y="4088595"/>
            <a:chExt cx="3295250" cy="3942035"/>
          </a:xfrm>
        </p:grpSpPr>
        <p:sp>
          <p:nvSpPr>
            <p:cNvPr id="45" name="椭圆 4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椭圆 4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椭圆 46"/>
            <p:cNvSpPr/>
            <p:nvPr>
              <p:custDataLst>
                <p:tags r:id="rId3"/>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6" name="组合 15"/>
          <p:cNvGrpSpPr/>
          <p:nvPr/>
        </p:nvGrpSpPr>
        <p:grpSpPr>
          <a:xfrm>
            <a:off x="962479" y="2048057"/>
            <a:ext cx="3802743" cy="3003247"/>
            <a:chOff x="1045029" y="2218237"/>
            <a:chExt cx="3802743" cy="3003247"/>
          </a:xfrm>
        </p:grpSpPr>
        <p:graphicFrame>
          <p:nvGraphicFramePr>
            <p:cNvPr id="17" name="图表 16"/>
            <p:cNvGraphicFramePr/>
            <p:nvPr/>
          </p:nvGraphicFramePr>
          <p:xfrm>
            <a:off x="1045029" y="2218237"/>
            <a:ext cx="3802743" cy="3003247"/>
          </p:xfrm>
          <a:graphic>
            <a:graphicData uri="http://schemas.openxmlformats.org/drawingml/2006/chart">
              <c:chart xmlns:c="http://schemas.openxmlformats.org/drawingml/2006/chart" xmlns:r="http://schemas.openxmlformats.org/officeDocument/2006/relationships" r:id="rId1"/>
            </a:graphicData>
          </a:graphic>
        </p:graphicFrame>
        <p:pic>
          <p:nvPicPr>
            <p:cNvPr id="18" name="图片 17"/>
            <p:cNvPicPr>
              <a:picLocks noChangeAspect="1"/>
            </p:cNvPicPr>
            <p:nvPr/>
          </p:nvPicPr>
          <p:blipFill>
            <a:blip r:embed="rId4"/>
            <a:stretch>
              <a:fillRect/>
            </a:stretch>
          </p:blipFill>
          <p:spPr>
            <a:xfrm>
              <a:off x="2387354" y="3182151"/>
              <a:ext cx="1118093" cy="1075418"/>
            </a:xfrm>
            <a:prstGeom prst="rect">
              <a:avLst/>
            </a:prstGeom>
          </p:spPr>
        </p:pic>
      </p:grpSp>
      <p:grpSp>
        <p:nvGrpSpPr>
          <p:cNvPr id="19" name="组合 18"/>
          <p:cNvGrpSpPr/>
          <p:nvPr/>
        </p:nvGrpSpPr>
        <p:grpSpPr>
          <a:xfrm>
            <a:off x="986278" y="2422525"/>
            <a:ext cx="917964" cy="461665"/>
            <a:chOff x="1045968" y="2298700"/>
            <a:chExt cx="917964" cy="461665"/>
          </a:xfrm>
        </p:grpSpPr>
        <p:sp>
          <p:nvSpPr>
            <p:cNvPr id="20" name="对话气泡: 矩形 19"/>
            <p:cNvSpPr/>
            <p:nvPr/>
          </p:nvSpPr>
          <p:spPr>
            <a:xfrm>
              <a:off x="1117600" y="2298700"/>
              <a:ext cx="774700" cy="457200"/>
            </a:xfrm>
            <a:prstGeom prst="wedgeRectCallout">
              <a:avLst>
                <a:gd name="adj1" fmla="val 43101"/>
                <a:gd name="adj2" fmla="val 68056"/>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文本框 20"/>
            <p:cNvSpPr txBox="1"/>
            <p:nvPr/>
          </p:nvSpPr>
          <p:spPr>
            <a:xfrm>
              <a:off x="1045968" y="2298700"/>
              <a:ext cx="917964" cy="461665"/>
            </a:xfrm>
            <a:prstGeom prst="rect">
              <a:avLst/>
            </a:prstGeom>
            <a:noFill/>
          </p:spPr>
          <p:txBody>
            <a:bodyPr wrap="square" rtlCol="0">
              <a:spAutoFit/>
            </a:bodyPr>
            <a:lstStyle/>
            <a:p>
              <a:pPr algn="ctr"/>
              <a:r>
                <a:rPr lang="en-US" altLang="zh-CN" sz="2400" dirty="0">
                  <a:cs typeface="+mn-ea"/>
                  <a:sym typeface="+mn-lt"/>
                </a:rPr>
                <a:t>20%</a:t>
              </a:r>
              <a:endParaRPr lang="zh-CN" altLang="en-US" sz="2400" dirty="0">
                <a:cs typeface="+mn-ea"/>
                <a:sym typeface="+mn-lt"/>
              </a:endParaRPr>
            </a:p>
          </p:txBody>
        </p:sp>
      </p:grpSp>
      <p:grpSp>
        <p:nvGrpSpPr>
          <p:cNvPr id="22" name="组合 21"/>
          <p:cNvGrpSpPr/>
          <p:nvPr/>
        </p:nvGrpSpPr>
        <p:grpSpPr>
          <a:xfrm>
            <a:off x="891028" y="4422669"/>
            <a:ext cx="917964" cy="461665"/>
            <a:chOff x="1045968" y="2298700"/>
            <a:chExt cx="917964" cy="461665"/>
          </a:xfrm>
        </p:grpSpPr>
        <p:sp>
          <p:nvSpPr>
            <p:cNvPr id="23" name="对话气泡: 矩形 22"/>
            <p:cNvSpPr/>
            <p:nvPr/>
          </p:nvSpPr>
          <p:spPr>
            <a:xfrm>
              <a:off x="1117600" y="2298700"/>
              <a:ext cx="774700" cy="457200"/>
            </a:xfrm>
            <a:prstGeom prst="wedgeRectCallout">
              <a:avLst>
                <a:gd name="adj1" fmla="val 44945"/>
                <a:gd name="adj2" fmla="val -6736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 name="文本框 23"/>
            <p:cNvSpPr txBox="1"/>
            <p:nvPr/>
          </p:nvSpPr>
          <p:spPr>
            <a:xfrm>
              <a:off x="1045968" y="2298700"/>
              <a:ext cx="917964" cy="461665"/>
            </a:xfrm>
            <a:prstGeom prst="rect">
              <a:avLst/>
            </a:prstGeom>
            <a:noFill/>
          </p:spPr>
          <p:txBody>
            <a:bodyPr wrap="square" rtlCol="0">
              <a:spAutoFit/>
            </a:bodyPr>
            <a:lstStyle/>
            <a:p>
              <a:pPr algn="ctr"/>
              <a:r>
                <a:rPr lang="en-US" altLang="zh-CN" sz="2400" dirty="0">
                  <a:cs typeface="+mn-ea"/>
                  <a:sym typeface="+mn-lt"/>
                </a:rPr>
                <a:t>35%</a:t>
              </a:r>
              <a:endParaRPr lang="zh-CN" altLang="en-US" sz="2400" dirty="0">
                <a:cs typeface="+mn-ea"/>
                <a:sym typeface="+mn-lt"/>
              </a:endParaRPr>
            </a:p>
          </p:txBody>
        </p:sp>
      </p:grpSp>
      <p:grpSp>
        <p:nvGrpSpPr>
          <p:cNvPr id="25" name="组合 24"/>
          <p:cNvGrpSpPr/>
          <p:nvPr/>
        </p:nvGrpSpPr>
        <p:grpSpPr>
          <a:xfrm>
            <a:off x="4170290" y="2422525"/>
            <a:ext cx="917964" cy="461665"/>
            <a:chOff x="1045968" y="2298700"/>
            <a:chExt cx="917964" cy="461665"/>
          </a:xfrm>
        </p:grpSpPr>
        <p:sp>
          <p:nvSpPr>
            <p:cNvPr id="26" name="对话气泡: 矩形 25"/>
            <p:cNvSpPr/>
            <p:nvPr/>
          </p:nvSpPr>
          <p:spPr>
            <a:xfrm>
              <a:off x="1117600" y="2298700"/>
              <a:ext cx="774700" cy="457200"/>
            </a:xfrm>
            <a:prstGeom prst="wedgeRectCallout">
              <a:avLst>
                <a:gd name="adj1" fmla="val -40506"/>
                <a:gd name="adj2" fmla="val 61806"/>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文本框 26"/>
            <p:cNvSpPr txBox="1"/>
            <p:nvPr/>
          </p:nvSpPr>
          <p:spPr>
            <a:xfrm>
              <a:off x="1045968" y="2298700"/>
              <a:ext cx="917964" cy="461665"/>
            </a:xfrm>
            <a:prstGeom prst="rect">
              <a:avLst/>
            </a:prstGeom>
            <a:noFill/>
          </p:spPr>
          <p:txBody>
            <a:bodyPr wrap="square" rtlCol="0">
              <a:spAutoFit/>
            </a:bodyPr>
            <a:lstStyle/>
            <a:p>
              <a:pPr algn="ctr"/>
              <a:r>
                <a:rPr lang="en-US" altLang="zh-CN" sz="2400" dirty="0">
                  <a:cs typeface="+mn-ea"/>
                  <a:sym typeface="+mn-lt"/>
                </a:rPr>
                <a:t>18%</a:t>
              </a:r>
              <a:endParaRPr lang="zh-CN" altLang="en-US" sz="2400" dirty="0">
                <a:cs typeface="+mn-ea"/>
                <a:sym typeface="+mn-lt"/>
              </a:endParaRPr>
            </a:p>
          </p:txBody>
        </p:sp>
      </p:grpSp>
      <p:grpSp>
        <p:nvGrpSpPr>
          <p:cNvPr id="28" name="组合 27"/>
          <p:cNvGrpSpPr/>
          <p:nvPr/>
        </p:nvGrpSpPr>
        <p:grpSpPr>
          <a:xfrm>
            <a:off x="3847075" y="4589780"/>
            <a:ext cx="917964" cy="461665"/>
            <a:chOff x="1045968" y="2298700"/>
            <a:chExt cx="917964" cy="461665"/>
          </a:xfrm>
        </p:grpSpPr>
        <p:sp>
          <p:nvSpPr>
            <p:cNvPr id="29" name="对话气泡: 矩形 28"/>
            <p:cNvSpPr/>
            <p:nvPr/>
          </p:nvSpPr>
          <p:spPr>
            <a:xfrm>
              <a:off x="1117600" y="2298700"/>
              <a:ext cx="774700" cy="457200"/>
            </a:xfrm>
            <a:prstGeom prst="wedgeRectCallout">
              <a:avLst>
                <a:gd name="adj1" fmla="val -45014"/>
                <a:gd name="adj2" fmla="val -6180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文本框 29"/>
            <p:cNvSpPr txBox="1"/>
            <p:nvPr/>
          </p:nvSpPr>
          <p:spPr>
            <a:xfrm>
              <a:off x="1045968" y="2298700"/>
              <a:ext cx="917964" cy="461665"/>
            </a:xfrm>
            <a:prstGeom prst="rect">
              <a:avLst/>
            </a:prstGeom>
            <a:noFill/>
          </p:spPr>
          <p:txBody>
            <a:bodyPr wrap="square" rtlCol="0">
              <a:spAutoFit/>
            </a:bodyPr>
            <a:lstStyle/>
            <a:p>
              <a:pPr algn="ctr"/>
              <a:r>
                <a:rPr lang="en-US" altLang="zh-CN" sz="2400" dirty="0">
                  <a:cs typeface="+mn-ea"/>
                  <a:sym typeface="+mn-lt"/>
                </a:rPr>
                <a:t>48%</a:t>
              </a:r>
              <a:endParaRPr lang="zh-CN" altLang="en-US" sz="2400" dirty="0">
                <a:cs typeface="+mn-ea"/>
                <a:sym typeface="+mn-lt"/>
              </a:endParaRPr>
            </a:p>
          </p:txBody>
        </p:sp>
      </p:grpSp>
      <p:grpSp>
        <p:nvGrpSpPr>
          <p:cNvPr id="31" name="组合 30"/>
          <p:cNvGrpSpPr/>
          <p:nvPr>
            <p:custDataLst>
              <p:tags r:id="rId5"/>
            </p:custDataLst>
          </p:nvPr>
        </p:nvGrpSpPr>
        <p:grpSpPr>
          <a:xfrm>
            <a:off x="5935192" y="1975647"/>
            <a:ext cx="5906135" cy="1669415"/>
            <a:chOff x="5568377" y="1921827"/>
            <a:chExt cx="5906135" cy="1669415"/>
          </a:xfrm>
        </p:grpSpPr>
        <p:sp>
          <p:nvSpPr>
            <p:cNvPr id="32" name="文本框 31"/>
            <p:cNvSpPr txBox="1"/>
            <p:nvPr>
              <p:custDataLst>
                <p:tags r:id="rId6"/>
              </p:custDataLst>
            </p:nvPr>
          </p:nvSpPr>
          <p:spPr>
            <a:xfrm>
              <a:off x="5568377" y="1921827"/>
              <a:ext cx="3994785" cy="398780"/>
            </a:xfrm>
            <a:prstGeom prst="rect">
              <a:avLst/>
            </a:prstGeom>
            <a:noFill/>
          </p:spPr>
          <p:txBody>
            <a:bodyPr wrap="square" rtlCol="0">
              <a:spAutoFit/>
            </a:bodyPr>
            <a:lstStyle/>
            <a:p>
              <a:r>
                <a:rPr lang="zh-CN" altLang="en-US" sz="2000" b="1" dirty="0">
                  <a:cs typeface="+mn-ea"/>
                  <a:sym typeface="+mn-lt"/>
                </a:rPr>
                <a:t>居民点暴露度评价思路</a:t>
              </a:r>
              <a:endParaRPr lang="zh-CN" altLang="en-US" sz="2000" b="1" dirty="0">
                <a:cs typeface="+mn-ea"/>
                <a:sym typeface="+mn-lt"/>
              </a:endParaRPr>
            </a:p>
          </p:txBody>
        </p:sp>
        <p:sp>
          <p:nvSpPr>
            <p:cNvPr id="33" name="文本框 32"/>
            <p:cNvSpPr txBox="1"/>
            <p:nvPr>
              <p:custDataLst>
                <p:tags r:id="rId7"/>
              </p:custDataLst>
            </p:nvPr>
          </p:nvSpPr>
          <p:spPr>
            <a:xfrm>
              <a:off x="5570917" y="2422842"/>
              <a:ext cx="5903595" cy="1168400"/>
            </a:xfrm>
            <a:prstGeom prst="rect">
              <a:avLst/>
            </a:prstGeom>
            <a:noFill/>
          </p:spPr>
          <p:txBody>
            <a:bodyPr wrap="square" rtlCol="0">
              <a:spAutoFit/>
            </a:bodyPr>
            <a:lstStyle/>
            <a:p>
              <a:r>
                <a:rPr lang="zh-CN" altLang="en-US" sz="1400" spc="300" dirty="0">
                  <a:cs typeface="+mn-ea"/>
                  <a:sym typeface="+mn-lt"/>
                </a:rPr>
                <a:t>暴露度评价主要关注</a:t>
              </a:r>
              <a:endParaRPr lang="zh-CN" altLang="en-US" sz="1400" spc="300" dirty="0">
                <a:cs typeface="+mn-ea"/>
                <a:sym typeface="+mn-lt"/>
              </a:endParaRPr>
            </a:p>
            <a:p>
              <a:r>
                <a:rPr lang="zh-CN" altLang="en-US" sz="1400" b="1" spc="300" dirty="0">
                  <a:cs typeface="+mn-ea"/>
                  <a:sym typeface="+mn-lt"/>
                </a:rPr>
                <a:t>“哪些居民点暴露在较高地质灾害易发性背景下”</a:t>
              </a:r>
              <a:r>
                <a:rPr lang="zh-CN" altLang="en-US" sz="1400" spc="300" dirty="0">
                  <a:cs typeface="+mn-ea"/>
                  <a:sym typeface="+mn-lt"/>
                </a:rPr>
                <a:t>的</a:t>
              </a:r>
              <a:r>
                <a:rPr lang="zh-CN" altLang="en-US" sz="1400" spc="300" dirty="0">
                  <a:cs typeface="+mn-ea"/>
                  <a:sym typeface="+mn-lt"/>
                </a:rPr>
                <a:t>问题。</a:t>
              </a:r>
              <a:endParaRPr lang="zh-CN" altLang="en-US" sz="1400" spc="300" dirty="0">
                <a:cs typeface="+mn-ea"/>
                <a:sym typeface="+mn-lt"/>
              </a:endParaRPr>
            </a:p>
            <a:p>
              <a:endParaRPr lang="zh-CN" altLang="en-US" sz="1400" spc="300" dirty="0">
                <a:cs typeface="+mn-ea"/>
                <a:sym typeface="+mn-lt"/>
              </a:endParaRPr>
            </a:p>
            <a:p>
              <a:r>
                <a:rPr lang="zh-CN" altLang="en-US" sz="1400" spc="300" dirty="0">
                  <a:cs typeface="+mn-ea"/>
                  <a:sym typeface="+mn-lt"/>
                </a:rPr>
                <a:t>计算居民点密度和居民点占比，再结合之前易发性指标的结果计算得到的村级暴露度，三者作为选中因子</a:t>
              </a:r>
              <a:endParaRPr lang="zh-CN" altLang="en-US" sz="1400" spc="300" dirty="0">
                <a:cs typeface="+mn-ea"/>
                <a:sym typeface="+mn-lt"/>
              </a:endParaRPr>
            </a:p>
          </p:txBody>
        </p:sp>
      </p:grpSp>
      <p:grpSp>
        <p:nvGrpSpPr>
          <p:cNvPr id="34" name="组合 33"/>
          <p:cNvGrpSpPr/>
          <p:nvPr>
            <p:custDataLst>
              <p:tags r:id="rId8"/>
            </p:custDataLst>
          </p:nvPr>
        </p:nvGrpSpPr>
        <p:grpSpPr>
          <a:xfrm>
            <a:off x="5935192" y="3726346"/>
            <a:ext cx="5756275" cy="1539240"/>
            <a:chOff x="5568377" y="3194055"/>
            <a:chExt cx="5756275" cy="1539240"/>
          </a:xfrm>
        </p:grpSpPr>
        <p:sp>
          <p:nvSpPr>
            <p:cNvPr id="35" name="文本框 34"/>
            <p:cNvSpPr txBox="1"/>
            <p:nvPr>
              <p:custDataLst>
                <p:tags r:id="rId9"/>
              </p:custDataLst>
            </p:nvPr>
          </p:nvSpPr>
          <p:spPr>
            <a:xfrm>
              <a:off x="5568377" y="3194055"/>
              <a:ext cx="1733551" cy="398780"/>
            </a:xfrm>
            <a:prstGeom prst="rect">
              <a:avLst/>
            </a:prstGeom>
            <a:noFill/>
          </p:spPr>
          <p:txBody>
            <a:bodyPr wrap="square" rtlCol="0">
              <a:spAutoFit/>
            </a:bodyPr>
            <a:lstStyle/>
            <a:p>
              <a:r>
                <a:rPr lang="zh-CN" altLang="en-US" sz="2000" b="1" dirty="0">
                  <a:cs typeface="+mn-ea"/>
                  <a:sym typeface="+mn-lt"/>
                </a:rPr>
                <a:t>计算方法</a:t>
              </a:r>
              <a:endParaRPr lang="zh-CN" altLang="en-US" sz="2000" b="1" dirty="0">
                <a:cs typeface="+mn-ea"/>
                <a:sym typeface="+mn-lt"/>
              </a:endParaRPr>
            </a:p>
          </p:txBody>
        </p:sp>
        <p:sp>
          <p:nvSpPr>
            <p:cNvPr id="36" name="文本框 35"/>
            <p:cNvSpPr txBox="1"/>
            <p:nvPr>
              <p:custDataLst>
                <p:tags r:id="rId10"/>
              </p:custDataLst>
            </p:nvPr>
          </p:nvSpPr>
          <p:spPr>
            <a:xfrm>
              <a:off x="5570917" y="3648715"/>
              <a:ext cx="5753735" cy="1084580"/>
            </a:xfrm>
            <a:prstGeom prst="rect">
              <a:avLst/>
            </a:prstGeom>
            <a:noFill/>
          </p:spPr>
          <p:txBody>
            <a:bodyPr wrap="square" rtlCol="0">
              <a:noAutofit/>
            </a:bodyPr>
            <a:lstStyle/>
            <a:p>
              <a:r>
                <a:rPr lang="zh-CN" altLang="en-US" sz="1400" spc="300" dirty="0">
                  <a:cs typeface="+mn-ea"/>
                  <a:sym typeface="+mn-lt"/>
                </a:rPr>
                <a:t>使用加权线性组合法，权重由教师打分获得。</a:t>
              </a:r>
              <a:endParaRPr lang="zh-CN" altLang="en-US" sz="1400" spc="300" dirty="0">
                <a:cs typeface="+mn-ea"/>
                <a:sym typeface="+mn-lt"/>
              </a:endParaRPr>
            </a:p>
            <a:p>
              <a:endParaRPr lang="zh-CN" altLang="en-US" sz="1400" spc="300" dirty="0">
                <a:cs typeface="+mn-ea"/>
                <a:sym typeface="+mn-lt"/>
              </a:endParaRPr>
            </a:p>
            <a:p>
              <a:r>
                <a:rPr lang="zh-CN" altLang="en-US" spc="300" dirty="0">
                  <a:cs typeface="+mn-ea"/>
                  <a:sym typeface="+mn-lt"/>
                </a:rPr>
                <a:t>最终选用的公式为</a:t>
              </a:r>
              <a:r>
                <a:rPr lang="zh-CN" altLang="en-US" sz="1400" spc="300" dirty="0">
                  <a:cs typeface="+mn-ea"/>
                  <a:sym typeface="+mn-lt"/>
                </a:rPr>
                <a:t>：</a:t>
              </a:r>
              <a:endParaRPr lang="zh-CN" altLang="en-US" sz="1400" spc="300" dirty="0">
                <a:cs typeface="+mn-ea"/>
                <a:sym typeface="+mn-lt"/>
              </a:endParaRPr>
            </a:p>
          </p:txBody>
        </p:sp>
      </p:grpSp>
      <p:sp>
        <p:nvSpPr>
          <p:cNvPr id="40" name="文本框 39"/>
          <p:cNvSpPr txBox="1"/>
          <p:nvPr/>
        </p:nvSpPr>
        <p:spPr>
          <a:xfrm>
            <a:off x="1224915" y="335915"/>
            <a:ext cx="346837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暴露度指标构建</a:t>
            </a:r>
            <a:endParaRPr lang="zh-CN" altLang="en-US" sz="3200" spc="400" dirty="0">
              <a:solidFill>
                <a:schemeClr val="tx1">
                  <a:lumMod val="85000"/>
                  <a:lumOff val="15000"/>
                </a:schemeClr>
              </a:solidFill>
              <a:cs typeface="+mn-ea"/>
              <a:sym typeface="+mn-lt"/>
            </a:endParaRPr>
          </a:p>
        </p:txBody>
      </p:sp>
      <p:grpSp>
        <p:nvGrpSpPr>
          <p:cNvPr id="41" name="组合 40"/>
          <p:cNvGrpSpPr/>
          <p:nvPr/>
        </p:nvGrpSpPr>
        <p:grpSpPr>
          <a:xfrm>
            <a:off x="420106" y="300845"/>
            <a:ext cx="760161" cy="654908"/>
            <a:chOff x="401056" y="200808"/>
            <a:chExt cx="760161" cy="654908"/>
          </a:xfrm>
        </p:grpSpPr>
        <p:sp>
          <p:nvSpPr>
            <p:cNvPr id="42" name="椭圆 41"/>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椭圆 42"/>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9" name="TextBox 48"/>
          <p:cNvSpPr txBox="1"/>
          <p:nvPr/>
        </p:nvSpPr>
        <p:spPr>
          <a:xfrm>
            <a:off x="134950" y="6541101"/>
            <a:ext cx="1800200" cy="123111"/>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schemeClr val="bg1"/>
                </a:solidFill>
                <a:effectLst/>
                <a:uLnTx/>
                <a:uFillTx/>
              </a:rPr>
              <a:t>PPT</a:t>
            </a:r>
            <a:r>
              <a:rPr kumimoji="0" lang="zh-CN" altLang="en-US" sz="100" b="0" i="0" u="none" strike="noStrike" kern="0" cap="none" spc="0" normalizeH="0" baseline="0" noProof="0" dirty="0" smtClean="0">
                <a:ln>
                  <a:noFill/>
                </a:ln>
                <a:solidFill>
                  <a:schemeClr val="bg1"/>
                </a:solidFill>
                <a:effectLst/>
                <a:uLnTx/>
                <a:uFillTx/>
              </a:rPr>
              <a:t>模板 </a:t>
            </a:r>
            <a:r>
              <a:rPr kumimoji="0" lang="en-US" altLang="zh-CN" sz="100" b="0" i="0" u="none" strike="noStrike" kern="0" cap="none" spc="0" normalizeH="0" baseline="0" noProof="0" dirty="0" smtClean="0">
                <a:ln>
                  <a:noFill/>
                </a:ln>
                <a:solidFill>
                  <a:schemeClr val="bg1"/>
                </a:solidFill>
                <a:effectLst/>
                <a:uLnTx/>
                <a:uFillTx/>
              </a:rPr>
              <a:t>http://www.1ppt.com/moban/</a:t>
            </a:r>
            <a:r>
              <a:rPr kumimoji="0" lang="zh-CN" altLang="en-US" sz="100" b="0" i="0" u="none" strike="noStrike" kern="0" cap="none" spc="0" normalizeH="0" baseline="0" noProof="0" dirty="0" smtClean="0">
                <a:ln>
                  <a:noFill/>
                </a:ln>
                <a:solidFill>
                  <a:schemeClr val="bg1"/>
                </a:solidFill>
                <a:effectLst/>
                <a:uLnTx/>
                <a:uFillTx/>
              </a:rPr>
              <a:t> </a:t>
            </a:r>
            <a:endParaRPr kumimoji="0" lang="en-US" altLang="zh-CN" sz="100" b="0" i="0" u="none" strike="noStrike" kern="0" cap="none" spc="0" normalizeH="0" baseline="0" noProof="0" dirty="0" smtClean="0">
              <a:ln>
                <a:noFill/>
              </a:ln>
              <a:solidFill>
                <a:schemeClr val="bg1"/>
              </a:solidFill>
              <a:effectLst/>
              <a:uLnTx/>
              <a:uFillTx/>
            </a:endParaRPr>
          </a:p>
        </p:txBody>
      </p:sp>
      <p:pic>
        <p:nvPicPr>
          <p:cNvPr id="3" name="图片 2"/>
          <p:cNvPicPr>
            <a:picLocks noChangeAspect="1"/>
          </p:cNvPicPr>
          <p:nvPr/>
        </p:nvPicPr>
        <p:blipFill>
          <a:blip r:embed="rId11"/>
          <a:stretch>
            <a:fillRect/>
          </a:stretch>
        </p:blipFill>
        <p:spPr>
          <a:xfrm>
            <a:off x="5944870" y="5046980"/>
            <a:ext cx="1724025" cy="148590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文本框 1"/>
          <p:cNvSpPr txBox="1"/>
          <p:nvPr/>
        </p:nvSpPr>
        <p:spPr>
          <a:xfrm>
            <a:off x="1224915" y="335915"/>
            <a:ext cx="456438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暴露度指标</a:t>
            </a:r>
            <a:endParaRPr lang="zh-CN" altLang="en-US" sz="3200" spc="400" dirty="0">
              <a:solidFill>
                <a:schemeClr val="tx1">
                  <a:lumMod val="85000"/>
                  <a:lumOff val="15000"/>
                </a:schemeClr>
              </a:solidFill>
              <a:cs typeface="+mn-ea"/>
              <a:sym typeface="+mn-lt"/>
            </a:endParaRPr>
          </a:p>
        </p:txBody>
      </p:sp>
      <p:graphicFrame>
        <p:nvGraphicFramePr>
          <p:cNvPr id="7" name="表格 6"/>
          <p:cNvGraphicFramePr/>
          <p:nvPr>
            <p:custDataLst>
              <p:tags r:id="rId1"/>
            </p:custDataLst>
          </p:nvPr>
        </p:nvGraphicFramePr>
        <p:xfrm>
          <a:off x="565247" y="1086260"/>
          <a:ext cx="11042650" cy="4925695"/>
        </p:xfrm>
        <a:graphic>
          <a:graphicData uri="http://schemas.openxmlformats.org/drawingml/2006/table">
            <a:tbl>
              <a:tblPr firstRow="1" lastRow="1" bandRow="1">
                <a:tableStyleId>{707F6E89-564A-4F93-9213-9C0623A6A274}</a:tableStyleId>
              </a:tblPr>
              <a:tblGrid>
                <a:gridCol w="4877435"/>
                <a:gridCol w="1110615"/>
                <a:gridCol w="1452880"/>
                <a:gridCol w="1471930"/>
                <a:gridCol w="2129790"/>
              </a:tblGrid>
              <a:tr h="884555">
                <a:tc>
                  <a:txBody>
                    <a:bodyPr/>
                    <a:p>
                      <a:pPr algn="l">
                        <a:lnSpc>
                          <a:spcPct val="120000"/>
                        </a:lnSpc>
                      </a:pPr>
                      <a:r>
                        <a:rPr lang="zh-CN" altLang="en-US" sz="1600" spc="120"/>
                        <a:t>指标</a:t>
                      </a:r>
                      <a:endParaRPr lang="zh-CN" altLang="en-US" sz="1600" spc="120"/>
                    </a:p>
                  </a:txBody>
                  <a:tcPr marL="254000" marR="254000" marT="127000" marB="127000" anchor="ctr" anchorCtr="0">
                    <a:solidFill>
                      <a:srgbClr val="27776D"/>
                    </a:solidFill>
                  </a:tcPr>
                </a:tc>
                <a:tc>
                  <a:txBody>
                    <a:bodyPr/>
                    <a:p>
                      <a:pPr algn="ctr">
                        <a:lnSpc>
                          <a:spcPct val="120000"/>
                        </a:lnSpc>
                      </a:pPr>
                      <a:r>
                        <a:rPr lang="zh-CN" altLang="en-US" sz="1600" spc="120"/>
                        <a:t>所属模块</a:t>
                      </a:r>
                      <a:endParaRPr lang="zh-CN" altLang="en-US" sz="1600" spc="120"/>
                    </a:p>
                  </a:txBody>
                  <a:tcPr marL="254000" marR="254000" marT="127000" marB="127000" anchor="ctr" anchorCtr="0">
                    <a:solidFill>
                      <a:srgbClr val="27776D"/>
                    </a:solidFill>
                  </a:tcPr>
                </a:tc>
                <a:tc>
                  <a:txBody>
                    <a:bodyPr/>
                    <a:p>
                      <a:pPr algn="ctr">
                        <a:lnSpc>
                          <a:spcPct val="120000"/>
                        </a:lnSpc>
                      </a:pPr>
                      <a:r>
                        <a:rPr lang="zh-CN" altLang="en-US" sz="1600" spc="120"/>
                        <a:t>原始模块方向</a:t>
                      </a:r>
                      <a:endParaRPr lang="zh-CN" altLang="en-US" sz="1600" spc="120"/>
                    </a:p>
                  </a:txBody>
                  <a:tcPr marL="254000" marR="254000" marT="127000" marB="127000" anchor="ctr" anchorCtr="0">
                    <a:solidFill>
                      <a:srgbClr val="27776D"/>
                    </a:solidFill>
                  </a:tcPr>
                </a:tc>
                <a:tc>
                  <a:txBody>
                    <a:bodyPr/>
                    <a:p>
                      <a:pPr algn="ctr">
                        <a:lnSpc>
                          <a:spcPct val="120000"/>
                        </a:lnSpc>
                      </a:pPr>
                      <a:r>
                        <a:rPr lang="zh-CN" altLang="en-US" sz="1600" spc="120"/>
                        <a:t>最终风险方向</a:t>
                      </a:r>
                      <a:endParaRPr lang="zh-CN" altLang="en-US" sz="1600" spc="120"/>
                    </a:p>
                  </a:txBody>
                  <a:tcPr marL="254000" marR="254000" marT="127000" marB="127000" anchor="ctr" anchorCtr="0">
                    <a:solidFill>
                      <a:srgbClr val="27776D"/>
                    </a:solidFill>
                  </a:tcPr>
                </a:tc>
                <a:tc>
                  <a:txBody>
                    <a:bodyPr/>
                    <a:p>
                      <a:pPr algn="l">
                        <a:lnSpc>
                          <a:spcPct val="120000"/>
                        </a:lnSpc>
                      </a:pPr>
                      <a:r>
                        <a:rPr lang="zh-CN" altLang="en-US" sz="1600" spc="120"/>
                        <a:t>备注</a:t>
                      </a:r>
                      <a:endParaRPr lang="zh-CN" altLang="en-US" sz="1600" spc="120"/>
                    </a:p>
                  </a:txBody>
                  <a:tcPr marL="254000" marR="254000" marT="127000" marB="127000" anchor="ctr" anchorCtr="0">
                    <a:solidFill>
                      <a:srgbClr val="27776D"/>
                    </a:solidFill>
                  </a:tcPr>
                </a:tc>
              </a:tr>
              <a:tr h="808355">
                <a:tc>
                  <a:txBody>
                    <a:bodyPr/>
                    <a:p>
                      <a:pPr algn="l">
                        <a:lnSpc>
                          <a:spcPct val="120000"/>
                        </a:lnSpc>
                      </a:pPr>
                      <a:r>
                        <a:rPr lang="zh-CN" altLang="en-US" sz="1400"/>
                        <a:t>居民点面积</a:t>
                      </a:r>
                      <a:endParaRPr lang="zh-CN" altLang="en-US" sz="1400"/>
                    </a:p>
                  </a:txBody>
                  <a:tcPr marL="254000" marR="254000" marT="127000" marB="127000" anchor="ctr" anchorCtr="0"/>
                </a:tc>
                <a:tc>
                  <a:txBody>
                    <a:bodyPr/>
                    <a:p>
                      <a:pPr algn="ctr">
                        <a:lnSpc>
                          <a:spcPct val="120000"/>
                        </a:lnSpc>
                      </a:pPr>
                      <a:r>
                        <a:rPr lang="zh-CN" altLang="en-US" sz="1400"/>
                        <a:t>暴露度</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l">
                        <a:lnSpc>
                          <a:spcPct val="120000"/>
                        </a:lnSpc>
                      </a:pPr>
                      <a:r>
                        <a:rPr lang="zh-CN" altLang="en-US" sz="1400"/>
                        <a:t>面积越大，</a:t>
                      </a:r>
                      <a:endParaRPr lang="zh-CN" altLang="en-US" sz="1400"/>
                    </a:p>
                    <a:p>
                      <a:pPr algn="l">
                        <a:lnSpc>
                          <a:spcPct val="120000"/>
                        </a:lnSpc>
                      </a:pPr>
                      <a:r>
                        <a:rPr lang="zh-CN" altLang="en-US" sz="1400"/>
                        <a:t>承灾体规模越大</a:t>
                      </a:r>
                      <a:endParaRPr lang="zh-CN" altLang="en-US" sz="1400"/>
                    </a:p>
                  </a:txBody>
                  <a:tcPr marL="254000" marR="254000" marT="127000" marB="127000" anchor="ctr" anchorCtr="0"/>
                </a:tc>
              </a:tr>
              <a:tr h="808355">
                <a:tc>
                  <a:txBody>
                    <a:bodyPr/>
                    <a:p>
                      <a:pPr algn="l">
                        <a:lnSpc>
                          <a:spcPct val="120000"/>
                        </a:lnSpc>
                      </a:pPr>
                      <a:r>
                        <a:rPr lang="zh-CN" altLang="en-US" sz="1400"/>
                        <a:t>居民点密度</a:t>
                      </a:r>
                      <a:endParaRPr lang="zh-CN" altLang="en-US" sz="1400"/>
                    </a:p>
                  </a:txBody>
                  <a:tcPr marL="254000" marR="254000" marT="127000" marB="127000" anchor="ctr" anchorCtr="0"/>
                </a:tc>
                <a:tc>
                  <a:txBody>
                    <a:bodyPr/>
                    <a:p>
                      <a:pPr algn="ctr">
                        <a:lnSpc>
                          <a:spcPct val="120000"/>
                        </a:lnSpc>
                      </a:pPr>
                      <a:r>
                        <a:rPr lang="zh-CN" altLang="en-US" sz="1400"/>
                        <a:t>暴露度</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l">
                        <a:lnSpc>
                          <a:spcPct val="120000"/>
                        </a:lnSpc>
                      </a:pPr>
                      <a:r>
                        <a:rPr lang="zh-CN" altLang="en-US" sz="1400"/>
                        <a:t>密度越高，</a:t>
                      </a:r>
                      <a:endParaRPr lang="zh-CN" altLang="en-US" sz="1400"/>
                    </a:p>
                    <a:p>
                      <a:pPr algn="l">
                        <a:lnSpc>
                          <a:spcPct val="120000"/>
                        </a:lnSpc>
                      </a:pPr>
                      <a:r>
                        <a:rPr lang="zh-CN" altLang="en-US" sz="1400"/>
                        <a:t>承灾体越集中</a:t>
                      </a:r>
                      <a:endParaRPr lang="zh-CN" altLang="en-US" sz="1400"/>
                    </a:p>
                  </a:txBody>
                  <a:tcPr marL="254000" marR="254000" marT="127000" marB="127000" anchor="ctr" anchorCtr="0"/>
                </a:tc>
              </a:tr>
              <a:tr h="807720">
                <a:tc>
                  <a:txBody>
                    <a:bodyPr/>
                    <a:p>
                      <a:pPr algn="l">
                        <a:lnSpc>
                          <a:spcPct val="120000"/>
                        </a:lnSpc>
                      </a:pPr>
                      <a:r>
                        <a:rPr lang="zh-CN" altLang="en-US" sz="1400"/>
                        <a:t>居民点所在危险性等级</a:t>
                      </a:r>
                      <a:endParaRPr lang="zh-CN" altLang="en-US" sz="1400"/>
                    </a:p>
                  </a:txBody>
                  <a:tcPr marL="254000" marR="254000" marT="127000" marB="127000" anchor="ctr" anchorCtr="0"/>
                </a:tc>
                <a:tc>
                  <a:txBody>
                    <a:bodyPr/>
                    <a:p>
                      <a:pPr algn="ctr">
                        <a:lnSpc>
                          <a:spcPct val="120000"/>
                        </a:lnSpc>
                      </a:pPr>
                      <a:r>
                        <a:rPr lang="zh-CN" altLang="en-US" sz="1400"/>
                        <a:t>暴露度</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l">
                        <a:lnSpc>
                          <a:spcPct val="120000"/>
                        </a:lnSpc>
                      </a:pPr>
                      <a:r>
                        <a:rPr lang="zh-CN" altLang="en-US" sz="1400"/>
                        <a:t>所在危险性越高，</a:t>
                      </a:r>
                      <a:endParaRPr lang="zh-CN" altLang="en-US" sz="1400"/>
                    </a:p>
                    <a:p>
                      <a:pPr algn="l">
                        <a:lnSpc>
                          <a:spcPct val="120000"/>
                        </a:lnSpc>
                      </a:pPr>
                      <a:r>
                        <a:rPr lang="zh-CN" altLang="en-US" sz="1400"/>
                        <a:t>暴露越强</a:t>
                      </a:r>
                      <a:endParaRPr lang="zh-CN" altLang="en-US" sz="1400"/>
                    </a:p>
                  </a:txBody>
                  <a:tcPr marL="254000" marR="254000" marT="127000" marB="127000" anchor="ctr" anchorCtr="0"/>
                </a:tc>
              </a:tr>
              <a:tr h="808355">
                <a:tc>
                  <a:txBody>
                    <a:bodyPr/>
                    <a:p>
                      <a:pPr algn="l">
                        <a:lnSpc>
                          <a:spcPct val="120000"/>
                        </a:lnSpc>
                      </a:pPr>
                      <a:r>
                        <a:rPr lang="zh-CN" altLang="en-US" sz="1400"/>
                        <a:t>居民点缓冲区平均危险性</a:t>
                      </a:r>
                      <a:endParaRPr lang="zh-CN" altLang="en-US" sz="1400"/>
                    </a:p>
                    <a:p>
                      <a:pPr algn="l">
                        <a:lnSpc>
                          <a:spcPct val="120000"/>
                        </a:lnSpc>
                      </a:pPr>
                      <a:r>
                        <a:rPr lang="zh-CN" altLang="en-US" sz="1400"/>
                        <a:t>（替代为“居民点</a:t>
                      </a:r>
                      <a:r>
                        <a:rPr lang="en-US" altLang="zh-CN" sz="1400"/>
                        <a:t>/</a:t>
                      </a:r>
                      <a:r>
                        <a:rPr lang="zh-CN" altLang="en-US" sz="1400"/>
                        <a:t>建筑代表点的连续背景易发性值” </a:t>
                      </a:r>
                      <a:r>
                        <a:rPr lang="en-US" altLang="zh-CN" sz="1400"/>
                        <a:t>)</a:t>
                      </a:r>
                      <a:endParaRPr lang="en-US" altLang="zh-CN" sz="1400"/>
                    </a:p>
                  </a:txBody>
                  <a:tcPr marL="254000" marR="254000" marT="127000" marB="127000" anchor="ctr" anchorCtr="0"/>
                </a:tc>
                <a:tc>
                  <a:txBody>
                    <a:bodyPr/>
                    <a:p>
                      <a:pPr algn="ctr">
                        <a:lnSpc>
                          <a:spcPct val="120000"/>
                        </a:lnSpc>
                      </a:pPr>
                      <a:r>
                        <a:rPr lang="zh-CN" altLang="en-US" sz="1400"/>
                        <a:t>暴露度</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ctr">
                        <a:lnSpc>
                          <a:spcPct val="120000"/>
                        </a:lnSpc>
                      </a:pPr>
                      <a:r>
                        <a:rPr lang="zh-CN" altLang="en-US" sz="1400"/>
                        <a:t>正向</a:t>
                      </a:r>
                      <a:endParaRPr lang="zh-CN" altLang="en-US" sz="1400"/>
                    </a:p>
                  </a:txBody>
                  <a:tcPr marL="254000" marR="254000" marT="127000" marB="127000" anchor="ctr" anchorCtr="0"/>
                </a:tc>
                <a:tc>
                  <a:txBody>
                    <a:bodyPr/>
                    <a:p>
                      <a:pPr algn="l">
                        <a:lnSpc>
                          <a:spcPct val="120000"/>
                        </a:lnSpc>
                      </a:pPr>
                      <a:r>
                        <a:rPr lang="zh-CN" altLang="en-US" sz="1400"/>
                        <a:t>周边危险环境越强，</a:t>
                      </a:r>
                      <a:endParaRPr lang="zh-CN" altLang="en-US" sz="1400"/>
                    </a:p>
                    <a:p>
                      <a:pPr algn="l">
                        <a:lnSpc>
                          <a:spcPct val="120000"/>
                        </a:lnSpc>
                      </a:pPr>
                      <a:r>
                        <a:rPr lang="zh-CN" altLang="en-US" sz="1400"/>
                        <a:t>暴露越强</a:t>
                      </a:r>
                      <a:endParaRPr lang="zh-CN" altLang="en-US" sz="1400"/>
                    </a:p>
                  </a:txBody>
                  <a:tcPr marL="254000" marR="254000" marT="127000" marB="127000" anchor="ctr" anchorCtr="0"/>
                </a:tc>
              </a:tr>
              <a:tr h="808355">
                <a:tc>
                  <a:txBody>
                    <a:bodyPr/>
                    <a:p>
                      <a:pPr algn="l">
                        <a:lnSpc>
                          <a:spcPct val="120000"/>
                        </a:lnSpc>
                      </a:pPr>
                      <a:r>
                        <a:rPr lang="zh-CN" altLang="en-US" sz="1400"/>
                        <a:t>高危险区覆盖比例（已剔除）</a:t>
                      </a:r>
                      <a:endParaRPr lang="zh-CN" altLang="en-US" sz="1400"/>
                    </a:p>
                  </a:txBody>
                  <a:tcPr marL="254000" marR="254000" marT="127000" marB="127000" anchor="ctr" anchorCtr="0">
                    <a:solidFill>
                      <a:srgbClr val="27776D"/>
                    </a:solidFill>
                  </a:tcPr>
                </a:tc>
                <a:tc>
                  <a:txBody>
                    <a:bodyPr/>
                    <a:p>
                      <a:pPr algn="ctr">
                        <a:lnSpc>
                          <a:spcPct val="120000"/>
                        </a:lnSpc>
                      </a:pPr>
                      <a:r>
                        <a:rPr lang="zh-CN" altLang="en-US" sz="1400"/>
                        <a:t>暴露度</a:t>
                      </a:r>
                      <a:endParaRPr lang="zh-CN" altLang="en-US" sz="1400"/>
                    </a:p>
                  </a:txBody>
                  <a:tcPr marL="254000" marR="254000" marT="127000" marB="127000" anchor="ctr" anchorCtr="0">
                    <a:solidFill>
                      <a:srgbClr val="27776D"/>
                    </a:solidFill>
                  </a:tcPr>
                </a:tc>
                <a:tc>
                  <a:txBody>
                    <a:bodyPr/>
                    <a:p>
                      <a:pPr algn="ctr">
                        <a:lnSpc>
                          <a:spcPct val="120000"/>
                        </a:lnSpc>
                      </a:pPr>
                      <a:r>
                        <a:rPr lang="zh-CN" altLang="en-US" sz="1400"/>
                        <a:t>正向</a:t>
                      </a:r>
                      <a:endParaRPr lang="zh-CN" altLang="en-US" sz="1400"/>
                    </a:p>
                  </a:txBody>
                  <a:tcPr marL="254000" marR="254000" marT="127000" marB="127000" anchor="ctr" anchorCtr="0">
                    <a:solidFill>
                      <a:srgbClr val="27776D"/>
                    </a:solidFill>
                  </a:tcPr>
                </a:tc>
                <a:tc>
                  <a:txBody>
                    <a:bodyPr/>
                    <a:p>
                      <a:pPr algn="ctr">
                        <a:lnSpc>
                          <a:spcPct val="120000"/>
                        </a:lnSpc>
                      </a:pPr>
                      <a:r>
                        <a:rPr lang="zh-CN" altLang="en-US" sz="1400"/>
                        <a:t>正向</a:t>
                      </a:r>
                      <a:endParaRPr lang="zh-CN" altLang="en-US" sz="1400"/>
                    </a:p>
                  </a:txBody>
                  <a:tcPr marL="254000" marR="254000" marT="127000" marB="127000" anchor="ctr" anchorCtr="0">
                    <a:solidFill>
                      <a:srgbClr val="27776D"/>
                    </a:solidFill>
                  </a:tcPr>
                </a:tc>
                <a:tc>
                  <a:txBody>
                    <a:bodyPr/>
                    <a:p>
                      <a:pPr algn="l">
                        <a:lnSpc>
                          <a:spcPct val="120000"/>
                        </a:lnSpc>
                      </a:pPr>
                      <a:r>
                        <a:rPr lang="zh-CN" altLang="en-US" sz="1400"/>
                        <a:t>高危险区占比越高，</a:t>
                      </a:r>
                      <a:endParaRPr lang="zh-CN" altLang="en-US" sz="1400"/>
                    </a:p>
                    <a:p>
                      <a:pPr algn="l">
                        <a:lnSpc>
                          <a:spcPct val="120000"/>
                        </a:lnSpc>
                      </a:pPr>
                      <a:r>
                        <a:rPr lang="zh-CN" altLang="en-US" sz="1400"/>
                        <a:t>暴露越高</a:t>
                      </a:r>
                      <a:endParaRPr lang="zh-CN" altLang="en-US" sz="1400"/>
                    </a:p>
                  </a:txBody>
                  <a:tcPr marL="254000" marR="254000" marT="127000" marB="127000" anchor="ctr" anchorCtr="0">
                    <a:solidFill>
                      <a:srgbClr val="27776D"/>
                    </a:solidFill>
                  </a:tcPr>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文本框 1"/>
          <p:cNvSpPr txBox="1"/>
          <p:nvPr/>
        </p:nvSpPr>
        <p:spPr>
          <a:xfrm>
            <a:off x="1224915" y="335915"/>
            <a:ext cx="456438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暴露度指标权重计算</a:t>
            </a:r>
            <a:endParaRPr lang="zh-CN" altLang="en-US" sz="3200" spc="400" dirty="0">
              <a:solidFill>
                <a:schemeClr val="tx1">
                  <a:lumMod val="85000"/>
                  <a:lumOff val="15000"/>
                </a:schemeClr>
              </a:solidFill>
              <a:cs typeface="+mn-ea"/>
              <a:sym typeface="+mn-lt"/>
            </a:endParaRPr>
          </a:p>
        </p:txBody>
      </p:sp>
      <p:graphicFrame>
        <p:nvGraphicFramePr>
          <p:cNvPr id="3" name="表格 2"/>
          <p:cNvGraphicFramePr/>
          <p:nvPr>
            <p:custDataLst>
              <p:tags r:id="rId1"/>
            </p:custDataLst>
          </p:nvPr>
        </p:nvGraphicFramePr>
        <p:xfrm>
          <a:off x="1845310" y="1268730"/>
          <a:ext cx="8197215" cy="4886960"/>
        </p:xfrm>
        <a:graphic>
          <a:graphicData uri="http://schemas.openxmlformats.org/drawingml/2006/table">
            <a:tbl>
              <a:tblPr/>
              <a:tblGrid>
                <a:gridCol w="2381250"/>
                <a:gridCol w="3434715"/>
                <a:gridCol w="2381250"/>
              </a:tblGrid>
              <a:tr h="1083310">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指标</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含义说明</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建议权重</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r>
              <a:tr h="760730">
                <a:tc>
                  <a:txBody>
                    <a:bodyPr/>
                    <a:p>
                      <a:pPr algn="ctr" fontAlgn="ctr">
                        <a:lnSpc>
                          <a:spcPct val="120000"/>
                        </a:lnSpc>
                      </a:pP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村级基础暴露度</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0.2</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760730">
                <a:tc>
                  <a:txBody>
                    <a:bodyPr/>
                    <a:p>
                      <a:pPr algn="ctr" fontAlgn="ctr">
                        <a:lnSpc>
                          <a:spcPct val="120000"/>
                        </a:lnSpc>
                      </a:pP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居民点密度</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0.5</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760730">
                <a:tc>
                  <a:txBody>
                    <a:bodyPr/>
                    <a:p>
                      <a:pPr algn="ctr" fontAlgn="ctr">
                        <a:lnSpc>
                          <a:spcPct val="120000"/>
                        </a:lnSpc>
                      </a:pP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居民点占比</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0.3</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760730">
                <a:tc>
                  <a:txBody>
                    <a:bodyPr/>
                    <a:p>
                      <a:pPr algn="ctr" fontAlgn="b">
                        <a:lnSpc>
                          <a:spcPct val="120000"/>
                        </a:lnSpc>
                      </a:pPr>
                      <a:r>
                        <a:rPr lang="zh-CN" altLang="en-US" sz="1800" b="1" i="0">
                          <a:solidFill>
                            <a:srgbClr val="203040"/>
                          </a:solidFill>
                          <a:latin typeface="微软雅黑" panose="020B0503020204020204" charset="-122"/>
                          <a:ea typeface="微软雅黑" panose="020B0503020204020204" charset="-122"/>
                        </a:rPr>
                        <a:t>权重合计</a:t>
                      </a:r>
                      <a:endParaRPr lang="zh-CN" altLang="en-US" sz="1800" b="1"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b">
                        <a:lnSpc>
                          <a:spcPct val="120000"/>
                        </a:lnSpc>
                      </a:pPr>
                      <a:endParaRPr sz="1800" b="0" i="0">
                        <a:solidFill>
                          <a:srgbClr val="000000"/>
                        </a:solidFill>
                        <a:latin typeface="宋体" panose="02010600030101010101" pitchFamily="2"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b">
                        <a:lnSpc>
                          <a:spcPct val="120000"/>
                        </a:lnSpc>
                      </a:pPr>
                      <a:r>
                        <a:rPr lang="en-US" altLang="zh-CN" sz="1800" b="1" i="0">
                          <a:solidFill>
                            <a:schemeClr val="bg1"/>
                          </a:solidFill>
                          <a:latin typeface="微软雅黑" panose="020B0503020204020204" charset="-122"/>
                          <a:ea typeface="微软雅黑" panose="020B0503020204020204" charset="-122"/>
                        </a:rPr>
                        <a:t>1</a:t>
                      </a:r>
                      <a:endParaRPr lang="en-US" altLang="zh-CN" sz="1800" b="1" i="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r>
            </a:tbl>
          </a:graphicData>
        </a:graphic>
      </p:graphicFrame>
      <p:pic>
        <p:nvPicPr>
          <p:cNvPr id="4" name="图片 3"/>
          <p:cNvPicPr>
            <a:picLocks noChangeAspect="1"/>
          </p:cNvPicPr>
          <p:nvPr/>
        </p:nvPicPr>
        <p:blipFill>
          <a:blip r:embed="rId2"/>
          <a:stretch>
            <a:fillRect/>
          </a:stretch>
        </p:blipFill>
        <p:spPr>
          <a:xfrm>
            <a:off x="2490470" y="2486025"/>
            <a:ext cx="1038225" cy="457200"/>
          </a:xfrm>
          <a:prstGeom prst="rect">
            <a:avLst/>
          </a:prstGeom>
        </p:spPr>
      </p:pic>
      <p:pic>
        <p:nvPicPr>
          <p:cNvPr id="5" name="图片 4"/>
          <p:cNvPicPr>
            <a:picLocks noChangeAspect="1"/>
          </p:cNvPicPr>
          <p:nvPr/>
        </p:nvPicPr>
        <p:blipFill>
          <a:blip r:embed="rId3"/>
          <a:stretch>
            <a:fillRect/>
          </a:stretch>
        </p:blipFill>
        <p:spPr>
          <a:xfrm>
            <a:off x="2585720" y="3261995"/>
            <a:ext cx="847725" cy="466725"/>
          </a:xfrm>
          <a:prstGeom prst="rect">
            <a:avLst/>
          </a:prstGeom>
        </p:spPr>
      </p:pic>
      <p:pic>
        <p:nvPicPr>
          <p:cNvPr id="6" name="图片 5"/>
          <p:cNvPicPr>
            <a:picLocks noChangeAspect="1"/>
          </p:cNvPicPr>
          <p:nvPr/>
        </p:nvPicPr>
        <p:blipFill>
          <a:blip r:embed="rId4"/>
          <a:stretch>
            <a:fillRect/>
          </a:stretch>
        </p:blipFill>
        <p:spPr>
          <a:xfrm>
            <a:off x="2585720" y="4047490"/>
            <a:ext cx="800100" cy="43815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10001514" y="427814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331516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0" name="组合 19"/>
          <p:cNvGrpSpPr/>
          <p:nvPr/>
        </p:nvGrpSpPr>
        <p:grpSpPr>
          <a:xfrm>
            <a:off x="6143955" y="1274587"/>
            <a:ext cx="782053" cy="544778"/>
            <a:chOff x="6346655" y="2177716"/>
            <a:chExt cx="782053" cy="544778"/>
          </a:xfrm>
        </p:grpSpPr>
        <p:sp>
          <p:nvSpPr>
            <p:cNvPr id="21" name="矩形 20"/>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6346655" y="2199274"/>
              <a:ext cx="782053" cy="523220"/>
            </a:xfrm>
            <a:prstGeom prst="rect">
              <a:avLst/>
            </a:prstGeom>
            <a:noFill/>
          </p:spPr>
          <p:txBody>
            <a:bodyPr wrap="square" rtlCol="0">
              <a:spAutoFit/>
            </a:bodyPr>
            <a:lstStyle/>
            <a:p>
              <a:pPr algn="ctr"/>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sp>
        <p:nvSpPr>
          <p:cNvPr id="26" name="文本框 25"/>
          <p:cNvSpPr txBox="1"/>
          <p:nvPr/>
        </p:nvSpPr>
        <p:spPr>
          <a:xfrm>
            <a:off x="6443345" y="1868170"/>
            <a:ext cx="4984115" cy="737235"/>
          </a:xfrm>
          <a:prstGeom prst="rect">
            <a:avLst/>
          </a:prstGeom>
          <a:noFill/>
        </p:spPr>
        <p:txBody>
          <a:bodyPr wrap="square" rtlCol="0">
            <a:spAutoFit/>
          </a:bodyPr>
          <a:lstStyle/>
          <a:p>
            <a:pPr indent="0">
              <a:buFont typeface="Arial" panose="020B0604020202020204" pitchFamily="34" charset="0"/>
              <a:buNone/>
            </a:pP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高暴露区通常对应</a:t>
            </a:r>
            <a:endPar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en-US" sz="1400" dirty="0">
                <a:solidFill>
                  <a:schemeClr val="accent2">
                    <a:lumMod val="75000"/>
                  </a:schemeClr>
                </a:solidFill>
                <a:latin typeface="微软雅黑" panose="020B0503020204020204" charset="-122"/>
                <a:ea typeface="微软雅黑" panose="020B0503020204020204" charset="-122"/>
                <a:cs typeface="微软雅黑" panose="020B0503020204020204" pitchFamily="34" charset="-120"/>
                <a:sym typeface="+mn-ea"/>
              </a:rPr>
              <a:t>承灾规模较大、背景危险较高或聚落格局较集中</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的村庄。</a:t>
            </a:r>
            <a:endParaRPr lang="zh-CN" altLang="en-US" sz="1400" spc="300" dirty="0">
              <a:solidFill>
                <a:schemeClr val="tx1">
                  <a:lumMod val="85000"/>
                  <a:lumOff val="15000"/>
                </a:schemeClr>
              </a:solidFill>
              <a:cs typeface="+mn-ea"/>
              <a:sym typeface="+mn-lt"/>
            </a:endParaRPr>
          </a:p>
          <a:p>
            <a:pPr indent="457200">
              <a:buFont typeface="Arial" panose="020B0604020202020204" pitchFamily="34" charset="0"/>
              <a:buNone/>
            </a:pPr>
            <a:endParaRPr lang="zh-CN" altLang="en-US" sz="1400" spc="300" dirty="0">
              <a:solidFill>
                <a:schemeClr val="tx1">
                  <a:lumMod val="85000"/>
                  <a:lumOff val="15000"/>
                </a:schemeClr>
              </a:solidFill>
              <a:cs typeface="+mn-ea"/>
              <a:sym typeface="+mn-lt"/>
            </a:endParaRPr>
          </a:p>
        </p:txBody>
      </p:sp>
      <p:sp>
        <p:nvSpPr>
          <p:cNvPr id="27" name="文本框 26"/>
          <p:cNvSpPr txBox="1"/>
          <p:nvPr/>
        </p:nvSpPr>
        <p:spPr>
          <a:xfrm>
            <a:off x="6914515" y="1329690"/>
            <a:ext cx="2711450"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村级暴露度指数图</a:t>
            </a:r>
            <a:endParaRPr lang="zh-CN" altLang="en-US" sz="2400" dirty="0">
              <a:solidFill>
                <a:schemeClr val="tx1">
                  <a:lumMod val="85000"/>
                  <a:lumOff val="15000"/>
                </a:schemeClr>
              </a:solidFill>
              <a:cs typeface="+mn-ea"/>
              <a:sym typeface="+mn-lt"/>
            </a:endParaRPr>
          </a:p>
        </p:txBody>
      </p:sp>
      <p:sp>
        <p:nvSpPr>
          <p:cNvPr id="5" name="矩形 4"/>
          <p:cNvSpPr/>
          <p:nvPr/>
        </p:nvSpPr>
        <p:spPr>
          <a:xfrm>
            <a:off x="385445" y="1193800"/>
            <a:ext cx="5337175" cy="5492115"/>
          </a:xfrm>
          <a:prstGeom prst="rect">
            <a:avLst/>
          </a:prstGeom>
          <a:noFill/>
          <a:ln w="38100">
            <a:solidFill>
              <a:srgbClr val="9DC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1224915" y="335915"/>
            <a:ext cx="4645025"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暴露度指标</a:t>
            </a:r>
            <a:endParaRPr lang="zh-CN" altLang="en-US" sz="3200" spc="400" dirty="0">
              <a:solidFill>
                <a:schemeClr val="tx1">
                  <a:lumMod val="85000"/>
                  <a:lumOff val="15000"/>
                </a:schemeClr>
              </a:solidFill>
              <a:cs typeface="+mn-ea"/>
              <a:sym typeface="+mn-lt"/>
            </a:endParaRPr>
          </a:p>
        </p:txBody>
      </p:sp>
      <p:grpSp>
        <p:nvGrpSpPr>
          <p:cNvPr id="33" name="组合 32"/>
          <p:cNvGrpSpPr/>
          <p:nvPr/>
        </p:nvGrpSpPr>
        <p:grpSpPr>
          <a:xfrm>
            <a:off x="420106" y="300845"/>
            <a:ext cx="760161" cy="654908"/>
            <a:chOff x="401056" y="200808"/>
            <a:chExt cx="760161" cy="654908"/>
          </a:xfrm>
        </p:grpSpPr>
        <p:sp>
          <p:nvSpPr>
            <p:cNvPr id="34" name="椭圆 33"/>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Text 5"/>
          <p:cNvSpPr/>
          <p:nvPr/>
        </p:nvSpPr>
        <p:spPr>
          <a:xfrm>
            <a:off x="-205867" y="6380607"/>
            <a:ext cx="6583680" cy="164592"/>
          </a:xfrm>
          <a:prstGeom prst="rect">
            <a:avLst/>
          </a:prstGeom>
          <a:noFill/>
        </p:spPr>
        <p:txBody>
          <a:bodyPr wrap="square" lIns="0" tIns="0" rIns="0" bIns="0" rtlCol="0" anchor="ctr"/>
          <a:lstStyle/>
          <a:p>
            <a:pPr marL="0" indent="0" algn="ctr">
              <a:buNone/>
            </a:pPr>
            <a:r>
              <a:rPr lang="en-US" sz="1050" dirty="0">
                <a:solidFill>
                  <a:srgbClr val="6C7480"/>
                </a:solidFill>
                <a:latin typeface="微软雅黑" panose="020B0503020204020204" charset="-122"/>
                <a:ea typeface="微软雅黑" panose="020B0503020204020204" charset="-122"/>
                <a:cs typeface="微软雅黑" panose="020B0503020204020204" pitchFamily="34" charset="-120"/>
                <a:sym typeface="+mn-ea"/>
              </a:rPr>
              <a:t>村级最终暴露度指数图</a:t>
            </a:r>
            <a:endParaRPr lang="en-US" sz="1050" dirty="0"/>
          </a:p>
        </p:txBody>
      </p:sp>
      <p:pic>
        <p:nvPicPr>
          <p:cNvPr id="3" name="Image 0" descr="/mnt/data/ea26b854-c89d-4bf5-9f90-6179b94cb0db.png"/>
          <p:cNvPicPr>
            <a:picLocks noChangeAspect="1"/>
          </p:cNvPicPr>
          <p:nvPr/>
        </p:nvPicPr>
        <p:blipFill>
          <a:blip r:embed="rId1"/>
          <a:stretch>
            <a:fillRect/>
          </a:stretch>
        </p:blipFill>
        <p:spPr>
          <a:xfrm>
            <a:off x="578485" y="1705610"/>
            <a:ext cx="5015230" cy="4190365"/>
          </a:xfrm>
          <a:prstGeom prst="rect">
            <a:avLst/>
          </a:prstGeom>
        </p:spPr>
      </p:pic>
      <p:grpSp>
        <p:nvGrpSpPr>
          <p:cNvPr id="4" name="组合 3"/>
          <p:cNvGrpSpPr/>
          <p:nvPr/>
        </p:nvGrpSpPr>
        <p:grpSpPr>
          <a:xfrm>
            <a:off x="3601085" y="5075555"/>
            <a:ext cx="1965960" cy="1531112"/>
            <a:chOff x="11875" y="6435"/>
            <a:chExt cx="3096" cy="2411"/>
          </a:xfrm>
        </p:grpSpPr>
        <p:pic>
          <p:nvPicPr>
            <p:cNvPr id="8" name="Image 1" descr="/mnt/data/e331672f-37a1-4384-97ab-15db1ced28a1.png"/>
            <p:cNvPicPr>
              <a:picLocks noChangeAspect="1"/>
            </p:cNvPicPr>
            <p:nvPr/>
          </p:nvPicPr>
          <p:blipFill>
            <a:blip r:embed="rId2"/>
            <a:stretch>
              <a:fillRect/>
            </a:stretch>
          </p:blipFill>
          <p:spPr>
            <a:xfrm>
              <a:off x="11875" y="6435"/>
              <a:ext cx="3038" cy="1292"/>
            </a:xfrm>
            <a:prstGeom prst="rect">
              <a:avLst/>
            </a:prstGeom>
          </p:spPr>
        </p:pic>
        <p:sp>
          <p:nvSpPr>
            <p:cNvPr id="15" name="Text 7"/>
            <p:cNvSpPr/>
            <p:nvPr/>
          </p:nvSpPr>
          <p:spPr>
            <a:xfrm>
              <a:off x="11875" y="8587"/>
              <a:ext cx="3096" cy="259"/>
            </a:xfrm>
            <a:prstGeom prst="rect">
              <a:avLst/>
            </a:prstGeom>
            <a:noFill/>
          </p:spPr>
          <p:txBody>
            <a:bodyPr wrap="square" lIns="0" tIns="0" rIns="0" bIns="0" rtlCol="0" anchor="ctr"/>
            <a:lstStyle/>
            <a:p>
              <a:pPr marL="0" indent="0" algn="ctr">
                <a:buNone/>
              </a:pPr>
              <a:endParaRPr lang="en-US" sz="1050" dirty="0"/>
            </a:p>
          </p:txBody>
        </p:sp>
      </p:grpSp>
      <p:grpSp>
        <p:nvGrpSpPr>
          <p:cNvPr id="7" name="组合 6"/>
          <p:cNvGrpSpPr/>
          <p:nvPr/>
        </p:nvGrpSpPr>
        <p:grpSpPr>
          <a:xfrm>
            <a:off x="6143955" y="2550302"/>
            <a:ext cx="782053" cy="543528"/>
            <a:chOff x="6346655" y="2177716"/>
            <a:chExt cx="782053" cy="543528"/>
          </a:xfrm>
        </p:grpSpPr>
        <p:sp>
          <p:nvSpPr>
            <p:cNvPr id="9" name="矩形 8"/>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6346655" y="2199274"/>
              <a:ext cx="782053" cy="521970"/>
            </a:xfrm>
            <a:prstGeom prst="rect">
              <a:avLst/>
            </a:prstGeom>
            <a:noFill/>
          </p:spPr>
          <p:txBody>
            <a:bodyPr wrap="square" rtlCol="0">
              <a:spAutoFit/>
            </a:bodyPr>
            <a:lstStyle/>
            <a:p>
              <a:pPr algn="ctr"/>
              <a:r>
                <a:rPr lang="en-US" altLang="zh-CN" sz="2800" dirty="0">
                  <a:solidFill>
                    <a:schemeClr val="bg1"/>
                  </a:solidFill>
                  <a:cs typeface="+mn-ea"/>
                  <a:sym typeface="+mn-lt"/>
                </a:rPr>
                <a:t>02</a:t>
              </a:r>
              <a:endParaRPr lang="zh-CN" altLang="en-US" sz="2800" dirty="0">
                <a:solidFill>
                  <a:schemeClr val="bg1"/>
                </a:solidFill>
                <a:cs typeface="+mn-ea"/>
                <a:sym typeface="+mn-lt"/>
              </a:endParaRPr>
            </a:p>
          </p:txBody>
        </p:sp>
      </p:grpSp>
      <p:sp>
        <p:nvSpPr>
          <p:cNvPr id="11" name="文本框 10"/>
          <p:cNvSpPr txBox="1"/>
          <p:nvPr/>
        </p:nvSpPr>
        <p:spPr>
          <a:xfrm>
            <a:off x="6914515" y="2605405"/>
            <a:ext cx="2711450"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成因分析</a:t>
            </a:r>
            <a:endParaRPr lang="zh-CN" altLang="en-US" sz="2400" dirty="0">
              <a:solidFill>
                <a:schemeClr val="tx1">
                  <a:lumMod val="85000"/>
                  <a:lumOff val="15000"/>
                </a:schemeClr>
              </a:solidFill>
              <a:cs typeface="+mn-ea"/>
              <a:sym typeface="+mn-lt"/>
            </a:endParaRPr>
          </a:p>
        </p:txBody>
      </p:sp>
      <p:sp>
        <p:nvSpPr>
          <p:cNvPr id="12" name="文本框 11"/>
          <p:cNvSpPr txBox="1"/>
          <p:nvPr/>
        </p:nvSpPr>
        <p:spPr>
          <a:xfrm>
            <a:off x="6443345" y="3096895"/>
            <a:ext cx="5156200" cy="3499485"/>
          </a:xfrm>
          <a:prstGeom prst="rect">
            <a:avLst/>
          </a:prstGeom>
          <a:noFill/>
        </p:spPr>
        <p:txBody>
          <a:bodyPr wrap="square" rtlCol="0">
            <a:noAutofit/>
          </a:bodyPr>
          <a:lstStyle/>
          <a:p>
            <a:pPr indent="0">
              <a:buFont typeface="Arial" panose="020B0604020202020204" pitchFamily="34" charset="0"/>
              <a:buNone/>
            </a:pPr>
            <a:r>
              <a:rPr lang="zh-CN" altLang="en-US" sz="1600" b="1" spc="300" dirty="0">
                <a:solidFill>
                  <a:schemeClr val="tx1">
                    <a:lumMod val="85000"/>
                    <a:lumOff val="15000"/>
                  </a:schemeClr>
                </a:solidFill>
                <a:cs typeface="+mn-ea"/>
                <a:sym typeface="+mn-lt"/>
              </a:rPr>
              <a:t>【图面特征】</a:t>
            </a:r>
            <a:endParaRPr lang="zh-CN" altLang="en-US" sz="1600" b="1" spc="300" dirty="0">
              <a:solidFill>
                <a:schemeClr val="tx1">
                  <a:lumMod val="85000"/>
                  <a:lumOff val="15000"/>
                </a:schemeClr>
              </a:solidFill>
              <a:cs typeface="+mn-ea"/>
              <a:sym typeface="+mn-lt"/>
            </a:endParaRPr>
          </a:p>
          <a:p>
            <a:pPr marL="342900" indent="-342900">
              <a:buFont typeface="+mj-lt"/>
              <a:buAutoNum type="arabicPeriod"/>
            </a:pPr>
            <a:r>
              <a:rPr lang="zh-CN" altLang="en-US" sz="1400" spc="300" dirty="0">
                <a:solidFill>
                  <a:schemeClr val="tx1">
                    <a:lumMod val="85000"/>
                    <a:lumOff val="15000"/>
                  </a:schemeClr>
                </a:solidFill>
                <a:cs typeface="+mn-ea"/>
                <a:sym typeface="+mn-lt"/>
              </a:rPr>
              <a:t>高暴露区呈局部集中分布，主要位于研究区中部、东部和南部若干村级单元。</a:t>
            </a:r>
            <a:endParaRPr lang="zh-CN" altLang="en-US" sz="1400" spc="300" dirty="0">
              <a:solidFill>
                <a:schemeClr val="tx1">
                  <a:lumMod val="85000"/>
                  <a:lumOff val="15000"/>
                </a:schemeClr>
              </a:solidFill>
              <a:cs typeface="+mn-ea"/>
              <a:sym typeface="+mn-lt"/>
            </a:endParaRPr>
          </a:p>
          <a:p>
            <a:pPr marL="342900" indent="-342900">
              <a:buFont typeface="+mj-lt"/>
              <a:buAutoNum type="arabicPeriod"/>
            </a:pPr>
            <a:r>
              <a:rPr lang="zh-CN" altLang="en-US" sz="1400" spc="300" dirty="0">
                <a:solidFill>
                  <a:schemeClr val="tx1">
                    <a:lumMod val="85000"/>
                    <a:lumOff val="15000"/>
                  </a:schemeClr>
                </a:solidFill>
                <a:cs typeface="+mn-ea"/>
                <a:sym typeface="+mn-lt"/>
              </a:rPr>
              <a:t>中高暴露区范围较广，在南部—东南部形成连续片状分布。</a:t>
            </a:r>
            <a:endParaRPr lang="zh-CN" altLang="en-US" sz="1400" spc="300" dirty="0">
              <a:solidFill>
                <a:schemeClr val="tx1">
                  <a:lumMod val="85000"/>
                  <a:lumOff val="15000"/>
                </a:schemeClr>
              </a:solidFill>
              <a:cs typeface="+mn-ea"/>
              <a:sym typeface="+mn-lt"/>
            </a:endParaRPr>
          </a:p>
          <a:p>
            <a:pPr marL="342900" indent="-342900">
              <a:buFont typeface="+mj-lt"/>
              <a:buAutoNum type="arabicPeriod"/>
            </a:pPr>
            <a:r>
              <a:rPr lang="zh-CN" altLang="en-US" sz="1400" spc="300" dirty="0">
                <a:solidFill>
                  <a:schemeClr val="tx1">
                    <a:lumMod val="85000"/>
                    <a:lumOff val="15000"/>
                  </a:schemeClr>
                </a:solidFill>
                <a:cs typeface="+mn-ea"/>
                <a:sym typeface="+mn-lt"/>
              </a:rPr>
              <a:t>中暴露区多分布于北部、东北部及边缘村庄，低暴露区较零散。</a:t>
            </a:r>
            <a:endParaRPr lang="zh-CN" altLang="en-US" sz="1400" spc="300" dirty="0">
              <a:solidFill>
                <a:schemeClr val="tx1">
                  <a:lumMod val="85000"/>
                  <a:lumOff val="15000"/>
                </a:schemeClr>
              </a:solidFill>
              <a:cs typeface="+mn-ea"/>
              <a:sym typeface="+mn-lt"/>
            </a:endParaRPr>
          </a:p>
          <a:p>
            <a:pPr indent="0">
              <a:buFont typeface="+mj-lt"/>
              <a:buNone/>
            </a:pPr>
            <a:endParaRPr lang="en-US" altLang="zh-CN" sz="1400" spc="300" dirty="0">
              <a:solidFill>
                <a:schemeClr val="tx1">
                  <a:lumMod val="85000"/>
                  <a:lumOff val="15000"/>
                </a:schemeClr>
              </a:solidFill>
              <a:cs typeface="+mn-ea"/>
              <a:sym typeface="+mn-lt"/>
            </a:endParaRPr>
          </a:p>
          <a:p>
            <a:pPr indent="0">
              <a:buFont typeface="Arial" panose="020B0604020202020204" pitchFamily="34" charset="0"/>
              <a:buNone/>
            </a:pPr>
            <a:r>
              <a:rPr lang="zh-CN" altLang="en-US" sz="1600" b="1" spc="300" dirty="0">
                <a:solidFill>
                  <a:schemeClr val="tx1">
                    <a:lumMod val="85000"/>
                    <a:lumOff val="15000"/>
                  </a:schemeClr>
                </a:solidFill>
                <a:cs typeface="+mn-ea"/>
                <a:sym typeface="+mn-lt"/>
              </a:rPr>
              <a:t>【原因分析】</a:t>
            </a:r>
            <a:endParaRPr lang="zh-CN" altLang="en-US" sz="1600" b="1"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zh-CN" altLang="en-US" sz="1400" spc="300" dirty="0">
                <a:solidFill>
                  <a:schemeClr val="tx1">
                    <a:lumMod val="85000"/>
                    <a:lumOff val="15000"/>
                  </a:schemeClr>
                </a:solidFill>
                <a:cs typeface="+mn-ea"/>
                <a:sym typeface="+mn-lt"/>
              </a:rPr>
              <a:t>高暴露区通常由居民点规模较大、建筑较集中、易发性背景较高共同造成。</a:t>
            </a:r>
            <a:endParaRPr lang="zh-CN" altLang="en-US" sz="1400"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zh-CN" altLang="en-US" sz="1400" spc="300" dirty="0">
                <a:solidFill>
                  <a:schemeClr val="tx1">
                    <a:lumMod val="85000"/>
                    <a:lumOff val="15000"/>
                  </a:schemeClr>
                </a:solidFill>
                <a:cs typeface="+mn-ea"/>
                <a:sym typeface="+mn-lt"/>
              </a:rPr>
              <a:t>中高暴露区说明村内承灾体规模较明显，但危险背景或聚落集聚程度弱于高暴露区。</a:t>
            </a:r>
            <a:endParaRPr lang="zh-CN" altLang="en-US" sz="1400" spc="300" dirty="0">
              <a:solidFill>
                <a:schemeClr val="tx1">
                  <a:lumMod val="85000"/>
                  <a:lumOff val="15000"/>
                </a:schemeClr>
              </a:solidFill>
              <a:cs typeface="+mn-ea"/>
              <a:sym typeface="+mn-lt"/>
            </a:endParaRPr>
          </a:p>
          <a:p>
            <a:pPr marL="342900" indent="-342900">
              <a:buFont typeface="Arial" panose="020B0604020202020204" pitchFamily="34" charset="0"/>
              <a:buAutoNum type="arabicPeriod"/>
            </a:pPr>
            <a:r>
              <a:rPr lang="zh-CN" altLang="en-US" sz="1400" spc="300" dirty="0">
                <a:solidFill>
                  <a:schemeClr val="tx1">
                    <a:lumMod val="85000"/>
                    <a:lumOff val="15000"/>
                  </a:schemeClr>
                </a:solidFill>
                <a:cs typeface="+mn-ea"/>
                <a:sym typeface="+mn-lt"/>
              </a:rPr>
              <a:t>该图主要反映承灾体在危险背景中的暴露程度，后续将与防灾减灾能力共同进入综合风险评价。</a:t>
            </a:r>
            <a:endParaRPr lang="zh-CN" altLang="en-US" sz="1400" spc="300" dirty="0">
              <a:solidFill>
                <a:schemeClr val="tx1">
                  <a:lumMod val="85000"/>
                  <a:lumOff val="15000"/>
                </a:schemeClr>
              </a:solidFill>
              <a:cs typeface="+mn-ea"/>
              <a:sym typeface="+mn-lt"/>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6" grpId="0"/>
      <p:bldP spid="27" grpId="0"/>
      <p:bldP spid="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3" name="组合 12"/>
          <p:cNvGrpSpPr/>
          <p:nvPr/>
        </p:nvGrpSpPr>
        <p:grpSpPr>
          <a:xfrm>
            <a:off x="2987675" y="2817495"/>
            <a:ext cx="6211570" cy="1318895"/>
            <a:chOff x="2540000" y="2817585"/>
            <a:chExt cx="7031355" cy="1318895"/>
          </a:xfrm>
        </p:grpSpPr>
        <p:sp>
          <p:nvSpPr>
            <p:cNvPr id="4" name="矩形: 圆角 3"/>
            <p:cNvSpPr/>
            <p:nvPr/>
          </p:nvSpPr>
          <p:spPr>
            <a:xfrm>
              <a:off x="2540000" y="2817585"/>
              <a:ext cx="7031355" cy="131889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3202021" y="3109050"/>
              <a:ext cx="5819449" cy="768350"/>
            </a:xfrm>
            <a:prstGeom prst="rect">
              <a:avLst/>
            </a:prstGeom>
            <a:noFill/>
          </p:spPr>
          <p:txBody>
            <a:bodyPr wrap="square" rtlCol="0">
              <a:spAutoFit/>
            </a:bodyPr>
            <a:lstStyle/>
            <a:p>
              <a:pPr algn="dist"/>
              <a:r>
                <a:rPr lang="zh-CN" altLang="en-US" sz="4400" spc="400" dirty="0">
                  <a:solidFill>
                    <a:schemeClr val="bg1"/>
                  </a:solidFill>
                  <a:effectLst>
                    <a:outerShdw blurRad="76200" dist="38100" dir="5400000" algn="t" rotWithShape="0">
                      <a:prstClr val="black">
                        <a:alpha val="22000"/>
                      </a:prstClr>
                    </a:outerShdw>
                  </a:effectLst>
                  <a:cs typeface="+mn-ea"/>
                  <a:sym typeface="+mn-lt"/>
                </a:rPr>
                <a:t>防灾减灾能力指标</a:t>
              </a:r>
              <a:endParaRPr lang="zh-CN" altLang="en-US" sz="4400" spc="400" dirty="0">
                <a:solidFill>
                  <a:schemeClr val="bg1"/>
                </a:solidFill>
                <a:effectLst>
                  <a:outerShdw blurRad="76200" dist="38100" dir="5400000" algn="t" rotWithShape="0">
                    <a:prstClr val="black">
                      <a:alpha val="22000"/>
                    </a:prstClr>
                  </a:outerShdw>
                </a:effectLst>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9614202" y="4088595"/>
            <a:ext cx="3295250" cy="3942035"/>
            <a:chOff x="9614202" y="4088595"/>
            <a:chExt cx="3295250" cy="3942035"/>
          </a:xfrm>
        </p:grpSpPr>
        <p:sp>
          <p:nvSpPr>
            <p:cNvPr id="36" name="椭圆 35"/>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椭圆 37"/>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6" name="组合 15"/>
          <p:cNvGrpSpPr/>
          <p:nvPr>
            <p:custDataLst>
              <p:tags r:id="rId1"/>
            </p:custDataLst>
          </p:nvPr>
        </p:nvGrpSpPr>
        <p:grpSpPr>
          <a:xfrm>
            <a:off x="992714" y="1714168"/>
            <a:ext cx="3753854" cy="3753854"/>
            <a:chOff x="1251284" y="2273968"/>
            <a:chExt cx="3753854" cy="3753854"/>
          </a:xfrm>
        </p:grpSpPr>
        <p:sp>
          <p:nvSpPr>
            <p:cNvPr id="17" name="椭圆 16"/>
            <p:cNvSpPr/>
            <p:nvPr/>
          </p:nvSpPr>
          <p:spPr>
            <a:xfrm rot="1822312">
              <a:off x="1251284" y="2273968"/>
              <a:ext cx="3753854" cy="3753854"/>
            </a:xfrm>
            <a:prstGeom prst="ellipse">
              <a:avLst/>
            </a:prstGeom>
            <a:noFill/>
            <a:ln>
              <a:gradFill>
                <a:gsLst>
                  <a:gs pos="0">
                    <a:schemeClr val="accent1">
                      <a:lumMod val="5000"/>
                      <a:lumOff val="95000"/>
                      <a:alpha val="24000"/>
                    </a:schemeClr>
                  </a:gs>
                  <a:gs pos="53000">
                    <a:srgbClr val="0077C1"/>
                  </a:gs>
                  <a:gs pos="100000">
                    <a:srgbClr val="0077C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1483528" y="2444617"/>
              <a:ext cx="3328736" cy="3328736"/>
            </a:xfrm>
            <a:prstGeom prst="ellipse">
              <a:avLst/>
            </a:prstGeom>
            <a:blipFill dpi="0" rotWithShape="1">
              <a:blip r:embed="rId2">
                <a:extLst>
                  <a:ext uri="{BEBA8EAE-BF5A-486C-A8C5-ECC9F3942E4B}">
                    <a14:imgProps xmlns:a14="http://schemas.microsoft.com/office/drawing/2010/main">
                      <a14:imgLayer r:embed="rId3">
                        <a14:imgEffect>
                          <a14:saturation sat="66000"/>
                        </a14:imgEffect>
                      </a14:imgLayer>
                    </a14:imgProps>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9" name="组合 18"/>
          <p:cNvGrpSpPr/>
          <p:nvPr/>
        </p:nvGrpSpPr>
        <p:grpSpPr>
          <a:xfrm>
            <a:off x="5107674" y="1494458"/>
            <a:ext cx="5883275" cy="2528570"/>
            <a:chOff x="5565947" y="1924360"/>
            <a:chExt cx="5883275" cy="2528570"/>
          </a:xfrm>
        </p:grpSpPr>
        <p:sp>
          <p:nvSpPr>
            <p:cNvPr id="20" name="文本框 19"/>
            <p:cNvSpPr txBox="1"/>
            <p:nvPr/>
          </p:nvSpPr>
          <p:spPr>
            <a:xfrm>
              <a:off x="5565947" y="1924360"/>
              <a:ext cx="1733551" cy="460375"/>
            </a:xfrm>
            <a:prstGeom prst="rect">
              <a:avLst/>
            </a:prstGeom>
            <a:noFill/>
          </p:spPr>
          <p:txBody>
            <a:bodyPr wrap="square" rtlCol="0">
              <a:spAutoFit/>
            </a:bodyPr>
            <a:lstStyle/>
            <a:p>
              <a:r>
                <a:rPr lang="zh-CN" altLang="en-US" sz="2400" dirty="0">
                  <a:cs typeface="+mn-ea"/>
                  <a:sym typeface="+mn-lt"/>
                </a:rPr>
                <a:t>评价思路</a:t>
              </a:r>
              <a:endParaRPr lang="zh-CN" altLang="en-US" sz="2400" dirty="0">
                <a:cs typeface="+mn-ea"/>
                <a:sym typeface="+mn-lt"/>
              </a:endParaRPr>
            </a:p>
          </p:txBody>
        </p:sp>
        <p:sp>
          <p:nvSpPr>
            <p:cNvPr id="21" name="文本框 20"/>
            <p:cNvSpPr txBox="1"/>
            <p:nvPr/>
          </p:nvSpPr>
          <p:spPr>
            <a:xfrm>
              <a:off x="5571027" y="2422835"/>
              <a:ext cx="5878195" cy="2030095"/>
            </a:xfrm>
            <a:prstGeom prst="rect">
              <a:avLst/>
            </a:prstGeom>
            <a:noFill/>
          </p:spPr>
          <p:txBody>
            <a:bodyPr wrap="square" rtlCol="0">
              <a:spAutoFit/>
            </a:bodyPr>
            <a:lstStyle/>
            <a:p>
              <a:r>
                <a:rPr lang="zh-CN" altLang="en-US" sz="1400" spc="300" dirty="0">
                  <a:cs typeface="+mn-ea"/>
                  <a:sym typeface="+mn-lt"/>
                </a:rPr>
                <a:t>防灾减灾能力评价主要用于衡量各村庄在灾害发生前后进行组织响应、人员转移、医疗救助和交通救援的支撑条件。</a:t>
              </a:r>
              <a:endParaRPr lang="zh-CN" altLang="en-US" sz="1400" spc="300" dirty="0">
                <a:cs typeface="+mn-ea"/>
                <a:sym typeface="+mn-lt"/>
              </a:endParaRPr>
            </a:p>
            <a:p>
              <a:endParaRPr lang="zh-CN" altLang="en-US" sz="1400" spc="300" dirty="0">
                <a:cs typeface="+mn-ea"/>
                <a:sym typeface="+mn-lt"/>
              </a:endParaRPr>
            </a:p>
            <a:p>
              <a:r>
                <a:rPr lang="zh-CN" altLang="en-US" sz="1400" spc="300" dirty="0">
                  <a:cs typeface="+mn-ea"/>
                  <a:sym typeface="+mn-lt"/>
                </a:rPr>
                <a:t>结合廷坪乡山区乡镇特点与数据可获取性，</a:t>
              </a:r>
              <a:endParaRPr lang="zh-CN" altLang="en-US" sz="1400" spc="300" dirty="0">
                <a:cs typeface="+mn-ea"/>
                <a:sym typeface="+mn-lt"/>
              </a:endParaRPr>
            </a:p>
            <a:p>
              <a:r>
                <a:rPr lang="zh-CN" altLang="en-US" sz="1400" spc="300" dirty="0">
                  <a:cs typeface="+mn-ea"/>
                  <a:sym typeface="+mn-lt"/>
                </a:rPr>
                <a:t>本研究最终选取4个距离类指标构建防灾减灾能力评价体系：</a:t>
              </a:r>
              <a:endParaRPr lang="zh-CN" altLang="en-US" sz="1400" spc="300" dirty="0">
                <a:cs typeface="+mn-ea"/>
                <a:sym typeface="+mn-lt"/>
              </a:endParaRPr>
            </a:p>
            <a:p>
              <a:pPr marL="342900" indent="-342900">
                <a:buFont typeface="+mj-ea"/>
                <a:buAutoNum type="circleNumDbPlain"/>
              </a:pPr>
              <a:r>
                <a:rPr lang="zh-CN" altLang="en-US" sz="1400" b="1" spc="300" dirty="0">
                  <a:solidFill>
                    <a:srgbClr val="C00000"/>
                  </a:solidFill>
                  <a:cs typeface="+mn-ea"/>
                  <a:sym typeface="+mn-lt"/>
                </a:rPr>
                <a:t>距固定医疗服务点距离</a:t>
              </a:r>
              <a:endParaRPr lang="zh-CN" altLang="en-US" sz="1400" b="1" spc="300" dirty="0">
                <a:solidFill>
                  <a:srgbClr val="C00000"/>
                </a:solidFill>
                <a:cs typeface="+mn-ea"/>
                <a:sym typeface="+mn-lt"/>
              </a:endParaRPr>
            </a:p>
            <a:p>
              <a:pPr marL="342900" indent="-342900">
                <a:buFont typeface="+mj-ea"/>
                <a:buAutoNum type="circleNumDbPlain"/>
              </a:pPr>
              <a:r>
                <a:rPr lang="zh-CN" altLang="en-US" sz="1400" b="1" spc="300" dirty="0">
                  <a:solidFill>
                    <a:srgbClr val="C00000"/>
                  </a:solidFill>
                  <a:cs typeface="+mn-ea"/>
                  <a:sym typeface="+mn-lt"/>
                </a:rPr>
                <a:t>距乡镇中心距离</a:t>
              </a:r>
              <a:endParaRPr lang="zh-CN" altLang="en-US" sz="1400" b="1" spc="300" dirty="0">
                <a:solidFill>
                  <a:srgbClr val="C00000"/>
                </a:solidFill>
                <a:cs typeface="+mn-ea"/>
                <a:sym typeface="+mn-lt"/>
              </a:endParaRPr>
            </a:p>
            <a:p>
              <a:pPr marL="342900" indent="-342900">
                <a:buFont typeface="+mj-ea"/>
                <a:buAutoNum type="circleNumDbPlain"/>
              </a:pPr>
              <a:r>
                <a:rPr lang="zh-CN" altLang="en-US" sz="1400" b="1" spc="300" dirty="0">
                  <a:solidFill>
                    <a:srgbClr val="C00000"/>
                  </a:solidFill>
                  <a:cs typeface="+mn-ea"/>
                  <a:sym typeface="+mn-lt"/>
                </a:rPr>
                <a:t>距村委会距离</a:t>
              </a:r>
              <a:endParaRPr lang="zh-CN" altLang="en-US" sz="1400" b="1" spc="300" dirty="0">
                <a:solidFill>
                  <a:srgbClr val="C00000"/>
                </a:solidFill>
                <a:cs typeface="+mn-ea"/>
                <a:sym typeface="+mn-lt"/>
              </a:endParaRPr>
            </a:p>
            <a:p>
              <a:pPr marL="342900" indent="-342900">
                <a:buFont typeface="+mj-ea"/>
                <a:buAutoNum type="circleNumDbPlain"/>
              </a:pPr>
              <a:r>
                <a:rPr lang="zh-CN" altLang="en-US" sz="1400" b="1" spc="300" dirty="0">
                  <a:solidFill>
                    <a:srgbClr val="C00000"/>
                  </a:solidFill>
                  <a:cs typeface="+mn-ea"/>
                  <a:sym typeface="+mn-lt"/>
                </a:rPr>
                <a:t>距公路距离</a:t>
              </a:r>
              <a:endParaRPr lang="zh-CN" altLang="en-US" sz="1400" b="1" spc="300" dirty="0">
                <a:solidFill>
                  <a:srgbClr val="C00000"/>
                </a:solidFill>
                <a:cs typeface="+mn-ea"/>
                <a:sym typeface="+mn-lt"/>
              </a:endParaRPr>
            </a:p>
          </p:txBody>
        </p:sp>
      </p:grpSp>
      <p:grpSp>
        <p:nvGrpSpPr>
          <p:cNvPr id="22" name="组合 21"/>
          <p:cNvGrpSpPr/>
          <p:nvPr/>
        </p:nvGrpSpPr>
        <p:grpSpPr>
          <a:xfrm>
            <a:off x="5097324" y="4088934"/>
            <a:ext cx="5970905" cy="1283970"/>
            <a:chOff x="5555846" y="3163328"/>
            <a:chExt cx="5970905" cy="1283970"/>
          </a:xfrm>
        </p:grpSpPr>
        <p:sp>
          <p:nvSpPr>
            <p:cNvPr id="23" name="文本框 22"/>
            <p:cNvSpPr txBox="1"/>
            <p:nvPr/>
          </p:nvSpPr>
          <p:spPr>
            <a:xfrm>
              <a:off x="5555846" y="3163328"/>
              <a:ext cx="1733551" cy="460375"/>
            </a:xfrm>
            <a:prstGeom prst="rect">
              <a:avLst/>
            </a:prstGeom>
            <a:noFill/>
          </p:spPr>
          <p:txBody>
            <a:bodyPr wrap="square" rtlCol="0">
              <a:spAutoFit/>
            </a:bodyPr>
            <a:lstStyle/>
            <a:p>
              <a:r>
                <a:rPr lang="zh-CN" altLang="en-US" sz="2400" dirty="0">
                  <a:cs typeface="+mn-ea"/>
                  <a:sym typeface="+mn-lt"/>
                </a:rPr>
                <a:t>评价方法</a:t>
              </a:r>
              <a:endParaRPr lang="zh-CN" altLang="en-US" sz="2400" dirty="0">
                <a:cs typeface="+mn-ea"/>
                <a:sym typeface="+mn-lt"/>
              </a:endParaRPr>
            </a:p>
          </p:txBody>
        </p:sp>
        <p:sp>
          <p:nvSpPr>
            <p:cNvPr id="24" name="文本框 23"/>
            <p:cNvSpPr txBox="1"/>
            <p:nvPr/>
          </p:nvSpPr>
          <p:spPr>
            <a:xfrm>
              <a:off x="5571086" y="3648468"/>
              <a:ext cx="5955665" cy="798830"/>
            </a:xfrm>
            <a:prstGeom prst="rect">
              <a:avLst/>
            </a:prstGeom>
            <a:noFill/>
          </p:spPr>
          <p:txBody>
            <a:bodyPr wrap="square" rtlCol="0">
              <a:spAutoFit/>
            </a:bodyPr>
            <a:lstStyle/>
            <a:p>
              <a:r>
                <a:rPr lang="zh-CN" altLang="en-US" sz="1400" spc="300" dirty="0">
                  <a:cs typeface="+mn-ea"/>
                  <a:sym typeface="+mn-lt"/>
                </a:rPr>
                <a:t>使用层次分析法和熵权法加权评估，两者权重为</a:t>
              </a:r>
              <a:r>
                <a:rPr lang="en-US" altLang="zh-CN" sz="1400" spc="300" dirty="0">
                  <a:cs typeface="+mn-ea"/>
                  <a:sym typeface="+mn-lt"/>
                </a:rPr>
                <a:t>6:4</a:t>
              </a:r>
              <a:r>
                <a:rPr lang="zh-CN" altLang="en-US" sz="1400" spc="300" dirty="0">
                  <a:cs typeface="+mn-ea"/>
                  <a:sym typeface="+mn-lt"/>
                </a:rPr>
                <a:t>。</a:t>
              </a:r>
              <a:endParaRPr lang="en-US" altLang="zh-CN" sz="1400" spc="300" dirty="0">
                <a:cs typeface="+mn-ea"/>
                <a:sym typeface="+mn-lt"/>
              </a:endParaRPr>
            </a:p>
            <a:p>
              <a:endPar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r>
                <a:rPr lang="zh-CN" altLang="en-US" dirty="0"/>
                <a:t>加权评估公式如下：</a:t>
              </a:r>
              <a:endParaRPr lang="zh-CN" altLang="en-US" spc="300" dirty="0">
                <a:cs typeface="+mn-ea"/>
                <a:sym typeface="+mn-lt"/>
              </a:endParaRPr>
            </a:p>
          </p:txBody>
        </p:sp>
      </p:grpSp>
      <p:sp>
        <p:nvSpPr>
          <p:cNvPr id="31" name="文本框 30"/>
          <p:cNvSpPr txBox="1"/>
          <p:nvPr/>
        </p:nvSpPr>
        <p:spPr>
          <a:xfrm>
            <a:off x="1224915" y="335915"/>
            <a:ext cx="3883025"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防灾减灾能力指标</a:t>
            </a:r>
            <a:endParaRPr lang="zh-CN" altLang="en-US" sz="3200" spc="400" dirty="0">
              <a:solidFill>
                <a:schemeClr val="tx1">
                  <a:lumMod val="85000"/>
                  <a:lumOff val="15000"/>
                </a:schemeClr>
              </a:solidFill>
              <a:cs typeface="+mn-ea"/>
              <a:sym typeface="+mn-lt"/>
            </a:endParaRPr>
          </a:p>
        </p:txBody>
      </p:sp>
      <p:grpSp>
        <p:nvGrpSpPr>
          <p:cNvPr id="32" name="组合 31"/>
          <p:cNvGrpSpPr/>
          <p:nvPr/>
        </p:nvGrpSpPr>
        <p:grpSpPr>
          <a:xfrm>
            <a:off x="420106" y="300845"/>
            <a:ext cx="760161" cy="654908"/>
            <a:chOff x="401056" y="200808"/>
            <a:chExt cx="760161" cy="654908"/>
          </a:xfrm>
        </p:grpSpPr>
        <p:sp>
          <p:nvSpPr>
            <p:cNvPr id="33" name="椭圆 32"/>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椭圆 33"/>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3" name="图片 2"/>
          <p:cNvPicPr>
            <a:picLocks noChangeAspect="1"/>
          </p:cNvPicPr>
          <p:nvPr/>
        </p:nvPicPr>
        <p:blipFill>
          <a:blip r:embed="rId4"/>
          <a:stretch>
            <a:fillRect/>
          </a:stretch>
        </p:blipFill>
        <p:spPr>
          <a:xfrm>
            <a:off x="5113020" y="5372735"/>
            <a:ext cx="3981450" cy="1209675"/>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文本框 1"/>
          <p:cNvSpPr txBox="1"/>
          <p:nvPr/>
        </p:nvSpPr>
        <p:spPr>
          <a:xfrm>
            <a:off x="1224915" y="335915"/>
            <a:ext cx="456438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防灾减灾能力指标</a:t>
            </a:r>
            <a:endParaRPr lang="zh-CN" altLang="en-US" sz="3200" spc="400" dirty="0">
              <a:solidFill>
                <a:schemeClr val="tx1">
                  <a:lumMod val="85000"/>
                  <a:lumOff val="15000"/>
                </a:schemeClr>
              </a:solidFill>
              <a:cs typeface="+mn-ea"/>
              <a:sym typeface="+mn-lt"/>
            </a:endParaRPr>
          </a:p>
        </p:txBody>
      </p:sp>
      <p:graphicFrame>
        <p:nvGraphicFramePr>
          <p:cNvPr id="3" name="表格 2"/>
          <p:cNvGraphicFramePr/>
          <p:nvPr>
            <p:custDataLst>
              <p:tags r:id="rId1"/>
            </p:custDataLst>
          </p:nvPr>
        </p:nvGraphicFramePr>
        <p:xfrm>
          <a:off x="565467" y="1284161"/>
          <a:ext cx="11060430" cy="4796155"/>
        </p:xfrm>
        <a:graphic>
          <a:graphicData uri="http://schemas.openxmlformats.org/drawingml/2006/table">
            <a:tbl>
              <a:tblPr firstRow="1" bandRow="1">
                <a:tableStyleId>{7B14B4A9-AB97-45E6-8364-B7BE8BFF0F06}</a:tableStyleId>
              </a:tblPr>
              <a:tblGrid>
                <a:gridCol w="1976120"/>
                <a:gridCol w="1797050"/>
                <a:gridCol w="2406015"/>
                <a:gridCol w="2540000"/>
                <a:gridCol w="2341245"/>
              </a:tblGrid>
              <a:tr h="738505">
                <a:tc>
                  <a:txBody>
                    <a:bodyPr/>
                    <a:p>
                      <a:pPr algn="l">
                        <a:lnSpc>
                          <a:spcPct val="120000"/>
                        </a:lnSpc>
                      </a:pPr>
                      <a:r>
                        <a:rPr lang="zh-CN" altLang="en-US" sz="1800" spc="130">
                          <a:latin typeface="微软雅黑" panose="020B0503020204020204" charset="-122"/>
                          <a:ea typeface="Arial" panose="020B0604020202020204" pitchFamily="34" charset="0"/>
                        </a:rPr>
                        <a:t>指标</a:t>
                      </a:r>
                      <a:endParaRPr lang="zh-CN" altLang="en-US" sz="1800" spc="130">
                        <a:latin typeface="微软雅黑" panose="020B0503020204020204" charset="-122"/>
                        <a:ea typeface="Arial" panose="020B0604020202020204" pitchFamily="34" charset="0"/>
                      </a:endParaRPr>
                    </a:p>
                  </a:txBody>
                  <a:tcPr marL="254000" marR="254000" marT="177800" marB="177800" anchor="ctr" anchorCtr="0">
                    <a:solidFill>
                      <a:srgbClr val="27776D"/>
                    </a:solidFill>
                  </a:tcPr>
                </a:tc>
                <a:tc>
                  <a:txBody>
                    <a:bodyPr/>
                    <a:p>
                      <a:pPr algn="ctr">
                        <a:lnSpc>
                          <a:spcPct val="120000"/>
                        </a:lnSpc>
                      </a:pPr>
                      <a:r>
                        <a:rPr lang="zh-CN" altLang="en-US" sz="1800" spc="130">
                          <a:latin typeface="微软雅黑" panose="020B0503020204020204" charset="-122"/>
                          <a:ea typeface="Arial" panose="020B0604020202020204" pitchFamily="34" charset="0"/>
                        </a:rPr>
                        <a:t>所属模块</a:t>
                      </a:r>
                      <a:endParaRPr lang="zh-CN" altLang="en-US" sz="1800" spc="130">
                        <a:latin typeface="微软雅黑" panose="020B0503020204020204" charset="-122"/>
                        <a:ea typeface="Arial" panose="020B0604020202020204" pitchFamily="34" charset="0"/>
                      </a:endParaRPr>
                    </a:p>
                  </a:txBody>
                  <a:tcPr marL="254000" marR="254000" marT="177800" marB="177800" anchor="ctr" anchorCtr="0">
                    <a:solidFill>
                      <a:srgbClr val="27776D"/>
                    </a:solidFill>
                  </a:tcPr>
                </a:tc>
                <a:tc>
                  <a:txBody>
                    <a:bodyPr/>
                    <a:p>
                      <a:pPr algn="ctr">
                        <a:lnSpc>
                          <a:spcPct val="120000"/>
                        </a:lnSpc>
                      </a:pPr>
                      <a:r>
                        <a:rPr lang="zh-CN" altLang="en-US" sz="1800" spc="130">
                          <a:latin typeface="微软雅黑" panose="020B0503020204020204" charset="-122"/>
                          <a:ea typeface="Arial" panose="020B0604020202020204" pitchFamily="34" charset="0"/>
                        </a:rPr>
                        <a:t>原始模块方向</a:t>
                      </a:r>
                      <a:endParaRPr lang="zh-CN" altLang="en-US" sz="1800" spc="130">
                        <a:latin typeface="微软雅黑" panose="020B0503020204020204" charset="-122"/>
                        <a:ea typeface="Arial" panose="020B0604020202020204" pitchFamily="34" charset="0"/>
                      </a:endParaRPr>
                    </a:p>
                  </a:txBody>
                  <a:tcPr marL="254000" marR="254000" marT="177800" marB="177800" anchor="ctr" anchorCtr="0">
                    <a:solidFill>
                      <a:srgbClr val="27776D"/>
                    </a:solidFill>
                  </a:tcPr>
                </a:tc>
                <a:tc>
                  <a:txBody>
                    <a:bodyPr/>
                    <a:p>
                      <a:pPr algn="ctr">
                        <a:lnSpc>
                          <a:spcPct val="120000"/>
                        </a:lnSpc>
                      </a:pPr>
                      <a:r>
                        <a:rPr lang="zh-CN" altLang="en-US" sz="1800" spc="130">
                          <a:latin typeface="微软雅黑" panose="020B0503020204020204" charset="-122"/>
                          <a:ea typeface="Arial" panose="020B0604020202020204" pitchFamily="34" charset="0"/>
                        </a:rPr>
                        <a:t>最终风险方向</a:t>
                      </a:r>
                      <a:endParaRPr lang="zh-CN" altLang="en-US" sz="1800" spc="130">
                        <a:latin typeface="微软雅黑" panose="020B0503020204020204" charset="-122"/>
                        <a:ea typeface="Arial" panose="020B0604020202020204" pitchFamily="34" charset="0"/>
                      </a:endParaRPr>
                    </a:p>
                  </a:txBody>
                  <a:tcPr marL="254000" marR="254000" marT="177800" marB="177800" anchor="ctr" anchorCtr="0">
                    <a:solidFill>
                      <a:srgbClr val="27776D"/>
                    </a:solidFill>
                  </a:tcPr>
                </a:tc>
                <a:tc>
                  <a:txBody>
                    <a:bodyPr/>
                    <a:p>
                      <a:pPr algn="l">
                        <a:lnSpc>
                          <a:spcPct val="120000"/>
                        </a:lnSpc>
                      </a:pPr>
                      <a:r>
                        <a:rPr lang="zh-CN" altLang="en-US" sz="1800" spc="130">
                          <a:latin typeface="微软雅黑" panose="020B0503020204020204" charset="-122"/>
                          <a:ea typeface="Arial" panose="020B0604020202020204" pitchFamily="34" charset="0"/>
                        </a:rPr>
                        <a:t>备注</a:t>
                      </a:r>
                      <a:endParaRPr lang="zh-CN" altLang="en-US" sz="1800" spc="130">
                        <a:latin typeface="微软雅黑" panose="020B0503020204020204" charset="-122"/>
                        <a:ea typeface="Arial" panose="020B0604020202020204" pitchFamily="34" charset="0"/>
                      </a:endParaRPr>
                    </a:p>
                  </a:txBody>
                  <a:tcPr marL="254000" marR="254000" marT="177800" marB="177800" anchor="ctr" anchorCtr="0">
                    <a:solidFill>
                      <a:srgbClr val="27776D"/>
                    </a:solidFill>
                  </a:tcPr>
                </a:tc>
              </a:tr>
              <a:tr h="1014730">
                <a:tc>
                  <a:txBody>
                    <a:bodyPr/>
                    <a:p>
                      <a:pPr algn="l">
                        <a:lnSpc>
                          <a:spcPct val="120000"/>
                        </a:lnSpc>
                      </a:pPr>
                      <a:r>
                        <a:rPr lang="zh-CN" altLang="en-US" sz="1600">
                          <a:latin typeface="微软雅黑" panose="020B0503020204020204" charset="-122"/>
                          <a:ea typeface="微软雅黑" panose="020B0503020204020204" charset="-122"/>
                        </a:rPr>
                        <a:t>距乡镇中心距离</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防灾减灾能力</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负向（越近能力越强）</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正向（越远风险越高）</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最终进入综合风险时需反向处理</a:t>
                      </a:r>
                      <a:endParaRPr lang="zh-CN" altLang="en-US" sz="1600">
                        <a:latin typeface="微软雅黑" panose="020B0503020204020204" charset="-122"/>
                        <a:ea typeface="微软雅黑" panose="020B0503020204020204" charset="-122"/>
                      </a:endParaRPr>
                    </a:p>
                  </a:txBody>
                  <a:tcPr marL="254000" marR="254000" marT="177800" marB="177800" anchor="ctr" anchorCtr="0"/>
                </a:tc>
              </a:tr>
              <a:tr h="1014095">
                <a:tc>
                  <a:txBody>
                    <a:bodyPr/>
                    <a:p>
                      <a:pPr algn="l">
                        <a:lnSpc>
                          <a:spcPct val="120000"/>
                        </a:lnSpc>
                      </a:pPr>
                      <a:r>
                        <a:rPr lang="zh-CN" altLang="en-US" sz="1600">
                          <a:latin typeface="微软雅黑" panose="020B0503020204020204" charset="-122"/>
                          <a:ea typeface="微软雅黑" panose="020B0503020204020204" charset="-122"/>
                        </a:rPr>
                        <a:t>距村委会距离</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防灾减灾能力</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负向（越近能力越强）</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正向（越远风险越高）</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反映基层组织响应可达性</a:t>
                      </a:r>
                      <a:endParaRPr lang="zh-CN" altLang="en-US" sz="1600">
                        <a:latin typeface="微软雅黑" panose="020B0503020204020204" charset="-122"/>
                        <a:ea typeface="微软雅黑" panose="020B0503020204020204" charset="-122"/>
                      </a:endParaRPr>
                    </a:p>
                  </a:txBody>
                  <a:tcPr marL="254000" marR="254000" marT="177800" marB="177800" anchor="ctr" anchorCtr="0"/>
                </a:tc>
              </a:tr>
              <a:tr h="1014730">
                <a:tc>
                  <a:txBody>
                    <a:bodyPr/>
                    <a:p>
                      <a:pPr algn="l">
                        <a:lnSpc>
                          <a:spcPct val="120000"/>
                        </a:lnSpc>
                      </a:pPr>
                      <a:r>
                        <a:rPr lang="zh-CN" altLang="en-US" sz="1600">
                          <a:latin typeface="微软雅黑" panose="020B0503020204020204" charset="-122"/>
                          <a:ea typeface="微软雅黑" panose="020B0503020204020204" charset="-122"/>
                        </a:rPr>
                        <a:t>距卫生所距离</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防灾减灾能力</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负向（越近能力越强）</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正向（越远风险越高）</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属于基础医疗可达性代理指标</a:t>
                      </a:r>
                      <a:endParaRPr lang="zh-CN" altLang="en-US" sz="1600">
                        <a:latin typeface="微软雅黑" panose="020B0503020204020204" charset="-122"/>
                        <a:ea typeface="微软雅黑" panose="020B0503020204020204" charset="-122"/>
                      </a:endParaRPr>
                    </a:p>
                  </a:txBody>
                  <a:tcPr marL="254000" marR="254000" marT="177800" marB="177800" anchor="ctr" anchorCtr="0"/>
                </a:tc>
              </a:tr>
              <a:tr h="1014095">
                <a:tc>
                  <a:txBody>
                    <a:bodyPr/>
                    <a:p>
                      <a:pPr algn="l">
                        <a:lnSpc>
                          <a:spcPct val="120000"/>
                        </a:lnSpc>
                      </a:pPr>
                      <a:r>
                        <a:rPr lang="zh-CN" altLang="en-US" sz="1600">
                          <a:latin typeface="微软雅黑" panose="020B0503020204020204" charset="-122"/>
                          <a:ea typeface="微软雅黑" panose="020B0503020204020204" charset="-122"/>
                        </a:rPr>
                        <a:t>距公路距离</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防灾减灾能力</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负向（越近能力越强）</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ctr">
                        <a:lnSpc>
                          <a:spcPct val="120000"/>
                        </a:lnSpc>
                      </a:pPr>
                      <a:r>
                        <a:rPr lang="zh-CN" altLang="en-US" sz="1600">
                          <a:latin typeface="微软雅黑" panose="020B0503020204020204" charset="-122"/>
                          <a:ea typeface="微软雅黑" panose="020B0503020204020204" charset="-122"/>
                        </a:rPr>
                        <a:t>正向（越远风险越高）</a:t>
                      </a:r>
                      <a:endParaRPr lang="zh-CN" altLang="en-US" sz="1600">
                        <a:latin typeface="微软雅黑" panose="020B0503020204020204" charset="-122"/>
                        <a:ea typeface="微软雅黑" panose="020B0503020204020204" charset="-122"/>
                      </a:endParaRPr>
                    </a:p>
                  </a:txBody>
                  <a:tcPr marL="254000" marR="254000" marT="177800" marB="177800" anchor="ctr" anchorCtr="0"/>
                </a:tc>
                <a:tc>
                  <a:txBody>
                    <a:bodyPr/>
                    <a:p>
                      <a:pPr algn="l">
                        <a:lnSpc>
                          <a:spcPct val="120000"/>
                        </a:lnSpc>
                      </a:pPr>
                      <a:r>
                        <a:rPr lang="zh-CN" altLang="en-US" sz="1600">
                          <a:latin typeface="微软雅黑" panose="020B0503020204020204" charset="-122"/>
                          <a:ea typeface="微软雅黑" panose="020B0503020204020204" charset="-122"/>
                        </a:rPr>
                        <a:t>反映交通通达与救援可达性</a:t>
                      </a:r>
                      <a:endParaRPr lang="zh-CN" altLang="en-US" sz="1600">
                        <a:latin typeface="微软雅黑" panose="020B0503020204020204" charset="-122"/>
                        <a:ea typeface="微软雅黑" panose="020B0503020204020204" charset="-122"/>
                      </a:endParaRPr>
                    </a:p>
                  </a:txBody>
                  <a:tcPr marL="254000" marR="254000" marT="177800" marB="177800" anchor="ctr" anchorCtr="0"/>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文本框 1"/>
          <p:cNvSpPr txBox="1"/>
          <p:nvPr/>
        </p:nvSpPr>
        <p:spPr>
          <a:xfrm>
            <a:off x="1224915" y="335915"/>
            <a:ext cx="867537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防灾减灾能力指标</a:t>
            </a:r>
            <a:r>
              <a:rPr lang="en-US" altLang="zh-CN" sz="3200" spc="400" dirty="0">
                <a:solidFill>
                  <a:schemeClr val="tx1">
                    <a:lumMod val="85000"/>
                    <a:lumOff val="15000"/>
                  </a:schemeClr>
                </a:solidFill>
                <a:cs typeface="+mn-ea"/>
                <a:sym typeface="+mn-lt"/>
              </a:rPr>
              <a:t>AHP</a:t>
            </a:r>
            <a:r>
              <a:rPr lang="zh-CN" altLang="en-US" sz="3200" spc="400" dirty="0">
                <a:solidFill>
                  <a:schemeClr val="tx1">
                    <a:lumMod val="85000"/>
                    <a:lumOff val="15000"/>
                  </a:schemeClr>
                </a:solidFill>
                <a:cs typeface="+mn-ea"/>
                <a:sym typeface="+mn-lt"/>
              </a:rPr>
              <a:t>分析结果</a:t>
            </a:r>
            <a:endParaRPr lang="zh-CN" altLang="en-US" sz="3200" spc="400" dirty="0">
              <a:solidFill>
                <a:schemeClr val="tx1">
                  <a:lumMod val="85000"/>
                  <a:lumOff val="15000"/>
                </a:schemeClr>
              </a:solidFill>
              <a:cs typeface="+mn-ea"/>
              <a:sym typeface="+mn-lt"/>
            </a:endParaRPr>
          </a:p>
        </p:txBody>
      </p:sp>
      <p:graphicFrame>
        <p:nvGraphicFramePr>
          <p:cNvPr id="4" name="表格 3"/>
          <p:cNvGraphicFramePr/>
          <p:nvPr>
            <p:custDataLst>
              <p:tags r:id="rId1"/>
            </p:custDataLst>
          </p:nvPr>
        </p:nvGraphicFramePr>
        <p:xfrm>
          <a:off x="2039620" y="1485900"/>
          <a:ext cx="7576820" cy="4348480"/>
        </p:xfrm>
        <a:graphic>
          <a:graphicData uri="http://schemas.openxmlformats.org/drawingml/2006/table">
            <a:tbl>
              <a:tblPr/>
              <a:tblGrid>
                <a:gridCol w="5082540"/>
                <a:gridCol w="2494280"/>
              </a:tblGrid>
              <a:tr h="1305560">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指标</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建议权重</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r>
              <a:tr h="760730">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距固定医疗服务点距离</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0.5</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760730">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距乡镇中心距离</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0.15</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760730">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距村委会距离</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0.1</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760730">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距公路距离</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0.25</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10001514" y="427814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331516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0" name="组合 19"/>
          <p:cNvGrpSpPr/>
          <p:nvPr/>
        </p:nvGrpSpPr>
        <p:grpSpPr>
          <a:xfrm>
            <a:off x="6143955" y="1274587"/>
            <a:ext cx="782053" cy="544778"/>
            <a:chOff x="6346655" y="2177716"/>
            <a:chExt cx="782053" cy="544778"/>
          </a:xfrm>
        </p:grpSpPr>
        <p:sp>
          <p:nvSpPr>
            <p:cNvPr id="21" name="矩形 20"/>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6346655" y="2199274"/>
              <a:ext cx="782053" cy="523220"/>
            </a:xfrm>
            <a:prstGeom prst="rect">
              <a:avLst/>
            </a:prstGeom>
            <a:noFill/>
          </p:spPr>
          <p:txBody>
            <a:bodyPr wrap="square" rtlCol="0">
              <a:spAutoFit/>
            </a:bodyPr>
            <a:lstStyle/>
            <a:p>
              <a:pPr algn="ctr"/>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sp>
        <p:nvSpPr>
          <p:cNvPr id="26" name="文本框 25"/>
          <p:cNvSpPr txBox="1"/>
          <p:nvPr/>
        </p:nvSpPr>
        <p:spPr>
          <a:xfrm>
            <a:off x="6454775" y="1925955"/>
            <a:ext cx="5488305" cy="607060"/>
          </a:xfrm>
          <a:prstGeom prst="rect">
            <a:avLst/>
          </a:prstGeom>
          <a:noFill/>
        </p:spPr>
        <p:txBody>
          <a:bodyPr wrap="square" rtlCol="0">
            <a:noAutofit/>
          </a:bodyPr>
          <a:lstStyle/>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数值</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越大，表示防灾减灾能力越强</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endPar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指数图整</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体反映交通、组织、医疗等条件对村级能力的综合支撑。</a:t>
            </a: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zh-CN" altLang="en-US" sz="1400" spc="300" dirty="0">
              <a:solidFill>
                <a:schemeClr val="tx1">
                  <a:lumMod val="85000"/>
                  <a:lumOff val="15000"/>
                </a:schemeClr>
              </a:solidFill>
              <a:cs typeface="+mn-ea"/>
              <a:sym typeface="+mn-lt"/>
            </a:endParaRPr>
          </a:p>
          <a:p>
            <a:pPr indent="457200">
              <a:buFont typeface="Arial" panose="020B0604020202020204" pitchFamily="34" charset="0"/>
              <a:buNone/>
            </a:pPr>
            <a:endParaRPr lang="zh-CN" altLang="en-US" sz="1400" spc="300" dirty="0">
              <a:solidFill>
                <a:schemeClr val="tx1">
                  <a:lumMod val="85000"/>
                  <a:lumOff val="15000"/>
                </a:schemeClr>
              </a:solidFill>
              <a:cs typeface="+mn-ea"/>
              <a:sym typeface="+mn-lt"/>
            </a:endParaRPr>
          </a:p>
        </p:txBody>
      </p:sp>
      <p:sp>
        <p:nvSpPr>
          <p:cNvPr id="27" name="文本框 26"/>
          <p:cNvSpPr txBox="1"/>
          <p:nvPr/>
        </p:nvSpPr>
        <p:spPr>
          <a:xfrm>
            <a:off x="6914515" y="1329690"/>
            <a:ext cx="4215765"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村级防灾减灾能力指数图</a:t>
            </a:r>
            <a:endParaRPr lang="zh-CN" altLang="en-US" sz="2400" dirty="0">
              <a:solidFill>
                <a:schemeClr val="tx1">
                  <a:lumMod val="85000"/>
                  <a:lumOff val="15000"/>
                </a:schemeClr>
              </a:solidFill>
              <a:cs typeface="+mn-ea"/>
              <a:sym typeface="+mn-lt"/>
            </a:endParaRPr>
          </a:p>
        </p:txBody>
      </p:sp>
      <p:sp>
        <p:nvSpPr>
          <p:cNvPr id="5" name="矩形 4"/>
          <p:cNvSpPr/>
          <p:nvPr/>
        </p:nvSpPr>
        <p:spPr>
          <a:xfrm>
            <a:off x="385445" y="1193800"/>
            <a:ext cx="5401310" cy="5528310"/>
          </a:xfrm>
          <a:prstGeom prst="rect">
            <a:avLst/>
          </a:prstGeom>
          <a:noFill/>
          <a:ln w="38100">
            <a:solidFill>
              <a:srgbClr val="9DC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1333500" y="335915"/>
            <a:ext cx="450215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防灾减灾能力指标</a:t>
            </a:r>
            <a:endParaRPr lang="zh-CN" altLang="en-US" sz="3200" spc="400" dirty="0">
              <a:solidFill>
                <a:schemeClr val="tx1">
                  <a:lumMod val="85000"/>
                  <a:lumOff val="15000"/>
                </a:schemeClr>
              </a:solidFill>
              <a:cs typeface="+mn-ea"/>
              <a:sym typeface="+mn-lt"/>
            </a:endParaRPr>
          </a:p>
        </p:txBody>
      </p:sp>
      <p:grpSp>
        <p:nvGrpSpPr>
          <p:cNvPr id="33" name="组合 32"/>
          <p:cNvGrpSpPr/>
          <p:nvPr/>
        </p:nvGrpSpPr>
        <p:grpSpPr>
          <a:xfrm>
            <a:off x="420106" y="300845"/>
            <a:ext cx="760161" cy="654908"/>
            <a:chOff x="401056" y="200808"/>
            <a:chExt cx="760161" cy="654908"/>
          </a:xfrm>
        </p:grpSpPr>
        <p:sp>
          <p:nvSpPr>
            <p:cNvPr id="34" name="椭圆 33"/>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Text 5"/>
          <p:cNvSpPr/>
          <p:nvPr/>
        </p:nvSpPr>
        <p:spPr>
          <a:xfrm>
            <a:off x="1013460" y="5944870"/>
            <a:ext cx="3789680" cy="484505"/>
          </a:xfrm>
          <a:prstGeom prst="rect">
            <a:avLst/>
          </a:prstGeom>
          <a:noFill/>
        </p:spPr>
        <p:txBody>
          <a:bodyPr wrap="square" lIns="0" tIns="0" rIns="0" bIns="0" rtlCol="0" anchor="ctr"/>
          <a:lstStyle/>
          <a:p>
            <a:pPr marL="0" indent="0" algn="ctr">
              <a:buNone/>
            </a:pPr>
            <a:r>
              <a:rPr lang="en-US" sz="2400" b="1" dirty="0">
                <a:solidFill>
                  <a:srgbClr val="6C7480"/>
                </a:solidFill>
                <a:latin typeface="微软雅黑" panose="020B0503020204020204" charset="-122"/>
                <a:ea typeface="微软雅黑" panose="020B0503020204020204" charset="-122"/>
                <a:cs typeface="微软雅黑" panose="020B0503020204020204" pitchFamily="34" charset="-120"/>
                <a:sym typeface="+mn-ea"/>
              </a:rPr>
              <a:t>村级</a:t>
            </a:r>
            <a:r>
              <a:rPr lang="zh-CN" altLang="en-US" sz="2400" b="1" dirty="0">
                <a:solidFill>
                  <a:srgbClr val="6C7480"/>
                </a:solidFill>
                <a:latin typeface="微软雅黑" panose="020B0503020204020204" charset="-122"/>
                <a:ea typeface="微软雅黑" panose="020B0503020204020204" charset="-122"/>
                <a:cs typeface="微软雅黑" panose="020B0503020204020204" pitchFamily="34" charset="-120"/>
                <a:sym typeface="+mn-ea"/>
              </a:rPr>
              <a:t>防灾减灾能力</a:t>
            </a:r>
            <a:r>
              <a:rPr lang="en-US" sz="2400" b="1" dirty="0">
                <a:solidFill>
                  <a:srgbClr val="6C7480"/>
                </a:solidFill>
                <a:latin typeface="微软雅黑" panose="020B0503020204020204" charset="-122"/>
                <a:ea typeface="微软雅黑" panose="020B0503020204020204" charset="-122"/>
                <a:cs typeface="微软雅黑" panose="020B0503020204020204" pitchFamily="34" charset="-120"/>
                <a:sym typeface="+mn-ea"/>
              </a:rPr>
              <a:t>指数图</a:t>
            </a:r>
            <a:endParaRPr lang="en-US" sz="2400" b="1" dirty="0"/>
          </a:p>
        </p:txBody>
      </p:sp>
      <p:pic>
        <p:nvPicPr>
          <p:cNvPr id="7" name="Image 0" descr="/mnt/data/cbb8afdc-972e-4323-b0cf-2dd2857015e3.png"/>
          <p:cNvPicPr>
            <a:picLocks noChangeAspect="1"/>
          </p:cNvPicPr>
          <p:nvPr/>
        </p:nvPicPr>
        <p:blipFill>
          <a:blip r:embed="rId1"/>
          <a:stretch>
            <a:fillRect/>
          </a:stretch>
        </p:blipFill>
        <p:spPr>
          <a:xfrm>
            <a:off x="627380" y="1819275"/>
            <a:ext cx="4918075" cy="3913505"/>
          </a:xfrm>
          <a:prstGeom prst="rect">
            <a:avLst/>
          </a:prstGeom>
        </p:spPr>
      </p:pic>
      <p:pic>
        <p:nvPicPr>
          <p:cNvPr id="10" name="Image 1" descr="/mnt/data/db11eb07-adce-4595-9fea-343b7e3603a6.png"/>
          <p:cNvPicPr>
            <a:picLocks noChangeAspect="1"/>
          </p:cNvPicPr>
          <p:nvPr/>
        </p:nvPicPr>
        <p:blipFill>
          <a:blip r:embed="rId2"/>
          <a:stretch>
            <a:fillRect/>
          </a:stretch>
        </p:blipFill>
        <p:spPr>
          <a:xfrm>
            <a:off x="3595370" y="5006340"/>
            <a:ext cx="1950085" cy="661670"/>
          </a:xfrm>
          <a:prstGeom prst="rect">
            <a:avLst/>
          </a:prstGeom>
        </p:spPr>
      </p:pic>
      <p:grpSp>
        <p:nvGrpSpPr>
          <p:cNvPr id="3" name="组合 2"/>
          <p:cNvGrpSpPr/>
          <p:nvPr/>
        </p:nvGrpSpPr>
        <p:grpSpPr>
          <a:xfrm>
            <a:off x="6143955" y="2477912"/>
            <a:ext cx="782053" cy="543528"/>
            <a:chOff x="6346655" y="2177716"/>
            <a:chExt cx="782053" cy="543528"/>
          </a:xfrm>
        </p:grpSpPr>
        <p:sp>
          <p:nvSpPr>
            <p:cNvPr id="4" name="矩形 3"/>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文本框 7"/>
            <p:cNvSpPr txBox="1"/>
            <p:nvPr/>
          </p:nvSpPr>
          <p:spPr>
            <a:xfrm>
              <a:off x="6346655" y="2199274"/>
              <a:ext cx="782053" cy="521970"/>
            </a:xfrm>
            <a:prstGeom prst="rect">
              <a:avLst/>
            </a:prstGeom>
            <a:noFill/>
          </p:spPr>
          <p:txBody>
            <a:bodyPr wrap="square" rtlCol="0">
              <a:spAutoFit/>
            </a:bodyPr>
            <a:lstStyle/>
            <a:p>
              <a:pPr algn="ctr"/>
              <a:r>
                <a:rPr lang="en-US" altLang="zh-CN" sz="2800" dirty="0">
                  <a:solidFill>
                    <a:schemeClr val="bg1"/>
                  </a:solidFill>
                  <a:cs typeface="+mn-ea"/>
                  <a:sym typeface="+mn-lt"/>
                </a:rPr>
                <a:t>02</a:t>
              </a:r>
              <a:endParaRPr lang="zh-CN" altLang="en-US" sz="2800" dirty="0">
                <a:solidFill>
                  <a:schemeClr val="bg1"/>
                </a:solidFill>
                <a:cs typeface="+mn-ea"/>
                <a:sym typeface="+mn-lt"/>
              </a:endParaRPr>
            </a:p>
          </p:txBody>
        </p:sp>
      </p:grpSp>
      <p:sp>
        <p:nvSpPr>
          <p:cNvPr id="9" name="文本框 8"/>
          <p:cNvSpPr txBox="1"/>
          <p:nvPr/>
        </p:nvSpPr>
        <p:spPr>
          <a:xfrm>
            <a:off x="6454775" y="3129280"/>
            <a:ext cx="5487670" cy="3593465"/>
          </a:xfrm>
          <a:prstGeom prst="rect">
            <a:avLst/>
          </a:prstGeom>
          <a:noFill/>
        </p:spPr>
        <p:txBody>
          <a:bodyPr wrap="square" rtlCol="0">
            <a:noAutofit/>
          </a:bodyPr>
          <a:lstStyle/>
          <a:p>
            <a:pPr indent="0">
              <a:buFont typeface="Arial" panose="020B0604020202020204" pitchFamily="34" charset="0"/>
              <a:buNone/>
            </a:pPr>
            <a:r>
              <a:rPr lang="zh-CN" altLang="en-US" b="1" dirty="0"/>
              <a:t>图面特征</a:t>
            </a:r>
            <a:endParaRPr lang="zh-CN" altLang="en-US" sz="1400" dirty="0"/>
          </a:p>
          <a:p>
            <a:pPr marL="285750" indent="-285750">
              <a:buFont typeface="Arial" panose="020B0604020202020204" pitchFamily="34" charset="0"/>
              <a:buChar char="•"/>
            </a:pPr>
            <a:r>
              <a:rPr lang="zh-CN" altLang="en-US" sz="1400" b="1" dirty="0"/>
              <a:t>高能力区</a:t>
            </a:r>
            <a:r>
              <a:rPr lang="zh-CN" altLang="en-US" sz="1400" dirty="0"/>
              <a:t>集中于研究区中部，说明该区域交通、医疗与组织服务支撑条件较好。</a:t>
            </a:r>
            <a:endParaRPr lang="zh-CN" altLang="en-US" sz="1400" dirty="0"/>
          </a:p>
          <a:p>
            <a:pPr marL="285750" indent="-285750">
              <a:buFont typeface="Arial" panose="020B0604020202020204" pitchFamily="34" charset="0"/>
              <a:buChar char="•"/>
            </a:pPr>
            <a:r>
              <a:rPr lang="zh-CN" altLang="en-US" sz="1400" b="1" dirty="0"/>
              <a:t>低能力区</a:t>
            </a:r>
            <a:r>
              <a:rPr lang="zh-CN" altLang="en-US" sz="1400" dirty="0"/>
              <a:t>主要分布在北部、西南部和东南部边缘村庄，呈现明显外围化特征。</a:t>
            </a:r>
            <a:endParaRPr lang="zh-CN" altLang="en-US" sz="1400" dirty="0"/>
          </a:p>
          <a:p>
            <a:pPr marL="285750" indent="-285750">
              <a:buFont typeface="Arial" panose="020B0604020202020204" pitchFamily="34" charset="0"/>
              <a:buChar char="•"/>
            </a:pPr>
            <a:r>
              <a:rPr lang="zh-CN" altLang="en-US" sz="1400" b="1" dirty="0"/>
              <a:t>中低能力区</a:t>
            </a:r>
            <a:r>
              <a:rPr lang="zh-CN" altLang="en-US" sz="1400" dirty="0"/>
              <a:t>多为过渡型斑块，说明部分村庄虽具备一定服务条件，但综合支撑仍不足。</a:t>
            </a:r>
            <a:endParaRPr lang="en-US" altLang="zh-CN" sz="1400" dirty="0"/>
          </a:p>
          <a:p>
            <a:pPr indent="0">
              <a:buFont typeface="Arial" panose="020B0604020202020204" pitchFamily="34" charset="0"/>
              <a:buNone/>
            </a:pPr>
            <a:endParaRPr lang="zh-CN" altLang="en-US" sz="1400" dirty="0"/>
          </a:p>
          <a:p>
            <a:pPr indent="0">
              <a:buFont typeface="Arial" panose="020B0604020202020204" pitchFamily="34" charset="0"/>
              <a:buNone/>
            </a:pPr>
            <a:r>
              <a:rPr lang="zh-CN" altLang="en-US" b="1" dirty="0"/>
              <a:t>原因分析</a:t>
            </a:r>
            <a:endParaRPr lang="zh-CN" altLang="en-US" b="1" dirty="0"/>
          </a:p>
          <a:p>
            <a:pPr marL="285750" indent="-285750">
              <a:buFont typeface="Arial" panose="020B0604020202020204" pitchFamily="34" charset="0"/>
              <a:buChar char="•"/>
            </a:pPr>
            <a:r>
              <a:rPr lang="zh-CN" altLang="en-US" sz="1400" dirty="0"/>
              <a:t>能力指标由距固定医疗服务点、乡镇中心、村委会和公路距离所</a:t>
            </a:r>
            <a:r>
              <a:rPr lang="zh-CN" altLang="en-US" sz="1400" dirty="0"/>
              <a:t>共同构成，均已反向标准化。</a:t>
            </a:r>
            <a:endParaRPr lang="zh-CN" altLang="en-US" sz="1400" dirty="0"/>
          </a:p>
          <a:p>
            <a:pPr marL="285750" indent="-285750">
              <a:buFont typeface="Arial" panose="020B0604020202020204" pitchFamily="34" charset="0"/>
              <a:buChar char="•"/>
            </a:pPr>
            <a:r>
              <a:rPr lang="zh-CN" altLang="en-US" sz="1400" dirty="0"/>
              <a:t>中部村庄更接近主要道路和公共服务节点，因此综合能力较强。边缘村庄服务可达性较弱，在救援到达、转移避险和组织响应方面可能存在短板。</a:t>
            </a:r>
            <a:endParaRPr lang="zh-CN" altLang="en-US" sz="1400" dirty="0"/>
          </a:p>
          <a:p>
            <a:pPr marL="285750" indent="-285750">
              <a:buFont typeface="Arial" panose="020B0604020202020204" pitchFamily="34" charset="0"/>
              <a:buChar char="•"/>
            </a:pPr>
            <a:r>
              <a:rPr lang="zh-CN" altLang="en-US" sz="1400" dirty="0"/>
              <a:t>后续综合风险中，能力</a:t>
            </a:r>
            <a:r>
              <a:rPr lang="zh-CN" altLang="en-US" sz="1400" dirty="0"/>
              <a:t>过强会削弱风险，能力不足则会提高风险。</a:t>
            </a:r>
            <a:endParaRPr lang="zh-CN" alt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zh-CN" altLang="en-US" sz="1400" spc="300" dirty="0">
              <a:solidFill>
                <a:schemeClr val="tx1">
                  <a:lumMod val="85000"/>
                  <a:lumOff val="15000"/>
                </a:schemeClr>
              </a:solidFill>
              <a:cs typeface="+mn-ea"/>
              <a:sym typeface="+mn-lt"/>
            </a:endParaRPr>
          </a:p>
          <a:p>
            <a:pPr indent="457200">
              <a:buFont typeface="Arial" panose="020B0604020202020204" pitchFamily="34" charset="0"/>
              <a:buNone/>
            </a:pPr>
            <a:endParaRPr lang="zh-CN" altLang="en-US" sz="1400" spc="300" dirty="0">
              <a:solidFill>
                <a:schemeClr val="tx1">
                  <a:lumMod val="85000"/>
                  <a:lumOff val="15000"/>
                </a:schemeClr>
              </a:solidFill>
              <a:cs typeface="+mn-ea"/>
              <a:sym typeface="+mn-lt"/>
            </a:endParaRPr>
          </a:p>
        </p:txBody>
      </p:sp>
      <p:sp>
        <p:nvSpPr>
          <p:cNvPr id="11" name="文本框 10"/>
          <p:cNvSpPr txBox="1"/>
          <p:nvPr/>
        </p:nvSpPr>
        <p:spPr>
          <a:xfrm>
            <a:off x="6904990" y="2533015"/>
            <a:ext cx="4215765"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成因分析</a:t>
            </a:r>
            <a:endParaRPr lang="zh-CN" altLang="en-US" sz="2400" dirty="0">
              <a:solidFill>
                <a:schemeClr val="tx1">
                  <a:lumMod val="85000"/>
                  <a:lumOff val="15000"/>
                </a:schemeClr>
              </a:solidFill>
              <a:cs typeface="+mn-ea"/>
              <a:sym typeface="+mn-lt"/>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6" grpId="0"/>
      <p:bldP spid="27" grpId="0"/>
      <p:bldP spid="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3" name="组合 12"/>
          <p:cNvGrpSpPr/>
          <p:nvPr/>
        </p:nvGrpSpPr>
        <p:grpSpPr>
          <a:xfrm>
            <a:off x="2540000" y="2817495"/>
            <a:ext cx="6720840" cy="1318895"/>
            <a:chOff x="2540000" y="2817585"/>
            <a:chExt cx="7002780" cy="1318895"/>
          </a:xfrm>
        </p:grpSpPr>
        <p:sp>
          <p:nvSpPr>
            <p:cNvPr id="4" name="矩形: 圆角 3"/>
            <p:cNvSpPr/>
            <p:nvPr/>
          </p:nvSpPr>
          <p:spPr>
            <a:xfrm>
              <a:off x="2540000" y="2817585"/>
              <a:ext cx="7002780" cy="131889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文本框 8"/>
            <p:cNvSpPr txBox="1"/>
            <p:nvPr/>
          </p:nvSpPr>
          <p:spPr>
            <a:xfrm>
              <a:off x="4010660" y="3023325"/>
              <a:ext cx="5531485" cy="768350"/>
            </a:xfrm>
            <a:prstGeom prst="rect">
              <a:avLst/>
            </a:prstGeom>
            <a:noFill/>
          </p:spPr>
          <p:txBody>
            <a:bodyPr wrap="square" rtlCol="0">
              <a:spAutoFit/>
            </a:bodyPr>
            <a:lstStyle/>
            <a:p>
              <a:pPr>
                <a:lnSpc>
                  <a:spcPct val="100000"/>
                </a:lnSpc>
              </a:pPr>
              <a:r>
                <a:rPr lang="zh-CN" altLang="en-US" sz="4400" b="1" spc="300" dirty="0">
                  <a:solidFill>
                    <a:schemeClr val="bg1"/>
                  </a:solidFill>
                  <a:latin typeface="+mn-ea"/>
                  <a:sym typeface="+mn-ea"/>
                </a:rPr>
                <a:t>综合风险评价结果</a:t>
              </a:r>
              <a:endParaRPr kumimoji="0" lang="zh-CN" altLang="en-US" sz="4400" b="1" i="0" u="none" strike="noStrike" kern="1200" cap="none" spc="300" normalizeH="0" baseline="0" noProof="0" dirty="0">
                <a:ln>
                  <a:noFill/>
                </a:ln>
                <a:solidFill>
                  <a:schemeClr val="bg1"/>
                </a:solidFill>
                <a:effectLst>
                  <a:outerShdw blurRad="76200" dist="38100" dir="5400000" algn="t" rotWithShape="0">
                    <a:prstClr val="black">
                      <a:alpha val="22000"/>
                    </a:prstClr>
                  </a:outerShdw>
                </a:effectLst>
                <a:uLnTx/>
                <a:uFillTx/>
                <a:latin typeface="+mn-ea"/>
                <a:cs typeface="+mn-ea"/>
                <a:sym typeface="+mn-ea"/>
              </a:endParaRPr>
            </a:p>
          </p:txBody>
        </p:sp>
        <p:sp>
          <p:nvSpPr>
            <p:cNvPr id="12" name="文本框 11"/>
            <p:cNvSpPr txBox="1"/>
            <p:nvPr/>
          </p:nvSpPr>
          <p:spPr>
            <a:xfrm>
              <a:off x="2757714" y="2875002"/>
              <a:ext cx="1252838" cy="11068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cs typeface="+mn-ea"/>
                  <a:sym typeface="+mn-lt"/>
                </a:rPr>
                <a:t>05</a:t>
              </a:r>
              <a:endParaRPr kumimoji="0" lang="zh-CN" altLang="en-US" sz="6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descr="C:/Users/lxh123/Pictures/自然3.jpg自然3"/>
          <p:cNvPicPr>
            <a:picLocks noChangeAspect="1"/>
          </p:cNvPicPr>
          <p:nvPr/>
        </p:nvPicPr>
        <p:blipFill rotWithShape="1">
          <a:blip r:embed="rId1"/>
          <a:srcRect t="32216" b="32216"/>
          <a:stretch>
            <a:fillRect/>
          </a:stretch>
        </p:blipFill>
        <p:spPr>
          <a:xfrm>
            <a:off x="-336453" y="3790950"/>
            <a:ext cx="12864906" cy="3432012"/>
          </a:xfrm>
          <a:prstGeom prst="rect">
            <a:avLst/>
          </a:prstGeom>
        </p:spPr>
      </p:pic>
      <p:grpSp>
        <p:nvGrpSpPr>
          <p:cNvPr id="17" name="组合 16"/>
          <p:cNvGrpSpPr/>
          <p:nvPr>
            <p:custDataLst>
              <p:tags r:id="rId2"/>
            </p:custDataLst>
          </p:nvPr>
        </p:nvGrpSpPr>
        <p:grpSpPr>
          <a:xfrm>
            <a:off x="790169" y="1027403"/>
            <a:ext cx="9261475" cy="1186815"/>
            <a:chOff x="4781550" y="4520296"/>
            <a:chExt cx="9261475" cy="1186815"/>
          </a:xfrm>
        </p:grpSpPr>
        <p:grpSp>
          <p:nvGrpSpPr>
            <p:cNvPr id="18" name="组合 17"/>
            <p:cNvGrpSpPr/>
            <p:nvPr/>
          </p:nvGrpSpPr>
          <p:grpSpPr>
            <a:xfrm>
              <a:off x="4781550" y="4520296"/>
              <a:ext cx="4166235" cy="398780"/>
              <a:chOff x="4781550" y="4520296"/>
              <a:chExt cx="4166235" cy="398780"/>
            </a:xfrm>
          </p:grpSpPr>
          <p:sp>
            <p:nvSpPr>
              <p:cNvPr id="20" name="矩形 19"/>
              <p:cNvSpPr/>
              <p:nvPr>
                <p:custDataLst>
                  <p:tags r:id="rId3"/>
                </p:custDataLst>
              </p:nvPr>
            </p:nvSpPr>
            <p:spPr>
              <a:xfrm>
                <a:off x="4848726" y="4528680"/>
                <a:ext cx="360948" cy="3609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custDataLst>
                  <p:tags r:id="rId4"/>
                </p:custDataLst>
              </p:nvPr>
            </p:nvSpPr>
            <p:spPr>
              <a:xfrm>
                <a:off x="5209674" y="4528680"/>
                <a:ext cx="2382253" cy="36094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custDataLst>
                  <p:tags r:id="rId5"/>
                </p:custDataLst>
              </p:nvPr>
            </p:nvSpPr>
            <p:spPr>
              <a:xfrm>
                <a:off x="4781550" y="4524488"/>
                <a:ext cx="495300" cy="368300"/>
              </a:xfrm>
              <a:prstGeom prst="rect">
                <a:avLst/>
              </a:prstGeom>
              <a:noFill/>
            </p:spPr>
            <p:txBody>
              <a:bodyPr wrap="square" rtlCol="0">
                <a:spAutoFit/>
              </a:bodyPr>
              <a:lstStyle/>
              <a:p>
                <a:pPr algn="ctr"/>
                <a:r>
                  <a:rPr lang="en-US" altLang="zh-CN" dirty="0">
                    <a:solidFill>
                      <a:schemeClr val="bg1"/>
                    </a:solidFill>
                    <a:cs typeface="+mn-ea"/>
                    <a:sym typeface="+mn-lt"/>
                  </a:rPr>
                  <a:t>01</a:t>
                </a:r>
                <a:endParaRPr lang="zh-CN" altLang="en-US" dirty="0">
                  <a:solidFill>
                    <a:schemeClr val="bg1"/>
                  </a:solidFill>
                  <a:cs typeface="+mn-ea"/>
                  <a:sym typeface="+mn-lt"/>
                </a:endParaRPr>
              </a:p>
            </p:txBody>
          </p:sp>
          <p:sp>
            <p:nvSpPr>
              <p:cNvPr id="23" name="文本框 22"/>
              <p:cNvSpPr txBox="1"/>
              <p:nvPr>
                <p:custDataLst>
                  <p:tags r:id="rId6"/>
                </p:custDataLst>
              </p:nvPr>
            </p:nvSpPr>
            <p:spPr>
              <a:xfrm>
                <a:off x="5209540" y="4520296"/>
                <a:ext cx="3738245"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100" normalizeH="0" baseline="0" noProof="0" dirty="0">
                    <a:ln>
                      <a:noFill/>
                    </a:ln>
                    <a:solidFill>
                      <a:schemeClr val="bg1"/>
                    </a:solidFill>
                    <a:effectLst/>
                    <a:uLnTx/>
                    <a:uFillTx/>
                    <a:cs typeface="+mn-ea"/>
                    <a:sym typeface="+mn-lt"/>
                  </a:rPr>
                  <a:t>综合风险评价</a:t>
                </a:r>
                <a:endParaRPr kumimoji="0" lang="zh-CN" altLang="en-US" sz="2000" b="0" i="0" u="none" strike="noStrike" kern="1200" cap="none" spc="100" normalizeH="0" baseline="0" noProof="0" dirty="0">
                  <a:ln>
                    <a:noFill/>
                  </a:ln>
                  <a:solidFill>
                    <a:schemeClr val="bg1"/>
                  </a:solidFill>
                  <a:effectLst/>
                  <a:uLnTx/>
                  <a:uFillTx/>
                  <a:cs typeface="+mn-ea"/>
                  <a:sym typeface="+mn-lt"/>
                </a:endParaRPr>
              </a:p>
            </p:txBody>
          </p:sp>
        </p:grpSp>
        <p:sp>
          <p:nvSpPr>
            <p:cNvPr id="19" name="文本框 18"/>
            <p:cNvSpPr txBox="1"/>
            <p:nvPr>
              <p:custDataLst>
                <p:tags r:id="rId7"/>
              </p:custDataLst>
            </p:nvPr>
          </p:nvSpPr>
          <p:spPr>
            <a:xfrm>
              <a:off x="4781550" y="4969876"/>
              <a:ext cx="9261475" cy="737235"/>
            </a:xfrm>
            <a:prstGeom prst="rect">
              <a:avLst/>
            </a:prstGeom>
            <a:noFill/>
          </p:spPr>
          <p:txBody>
            <a:bodyPr wrap="square" rtlCol="0">
              <a:spAutoFit/>
            </a:bodyPr>
            <a:lstStyle/>
            <a:p>
              <a:r>
                <a:rPr lang="zh-CN" altLang="en-US" sz="1400" spc="300" dirty="0">
                  <a:solidFill>
                    <a:schemeClr val="tx1">
                      <a:lumMod val="85000"/>
                      <a:lumOff val="15000"/>
                    </a:schemeClr>
                  </a:solidFill>
                  <a:cs typeface="+mn-ea"/>
                  <a:sym typeface="+mn-lt"/>
                </a:rPr>
                <a:t>基于前面所得到的三大指标，通过加权的方式计算得到</a:t>
              </a:r>
              <a:r>
                <a:rPr lang="zh-CN" altLang="en-US" sz="1400" spc="300" dirty="0">
                  <a:solidFill>
                    <a:srgbClr val="C00000"/>
                  </a:solidFill>
                  <a:cs typeface="+mn-ea"/>
                  <a:sym typeface="+mn-lt"/>
                </a:rPr>
                <a:t>最终的综合风险评估结果</a:t>
              </a:r>
              <a:r>
                <a:rPr lang="zh-CN" altLang="en-US" sz="1400" spc="300" dirty="0">
                  <a:solidFill>
                    <a:schemeClr val="tx1">
                      <a:lumMod val="85000"/>
                      <a:lumOff val="15000"/>
                    </a:schemeClr>
                  </a:solidFill>
                  <a:cs typeface="+mn-ea"/>
                  <a:sym typeface="+mn-lt"/>
                </a:rPr>
                <a:t>。</a:t>
              </a:r>
              <a:endParaRPr lang="zh-CN" altLang="en-US" sz="1400" spc="300" dirty="0">
                <a:solidFill>
                  <a:schemeClr val="tx1">
                    <a:lumMod val="85000"/>
                    <a:lumOff val="15000"/>
                  </a:schemeClr>
                </a:solidFill>
                <a:cs typeface="+mn-ea"/>
                <a:sym typeface="+mn-lt"/>
              </a:endParaRPr>
            </a:p>
            <a:p>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它不是单独危险性、暴露度或能力的简单放大，而是三大子系统统一后的综合结果。</a:t>
              </a:r>
              <a:endParaRPr lang="en-US" sz="1400" dirty="0"/>
            </a:p>
            <a:p>
              <a:endParaRPr lang="en-US" altLang="zh-CN" sz="1400" spc="300" dirty="0">
                <a:solidFill>
                  <a:schemeClr val="tx1">
                    <a:lumMod val="85000"/>
                    <a:lumOff val="15000"/>
                  </a:schemeClr>
                </a:solidFill>
                <a:cs typeface="+mn-ea"/>
                <a:sym typeface="+mn-lt"/>
              </a:endParaRPr>
            </a:p>
          </p:txBody>
        </p:sp>
      </p:grpSp>
      <p:grpSp>
        <p:nvGrpSpPr>
          <p:cNvPr id="31" name="组合 30"/>
          <p:cNvGrpSpPr/>
          <p:nvPr>
            <p:custDataLst>
              <p:tags r:id="rId8"/>
            </p:custDataLst>
          </p:nvPr>
        </p:nvGrpSpPr>
        <p:grpSpPr>
          <a:xfrm>
            <a:off x="675053" y="2028825"/>
            <a:ext cx="9375727" cy="1617980"/>
            <a:chOff x="4647492" y="4520296"/>
            <a:chExt cx="10940240" cy="1617980"/>
          </a:xfrm>
        </p:grpSpPr>
        <p:grpSp>
          <p:nvGrpSpPr>
            <p:cNvPr id="32" name="组合 31"/>
            <p:cNvGrpSpPr/>
            <p:nvPr/>
          </p:nvGrpSpPr>
          <p:grpSpPr>
            <a:xfrm>
              <a:off x="4647492" y="4520296"/>
              <a:ext cx="2944435" cy="398780"/>
              <a:chOff x="4647492" y="4520296"/>
              <a:chExt cx="2944435" cy="398780"/>
            </a:xfrm>
          </p:grpSpPr>
          <p:sp>
            <p:nvSpPr>
              <p:cNvPr id="34" name="矩形 33"/>
              <p:cNvSpPr/>
              <p:nvPr>
                <p:custDataLst>
                  <p:tags r:id="rId9"/>
                </p:custDataLst>
              </p:nvPr>
            </p:nvSpPr>
            <p:spPr>
              <a:xfrm>
                <a:off x="4848726" y="4528680"/>
                <a:ext cx="360948" cy="3609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矩形 34"/>
              <p:cNvSpPr/>
              <p:nvPr>
                <p:custDataLst>
                  <p:tags r:id="rId10"/>
                </p:custDataLst>
              </p:nvPr>
            </p:nvSpPr>
            <p:spPr>
              <a:xfrm>
                <a:off x="5209674" y="4528680"/>
                <a:ext cx="2382253" cy="36094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6" name="文本框 35"/>
              <p:cNvSpPr txBox="1"/>
              <p:nvPr>
                <p:custDataLst>
                  <p:tags r:id="rId11"/>
                </p:custDataLst>
              </p:nvPr>
            </p:nvSpPr>
            <p:spPr>
              <a:xfrm>
                <a:off x="4647492" y="4524741"/>
                <a:ext cx="772823" cy="358775"/>
              </a:xfrm>
              <a:prstGeom prst="rect">
                <a:avLst/>
              </a:prstGeom>
              <a:noFill/>
            </p:spPr>
            <p:txBody>
              <a:bodyPr wrap="square" rtlCol="0">
                <a:noAutofit/>
              </a:bodyPr>
              <a:lstStyle/>
              <a:p>
                <a:pPr algn="ctr"/>
                <a:r>
                  <a:rPr lang="en-US" altLang="zh-CN" dirty="0">
                    <a:solidFill>
                      <a:schemeClr val="bg1"/>
                    </a:solidFill>
                    <a:cs typeface="+mn-ea"/>
                    <a:sym typeface="+mn-lt"/>
                  </a:rPr>
                  <a:t>02</a:t>
                </a:r>
                <a:endParaRPr lang="zh-CN" altLang="en-US" dirty="0">
                  <a:solidFill>
                    <a:schemeClr val="bg1"/>
                  </a:solidFill>
                  <a:cs typeface="+mn-ea"/>
                  <a:sym typeface="+mn-lt"/>
                </a:endParaRPr>
              </a:p>
            </p:txBody>
          </p:sp>
          <p:sp>
            <p:nvSpPr>
              <p:cNvPr id="37" name="文本框 36"/>
              <p:cNvSpPr txBox="1"/>
              <p:nvPr>
                <p:custDataLst>
                  <p:tags r:id="rId12"/>
                </p:custDataLst>
              </p:nvPr>
            </p:nvSpPr>
            <p:spPr>
              <a:xfrm>
                <a:off x="5209826" y="4520296"/>
                <a:ext cx="1834621"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100" normalizeH="0" baseline="0" noProof="0" dirty="0">
                    <a:ln>
                      <a:noFill/>
                    </a:ln>
                    <a:solidFill>
                      <a:schemeClr val="bg1"/>
                    </a:solidFill>
                    <a:effectLst/>
                    <a:uLnTx/>
                    <a:uFillTx/>
                    <a:cs typeface="+mn-ea"/>
                    <a:sym typeface="+mn-lt"/>
                  </a:rPr>
                  <a:t>计算方法</a:t>
                </a:r>
                <a:endParaRPr kumimoji="0" lang="zh-CN" altLang="en-US" sz="2000" b="0" i="0" u="none" strike="noStrike" kern="1200" cap="none" spc="100" normalizeH="0" baseline="0" noProof="0" dirty="0">
                  <a:ln>
                    <a:noFill/>
                  </a:ln>
                  <a:solidFill>
                    <a:schemeClr val="bg1"/>
                  </a:solidFill>
                  <a:effectLst/>
                  <a:uLnTx/>
                  <a:uFillTx/>
                  <a:cs typeface="+mn-ea"/>
                  <a:sym typeface="+mn-lt"/>
                </a:endParaRPr>
              </a:p>
            </p:txBody>
          </p:sp>
        </p:grpSp>
        <p:sp>
          <p:nvSpPr>
            <p:cNvPr id="33" name="文本框 32"/>
            <p:cNvSpPr txBox="1"/>
            <p:nvPr>
              <p:custDataLst>
                <p:tags r:id="rId13"/>
              </p:custDataLst>
            </p:nvPr>
          </p:nvSpPr>
          <p:spPr>
            <a:xfrm>
              <a:off x="4781550" y="4969876"/>
              <a:ext cx="10806182" cy="1168400"/>
            </a:xfrm>
            <a:prstGeom prst="rect">
              <a:avLst/>
            </a:prstGeom>
            <a:noFill/>
          </p:spPr>
          <p:txBody>
            <a:bodyPr wrap="square" rtlCol="0">
              <a:spAutoFit/>
            </a:bodyPr>
            <a:lstStyle/>
            <a:p>
              <a:r>
                <a:rPr lang="zh-CN" altLang="en-US" sz="1400" spc="300" dirty="0">
                  <a:solidFill>
                    <a:schemeClr val="tx1">
                      <a:lumMod val="85000"/>
                      <a:lumOff val="15000"/>
                    </a:schemeClr>
                  </a:solidFill>
                  <a:cs typeface="+mn-ea"/>
                  <a:sym typeface="+mn-lt"/>
                </a:rPr>
                <a:t>采用加权线性组合法，权重由教师打分获得。对于三个指标，归一化后进行加权计算。</a:t>
              </a:r>
              <a:endParaRPr lang="zh-CN" altLang="en-US" sz="1400" spc="300" dirty="0">
                <a:solidFill>
                  <a:schemeClr val="tx1">
                    <a:lumMod val="85000"/>
                    <a:lumOff val="15000"/>
                  </a:schemeClr>
                </a:solidFill>
                <a:cs typeface="+mn-ea"/>
                <a:sym typeface="+mn-lt"/>
              </a:endParaRPr>
            </a:p>
            <a:p>
              <a:endParaRPr lang="zh-CN" altLang="en-US" sz="1400" spc="300" dirty="0">
                <a:solidFill>
                  <a:schemeClr val="tx1">
                    <a:lumMod val="85000"/>
                    <a:lumOff val="15000"/>
                  </a:schemeClr>
                </a:solidFill>
                <a:cs typeface="+mn-ea"/>
                <a:sym typeface="+mn-lt"/>
              </a:endParaRPr>
            </a:p>
            <a:p>
              <a:pPr lvl="1"/>
              <a:r>
                <a:rPr lang="en-US" altLang="zh-CN" sz="1400" spc="300" dirty="0">
                  <a:solidFill>
                    <a:schemeClr val="tx1">
                      <a:lumMod val="85000"/>
                      <a:lumOff val="15000"/>
                    </a:schemeClr>
                  </a:solidFill>
                  <a:cs typeface="+mn-ea"/>
                  <a:sym typeface="+mn-lt"/>
                </a:rPr>
                <a:t>(1)</a:t>
              </a:r>
              <a:r>
                <a:rPr lang="zh-CN" altLang="en-US" sz="1400" spc="300" dirty="0">
                  <a:solidFill>
                    <a:schemeClr val="tx1">
                      <a:lumMod val="85000"/>
                      <a:lumOff val="15000"/>
                    </a:schemeClr>
                  </a:solidFill>
                  <a:cs typeface="+mn-ea"/>
                  <a:sym typeface="+mn-lt"/>
                </a:rPr>
                <a:t>归一化公式：</a:t>
              </a:r>
              <a:endParaRPr lang="en-US" altLang="zh-CN" sz="1400" spc="300" dirty="0">
                <a:solidFill>
                  <a:schemeClr val="tx1">
                    <a:lumMod val="85000"/>
                    <a:lumOff val="15000"/>
                  </a:schemeClr>
                </a:solidFill>
                <a:cs typeface="+mn-ea"/>
                <a:sym typeface="+mn-lt"/>
              </a:endParaRPr>
            </a:p>
            <a:p>
              <a:pPr lvl="1"/>
              <a:endParaRPr lang="en-US" altLang="zh-CN" sz="1400" spc="300" dirty="0">
                <a:solidFill>
                  <a:schemeClr val="tx1">
                    <a:lumMod val="85000"/>
                    <a:lumOff val="15000"/>
                  </a:schemeClr>
                </a:solidFill>
                <a:cs typeface="+mn-ea"/>
                <a:sym typeface="+mn-lt"/>
              </a:endParaRPr>
            </a:p>
            <a:p>
              <a:pPr lvl="1"/>
              <a:r>
                <a:rPr lang="en-US" altLang="zh-CN" sz="1400" spc="300" dirty="0">
                  <a:solidFill>
                    <a:schemeClr val="tx1">
                      <a:lumMod val="85000"/>
                      <a:lumOff val="15000"/>
                    </a:schemeClr>
                  </a:solidFill>
                  <a:cs typeface="+mn-ea"/>
                  <a:sym typeface="+mn-lt"/>
                </a:rPr>
                <a:t>(2)</a:t>
              </a:r>
              <a:r>
                <a:rPr lang="zh-CN" altLang="en-US" sz="1400" spc="300" dirty="0">
                  <a:solidFill>
                    <a:schemeClr val="tx1">
                      <a:lumMod val="85000"/>
                      <a:lumOff val="15000"/>
                    </a:schemeClr>
                  </a:solidFill>
                  <a:cs typeface="+mn-ea"/>
                  <a:sym typeface="+mn-lt"/>
                </a:rPr>
                <a:t>公式为：</a:t>
              </a:r>
              <a:endParaRPr lang="en-US" altLang="zh-CN" sz="1400" spc="300" dirty="0">
                <a:solidFill>
                  <a:schemeClr val="tx1">
                    <a:lumMod val="85000"/>
                    <a:lumOff val="15000"/>
                  </a:schemeClr>
                </a:solidFill>
                <a:cs typeface="+mn-ea"/>
                <a:sym typeface="+mn-lt"/>
              </a:endParaRPr>
            </a:p>
          </p:txBody>
        </p:sp>
      </p:grpSp>
      <p:sp>
        <p:nvSpPr>
          <p:cNvPr id="46" name="文本框 45"/>
          <p:cNvSpPr txBox="1"/>
          <p:nvPr/>
        </p:nvSpPr>
        <p:spPr>
          <a:xfrm>
            <a:off x="1224915" y="335915"/>
            <a:ext cx="4747895"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综合风险评估结果</a:t>
            </a:r>
            <a:endParaRPr lang="zh-CN" altLang="en-US" sz="3200" spc="400" dirty="0">
              <a:solidFill>
                <a:schemeClr val="tx1">
                  <a:lumMod val="85000"/>
                  <a:lumOff val="15000"/>
                </a:schemeClr>
              </a:solidFill>
              <a:cs typeface="+mn-ea"/>
              <a:sym typeface="+mn-lt"/>
            </a:endParaRPr>
          </a:p>
        </p:txBody>
      </p:sp>
      <p:grpSp>
        <p:nvGrpSpPr>
          <p:cNvPr id="47" name="组合 46"/>
          <p:cNvGrpSpPr/>
          <p:nvPr/>
        </p:nvGrpSpPr>
        <p:grpSpPr>
          <a:xfrm>
            <a:off x="420106" y="300845"/>
            <a:ext cx="760161" cy="654908"/>
            <a:chOff x="401056" y="200808"/>
            <a:chExt cx="760161" cy="654908"/>
          </a:xfrm>
        </p:grpSpPr>
        <p:sp>
          <p:nvSpPr>
            <p:cNvPr id="48" name="椭圆 4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9" name="椭圆 4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3" name="图片 2"/>
          <p:cNvPicPr>
            <a:picLocks noChangeAspect="1"/>
          </p:cNvPicPr>
          <p:nvPr/>
        </p:nvPicPr>
        <p:blipFill>
          <a:blip r:embed="rId14"/>
          <a:stretch>
            <a:fillRect/>
          </a:stretch>
        </p:blipFill>
        <p:spPr>
          <a:xfrm>
            <a:off x="2880995" y="2811780"/>
            <a:ext cx="3776345" cy="414655"/>
          </a:xfrm>
          <a:prstGeom prst="rect">
            <a:avLst/>
          </a:prstGeom>
        </p:spPr>
      </p:pic>
      <p:pic>
        <p:nvPicPr>
          <p:cNvPr id="4" name="图片 3"/>
          <p:cNvPicPr>
            <a:picLocks noChangeAspect="1"/>
          </p:cNvPicPr>
          <p:nvPr/>
        </p:nvPicPr>
        <p:blipFill>
          <a:blip r:embed="rId15"/>
          <a:stretch>
            <a:fillRect/>
          </a:stretch>
        </p:blipFill>
        <p:spPr>
          <a:xfrm>
            <a:off x="2480945" y="3283585"/>
            <a:ext cx="8162925" cy="45720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4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420106" y="300845"/>
            <a:ext cx="760161" cy="654908"/>
            <a:chOff x="401056" y="200808"/>
            <a:chExt cx="760161" cy="654908"/>
          </a:xfrm>
        </p:grpSpPr>
        <p:sp>
          <p:nvSpPr>
            <p:cNvPr id="38" name="椭圆 37"/>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椭圆 38"/>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文本框 1"/>
          <p:cNvSpPr txBox="1"/>
          <p:nvPr/>
        </p:nvSpPr>
        <p:spPr>
          <a:xfrm>
            <a:off x="1224915" y="335915"/>
            <a:ext cx="867537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综合风险评估权重</a:t>
            </a:r>
            <a:endParaRPr lang="zh-CN" altLang="en-US" sz="3200" spc="400" dirty="0">
              <a:solidFill>
                <a:schemeClr val="tx1">
                  <a:lumMod val="85000"/>
                  <a:lumOff val="15000"/>
                </a:schemeClr>
              </a:solidFill>
              <a:cs typeface="+mn-ea"/>
              <a:sym typeface="+mn-lt"/>
            </a:endParaRPr>
          </a:p>
        </p:txBody>
      </p:sp>
      <p:graphicFrame>
        <p:nvGraphicFramePr>
          <p:cNvPr id="3" name="表格 2"/>
          <p:cNvGraphicFramePr/>
          <p:nvPr>
            <p:custDataLst>
              <p:tags r:id="rId1"/>
            </p:custDataLst>
          </p:nvPr>
        </p:nvGraphicFramePr>
        <p:xfrm>
          <a:off x="2212975" y="1588135"/>
          <a:ext cx="7937500" cy="4457700"/>
        </p:xfrm>
        <a:graphic>
          <a:graphicData uri="http://schemas.openxmlformats.org/drawingml/2006/table">
            <a:tbl>
              <a:tblPr/>
              <a:tblGrid>
                <a:gridCol w="5186680"/>
                <a:gridCol w="2750820"/>
              </a:tblGrid>
              <a:tr h="1233170">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子系统</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c>
                  <a:txBody>
                    <a:bodyPr/>
                    <a:p>
                      <a:pPr algn="ctr" fontAlgn="ctr">
                        <a:lnSpc>
                          <a:spcPct val="120000"/>
                        </a:lnSpc>
                      </a:pPr>
                      <a:r>
                        <a:rPr lang="zh-CN" altLang="en-US" sz="2000" b="1" i="0" spc="130">
                          <a:solidFill>
                            <a:schemeClr val="bg1"/>
                          </a:solidFill>
                          <a:latin typeface="微软雅黑" panose="020B0503020204020204" charset="-122"/>
                          <a:ea typeface="微软雅黑" panose="020B0503020204020204" charset="-122"/>
                        </a:rPr>
                        <a:t>建议权重</a:t>
                      </a:r>
                      <a:endParaRPr lang="zh-CN" altLang="en-US" sz="2000" b="1" i="0" spc="13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r>
              <a:tr h="805815">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危险性 </a:t>
                      </a:r>
                      <a:r>
                        <a:rPr lang="en-US" altLang="zh-CN" sz="1800" b="0" i="0">
                          <a:solidFill>
                            <a:srgbClr val="203040"/>
                          </a:solidFill>
                          <a:latin typeface="微软雅黑" panose="020B0503020204020204" charset="-122"/>
                          <a:ea typeface="微软雅黑" panose="020B0503020204020204" charset="-122"/>
                        </a:rPr>
                        <a:t>/ </a:t>
                      </a:r>
                      <a:r>
                        <a:rPr lang="zh-CN" altLang="en-US" sz="1800" b="0" i="0">
                          <a:solidFill>
                            <a:srgbClr val="203040"/>
                          </a:solidFill>
                          <a:latin typeface="微软雅黑" panose="020B0503020204020204" charset="-122"/>
                          <a:ea typeface="微软雅黑" panose="020B0503020204020204" charset="-122"/>
                        </a:rPr>
                        <a:t>危险背景</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0.5</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806450">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暴露度</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0.3</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805815">
                <a:tc>
                  <a:txBody>
                    <a:bodyPr/>
                    <a:p>
                      <a:pPr algn="ctr" fontAlgn="ctr">
                        <a:lnSpc>
                          <a:spcPct val="120000"/>
                        </a:lnSpc>
                      </a:pPr>
                      <a:r>
                        <a:rPr lang="zh-CN" altLang="en-US" sz="1800" b="0" i="0">
                          <a:solidFill>
                            <a:srgbClr val="203040"/>
                          </a:solidFill>
                          <a:latin typeface="微软雅黑" panose="020B0503020204020204" charset="-122"/>
                          <a:ea typeface="微软雅黑" panose="020B0503020204020204" charset="-122"/>
                        </a:rPr>
                        <a:t>防灾减灾能力（反向）</a:t>
                      </a:r>
                      <a:endParaRPr lang="zh-CN" altLang="en-US"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ctr">
                        <a:lnSpc>
                          <a:spcPct val="120000"/>
                        </a:lnSpc>
                      </a:pPr>
                      <a:r>
                        <a:rPr lang="en-US" altLang="zh-CN" sz="1800" b="0" i="0">
                          <a:solidFill>
                            <a:srgbClr val="203040"/>
                          </a:solidFill>
                          <a:latin typeface="微软雅黑" panose="020B0503020204020204" charset="-122"/>
                          <a:ea typeface="微软雅黑" panose="020B0503020204020204" charset="-122"/>
                        </a:rPr>
                        <a:t>0.2</a:t>
                      </a:r>
                      <a:endParaRPr lang="en-US" altLang="zh-CN" sz="1800" b="0"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FFF2CC"/>
                    </a:solidFill>
                  </a:tcPr>
                </a:tc>
              </a:tr>
              <a:tr h="806450">
                <a:tc>
                  <a:txBody>
                    <a:bodyPr/>
                    <a:p>
                      <a:pPr algn="ctr" fontAlgn="b">
                        <a:lnSpc>
                          <a:spcPct val="120000"/>
                        </a:lnSpc>
                      </a:pPr>
                      <a:r>
                        <a:rPr lang="zh-CN" altLang="en-US" sz="1800" b="1" i="0">
                          <a:solidFill>
                            <a:srgbClr val="203040"/>
                          </a:solidFill>
                          <a:latin typeface="微软雅黑" panose="020B0503020204020204" charset="-122"/>
                          <a:ea typeface="微软雅黑" panose="020B0503020204020204" charset="-122"/>
                        </a:rPr>
                        <a:t>权重合计</a:t>
                      </a:r>
                      <a:endParaRPr lang="zh-CN" altLang="en-US" sz="1800" b="1" i="0">
                        <a:solidFill>
                          <a:srgbClr val="203040"/>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noFill/>
                  </a:tcPr>
                </a:tc>
                <a:tc>
                  <a:txBody>
                    <a:bodyPr/>
                    <a:p>
                      <a:pPr algn="ctr" fontAlgn="b">
                        <a:lnSpc>
                          <a:spcPct val="120000"/>
                        </a:lnSpc>
                      </a:pPr>
                      <a:r>
                        <a:rPr lang="en-US" altLang="zh-CN" sz="1800" b="1" i="0">
                          <a:solidFill>
                            <a:schemeClr val="bg1"/>
                          </a:solidFill>
                          <a:latin typeface="微软雅黑" panose="020B0503020204020204" charset="-122"/>
                          <a:ea typeface="微软雅黑" panose="020B0503020204020204" charset="-122"/>
                        </a:rPr>
                        <a:t>1</a:t>
                      </a:r>
                      <a:endParaRPr lang="en-US" altLang="zh-CN" sz="1800" b="1" i="0">
                        <a:solidFill>
                          <a:schemeClr val="bg1"/>
                        </a:solidFill>
                        <a:latin typeface="微软雅黑" panose="020B0503020204020204" charset="-122"/>
                        <a:ea typeface="微软雅黑" panose="020B0503020204020204" charset="-122"/>
                      </a:endParaRPr>
                    </a:p>
                  </a:txBody>
                  <a:tcPr marL="317500" marR="317500" marT="215900" marB="215900" anchor="ctr" anchorCtr="0">
                    <a:lnL w="6350" cap="flat" cmpd="sng">
                      <a:solidFill>
                        <a:srgbClr val="B9C2CC"/>
                      </a:solidFill>
                      <a:prstDash val="solid"/>
                      <a:headEnd type="none" w="med" len="med"/>
                      <a:tailEnd type="none" w="med" len="med"/>
                    </a:lnL>
                    <a:lnR w="6350" cap="flat" cmpd="sng">
                      <a:solidFill>
                        <a:srgbClr val="B9C2CC"/>
                      </a:solidFill>
                      <a:prstDash val="solid"/>
                      <a:headEnd type="none" w="med" len="med"/>
                      <a:tailEnd type="none" w="med" len="med"/>
                    </a:lnR>
                    <a:lnT w="6350" cap="flat" cmpd="sng">
                      <a:solidFill>
                        <a:srgbClr val="B9C2CC"/>
                      </a:solidFill>
                      <a:prstDash val="solid"/>
                      <a:headEnd type="none" w="med" len="med"/>
                      <a:tailEnd type="none" w="med" len="med"/>
                    </a:lnT>
                    <a:lnB w="6350" cap="flat" cmpd="sng">
                      <a:solidFill>
                        <a:srgbClr val="B9C2CC"/>
                      </a:solidFill>
                      <a:prstDash val="solid"/>
                      <a:headEnd type="none" w="med" len="med"/>
                      <a:tailEnd type="none" w="med" len="med"/>
                    </a:lnB>
                    <a:solidFill>
                      <a:srgbClr val="27776D"/>
                    </a:solidFill>
                  </a:tcPr>
                </a:tc>
              </a:tr>
            </a:tbl>
          </a:graphicData>
        </a:graphic>
      </p:graphicFrame>
    </p:spTree>
    <p:custDataLst>
      <p:tags r:id="rId2"/>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a:xfrm>
            <a:off x="10001514" y="427814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11291123" y="331516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0" name="组合 19"/>
          <p:cNvGrpSpPr/>
          <p:nvPr/>
        </p:nvGrpSpPr>
        <p:grpSpPr>
          <a:xfrm>
            <a:off x="6143955" y="1274587"/>
            <a:ext cx="782053" cy="544778"/>
            <a:chOff x="6346655" y="2177716"/>
            <a:chExt cx="782053" cy="544778"/>
          </a:xfrm>
        </p:grpSpPr>
        <p:sp>
          <p:nvSpPr>
            <p:cNvPr id="21" name="矩形 20"/>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6346655" y="2199274"/>
              <a:ext cx="782053" cy="523220"/>
            </a:xfrm>
            <a:prstGeom prst="rect">
              <a:avLst/>
            </a:prstGeom>
            <a:noFill/>
          </p:spPr>
          <p:txBody>
            <a:bodyPr wrap="square" rtlCol="0">
              <a:spAutoFit/>
            </a:bodyPr>
            <a:lstStyle/>
            <a:p>
              <a:pPr algn="ctr"/>
              <a:r>
                <a:rPr lang="en-US" altLang="zh-CN" sz="2800" dirty="0">
                  <a:solidFill>
                    <a:schemeClr val="bg1"/>
                  </a:solidFill>
                  <a:cs typeface="+mn-ea"/>
                  <a:sym typeface="+mn-lt"/>
                </a:rPr>
                <a:t>01</a:t>
              </a:r>
              <a:endParaRPr lang="zh-CN" altLang="en-US" sz="2800" dirty="0">
                <a:solidFill>
                  <a:schemeClr val="bg1"/>
                </a:solidFill>
                <a:cs typeface="+mn-ea"/>
                <a:sym typeface="+mn-lt"/>
              </a:endParaRPr>
            </a:p>
          </p:txBody>
        </p:sp>
      </p:grpSp>
      <p:sp>
        <p:nvSpPr>
          <p:cNvPr id="26" name="文本框 25"/>
          <p:cNvSpPr txBox="1"/>
          <p:nvPr/>
        </p:nvSpPr>
        <p:spPr>
          <a:xfrm>
            <a:off x="6454775" y="1925955"/>
            <a:ext cx="5386070" cy="539750"/>
          </a:xfrm>
          <a:prstGeom prst="rect">
            <a:avLst/>
          </a:prstGeom>
          <a:noFill/>
        </p:spPr>
        <p:txBody>
          <a:bodyPr wrap="square" rtlCol="0">
            <a:noAutofit/>
          </a:bodyPr>
          <a:lstStyle/>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数值</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越大，表示防灾减灾能力越强</a:t>
            </a: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a:t>
            </a:r>
            <a:endPar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endParaRPr>
          </a:p>
          <a:p>
            <a:pPr indent="0">
              <a:buFont typeface="Arial" panose="020B0604020202020204" pitchFamily="34" charset="0"/>
              <a:buNone/>
            </a:pPr>
            <a:r>
              <a:rPr lang="zh-CN" alt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指数图整</a:t>
            </a:r>
            <a:r>
              <a:rPr lang="en-US" sz="1400" dirty="0">
                <a:solidFill>
                  <a:srgbClr val="2F2F2F"/>
                </a:solidFill>
                <a:latin typeface="微软雅黑" panose="020B0503020204020204" charset="-122"/>
                <a:ea typeface="微软雅黑" panose="020B0503020204020204" charset="-122"/>
                <a:cs typeface="微软雅黑" panose="020B0503020204020204" pitchFamily="34" charset="-120"/>
                <a:sym typeface="+mn-ea"/>
              </a:rPr>
              <a:t>体反映交通、组织、医疗等条件对村级能力的综合支撑。</a:t>
            </a: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zh-CN" altLang="en-US" sz="1400" spc="300" dirty="0">
              <a:solidFill>
                <a:schemeClr val="tx1">
                  <a:lumMod val="85000"/>
                  <a:lumOff val="15000"/>
                </a:schemeClr>
              </a:solidFill>
              <a:cs typeface="+mn-ea"/>
              <a:sym typeface="+mn-lt"/>
            </a:endParaRPr>
          </a:p>
          <a:p>
            <a:pPr indent="457200">
              <a:buFont typeface="Arial" panose="020B0604020202020204" pitchFamily="34" charset="0"/>
              <a:buNone/>
            </a:pPr>
            <a:endParaRPr lang="zh-CN" altLang="en-US" sz="1400" spc="300" dirty="0">
              <a:solidFill>
                <a:schemeClr val="tx1">
                  <a:lumMod val="85000"/>
                  <a:lumOff val="15000"/>
                </a:schemeClr>
              </a:solidFill>
              <a:cs typeface="+mn-ea"/>
              <a:sym typeface="+mn-lt"/>
            </a:endParaRPr>
          </a:p>
        </p:txBody>
      </p:sp>
      <p:sp>
        <p:nvSpPr>
          <p:cNvPr id="27" name="文本框 26"/>
          <p:cNvSpPr txBox="1"/>
          <p:nvPr/>
        </p:nvSpPr>
        <p:spPr>
          <a:xfrm>
            <a:off x="6914515" y="1329690"/>
            <a:ext cx="4215765"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最终综合风险评估结果</a:t>
            </a:r>
            <a:endParaRPr lang="zh-CN" altLang="en-US" sz="2400" dirty="0">
              <a:solidFill>
                <a:schemeClr val="tx1">
                  <a:lumMod val="85000"/>
                  <a:lumOff val="15000"/>
                </a:schemeClr>
              </a:solidFill>
              <a:cs typeface="+mn-ea"/>
              <a:sym typeface="+mn-lt"/>
            </a:endParaRPr>
          </a:p>
        </p:txBody>
      </p:sp>
      <p:sp>
        <p:nvSpPr>
          <p:cNvPr id="5" name="矩形 4"/>
          <p:cNvSpPr/>
          <p:nvPr/>
        </p:nvSpPr>
        <p:spPr>
          <a:xfrm>
            <a:off x="385445" y="1193800"/>
            <a:ext cx="5401310" cy="5528310"/>
          </a:xfrm>
          <a:prstGeom prst="rect">
            <a:avLst/>
          </a:prstGeom>
          <a:noFill/>
          <a:ln w="38100">
            <a:solidFill>
              <a:srgbClr val="9DC0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文本框 31"/>
          <p:cNvSpPr txBox="1"/>
          <p:nvPr/>
        </p:nvSpPr>
        <p:spPr>
          <a:xfrm>
            <a:off x="1224915" y="335915"/>
            <a:ext cx="6422390" cy="583565"/>
          </a:xfrm>
          <a:prstGeom prst="rect">
            <a:avLst/>
          </a:prstGeom>
          <a:noFill/>
        </p:spPr>
        <p:txBody>
          <a:bodyPr wrap="square">
            <a:spAutoFit/>
          </a:bodyPr>
          <a:lstStyle/>
          <a:p>
            <a:r>
              <a:rPr lang="zh-CN" altLang="en-US" sz="3200" spc="400" dirty="0">
                <a:solidFill>
                  <a:schemeClr val="tx1">
                    <a:lumMod val="85000"/>
                    <a:lumOff val="15000"/>
                  </a:schemeClr>
                </a:solidFill>
                <a:cs typeface="+mn-ea"/>
                <a:sym typeface="+mn-lt"/>
              </a:rPr>
              <a:t>综合风险评估指标指标</a:t>
            </a:r>
            <a:endParaRPr lang="zh-CN" altLang="en-US" sz="3200" spc="400" dirty="0">
              <a:solidFill>
                <a:schemeClr val="tx1">
                  <a:lumMod val="85000"/>
                  <a:lumOff val="15000"/>
                </a:schemeClr>
              </a:solidFill>
              <a:cs typeface="+mn-ea"/>
              <a:sym typeface="+mn-lt"/>
            </a:endParaRPr>
          </a:p>
        </p:txBody>
      </p:sp>
      <p:grpSp>
        <p:nvGrpSpPr>
          <p:cNvPr id="33" name="组合 32"/>
          <p:cNvGrpSpPr/>
          <p:nvPr/>
        </p:nvGrpSpPr>
        <p:grpSpPr>
          <a:xfrm>
            <a:off x="420106" y="300845"/>
            <a:ext cx="760161" cy="654908"/>
            <a:chOff x="401056" y="200808"/>
            <a:chExt cx="760161" cy="654908"/>
          </a:xfrm>
        </p:grpSpPr>
        <p:sp>
          <p:nvSpPr>
            <p:cNvPr id="34" name="椭圆 33"/>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椭圆 34"/>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Text 5"/>
          <p:cNvSpPr/>
          <p:nvPr/>
        </p:nvSpPr>
        <p:spPr>
          <a:xfrm>
            <a:off x="852805" y="6034405"/>
            <a:ext cx="4331970" cy="510540"/>
          </a:xfrm>
          <a:prstGeom prst="rect">
            <a:avLst/>
          </a:prstGeom>
          <a:noFill/>
        </p:spPr>
        <p:txBody>
          <a:bodyPr wrap="square" lIns="0" tIns="0" rIns="0" bIns="0" rtlCol="0" anchor="ctr"/>
          <a:lstStyle/>
          <a:p>
            <a:pPr marL="0" indent="0" algn="ctr">
              <a:buNone/>
            </a:pPr>
            <a:r>
              <a:rPr lang="en-US" sz="2400" b="1" dirty="0">
                <a:solidFill>
                  <a:srgbClr val="6C7480"/>
                </a:solidFill>
                <a:latin typeface="微软雅黑" panose="020B0503020204020204" charset="-122"/>
                <a:ea typeface="微软雅黑" panose="020B0503020204020204" charset="-122"/>
                <a:cs typeface="微软雅黑" panose="020B0503020204020204" pitchFamily="34" charset="-120"/>
                <a:sym typeface="+mn-ea"/>
              </a:rPr>
              <a:t>村级地质灾害综合风险指数图</a:t>
            </a:r>
            <a:endParaRPr lang="en-US" sz="2400" b="1" dirty="0"/>
          </a:p>
        </p:txBody>
      </p:sp>
      <p:pic>
        <p:nvPicPr>
          <p:cNvPr id="3" name="Image 0" descr="/mnt/data/0f6f185d-5235-4451-8b62-a221efc79d12.png"/>
          <p:cNvPicPr>
            <a:picLocks noChangeAspect="1"/>
          </p:cNvPicPr>
          <p:nvPr/>
        </p:nvPicPr>
        <p:blipFill>
          <a:blip r:embed="rId1"/>
          <a:stretch>
            <a:fillRect/>
          </a:stretch>
        </p:blipFill>
        <p:spPr>
          <a:xfrm>
            <a:off x="638175" y="1653540"/>
            <a:ext cx="4895850" cy="4179570"/>
          </a:xfrm>
          <a:prstGeom prst="rect">
            <a:avLst/>
          </a:prstGeom>
        </p:spPr>
      </p:pic>
      <p:pic>
        <p:nvPicPr>
          <p:cNvPr id="4" name="Image 1" descr="/mnt/data/b905b7eb-f5c7-4203-b639-2db32baba707.png"/>
          <p:cNvPicPr>
            <a:picLocks noChangeAspect="1"/>
          </p:cNvPicPr>
          <p:nvPr/>
        </p:nvPicPr>
        <p:blipFill>
          <a:blip r:embed="rId2"/>
          <a:stretch>
            <a:fillRect/>
          </a:stretch>
        </p:blipFill>
        <p:spPr>
          <a:xfrm>
            <a:off x="3833495" y="5055235"/>
            <a:ext cx="1700530" cy="777875"/>
          </a:xfrm>
          <a:prstGeom prst="rect">
            <a:avLst/>
          </a:prstGeom>
        </p:spPr>
      </p:pic>
      <p:grpSp>
        <p:nvGrpSpPr>
          <p:cNvPr id="7" name="组合 6"/>
          <p:cNvGrpSpPr/>
          <p:nvPr/>
        </p:nvGrpSpPr>
        <p:grpSpPr>
          <a:xfrm>
            <a:off x="6143320" y="2463307"/>
            <a:ext cx="782053" cy="543528"/>
            <a:chOff x="6346655" y="2177716"/>
            <a:chExt cx="782053" cy="543528"/>
          </a:xfrm>
        </p:grpSpPr>
        <p:sp>
          <p:nvSpPr>
            <p:cNvPr id="8" name="矩形 7"/>
            <p:cNvSpPr/>
            <p:nvPr/>
          </p:nvSpPr>
          <p:spPr>
            <a:xfrm>
              <a:off x="6472988" y="2177716"/>
              <a:ext cx="529389" cy="52938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文本框 8"/>
            <p:cNvSpPr txBox="1"/>
            <p:nvPr/>
          </p:nvSpPr>
          <p:spPr>
            <a:xfrm>
              <a:off x="6346655" y="2199274"/>
              <a:ext cx="782053" cy="521970"/>
            </a:xfrm>
            <a:prstGeom prst="rect">
              <a:avLst/>
            </a:prstGeom>
            <a:noFill/>
          </p:spPr>
          <p:txBody>
            <a:bodyPr wrap="square" rtlCol="0">
              <a:spAutoFit/>
            </a:bodyPr>
            <a:lstStyle/>
            <a:p>
              <a:pPr algn="ctr"/>
              <a:r>
                <a:rPr lang="en-US" altLang="zh-CN" sz="2800" dirty="0">
                  <a:solidFill>
                    <a:schemeClr val="bg1"/>
                  </a:solidFill>
                  <a:cs typeface="+mn-ea"/>
                  <a:sym typeface="+mn-lt"/>
                </a:rPr>
                <a:t>02</a:t>
              </a:r>
              <a:endParaRPr lang="zh-CN" altLang="en-US" sz="2800" dirty="0">
                <a:solidFill>
                  <a:schemeClr val="bg1"/>
                </a:solidFill>
                <a:cs typeface="+mn-ea"/>
                <a:sym typeface="+mn-lt"/>
              </a:endParaRPr>
            </a:p>
          </p:txBody>
        </p:sp>
      </p:grpSp>
      <p:sp>
        <p:nvSpPr>
          <p:cNvPr id="10" name="文本框 9"/>
          <p:cNvSpPr txBox="1"/>
          <p:nvPr/>
        </p:nvSpPr>
        <p:spPr>
          <a:xfrm>
            <a:off x="6398260" y="3114675"/>
            <a:ext cx="5685790" cy="3291840"/>
          </a:xfrm>
          <a:prstGeom prst="rect">
            <a:avLst/>
          </a:prstGeom>
          <a:noFill/>
        </p:spPr>
        <p:txBody>
          <a:bodyPr wrap="square" rtlCol="0">
            <a:spAutoFit/>
          </a:bodyPr>
          <a:lstStyle/>
          <a:p>
            <a:pPr indent="0">
              <a:buFont typeface="Arial" panose="020B0604020202020204" pitchFamily="34" charset="0"/>
              <a:buNone/>
            </a:pPr>
            <a:r>
              <a:rPr lang="zh-CN" altLang="en-US" b="1" dirty="0"/>
              <a:t>图面特征</a:t>
            </a:r>
            <a:endParaRPr lang="zh-CN" altLang="en-US" b="1" dirty="0"/>
          </a:p>
          <a:p>
            <a:pPr indent="0">
              <a:buFont typeface="Arial" panose="020B0604020202020204" pitchFamily="34" charset="0"/>
              <a:buNone/>
            </a:pPr>
            <a:endParaRPr lang="zh-CN" altLang="en-US" sz="1400" dirty="0"/>
          </a:p>
          <a:p>
            <a:pPr marL="285750" indent="-285750">
              <a:buFont typeface="Arial" panose="020B0604020202020204" pitchFamily="34" charset="0"/>
              <a:buChar char="•"/>
            </a:pPr>
            <a:r>
              <a:rPr lang="zh-CN" altLang="en-US" sz="1400" b="1" dirty="0"/>
              <a:t>高风险区</a:t>
            </a:r>
            <a:r>
              <a:rPr lang="zh-CN" altLang="en-US" sz="1400" dirty="0"/>
              <a:t>主要分布在北部、东南部、西南部及南部局部村庄，呈现外围高值突出的格局。</a:t>
            </a:r>
            <a:endParaRPr lang="zh-CN" altLang="en-US" sz="1400" dirty="0"/>
          </a:p>
          <a:p>
            <a:pPr marL="285750" indent="-285750">
              <a:buFont typeface="Arial" panose="020B0604020202020204" pitchFamily="34" charset="0"/>
              <a:buChar char="•"/>
            </a:pPr>
            <a:r>
              <a:rPr lang="zh-CN" altLang="en-US" sz="1400" b="1" dirty="0"/>
              <a:t>中高风险区</a:t>
            </a:r>
            <a:r>
              <a:rPr lang="zh-CN" altLang="en-US" sz="1400" dirty="0"/>
              <a:t>在中部和南部较多，说明这些村庄综合风险水平已经明显偏高。</a:t>
            </a:r>
            <a:endParaRPr lang="zh-CN" altLang="en-US" sz="1400" dirty="0"/>
          </a:p>
          <a:p>
            <a:pPr marL="285750" indent="-285750">
              <a:buFont typeface="Arial" panose="020B0604020202020204" pitchFamily="34" charset="0"/>
              <a:buChar char="•"/>
            </a:pPr>
            <a:r>
              <a:rPr lang="zh-CN" altLang="en-US" sz="1400" b="1" dirty="0"/>
              <a:t>中风险区</a:t>
            </a:r>
            <a:r>
              <a:rPr lang="zh-CN" altLang="en-US" sz="1400" dirty="0"/>
              <a:t>分布较广，是全乡村级风险格局中的主要过渡类型。</a:t>
            </a:r>
            <a:endParaRPr lang="zh-CN" altLang="en-US" sz="1400" dirty="0"/>
          </a:p>
          <a:p>
            <a:pPr marL="285750" indent="-285750">
              <a:buFont typeface="Arial" panose="020B0604020202020204" pitchFamily="34" charset="0"/>
              <a:buChar char="•"/>
            </a:pPr>
            <a:r>
              <a:rPr lang="zh-CN" altLang="en-US" sz="1400" b="1" dirty="0"/>
              <a:t>低风险区</a:t>
            </a:r>
            <a:r>
              <a:rPr lang="zh-CN" altLang="en-US" sz="1400" dirty="0"/>
              <a:t>面积较小，主要位于中部局部区域。</a:t>
            </a:r>
            <a:endParaRPr lang="en-US" altLang="zh-CN" sz="1400" dirty="0"/>
          </a:p>
          <a:p>
            <a:pPr indent="0">
              <a:buFont typeface="Arial" panose="020B0604020202020204" pitchFamily="34" charset="0"/>
              <a:buNone/>
            </a:pPr>
            <a:endParaRPr lang="zh-CN" altLang="en-US" b="1" dirty="0"/>
          </a:p>
          <a:p>
            <a:pPr indent="0">
              <a:buFont typeface="Arial" panose="020B0604020202020204" pitchFamily="34" charset="0"/>
              <a:buNone/>
            </a:pPr>
            <a:r>
              <a:rPr lang="zh-CN" altLang="en-US" b="1" dirty="0"/>
              <a:t>原因分析</a:t>
            </a:r>
            <a:endParaRPr lang="zh-CN" altLang="en-US" b="1" dirty="0"/>
          </a:p>
          <a:p>
            <a:pPr marL="285750" indent="-285750">
              <a:buFont typeface="Arial" panose="020B0604020202020204" pitchFamily="34" charset="0"/>
              <a:buChar char="•"/>
            </a:pPr>
            <a:r>
              <a:rPr lang="zh-CN" altLang="en-US" sz="1400" dirty="0"/>
              <a:t>高风险通常由“暴露度较高+防灾减灾能力不足”共同造成。</a:t>
            </a:r>
            <a:endParaRPr lang="zh-CN" altLang="en-US" sz="1400" dirty="0"/>
          </a:p>
          <a:p>
            <a:pPr marL="285750" indent="-285750">
              <a:buFont typeface="Arial" panose="020B0604020202020204" pitchFamily="34" charset="0"/>
              <a:buChar char="•"/>
            </a:pPr>
            <a:r>
              <a:rPr lang="zh-CN" altLang="en-US" sz="1400" dirty="0"/>
              <a:t>边缘村庄服务可达性较弱，能力不足会抬高最终风险。</a:t>
            </a:r>
            <a:endParaRPr lang="zh-CN" altLang="en-US" sz="1400" dirty="0"/>
          </a:p>
          <a:p>
            <a:pPr marL="285750" indent="-285750">
              <a:buFont typeface="Arial" panose="020B0604020202020204" pitchFamily="34" charset="0"/>
              <a:buChar char="•"/>
            </a:pPr>
            <a:r>
              <a:rPr lang="zh-CN" altLang="en-US" sz="1400" dirty="0"/>
              <a:t>中部部分村庄虽有一定暴露度，但能力支撑较强，因此风险被削弱。</a:t>
            </a:r>
            <a:endParaRPr lang="zh-CN" altLang="en-US" sz="1400" dirty="0"/>
          </a:p>
          <a:p>
            <a:pPr marL="285750" indent="-285750">
              <a:buFont typeface="Arial" panose="020B0604020202020204" pitchFamily="34" charset="0"/>
              <a:buChar char="•"/>
            </a:pPr>
            <a:r>
              <a:rPr lang="zh-CN" altLang="en-US" sz="1400" dirty="0"/>
              <a:t>该结果可为重点村庄识别、应急资源配置和</a:t>
            </a:r>
            <a:r>
              <a:rPr lang="en-US" altLang="zh-CN" sz="1400" dirty="0"/>
              <a:t>WebGIS</a:t>
            </a:r>
            <a:r>
              <a:rPr lang="zh-CN" altLang="en-US" sz="1400" dirty="0"/>
              <a:t>展示提供依据。</a:t>
            </a:r>
            <a:endParaRPr lang="zh-CN" altLang="en-US" sz="1400" spc="300" dirty="0">
              <a:solidFill>
                <a:schemeClr val="tx1">
                  <a:lumMod val="85000"/>
                  <a:lumOff val="15000"/>
                </a:schemeClr>
              </a:solidFill>
              <a:cs typeface="+mn-ea"/>
              <a:sym typeface="+mn-lt"/>
            </a:endParaRPr>
          </a:p>
        </p:txBody>
      </p:sp>
      <p:sp>
        <p:nvSpPr>
          <p:cNvPr id="11" name="文本框 10"/>
          <p:cNvSpPr txBox="1"/>
          <p:nvPr/>
        </p:nvSpPr>
        <p:spPr>
          <a:xfrm>
            <a:off x="6858000" y="2518410"/>
            <a:ext cx="4215765" cy="460375"/>
          </a:xfrm>
          <a:prstGeom prst="rect">
            <a:avLst/>
          </a:prstGeom>
          <a:noFill/>
        </p:spPr>
        <p:txBody>
          <a:bodyPr wrap="square" rtlCol="0">
            <a:spAutoFit/>
          </a:bodyPr>
          <a:lstStyle/>
          <a:p>
            <a:r>
              <a:rPr lang="zh-CN" altLang="en-US" sz="2400" dirty="0">
                <a:solidFill>
                  <a:schemeClr val="tx1">
                    <a:lumMod val="85000"/>
                    <a:lumOff val="15000"/>
                  </a:schemeClr>
                </a:solidFill>
                <a:cs typeface="+mn-ea"/>
                <a:sym typeface="+mn-lt"/>
              </a:rPr>
              <a:t>成因分析</a:t>
            </a:r>
            <a:endParaRPr lang="zh-CN" altLang="en-US" sz="2400" dirty="0">
              <a:solidFill>
                <a:schemeClr val="tx1">
                  <a:lumMod val="85000"/>
                  <a:lumOff val="15000"/>
                </a:schemeClr>
              </a:solidFill>
              <a:cs typeface="+mn-ea"/>
              <a:sym typeface="+mn-lt"/>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6" grpId="0"/>
      <p:bldP spid="27" grpId="0"/>
      <p:bldP spid="3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1699937" y="764464"/>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椭圆 2"/>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5" name="椭圆 4"/>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椭圆 5"/>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椭圆 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13" name="组合 12"/>
          <p:cNvGrpSpPr/>
          <p:nvPr/>
        </p:nvGrpSpPr>
        <p:grpSpPr>
          <a:xfrm>
            <a:off x="2540000" y="2817495"/>
            <a:ext cx="7131711" cy="1318895"/>
            <a:chOff x="2540000" y="2817585"/>
            <a:chExt cx="7430887" cy="1318895"/>
          </a:xfrm>
        </p:grpSpPr>
        <p:sp>
          <p:nvSpPr>
            <p:cNvPr id="4" name="矩形: 圆角 3"/>
            <p:cNvSpPr/>
            <p:nvPr/>
          </p:nvSpPr>
          <p:spPr>
            <a:xfrm>
              <a:off x="2540000" y="2817585"/>
              <a:ext cx="7002780" cy="1318895"/>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文本框 8"/>
            <p:cNvSpPr txBox="1"/>
            <p:nvPr/>
          </p:nvSpPr>
          <p:spPr>
            <a:xfrm>
              <a:off x="4439402" y="3093175"/>
              <a:ext cx="5531485" cy="768350"/>
            </a:xfrm>
            <a:prstGeom prst="rect">
              <a:avLst/>
            </a:prstGeom>
            <a:noFill/>
          </p:spPr>
          <p:txBody>
            <a:bodyPr wrap="square" rtlCol="0">
              <a:spAutoFit/>
            </a:bodyPr>
            <a:lstStyle/>
            <a:p>
              <a:pPr>
                <a:lnSpc>
                  <a:spcPct val="100000"/>
                </a:lnSpc>
              </a:pPr>
              <a:r>
                <a:rPr lang="en-US" altLang="zh-CN" sz="4400" b="1" spc="300" dirty="0">
                  <a:solidFill>
                    <a:schemeClr val="bg1"/>
                  </a:solidFill>
                  <a:latin typeface="+mn-ea"/>
                  <a:sym typeface="+mn-ea"/>
                </a:rPr>
                <a:t>WebGIS</a:t>
              </a:r>
              <a:r>
                <a:rPr lang="zh-CN" altLang="en-US" sz="4400" b="1" spc="300" dirty="0">
                  <a:solidFill>
                    <a:schemeClr val="bg1"/>
                  </a:solidFill>
                  <a:latin typeface="+mn-ea"/>
                  <a:sym typeface="+mn-ea"/>
                </a:rPr>
                <a:t>设计</a:t>
              </a:r>
              <a:endParaRPr kumimoji="0" lang="zh-CN" altLang="en-US" sz="4400" b="1" i="0" u="none" strike="noStrike" kern="1200" cap="none" spc="300" normalizeH="0" baseline="0" noProof="0" dirty="0">
                <a:ln>
                  <a:noFill/>
                </a:ln>
                <a:solidFill>
                  <a:schemeClr val="bg1"/>
                </a:solidFill>
                <a:effectLst>
                  <a:outerShdw blurRad="76200" dist="38100" dir="5400000" algn="t" rotWithShape="0">
                    <a:prstClr val="black">
                      <a:alpha val="22000"/>
                    </a:prstClr>
                  </a:outerShdw>
                </a:effectLst>
                <a:uLnTx/>
                <a:uFillTx/>
                <a:latin typeface="+mn-ea"/>
                <a:cs typeface="+mn-ea"/>
                <a:sym typeface="+mn-ea"/>
              </a:endParaRPr>
            </a:p>
          </p:txBody>
        </p:sp>
        <p:sp>
          <p:nvSpPr>
            <p:cNvPr id="12" name="文本框 11"/>
            <p:cNvSpPr txBox="1"/>
            <p:nvPr/>
          </p:nvSpPr>
          <p:spPr>
            <a:xfrm>
              <a:off x="2757714" y="2875002"/>
              <a:ext cx="1252838" cy="11068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cs typeface="+mn-ea"/>
                  <a:sym typeface="+mn-lt"/>
                </a:rPr>
                <a:t>06</a:t>
              </a:r>
              <a:endParaRPr kumimoji="0" lang="zh-CN" altLang="en-US" sz="6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9614202" y="4088595"/>
            <a:ext cx="3295250" cy="3942035"/>
            <a:chOff x="9614202" y="4088595"/>
            <a:chExt cx="3295250" cy="3942035"/>
          </a:xfrm>
        </p:grpSpPr>
        <p:sp>
          <p:nvSpPr>
            <p:cNvPr id="53" name="椭圆 52"/>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椭圆 53"/>
            <p:cNvSpPr/>
            <p:nvPr>
              <p:custDataLst>
                <p:tags r:id="rId2"/>
              </p:custDataLst>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椭圆 54"/>
            <p:cNvSpPr/>
            <p:nvPr>
              <p:custDataLst>
                <p:tags r:id="rId3"/>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8" name="文本框 47"/>
          <p:cNvSpPr txBox="1"/>
          <p:nvPr/>
        </p:nvSpPr>
        <p:spPr>
          <a:xfrm>
            <a:off x="1224640" y="335911"/>
            <a:ext cx="3213100" cy="583565"/>
          </a:xfrm>
          <a:prstGeom prst="rect">
            <a:avLst/>
          </a:prstGeom>
          <a:noFill/>
        </p:spPr>
        <p:txBody>
          <a:bodyPr wrap="square">
            <a:spAutoFit/>
          </a:bodyPr>
          <a:lstStyle/>
          <a:p>
            <a:r>
              <a:rPr lang="en-US" altLang="zh-CN" sz="3200" spc="400" dirty="0">
                <a:solidFill>
                  <a:schemeClr val="tx1">
                    <a:lumMod val="85000"/>
                    <a:lumOff val="15000"/>
                  </a:schemeClr>
                </a:solidFill>
                <a:cs typeface="+mn-ea"/>
                <a:sym typeface="+mn-lt"/>
              </a:rPr>
              <a:t>WebGIS</a:t>
            </a:r>
            <a:r>
              <a:rPr lang="zh-CN" altLang="en-US" sz="3200" spc="400" dirty="0">
                <a:solidFill>
                  <a:schemeClr val="tx1">
                    <a:lumMod val="85000"/>
                    <a:lumOff val="15000"/>
                  </a:schemeClr>
                </a:solidFill>
                <a:cs typeface="+mn-ea"/>
                <a:sym typeface="+mn-lt"/>
              </a:rPr>
              <a:t>设计</a:t>
            </a:r>
            <a:endParaRPr lang="zh-CN" altLang="en-US" sz="3200" spc="400" dirty="0">
              <a:solidFill>
                <a:schemeClr val="tx1">
                  <a:lumMod val="85000"/>
                  <a:lumOff val="15000"/>
                </a:schemeClr>
              </a:solidFill>
              <a:cs typeface="+mn-ea"/>
              <a:sym typeface="+mn-lt"/>
            </a:endParaRPr>
          </a:p>
        </p:txBody>
      </p:sp>
      <p:grpSp>
        <p:nvGrpSpPr>
          <p:cNvPr id="49" name="组合 48"/>
          <p:cNvGrpSpPr/>
          <p:nvPr/>
        </p:nvGrpSpPr>
        <p:grpSpPr>
          <a:xfrm>
            <a:off x="420106" y="300845"/>
            <a:ext cx="760161" cy="654908"/>
            <a:chOff x="401056" y="200808"/>
            <a:chExt cx="760161" cy="654908"/>
          </a:xfrm>
        </p:grpSpPr>
        <p:sp>
          <p:nvSpPr>
            <p:cNvPr id="50" name="椭圆 49"/>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 name="组合 1"/>
          <p:cNvGrpSpPr/>
          <p:nvPr>
            <p:custDataLst>
              <p:tags r:id="rId4"/>
            </p:custDataLst>
          </p:nvPr>
        </p:nvGrpSpPr>
        <p:grpSpPr>
          <a:xfrm>
            <a:off x="779145" y="1243965"/>
            <a:ext cx="5760085" cy="1779887"/>
            <a:chOff x="4781550" y="4520296"/>
            <a:chExt cx="4346575" cy="1308615"/>
          </a:xfrm>
        </p:grpSpPr>
        <p:grpSp>
          <p:nvGrpSpPr>
            <p:cNvPr id="3" name="组合 2"/>
            <p:cNvGrpSpPr/>
            <p:nvPr/>
          </p:nvGrpSpPr>
          <p:grpSpPr>
            <a:xfrm>
              <a:off x="4781550" y="4520296"/>
              <a:ext cx="4166235" cy="369333"/>
              <a:chOff x="4781550" y="4520296"/>
              <a:chExt cx="4166235" cy="369333"/>
            </a:xfrm>
          </p:grpSpPr>
          <p:sp>
            <p:nvSpPr>
              <p:cNvPr id="20" name="矩形 19"/>
              <p:cNvSpPr/>
              <p:nvPr>
                <p:custDataLst>
                  <p:tags r:id="rId5"/>
                </p:custDataLst>
              </p:nvPr>
            </p:nvSpPr>
            <p:spPr>
              <a:xfrm>
                <a:off x="4848726" y="4528680"/>
                <a:ext cx="360948" cy="3609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custDataLst>
                  <p:tags r:id="rId6"/>
                </p:custDataLst>
              </p:nvPr>
            </p:nvSpPr>
            <p:spPr>
              <a:xfrm>
                <a:off x="5209674" y="4528680"/>
                <a:ext cx="2382253" cy="36094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custDataLst>
                  <p:tags r:id="rId7"/>
                </p:custDataLst>
              </p:nvPr>
            </p:nvSpPr>
            <p:spPr>
              <a:xfrm>
                <a:off x="4781550" y="4524488"/>
                <a:ext cx="495300" cy="270783"/>
              </a:xfrm>
              <a:prstGeom prst="rect">
                <a:avLst/>
              </a:prstGeom>
              <a:noFill/>
            </p:spPr>
            <p:txBody>
              <a:bodyPr wrap="square" rtlCol="0">
                <a:spAutoFit/>
              </a:bodyPr>
              <a:lstStyle/>
              <a:p>
                <a:pPr algn="ctr"/>
                <a:r>
                  <a:rPr lang="en-US" altLang="zh-CN" dirty="0">
                    <a:solidFill>
                      <a:schemeClr val="bg1"/>
                    </a:solidFill>
                    <a:cs typeface="+mn-ea"/>
                    <a:sym typeface="+mn-lt"/>
                  </a:rPr>
                  <a:t>01</a:t>
                </a:r>
                <a:endParaRPr lang="zh-CN" altLang="en-US" dirty="0">
                  <a:solidFill>
                    <a:schemeClr val="bg1"/>
                  </a:solidFill>
                  <a:cs typeface="+mn-ea"/>
                  <a:sym typeface="+mn-lt"/>
                </a:endParaRPr>
              </a:p>
            </p:txBody>
          </p:sp>
          <p:sp>
            <p:nvSpPr>
              <p:cNvPr id="4" name="文本框 3"/>
              <p:cNvSpPr txBox="1"/>
              <p:nvPr>
                <p:custDataLst>
                  <p:tags r:id="rId8"/>
                </p:custDataLst>
              </p:nvPr>
            </p:nvSpPr>
            <p:spPr>
              <a:xfrm>
                <a:off x="5209540" y="4520296"/>
                <a:ext cx="3738245" cy="2931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100" normalizeH="0" baseline="0" noProof="0" dirty="0">
                    <a:ln>
                      <a:noFill/>
                    </a:ln>
                    <a:solidFill>
                      <a:schemeClr val="bg1"/>
                    </a:solidFill>
                    <a:effectLst/>
                    <a:uLnTx/>
                    <a:uFillTx/>
                    <a:cs typeface="+mn-ea"/>
                    <a:sym typeface="+mn-lt"/>
                  </a:rPr>
                  <a:t>WebGIS</a:t>
                </a:r>
                <a:r>
                  <a:rPr kumimoji="0" lang="zh-CN" altLang="en-US" sz="2000" b="0" i="0" u="none" strike="noStrike" kern="1200" cap="none" spc="100" normalizeH="0" baseline="0" noProof="0" dirty="0">
                    <a:ln>
                      <a:noFill/>
                    </a:ln>
                    <a:solidFill>
                      <a:schemeClr val="bg1"/>
                    </a:solidFill>
                    <a:effectLst/>
                    <a:uLnTx/>
                    <a:uFillTx/>
                    <a:cs typeface="+mn-ea"/>
                    <a:sym typeface="+mn-lt"/>
                  </a:rPr>
                  <a:t>建设目标</a:t>
                </a:r>
                <a:endParaRPr kumimoji="0" lang="zh-CN" altLang="en-US" sz="2000" b="0" i="0" u="none" strike="noStrike" kern="1200" cap="none" spc="100" normalizeH="0" baseline="0" noProof="0" dirty="0">
                  <a:ln>
                    <a:noFill/>
                  </a:ln>
                  <a:solidFill>
                    <a:schemeClr val="bg1"/>
                  </a:solidFill>
                  <a:effectLst/>
                  <a:uLnTx/>
                  <a:uFillTx/>
                  <a:cs typeface="+mn-ea"/>
                  <a:sym typeface="+mn-lt"/>
                </a:endParaRPr>
              </a:p>
            </p:txBody>
          </p:sp>
        </p:grpSp>
        <p:sp>
          <p:nvSpPr>
            <p:cNvPr id="5" name="文本框 4"/>
            <p:cNvSpPr txBox="1"/>
            <p:nvPr>
              <p:custDataLst>
                <p:tags r:id="rId9"/>
              </p:custDataLst>
            </p:nvPr>
          </p:nvSpPr>
          <p:spPr>
            <a:xfrm>
              <a:off x="4781550" y="4969876"/>
              <a:ext cx="4346575" cy="859035"/>
            </a:xfrm>
            <a:prstGeom prst="rect">
              <a:avLst/>
            </a:prstGeom>
            <a:noFill/>
          </p:spPr>
          <p:txBody>
            <a:bodyPr wrap="square" rtlCol="0">
              <a:spAutoFit/>
            </a:bodyPr>
            <a:lstStyle/>
            <a:p>
              <a:r>
                <a:rPr lang="zh-CN" altLang="en-US" sz="1400" spc="300" dirty="0">
                  <a:solidFill>
                    <a:schemeClr val="tx1">
                      <a:lumMod val="85000"/>
                      <a:lumOff val="15000"/>
                    </a:schemeClr>
                  </a:solidFill>
                  <a:cs typeface="+mn-ea"/>
                  <a:sym typeface="+mn-lt"/>
                </a:rPr>
                <a:t>1. 将静态风险评价图转化为可交互地图；</a:t>
              </a:r>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2. 实现村级综合风险结果的在线展示；</a:t>
              </a:r>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3. 支持隐患点、缓冲区、建筑物和村级风险图层联动查看；</a:t>
              </a:r>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4. 提高成果表达的直观性和可解释性；</a:t>
              </a:r>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5. 为课程汇报和后续防灾减灾应用提供可视化平台。</a:t>
              </a:r>
              <a:endParaRPr lang="en-US" altLang="zh-CN" sz="1400" spc="300" dirty="0">
                <a:solidFill>
                  <a:schemeClr val="tx1">
                    <a:lumMod val="85000"/>
                    <a:lumOff val="15000"/>
                  </a:schemeClr>
                </a:solidFill>
                <a:cs typeface="+mn-ea"/>
                <a:sym typeface="+mn-lt"/>
              </a:endParaRPr>
            </a:p>
          </p:txBody>
        </p:sp>
      </p:grpSp>
      <p:grpSp>
        <p:nvGrpSpPr>
          <p:cNvPr id="6" name="组合 5"/>
          <p:cNvGrpSpPr/>
          <p:nvPr>
            <p:custDataLst>
              <p:tags r:id="rId10"/>
            </p:custDataLst>
          </p:nvPr>
        </p:nvGrpSpPr>
        <p:grpSpPr>
          <a:xfrm>
            <a:off x="746760" y="3420728"/>
            <a:ext cx="5760720" cy="2420274"/>
            <a:chOff x="4781550" y="4524488"/>
            <a:chExt cx="4347210" cy="1780448"/>
          </a:xfrm>
        </p:grpSpPr>
        <p:grpSp>
          <p:nvGrpSpPr>
            <p:cNvPr id="8" name="组合 7"/>
            <p:cNvGrpSpPr/>
            <p:nvPr/>
          </p:nvGrpSpPr>
          <p:grpSpPr>
            <a:xfrm>
              <a:off x="4781550" y="4524488"/>
              <a:ext cx="2810377" cy="365141"/>
              <a:chOff x="4781550" y="4524488"/>
              <a:chExt cx="2810377" cy="365141"/>
            </a:xfrm>
          </p:grpSpPr>
          <p:sp>
            <p:nvSpPr>
              <p:cNvPr id="9" name="矩形 8"/>
              <p:cNvSpPr/>
              <p:nvPr>
                <p:custDataLst>
                  <p:tags r:id="rId11"/>
                </p:custDataLst>
              </p:nvPr>
            </p:nvSpPr>
            <p:spPr>
              <a:xfrm>
                <a:off x="4848726" y="4528680"/>
                <a:ext cx="360948" cy="36094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custDataLst>
                  <p:tags r:id="rId12"/>
                </p:custDataLst>
              </p:nvPr>
            </p:nvSpPr>
            <p:spPr>
              <a:xfrm>
                <a:off x="5209674" y="4528680"/>
                <a:ext cx="2382253" cy="360949"/>
              </a:xfrm>
              <a:prstGeom prst="rect">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文本框 11"/>
              <p:cNvSpPr txBox="1"/>
              <p:nvPr>
                <p:custDataLst>
                  <p:tags r:id="rId13"/>
                </p:custDataLst>
              </p:nvPr>
            </p:nvSpPr>
            <p:spPr>
              <a:xfrm>
                <a:off x="4781550" y="4524488"/>
                <a:ext cx="495300" cy="270936"/>
              </a:xfrm>
              <a:prstGeom prst="rect">
                <a:avLst/>
              </a:prstGeom>
              <a:noFill/>
            </p:spPr>
            <p:txBody>
              <a:bodyPr wrap="square" rtlCol="0">
                <a:spAutoFit/>
              </a:bodyPr>
              <a:lstStyle/>
              <a:p>
                <a:pPr algn="ctr"/>
                <a:r>
                  <a:rPr lang="en-US" altLang="zh-CN" dirty="0">
                    <a:solidFill>
                      <a:schemeClr val="bg1"/>
                    </a:solidFill>
                    <a:cs typeface="+mn-ea"/>
                    <a:sym typeface="+mn-lt"/>
                  </a:rPr>
                  <a:t>02</a:t>
                </a:r>
                <a:endParaRPr lang="zh-CN" altLang="en-US" dirty="0">
                  <a:solidFill>
                    <a:schemeClr val="bg1"/>
                  </a:solidFill>
                  <a:cs typeface="+mn-ea"/>
                  <a:sym typeface="+mn-lt"/>
                </a:endParaRPr>
              </a:p>
            </p:txBody>
          </p:sp>
          <p:sp>
            <p:nvSpPr>
              <p:cNvPr id="13" name="文本框 12"/>
              <p:cNvSpPr txBox="1"/>
              <p:nvPr>
                <p:custDataLst>
                  <p:tags r:id="rId14"/>
                </p:custDataLst>
              </p:nvPr>
            </p:nvSpPr>
            <p:spPr>
              <a:xfrm>
                <a:off x="5234114" y="4528704"/>
                <a:ext cx="1405976" cy="2933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100" normalizeH="0" baseline="0" noProof="0" dirty="0">
                    <a:ln>
                      <a:noFill/>
                    </a:ln>
                    <a:solidFill>
                      <a:schemeClr val="bg1"/>
                    </a:solidFill>
                    <a:effectLst/>
                    <a:uLnTx/>
                    <a:uFillTx/>
                    <a:cs typeface="+mn-ea"/>
                    <a:sym typeface="+mn-lt"/>
                  </a:rPr>
                  <a:t>技术路线</a:t>
                </a:r>
                <a:endParaRPr kumimoji="0" lang="zh-CN" altLang="en-US" sz="2000" b="0" i="0" u="none" strike="noStrike" kern="1200" cap="none" spc="100" normalizeH="0" baseline="0" noProof="0" dirty="0">
                  <a:ln>
                    <a:noFill/>
                  </a:ln>
                  <a:solidFill>
                    <a:schemeClr val="bg1"/>
                  </a:solidFill>
                  <a:effectLst/>
                  <a:uLnTx/>
                  <a:uFillTx/>
                  <a:cs typeface="+mn-ea"/>
                  <a:sym typeface="+mn-lt"/>
                </a:endParaRPr>
              </a:p>
            </p:txBody>
          </p:sp>
        </p:grpSp>
        <p:sp>
          <p:nvSpPr>
            <p:cNvPr id="33" name="文本框 32"/>
            <p:cNvSpPr txBox="1"/>
            <p:nvPr>
              <p:custDataLst>
                <p:tags r:id="rId15"/>
              </p:custDataLst>
            </p:nvPr>
          </p:nvSpPr>
          <p:spPr>
            <a:xfrm>
              <a:off x="4781550" y="4969876"/>
              <a:ext cx="4347210" cy="1335060"/>
            </a:xfrm>
            <a:prstGeom prst="rect">
              <a:avLst/>
            </a:prstGeom>
            <a:noFill/>
          </p:spPr>
          <p:txBody>
            <a:bodyPr wrap="square" rtlCol="0">
              <a:spAutoFit/>
            </a:bodyPr>
            <a:lstStyle/>
            <a:p>
              <a:r>
                <a:rPr lang="en-US" altLang="zh-CN" sz="1400" spc="300" dirty="0">
                  <a:solidFill>
                    <a:schemeClr val="tx1">
                      <a:lumMod val="85000"/>
                      <a:lumOff val="15000"/>
                    </a:schemeClr>
                  </a:solidFill>
                  <a:cs typeface="+mn-ea"/>
                  <a:sym typeface="+mn-lt"/>
                </a:rPr>
                <a:t>→ </a:t>
              </a:r>
              <a:r>
                <a:rPr lang="zh-CN" altLang="en-US" sz="1400" spc="300" dirty="0">
                  <a:solidFill>
                    <a:schemeClr val="tx1">
                      <a:lumMod val="85000"/>
                      <a:lumOff val="15000"/>
                    </a:schemeClr>
                  </a:solidFill>
                  <a:cs typeface="+mn-ea"/>
                  <a:sym typeface="+mn-lt"/>
                </a:rPr>
                <a:t>将数据导出为</a:t>
              </a:r>
              <a:r>
                <a:rPr lang="en-US" altLang="zh-CN" sz="1400" spc="300" dirty="0">
                  <a:solidFill>
                    <a:schemeClr val="tx1">
                      <a:lumMod val="85000"/>
                      <a:lumOff val="15000"/>
                    </a:schemeClr>
                  </a:solidFill>
                  <a:cs typeface="+mn-ea"/>
                  <a:sym typeface="+mn-lt"/>
                </a:rPr>
                <a:t>GeoJSON</a:t>
              </a:r>
              <a:r>
                <a:rPr lang="zh-CN" altLang="en-US" sz="1400" spc="300" dirty="0">
                  <a:solidFill>
                    <a:schemeClr val="tx1">
                      <a:lumMod val="85000"/>
                      <a:lumOff val="15000"/>
                    </a:schemeClr>
                  </a:solidFill>
                  <a:cs typeface="+mn-ea"/>
                  <a:sym typeface="+mn-lt"/>
                </a:rPr>
                <a:t>格式</a:t>
              </a:r>
              <a:endParaRPr lang="zh-CN" altLang="en-US" sz="1400" spc="300" dirty="0">
                <a:solidFill>
                  <a:schemeClr val="tx1">
                    <a:lumMod val="85000"/>
                    <a:lumOff val="15000"/>
                  </a:schemeClr>
                </a:solidFill>
                <a:cs typeface="+mn-ea"/>
                <a:sym typeface="+mn-lt"/>
              </a:endParaRPr>
            </a:p>
            <a:p>
              <a:r>
                <a:rPr lang="en-US" altLang="zh-CN" sz="1400" spc="300" dirty="0">
                  <a:solidFill>
                    <a:schemeClr val="tx1">
                      <a:lumMod val="85000"/>
                      <a:lumOff val="15000"/>
                    </a:schemeClr>
                  </a:solidFill>
                  <a:cs typeface="+mn-ea"/>
                  <a:sym typeface="+mn-lt"/>
                </a:rPr>
                <a:t>→ </a:t>
              </a:r>
              <a:r>
                <a:rPr lang="zh-CN" altLang="en-US" sz="1400" spc="300" dirty="0">
                  <a:solidFill>
                    <a:schemeClr val="tx1">
                      <a:lumMod val="85000"/>
                      <a:lumOff val="15000"/>
                    </a:schemeClr>
                  </a:solidFill>
                  <a:cs typeface="+mn-ea"/>
                  <a:sym typeface="+mn-lt"/>
                </a:rPr>
                <a:t>将数据</a:t>
              </a:r>
              <a:r>
                <a:rPr lang="zh-CN" altLang="en-US" sz="1400" spc="300" dirty="0">
                  <a:solidFill>
                    <a:schemeClr val="tx1">
                      <a:lumMod val="85000"/>
                      <a:lumOff val="15000"/>
                    </a:schemeClr>
                  </a:solidFill>
                  <a:cs typeface="+mn-ea"/>
                  <a:sym typeface="+mn-lt"/>
                </a:rPr>
                <a:t>转换为</a:t>
              </a:r>
              <a:r>
                <a:rPr lang="en-US" altLang="zh-CN" sz="1400" spc="300" dirty="0">
                  <a:solidFill>
                    <a:schemeClr val="tx1">
                      <a:lumMod val="85000"/>
                      <a:lumOff val="15000"/>
                    </a:schemeClr>
                  </a:solidFill>
                  <a:cs typeface="+mn-ea"/>
                  <a:sym typeface="+mn-lt"/>
                </a:rPr>
                <a:t>WGS84</a:t>
              </a:r>
              <a:r>
                <a:rPr lang="zh-CN" altLang="en-US" sz="1400" spc="300" dirty="0">
                  <a:solidFill>
                    <a:schemeClr val="tx1">
                      <a:lumMod val="85000"/>
                      <a:lumOff val="15000"/>
                    </a:schemeClr>
                  </a:solidFill>
                  <a:cs typeface="+mn-ea"/>
                  <a:sym typeface="+mn-lt"/>
                </a:rPr>
                <a:t>坐标</a:t>
              </a:r>
              <a:r>
                <a:rPr lang="zh-CN" altLang="en-US" sz="1400" spc="300" dirty="0">
                  <a:solidFill>
                    <a:schemeClr val="tx1">
                      <a:lumMod val="85000"/>
                      <a:lumOff val="15000"/>
                    </a:schemeClr>
                  </a:solidFill>
                  <a:cs typeface="+mn-ea"/>
                  <a:sym typeface="+mn-lt"/>
                </a:rPr>
                <a:t>系</a:t>
              </a:r>
              <a:endParaRPr lang="zh-CN" altLang="en-US" sz="1400" spc="300" dirty="0">
                <a:solidFill>
                  <a:schemeClr val="tx1">
                    <a:lumMod val="85000"/>
                    <a:lumOff val="15000"/>
                  </a:schemeClr>
                </a:solidFill>
                <a:cs typeface="+mn-ea"/>
                <a:sym typeface="+mn-lt"/>
              </a:endParaRPr>
            </a:p>
            <a:p>
              <a:r>
                <a:rPr lang="en-US" altLang="zh-CN" sz="1400" spc="300" dirty="0">
                  <a:solidFill>
                    <a:schemeClr val="tx1">
                      <a:lumMod val="85000"/>
                      <a:lumOff val="15000"/>
                    </a:schemeClr>
                  </a:solidFill>
                  <a:cs typeface="+mn-ea"/>
                  <a:sym typeface="+mn-lt"/>
                </a:rPr>
                <a:t>→ </a:t>
              </a:r>
              <a:r>
                <a:rPr lang="zh-CN" altLang="en-US" sz="1400" spc="300" dirty="0">
                  <a:solidFill>
                    <a:schemeClr val="tx1">
                      <a:lumMod val="85000"/>
                      <a:lumOff val="15000"/>
                    </a:schemeClr>
                  </a:solidFill>
                  <a:cs typeface="+mn-ea"/>
                  <a:sym typeface="+mn-lt"/>
                </a:rPr>
                <a:t>用</a:t>
              </a:r>
              <a:r>
                <a:rPr lang="en-US" altLang="zh-CN" sz="1400" spc="300" dirty="0">
                  <a:solidFill>
                    <a:schemeClr val="tx1">
                      <a:lumMod val="85000"/>
                      <a:lumOff val="15000"/>
                    </a:schemeClr>
                  </a:solidFill>
                  <a:cs typeface="+mn-ea"/>
                  <a:sym typeface="+mn-lt"/>
                </a:rPr>
                <a:t>Vite+React+TypeScript</a:t>
              </a:r>
              <a:r>
                <a:rPr lang="zh-CN" altLang="en-US" sz="1400" spc="300" dirty="0">
                  <a:solidFill>
                    <a:schemeClr val="tx1">
                      <a:lumMod val="85000"/>
                      <a:lumOff val="15000"/>
                    </a:schemeClr>
                  </a:solidFill>
                  <a:cs typeface="+mn-ea"/>
                  <a:sym typeface="+mn-lt"/>
                </a:rPr>
                <a:t>搭建前端</a:t>
              </a:r>
              <a:r>
                <a:rPr lang="zh-CN" altLang="en-US" sz="1400" spc="300" dirty="0">
                  <a:solidFill>
                    <a:schemeClr val="tx1">
                      <a:lumMod val="85000"/>
                      <a:lumOff val="15000"/>
                    </a:schemeClr>
                  </a:solidFill>
                  <a:cs typeface="+mn-ea"/>
                  <a:sym typeface="+mn-lt"/>
                </a:rPr>
                <a:t>页面</a:t>
              </a:r>
              <a:endParaRPr lang="zh-CN" altLang="en-US" sz="1400" spc="300" dirty="0">
                <a:solidFill>
                  <a:schemeClr val="tx1">
                    <a:lumMod val="85000"/>
                    <a:lumOff val="15000"/>
                  </a:schemeClr>
                </a:solidFill>
                <a:cs typeface="+mn-ea"/>
                <a:sym typeface="+mn-lt"/>
              </a:endParaRPr>
            </a:p>
            <a:p>
              <a:r>
                <a:rPr lang="en-US" altLang="zh-CN" sz="1400" spc="300" dirty="0">
                  <a:solidFill>
                    <a:schemeClr val="tx1">
                      <a:lumMod val="85000"/>
                      <a:lumOff val="15000"/>
                    </a:schemeClr>
                  </a:solidFill>
                  <a:cs typeface="+mn-ea"/>
                  <a:sym typeface="+mn-lt"/>
                </a:rPr>
                <a:t>→ </a:t>
              </a:r>
              <a:r>
                <a:rPr lang="zh-CN" altLang="en-US" sz="1400" spc="300" dirty="0">
                  <a:solidFill>
                    <a:schemeClr val="tx1">
                      <a:lumMod val="85000"/>
                      <a:lumOff val="15000"/>
                    </a:schemeClr>
                  </a:solidFill>
                  <a:cs typeface="+mn-ea"/>
                  <a:sym typeface="+mn-lt"/>
                </a:rPr>
                <a:t>使用</a:t>
              </a:r>
              <a:r>
                <a:rPr lang="en-US" altLang="zh-CN" sz="1400" spc="300" dirty="0">
                  <a:solidFill>
                    <a:schemeClr val="tx1">
                      <a:lumMod val="85000"/>
                      <a:lumOff val="15000"/>
                    </a:schemeClr>
                  </a:solidFill>
                  <a:cs typeface="+mn-ea"/>
                  <a:sym typeface="+mn-lt"/>
                </a:rPr>
                <a:t>Leaflet</a:t>
              </a:r>
              <a:r>
                <a:rPr lang="zh-CN" altLang="en-US" sz="1400" spc="300" dirty="0">
                  <a:solidFill>
                    <a:schemeClr val="tx1">
                      <a:lumMod val="85000"/>
                      <a:lumOff val="15000"/>
                    </a:schemeClr>
                  </a:solidFill>
                  <a:cs typeface="+mn-ea"/>
                  <a:sym typeface="+mn-lt"/>
                </a:rPr>
                <a:t>加载地图与业务图层</a:t>
              </a:r>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a:t>
              </a:r>
              <a:r>
                <a:rPr lang="en-US" altLang="zh-CN" sz="1400" spc="300" dirty="0">
                  <a:solidFill>
                    <a:schemeClr val="tx1">
                      <a:lumMod val="85000"/>
                      <a:lumOff val="15000"/>
                    </a:schemeClr>
                  </a:solidFill>
                  <a:cs typeface="+mn-ea"/>
                  <a:sym typeface="+mn-lt"/>
                </a:rPr>
                <a:t> </a:t>
              </a:r>
              <a:r>
                <a:rPr lang="zh-CN" altLang="en-US" sz="1400" spc="300" dirty="0">
                  <a:solidFill>
                    <a:schemeClr val="tx1">
                      <a:lumMod val="85000"/>
                      <a:lumOff val="15000"/>
                    </a:schemeClr>
                  </a:solidFill>
                  <a:cs typeface="+mn-ea"/>
                  <a:sym typeface="+mn-lt"/>
                </a:rPr>
                <a:t>实现风险结果、隐患点、缓冲区和建筑面的联动展示</a:t>
              </a:r>
              <a:endParaRPr lang="zh-CN" altLang="en-US" sz="1400" spc="300" dirty="0">
                <a:solidFill>
                  <a:schemeClr val="tx1">
                    <a:lumMod val="85000"/>
                    <a:lumOff val="15000"/>
                  </a:schemeClr>
                </a:solidFill>
                <a:cs typeface="+mn-ea"/>
                <a:sym typeface="+mn-lt"/>
              </a:endParaRPr>
            </a:p>
            <a:p>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出于结果</a:t>
              </a:r>
              <a:r>
                <a:rPr lang="zh-CN" altLang="en-US" sz="1400" spc="300" dirty="0">
                  <a:solidFill>
                    <a:schemeClr val="tx1">
                      <a:lumMod val="85000"/>
                      <a:lumOff val="15000"/>
                    </a:schemeClr>
                  </a:solidFill>
                  <a:cs typeface="+mn-ea"/>
                  <a:sym typeface="+mn-lt"/>
                </a:rPr>
                <a:t>的特点</a:t>
              </a:r>
              <a:r>
                <a:rPr lang="zh-CN" altLang="en-US" sz="1400" spc="300" dirty="0">
                  <a:solidFill>
                    <a:schemeClr val="tx1">
                      <a:lumMod val="85000"/>
                      <a:lumOff val="15000"/>
                    </a:schemeClr>
                  </a:solidFill>
                  <a:cs typeface="+mn-ea"/>
                  <a:sym typeface="+mn-lt"/>
                </a:rPr>
                <a:t>考虑、系统采用静态</a:t>
              </a:r>
              <a:r>
                <a:rPr lang="en-US" altLang="zh-CN" sz="1400" spc="300" dirty="0">
                  <a:solidFill>
                    <a:schemeClr val="tx1">
                      <a:lumMod val="85000"/>
                      <a:lumOff val="15000"/>
                    </a:schemeClr>
                  </a:solidFill>
                  <a:cs typeface="+mn-ea"/>
                  <a:sym typeface="+mn-lt"/>
                </a:rPr>
                <a:t>GeoJSON</a:t>
              </a:r>
              <a:r>
                <a:rPr lang="zh-CN" altLang="en-US" sz="1400" spc="300" dirty="0">
                  <a:solidFill>
                    <a:schemeClr val="tx1">
                      <a:lumMod val="85000"/>
                      <a:lumOff val="15000"/>
                    </a:schemeClr>
                  </a:solidFill>
                  <a:cs typeface="+mn-ea"/>
                  <a:sym typeface="+mn-lt"/>
                </a:rPr>
                <a:t>业务数据，</a:t>
              </a:r>
              <a:endParaRPr lang="zh-CN" altLang="en-US" sz="1400" spc="300" dirty="0">
                <a:solidFill>
                  <a:schemeClr val="tx1">
                    <a:lumMod val="85000"/>
                    <a:lumOff val="15000"/>
                  </a:schemeClr>
                </a:solidFill>
                <a:cs typeface="+mn-ea"/>
                <a:sym typeface="+mn-lt"/>
              </a:endParaRPr>
            </a:p>
            <a:p>
              <a:r>
                <a:rPr lang="zh-CN" altLang="en-US" sz="1400" spc="300" dirty="0">
                  <a:solidFill>
                    <a:schemeClr val="tx1">
                      <a:lumMod val="85000"/>
                      <a:lumOff val="15000"/>
                    </a:schemeClr>
                  </a:solidFill>
                  <a:cs typeface="+mn-ea"/>
                  <a:sym typeface="+mn-lt"/>
                </a:rPr>
                <a:t>不依赖后端数据库和服务器</a:t>
              </a:r>
              <a:r>
                <a:rPr lang="en-US" altLang="zh-CN" sz="1400" spc="300" dirty="0">
                  <a:solidFill>
                    <a:schemeClr val="tx1">
                      <a:lumMod val="85000"/>
                      <a:lumOff val="15000"/>
                    </a:schemeClr>
                  </a:solidFill>
                  <a:cs typeface="+mn-ea"/>
                  <a:sym typeface="+mn-lt"/>
                </a:rPr>
                <a:t>API，</a:t>
              </a:r>
              <a:r>
                <a:rPr lang="zh-CN" altLang="en-US" sz="1400" spc="300" dirty="0">
                  <a:solidFill>
                    <a:schemeClr val="tx1">
                      <a:lumMod val="85000"/>
                      <a:lumOff val="15000"/>
                    </a:schemeClr>
                  </a:solidFill>
                  <a:cs typeface="+mn-ea"/>
                  <a:sym typeface="+mn-lt"/>
                </a:rPr>
                <a:t>便于课程汇报和部署。</a:t>
              </a:r>
              <a:endParaRPr lang="zh-CN" altLang="en-US" sz="1400" spc="300" dirty="0">
                <a:solidFill>
                  <a:schemeClr val="tx1">
                    <a:lumMod val="85000"/>
                    <a:lumOff val="15000"/>
                  </a:schemeClr>
                </a:solidFill>
                <a:cs typeface="+mn-ea"/>
                <a:sym typeface="+mn-lt"/>
              </a:endParaRPr>
            </a:p>
          </p:txBody>
        </p:sp>
      </p:grpSp>
    </p:spTree>
    <p:custDataLst>
      <p:tags r:id="rId16"/>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10240010" y="4947285"/>
            <a:ext cx="2668905" cy="3083560"/>
            <a:chOff x="9614202" y="4088595"/>
            <a:chExt cx="3295250" cy="3942035"/>
          </a:xfrm>
        </p:grpSpPr>
        <p:sp>
          <p:nvSpPr>
            <p:cNvPr id="53" name="椭圆 52"/>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椭圆 53"/>
            <p:cNvSpPr/>
            <p:nvPr>
              <p:custDataLst>
                <p:tags r:id="rId2"/>
              </p:custDataLst>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椭圆 54"/>
            <p:cNvSpPr/>
            <p:nvPr>
              <p:custDataLst>
                <p:tags r:id="rId3"/>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8" name="文本框 47"/>
          <p:cNvSpPr txBox="1"/>
          <p:nvPr/>
        </p:nvSpPr>
        <p:spPr>
          <a:xfrm>
            <a:off x="1224915" y="335915"/>
            <a:ext cx="6464935" cy="583565"/>
          </a:xfrm>
          <a:prstGeom prst="rect">
            <a:avLst/>
          </a:prstGeom>
          <a:noFill/>
        </p:spPr>
        <p:txBody>
          <a:bodyPr wrap="square">
            <a:spAutoFit/>
          </a:bodyPr>
          <a:lstStyle/>
          <a:p>
            <a:r>
              <a:rPr lang="en-US" altLang="zh-CN" sz="3200" spc="400" dirty="0">
                <a:solidFill>
                  <a:schemeClr val="tx1">
                    <a:lumMod val="85000"/>
                    <a:lumOff val="15000"/>
                  </a:schemeClr>
                </a:solidFill>
                <a:cs typeface="+mn-ea"/>
                <a:sym typeface="+mn-lt"/>
              </a:rPr>
              <a:t>WebGIS</a:t>
            </a:r>
            <a:r>
              <a:rPr lang="zh-CN" altLang="en-US" sz="3200" spc="400" dirty="0">
                <a:solidFill>
                  <a:schemeClr val="tx1">
                    <a:lumMod val="85000"/>
                    <a:lumOff val="15000"/>
                  </a:schemeClr>
                </a:solidFill>
                <a:cs typeface="+mn-ea"/>
                <a:sym typeface="+mn-lt"/>
              </a:rPr>
              <a:t>设计流程图</a:t>
            </a:r>
            <a:endParaRPr lang="zh-CN" altLang="en-US" sz="3200" spc="400" dirty="0">
              <a:solidFill>
                <a:schemeClr val="tx1">
                  <a:lumMod val="85000"/>
                  <a:lumOff val="15000"/>
                </a:schemeClr>
              </a:solidFill>
              <a:cs typeface="+mn-ea"/>
              <a:sym typeface="+mn-lt"/>
            </a:endParaRPr>
          </a:p>
        </p:txBody>
      </p:sp>
      <p:grpSp>
        <p:nvGrpSpPr>
          <p:cNvPr id="49" name="组合 48"/>
          <p:cNvGrpSpPr/>
          <p:nvPr/>
        </p:nvGrpSpPr>
        <p:grpSpPr>
          <a:xfrm>
            <a:off x="420106" y="300845"/>
            <a:ext cx="760161" cy="654908"/>
            <a:chOff x="401056" y="200808"/>
            <a:chExt cx="760161" cy="654908"/>
          </a:xfrm>
        </p:grpSpPr>
        <p:sp>
          <p:nvSpPr>
            <p:cNvPr id="50" name="椭圆 49"/>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7" name="图片 6"/>
          <p:cNvPicPr/>
          <p:nvPr/>
        </p:nvPicPr>
        <p:blipFill>
          <a:blip r:embed="rId4"/>
          <a:stretch>
            <a:fillRect/>
          </a:stretch>
        </p:blipFill>
        <p:spPr>
          <a:xfrm>
            <a:off x="657860" y="955675"/>
            <a:ext cx="10876280" cy="5585460"/>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4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组合 51"/>
          <p:cNvGrpSpPr/>
          <p:nvPr>
            <p:custDataLst>
              <p:tags r:id="rId1"/>
            </p:custDataLst>
          </p:nvPr>
        </p:nvGrpSpPr>
        <p:grpSpPr>
          <a:xfrm>
            <a:off x="10240010" y="4947285"/>
            <a:ext cx="2668905" cy="3083560"/>
            <a:chOff x="9614202" y="4088595"/>
            <a:chExt cx="3295250" cy="3942035"/>
          </a:xfrm>
        </p:grpSpPr>
        <p:sp>
          <p:nvSpPr>
            <p:cNvPr id="53" name="椭圆 52"/>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椭圆 53"/>
            <p:cNvSpPr/>
            <p:nvPr>
              <p:custDataLst>
                <p:tags r:id="rId2"/>
              </p:custDataLst>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5" name="椭圆 54"/>
            <p:cNvSpPr/>
            <p:nvPr>
              <p:custDataLst>
                <p:tags r:id="rId3"/>
              </p:custDataLst>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8" name="文本框 47">
            <a:hlinkClick r:id="rId4" action="ppaction://hlinkfile"/>
          </p:cNvPr>
          <p:cNvSpPr txBox="1"/>
          <p:nvPr/>
        </p:nvSpPr>
        <p:spPr>
          <a:xfrm>
            <a:off x="1224915" y="335915"/>
            <a:ext cx="10315575" cy="583565"/>
          </a:xfrm>
          <a:prstGeom prst="rect">
            <a:avLst/>
          </a:prstGeom>
          <a:noFill/>
        </p:spPr>
        <p:txBody>
          <a:bodyPr wrap="square">
            <a:spAutoFit/>
          </a:bodyPr>
          <a:lstStyle/>
          <a:p>
            <a:r>
              <a:rPr lang="en-US" altLang="zh-CN" sz="3200" spc="400" dirty="0">
                <a:solidFill>
                  <a:schemeClr val="tx1">
                    <a:lumMod val="85000"/>
                    <a:lumOff val="15000"/>
                  </a:schemeClr>
                </a:solidFill>
                <a:cs typeface="+mn-ea"/>
                <a:sym typeface="+mn-lt"/>
              </a:rPr>
              <a:t>WebGIS</a:t>
            </a:r>
            <a:r>
              <a:rPr lang="zh-CN" altLang="en-US" sz="3200" spc="400" dirty="0">
                <a:solidFill>
                  <a:schemeClr val="tx1">
                    <a:lumMod val="85000"/>
                    <a:lumOff val="15000"/>
                  </a:schemeClr>
                </a:solidFill>
                <a:cs typeface="+mn-ea"/>
                <a:sym typeface="+mn-lt"/>
              </a:rPr>
              <a:t>设计最终效果</a:t>
            </a:r>
            <a:r>
              <a:rPr lang="en-US" altLang="zh-CN" sz="3200" spc="400" dirty="0">
                <a:solidFill>
                  <a:schemeClr val="tx1">
                    <a:lumMod val="85000"/>
                    <a:lumOff val="15000"/>
                  </a:schemeClr>
                </a:solidFill>
                <a:cs typeface="+mn-ea"/>
                <a:sym typeface="+mn-lt"/>
              </a:rPr>
              <a:t> </a:t>
            </a:r>
            <a:r>
              <a:rPr lang="zh-CN" altLang="en-US" sz="3200" spc="400" dirty="0">
                <a:solidFill>
                  <a:schemeClr val="tx1">
                    <a:lumMod val="85000"/>
                    <a:lumOff val="15000"/>
                  </a:schemeClr>
                </a:solidFill>
                <a:cs typeface="+mn-ea"/>
                <a:sym typeface="+mn-lt"/>
                <a:hlinkClick r:id="rId4" action="ppaction://hlinkfile"/>
              </a:rPr>
              <a:t>点击跳转</a:t>
            </a:r>
            <a:r>
              <a:rPr lang="en-US" altLang="zh-CN" sz="3200" spc="400" dirty="0">
                <a:solidFill>
                  <a:schemeClr val="tx1">
                    <a:lumMod val="85000"/>
                    <a:lumOff val="15000"/>
                  </a:schemeClr>
                </a:solidFill>
                <a:cs typeface="+mn-ea"/>
                <a:sym typeface="+mn-lt"/>
              </a:rPr>
              <a:t> </a:t>
            </a:r>
            <a:r>
              <a:rPr lang="en-US" altLang="zh-CN" sz="1600" spc="400" dirty="0">
                <a:solidFill>
                  <a:schemeClr val="accent1">
                    <a:lumMod val="75000"/>
                  </a:schemeClr>
                </a:solidFill>
                <a:latin typeface="Arial" panose="020B0604020202020204" pitchFamily="34" charset="0"/>
                <a:cs typeface="Arial" panose="020B0604020202020204" pitchFamily="34" charset="0"/>
                <a:sym typeface="+mn-lt"/>
              </a:rPr>
              <a:t>zaihai.nekoark.com</a:t>
            </a:r>
            <a:endParaRPr lang="en-US" altLang="zh-CN" sz="1600" spc="400" dirty="0">
              <a:solidFill>
                <a:schemeClr val="accent1">
                  <a:lumMod val="75000"/>
                </a:schemeClr>
              </a:solidFill>
              <a:latin typeface="Arial" panose="020B0604020202020204" pitchFamily="34" charset="0"/>
              <a:cs typeface="Arial" panose="020B0604020202020204" pitchFamily="34" charset="0"/>
              <a:sym typeface="+mn-lt"/>
            </a:endParaRPr>
          </a:p>
        </p:txBody>
      </p:sp>
      <p:grpSp>
        <p:nvGrpSpPr>
          <p:cNvPr id="49" name="组合 48"/>
          <p:cNvGrpSpPr/>
          <p:nvPr/>
        </p:nvGrpSpPr>
        <p:grpSpPr>
          <a:xfrm>
            <a:off x="420106" y="300845"/>
            <a:ext cx="760161" cy="654908"/>
            <a:chOff x="401056" y="200808"/>
            <a:chExt cx="760161" cy="654908"/>
          </a:xfrm>
        </p:grpSpPr>
        <p:sp>
          <p:nvSpPr>
            <p:cNvPr id="50" name="椭圆 49"/>
            <p:cNvSpPr/>
            <p:nvPr/>
          </p:nvSpPr>
          <p:spPr>
            <a:xfrm>
              <a:off x="506309" y="200808"/>
              <a:ext cx="654908" cy="65490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1" name="椭圆 50"/>
            <p:cNvSpPr/>
            <p:nvPr/>
          </p:nvSpPr>
          <p:spPr>
            <a:xfrm>
              <a:off x="401056" y="200808"/>
              <a:ext cx="432707" cy="432707"/>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2" name="图片 1"/>
          <p:cNvPicPr>
            <a:picLocks noChangeAspect="1"/>
          </p:cNvPicPr>
          <p:nvPr/>
        </p:nvPicPr>
        <p:blipFill>
          <a:blip r:embed="rId5"/>
          <a:stretch>
            <a:fillRect/>
          </a:stretch>
        </p:blipFill>
        <p:spPr>
          <a:xfrm>
            <a:off x="852805" y="1128395"/>
            <a:ext cx="9964420" cy="5170170"/>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48"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椭圆 48"/>
          <p:cNvSpPr/>
          <p:nvPr/>
        </p:nvSpPr>
        <p:spPr>
          <a:xfrm>
            <a:off x="-1699937" y="773989"/>
            <a:ext cx="5776637" cy="5776637"/>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椭圆 3"/>
          <p:cNvSpPr/>
          <p:nvPr/>
        </p:nvSpPr>
        <p:spPr>
          <a:xfrm>
            <a:off x="-542373" y="-514350"/>
            <a:ext cx="1905000" cy="1905000"/>
          </a:xfrm>
          <a:prstGeom prst="ellipse">
            <a:avLst/>
          </a:prstGeom>
          <a:solidFill>
            <a:srgbClr val="9DD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9930394" y="5051572"/>
            <a:ext cx="2979058" cy="2979058"/>
          </a:xfrm>
          <a:prstGeom prst="ellipse">
            <a:avLst/>
          </a:prstGeom>
          <a:solidFill>
            <a:srgbClr val="E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椭圆 57"/>
          <p:cNvSpPr/>
          <p:nvPr/>
        </p:nvSpPr>
        <p:spPr>
          <a:xfrm>
            <a:off x="11291123" y="4088595"/>
            <a:ext cx="550370" cy="550370"/>
          </a:xfrm>
          <a:prstGeom prst="ellipse">
            <a:avLst/>
          </a:prstGeom>
          <a:solidFill>
            <a:srgbClr val="9DC0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9" name="组合 78"/>
          <p:cNvGrpSpPr/>
          <p:nvPr/>
        </p:nvGrpSpPr>
        <p:grpSpPr>
          <a:xfrm>
            <a:off x="9065986" y="774133"/>
            <a:ext cx="2691765" cy="712583"/>
            <a:chOff x="9065986" y="774133"/>
            <a:chExt cx="2691765" cy="712583"/>
          </a:xfrm>
        </p:grpSpPr>
        <p:sp>
          <p:nvSpPr>
            <p:cNvPr id="73" name="矩形: 圆角 72"/>
            <p:cNvSpPr/>
            <p:nvPr/>
          </p:nvSpPr>
          <p:spPr>
            <a:xfrm>
              <a:off x="9065986" y="774133"/>
              <a:ext cx="2500322" cy="712583"/>
            </a:xfrm>
            <a:prstGeom prst="roundRect">
              <a:avLst>
                <a:gd name="adj" fmla="val 50000"/>
              </a:avLst>
            </a:prstGeom>
            <a:solidFill>
              <a:srgbClr val="2777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cs typeface="+mn-ea"/>
                <a:sym typeface="+mn-lt"/>
              </a:endParaRPr>
            </a:p>
          </p:txBody>
        </p:sp>
        <p:sp>
          <p:nvSpPr>
            <p:cNvPr id="74" name="文本框 73"/>
            <p:cNvSpPr txBox="1"/>
            <p:nvPr/>
          </p:nvSpPr>
          <p:spPr>
            <a:xfrm>
              <a:off x="9709241" y="868748"/>
              <a:ext cx="2048510" cy="521970"/>
            </a:xfrm>
            <a:prstGeom prst="rect">
              <a:avLst/>
            </a:prstGeom>
            <a:noFill/>
          </p:spPr>
          <p:txBody>
            <a:bodyPr wrap="square" rtlCol="0">
              <a:spAutoFit/>
            </a:bodyPr>
            <a:lstStyle/>
            <a:p>
              <a:r>
                <a:rPr lang="zh-CN" altLang="en-US" sz="2800" dirty="0">
                  <a:solidFill>
                    <a:schemeClr val="bg1"/>
                  </a:solidFill>
                  <a:cs typeface="+mn-ea"/>
                  <a:sym typeface="+mn-lt"/>
                </a:rPr>
                <a:t>第二组</a:t>
              </a:r>
              <a:endParaRPr lang="zh-CN" altLang="en-US" sz="2800" dirty="0">
                <a:solidFill>
                  <a:schemeClr val="bg1"/>
                </a:solidFill>
                <a:cs typeface="+mn-ea"/>
                <a:sym typeface="+mn-lt"/>
              </a:endParaRPr>
            </a:p>
          </p:txBody>
        </p:sp>
      </p:grpSp>
      <p:sp>
        <p:nvSpPr>
          <p:cNvPr id="77" name="椭圆 76"/>
          <p:cNvSpPr/>
          <p:nvPr/>
        </p:nvSpPr>
        <p:spPr>
          <a:xfrm>
            <a:off x="9614202" y="4752386"/>
            <a:ext cx="1453372" cy="1453372"/>
          </a:xfrm>
          <a:prstGeom prst="ellipse">
            <a:avLst/>
          </a:prstGeom>
          <a:solidFill>
            <a:srgbClr val="9DC0BC">
              <a:alpha val="5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椭圆 2"/>
          <p:cNvSpPr/>
          <p:nvPr/>
        </p:nvSpPr>
        <p:spPr>
          <a:xfrm>
            <a:off x="1771650"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灾</a:t>
            </a:r>
            <a:endParaRPr lang="zh-CN" altLang="en-US" sz="2400">
              <a:cs typeface="+mn-ea"/>
              <a:sym typeface="+mn-lt"/>
            </a:endParaRPr>
          </a:p>
        </p:txBody>
      </p:sp>
      <p:sp>
        <p:nvSpPr>
          <p:cNvPr id="6" name="椭圆 5"/>
          <p:cNvSpPr/>
          <p:nvPr/>
        </p:nvSpPr>
        <p:spPr>
          <a:xfrm>
            <a:off x="2352675"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椭圆 6"/>
          <p:cNvSpPr/>
          <p:nvPr/>
        </p:nvSpPr>
        <p:spPr>
          <a:xfrm>
            <a:off x="2933700"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椭圆 7"/>
          <p:cNvSpPr/>
          <p:nvPr/>
        </p:nvSpPr>
        <p:spPr>
          <a:xfrm>
            <a:off x="4095750"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评</a:t>
            </a:r>
            <a:endParaRPr lang="zh-CN" altLang="en-US" sz="2400">
              <a:cs typeface="+mn-ea"/>
              <a:sym typeface="+mn-lt"/>
            </a:endParaRPr>
          </a:p>
        </p:txBody>
      </p:sp>
      <p:sp>
        <p:nvSpPr>
          <p:cNvPr id="9" name="椭圆 8"/>
          <p:cNvSpPr/>
          <p:nvPr/>
        </p:nvSpPr>
        <p:spPr>
          <a:xfrm>
            <a:off x="3514725" y="180975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文本框 12"/>
          <p:cNvSpPr txBox="1"/>
          <p:nvPr/>
        </p:nvSpPr>
        <p:spPr>
          <a:xfrm>
            <a:off x="2441575" y="1858010"/>
            <a:ext cx="381000" cy="46037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cs typeface="+mn-ea"/>
                <a:sym typeface="+mn-lt"/>
              </a:rPr>
              <a:t>害</a:t>
            </a:r>
            <a:endParaRPr lang="zh-CN" altLang="en-US" sz="2400" dirty="0">
              <a:solidFill>
                <a:schemeClr val="bg1"/>
              </a:solidFill>
              <a:effectLst>
                <a:outerShdw blurRad="38100" dist="38100" dir="2700000" algn="tl">
                  <a:srgbClr val="000000">
                    <a:alpha val="43137"/>
                  </a:srgbClr>
                </a:outerShdw>
              </a:effectLst>
              <a:cs typeface="+mn-ea"/>
              <a:sym typeface="+mn-lt"/>
            </a:endParaRPr>
          </a:p>
        </p:txBody>
      </p:sp>
      <p:sp>
        <p:nvSpPr>
          <p:cNvPr id="14" name="文本框 13"/>
          <p:cNvSpPr txBox="1"/>
          <p:nvPr/>
        </p:nvSpPr>
        <p:spPr>
          <a:xfrm>
            <a:off x="3022600" y="1851025"/>
            <a:ext cx="381000" cy="46037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cs typeface="+mn-ea"/>
                <a:sym typeface="+mn-lt"/>
              </a:rPr>
              <a:t>风</a:t>
            </a:r>
            <a:endParaRPr lang="zh-CN" altLang="en-US" sz="2400" dirty="0">
              <a:solidFill>
                <a:schemeClr val="bg1"/>
              </a:solidFill>
              <a:effectLst>
                <a:outerShdw blurRad="38100" dist="38100" dir="2700000" algn="tl">
                  <a:srgbClr val="000000">
                    <a:alpha val="43137"/>
                  </a:srgbClr>
                </a:outerShdw>
              </a:effectLst>
              <a:cs typeface="+mn-ea"/>
              <a:sym typeface="+mn-lt"/>
            </a:endParaRPr>
          </a:p>
        </p:txBody>
      </p:sp>
      <p:sp>
        <p:nvSpPr>
          <p:cNvPr id="15" name="文本框 14"/>
          <p:cNvSpPr txBox="1"/>
          <p:nvPr/>
        </p:nvSpPr>
        <p:spPr>
          <a:xfrm>
            <a:off x="3603625" y="1858010"/>
            <a:ext cx="381000" cy="460375"/>
          </a:xfrm>
          <a:prstGeom prst="rect">
            <a:avLst/>
          </a:prstGeom>
          <a:noFill/>
        </p:spPr>
        <p:txBody>
          <a:bodyPr wrap="square" rtlCol="0">
            <a:spAutoFit/>
          </a:bodyPr>
          <a:lstStyle/>
          <a:p>
            <a:pPr algn="ctr"/>
            <a:r>
              <a:rPr lang="zh-CN" altLang="en-US" sz="2400" dirty="0">
                <a:solidFill>
                  <a:schemeClr val="bg1"/>
                </a:solidFill>
                <a:effectLst>
                  <a:outerShdw blurRad="38100" dist="38100" dir="2700000" algn="tl">
                    <a:srgbClr val="000000">
                      <a:alpha val="43137"/>
                    </a:srgbClr>
                  </a:outerShdw>
                </a:effectLst>
                <a:cs typeface="+mn-ea"/>
                <a:sym typeface="+mn-lt"/>
              </a:rPr>
              <a:t>险</a:t>
            </a:r>
            <a:endParaRPr lang="zh-CN" altLang="en-US" sz="2400" dirty="0">
              <a:solidFill>
                <a:schemeClr val="bg1"/>
              </a:solidFill>
              <a:effectLst>
                <a:outerShdw blurRad="38100" dist="38100" dir="2700000" algn="tl">
                  <a:srgbClr val="000000">
                    <a:alpha val="43137"/>
                  </a:srgbClr>
                </a:outerShdw>
              </a:effectLst>
              <a:cs typeface="+mn-ea"/>
              <a:sym typeface="+mn-lt"/>
            </a:endParaRPr>
          </a:p>
        </p:txBody>
      </p:sp>
      <p:sp>
        <p:nvSpPr>
          <p:cNvPr id="18" name="椭圆 17"/>
          <p:cNvSpPr/>
          <p:nvPr/>
        </p:nvSpPr>
        <p:spPr>
          <a:xfrm>
            <a:off x="4676775" y="1802130"/>
            <a:ext cx="558800" cy="558800"/>
          </a:xfrm>
          <a:prstGeom prst="ellipse">
            <a:avLst/>
          </a:prstGeom>
          <a:solidFill>
            <a:srgbClr val="3E78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cs typeface="+mn-ea"/>
                <a:sym typeface="+mn-lt"/>
              </a:rPr>
              <a:t>估</a:t>
            </a:r>
            <a:endParaRPr lang="zh-CN" altLang="en-US" sz="2400">
              <a:cs typeface="+mn-ea"/>
              <a:sym typeface="+mn-lt"/>
            </a:endParaRPr>
          </a:p>
        </p:txBody>
      </p:sp>
      <p:sp>
        <p:nvSpPr>
          <p:cNvPr id="2" name="文本框 1"/>
          <p:cNvSpPr txBox="1"/>
          <p:nvPr/>
        </p:nvSpPr>
        <p:spPr>
          <a:xfrm>
            <a:off x="3328670" y="2875340"/>
            <a:ext cx="5402036" cy="1106805"/>
          </a:xfrm>
          <a:prstGeom prst="rect">
            <a:avLst/>
          </a:prstGeom>
          <a:noFill/>
        </p:spPr>
        <p:txBody>
          <a:bodyPr wrap="square" rtlCol="0">
            <a:spAutoFit/>
          </a:bodyPr>
          <a:lstStyle/>
          <a:p>
            <a:pPr algn="dist"/>
            <a:r>
              <a:rPr lang="zh-CN" altLang="en-US" sz="6600" spc="-300" dirty="0">
                <a:latin typeface="方正正黑简体" panose="02000000000000000000" pitchFamily="2" charset="-122"/>
                <a:ea typeface="方正正黑简体" panose="02000000000000000000" pitchFamily="2" charset="-122"/>
                <a:cs typeface="+mn-ea"/>
                <a:sym typeface="+mn-lt"/>
              </a:rPr>
              <a:t>感谢聆听</a:t>
            </a:r>
            <a:endParaRPr lang="zh-CN" altLang="en-US" sz="6600" spc="-300" dirty="0">
              <a:latin typeface="方正正黑简体" panose="02000000000000000000" pitchFamily="2" charset="-122"/>
              <a:ea typeface="方正正黑简体" panose="02000000000000000000" pitchFamily="2" charset="-122"/>
              <a:cs typeface="+mn-ea"/>
              <a:sym typeface="+mn-lt"/>
            </a:endParaRPr>
          </a:p>
        </p:txBody>
      </p:sp>
      <p:sp>
        <p:nvSpPr>
          <p:cNvPr id="5" name="文本框 4"/>
          <p:cNvSpPr txBox="1"/>
          <p:nvPr/>
        </p:nvSpPr>
        <p:spPr>
          <a:xfrm>
            <a:off x="4955540" y="4088765"/>
            <a:ext cx="1825625" cy="962660"/>
          </a:xfrm>
          <a:prstGeom prst="rect">
            <a:avLst/>
          </a:prstGeom>
          <a:noFill/>
        </p:spPr>
        <p:txBody>
          <a:bodyPr wrap="square" rtlCol="0">
            <a:noAutofit/>
          </a:bodyPr>
          <a:lstStyle/>
          <a:p>
            <a:pPr algn="dist"/>
            <a:r>
              <a:rPr lang="en-US" altLang="zh-CN" sz="4800" spc="-300" dirty="0">
                <a:solidFill>
                  <a:schemeClr val="bg1">
                    <a:lumMod val="85000"/>
                  </a:schemeClr>
                </a:solidFill>
                <a:latin typeface="方正正黑简体" panose="02000000000000000000" pitchFamily="2" charset="-122"/>
                <a:ea typeface="方正正黑简体" panose="02000000000000000000" pitchFamily="2" charset="-122"/>
                <a:cs typeface="+mn-ea"/>
                <a:sym typeface="+mn-lt"/>
              </a:rPr>
              <a:t>Q&amp;A</a:t>
            </a:r>
            <a:endParaRPr lang="en-US" altLang="zh-CN" sz="4800" spc="-300" dirty="0">
              <a:solidFill>
                <a:schemeClr val="bg1">
                  <a:lumMod val="85000"/>
                </a:schemeClr>
              </a:solidFill>
              <a:latin typeface="方正正黑简体" panose="02000000000000000000" pitchFamily="2" charset="-122"/>
              <a:ea typeface="方正正黑简体" panose="02000000000000000000" pitchFamily="2" charset="-122"/>
              <a:cs typeface="+mn-ea"/>
              <a:sym typeface="+mn-lt"/>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timing>
    <p:tnLst>
      <p:par>
        <p:cTn id="1" dur="indefinite" restart="never" nodeType="tmRoot"/>
      </p:par>
    </p:tnLst>
    <p:bldLst>
      <p:bldP spid="2" grpId="0"/>
      <p:bldP spid="5" grpId="0"/>
    </p:bldLst>
  </p:timing>
</p:sld>
</file>

<file path=ppt/tags/tag1.xml><?xml version="1.0" encoding="utf-8"?>
<p:tagLst xmlns:p="http://schemas.openxmlformats.org/presentationml/2006/main">
  <p:tag name="TIMING" val="|0.1|0.4|0.7"/>
</p:tagLst>
</file>

<file path=ppt/tags/tag2.xml><?xml version="1.0" encoding="utf-8"?>
<p:tagLst xmlns:p="http://schemas.openxmlformats.org/presentationml/2006/main">
  <p:tag name="KSO_WM_DIAGRAM_VIRTUALLY_FRAME" val="{&quot;height&quot;:348.05,&quot;left&quot;:74.2,&quot;top&quot;:100.65,&quot;width&quot;:943}"/>
</p:tagLst>
</file>

<file path=ppt/tags/tag3.xml><?xml version="1.0" encoding="utf-8"?>
<p:tagLst xmlns:p="http://schemas.openxmlformats.org/presentationml/2006/main">
  <p:tag name="KSO_WM_UNIT_TYPE" val="l_h_i"/>
  <p:tag name="KSO_WM_UNIT_INDEX" val="1_1_1"/>
  <p:tag name="KSO_WM_BEAUTIFY_FLAG" val="#wm#"/>
  <p:tag name="KSO_WM_TAG_VERSION" val="3.0"/>
  <p:tag name="KSO_WM_DIAGRAM_VERSION" val="3"/>
  <p:tag name="KSO_WM_DIAGRAM_GROUP_CODE" val="l1-1"/>
  <p:tag name="KSO_WM_UNIT_ID" val="custom20236190_6*l_h_i*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93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4.xml><?xml version="1.0" encoding="utf-8"?>
<p:tagLst xmlns:p="http://schemas.openxmlformats.org/presentationml/2006/main">
  <p:tag name="KSO_WM_UNIT_TYPE" val="l_h_i"/>
  <p:tag name="KSO_WM_UNIT_SUBTYPE" val="d"/>
  <p:tag name="KSO_WM_UNIT_INDEX" val="1_1_2"/>
  <p:tag name="KSO_WM_BEAUTIFY_FLAG" val="#wm#"/>
  <p:tag name="KSO_WM_TAG_VERSION" val="3.0"/>
  <p:tag name="KSO_WM_DIAGRAM_VERSION" val="3"/>
  <p:tag name="KSO_WM_DIAGRAM_GROUP_CODE" val="l1-1"/>
  <p:tag name="KSO_WM_UNIT_ID" val="custom20236190_6*l_h_i*1_1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5.xml><?xml version="1.0" encoding="utf-8"?>
<p:tagLst xmlns:p="http://schemas.openxmlformats.org/presentationml/2006/main">
  <p:tag name="KSO_WM_UNIT_TYPE" val="l_h_f"/>
  <p:tag name="KSO_WM_UNIT_INDEX" val="1_1_1"/>
  <p:tag name="KSO_WM_BEAUTIFY_FLAG" val="#wm#"/>
  <p:tag name="KSO_WM_TAG_VERSION" val="3.0"/>
  <p:tag name="KSO_WM_DIAGRAM_VERSION" val="3"/>
  <p:tag name="KSO_WM_UNIT_PRESET_TEXT" val="单击添加目录项标题"/>
  <p:tag name="KSO_WM_DIAGRAM_GROUP_CODE" val="l1-1"/>
  <p:tag name="KSO_WM_UNIT_ID" val="custom20236190_6*l_h_f*1_1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UNIT_SUBTYPE" val="a"/>
  <p:tag name="KSO_WM_UNIT_VALUE" val="10"/>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6.xml><?xml version="1.0" encoding="utf-8"?>
<p:tagLst xmlns:p="http://schemas.openxmlformats.org/presentationml/2006/main">
  <p:tag name="KSO_WM_UNIT_TYPE" val="l_h_i"/>
  <p:tag name="KSO_WM_UNIT_INDEX" val="1_2_1"/>
  <p:tag name="KSO_WM_BEAUTIFY_FLAG" val="#wm#"/>
  <p:tag name="KSO_WM_TAG_VERSION" val="3.0"/>
  <p:tag name="KSO_WM_DIAGRAM_VERSION" val="3"/>
  <p:tag name="KSO_WM_DIAGRAM_GROUP_CODE" val="l1-1"/>
  <p:tag name="KSO_WM_UNIT_ID" val="custom20236190_6*l_h_i*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93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7.xml><?xml version="1.0" encoding="utf-8"?>
<p:tagLst xmlns:p="http://schemas.openxmlformats.org/presentationml/2006/main">
  <p:tag name="KSO_WM_UNIT_TYPE" val="l_h_i"/>
  <p:tag name="KSO_WM_UNIT_SUBTYPE" val="d"/>
  <p:tag name="KSO_WM_UNIT_INDEX" val="1_2_2"/>
  <p:tag name="KSO_WM_BEAUTIFY_FLAG" val="#wm#"/>
  <p:tag name="KSO_WM_TAG_VERSION" val="3.0"/>
  <p:tag name="KSO_WM_DIAGRAM_VERSION" val="3"/>
  <p:tag name="KSO_WM_DIAGRAM_GROUP_CODE" val="l1-1"/>
  <p:tag name="KSO_WM_UNIT_ID" val="custom20236190_6*l_h_i*1_2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8.xml><?xml version="1.0" encoding="utf-8"?>
<p:tagLst xmlns:p="http://schemas.openxmlformats.org/presentationml/2006/main">
  <p:tag name="KSO_WM_UNIT_TYPE" val="l_h_f"/>
  <p:tag name="KSO_WM_UNIT_INDEX" val="1_2_1"/>
  <p:tag name="KSO_WM_BEAUTIFY_FLAG" val="#wm#"/>
  <p:tag name="KSO_WM_TAG_VERSION" val="3.0"/>
  <p:tag name="KSO_WM_DIAGRAM_VERSION" val="3"/>
  <p:tag name="KSO_WM_UNIT_PRESET_TEXT" val="单击添加目录项标题"/>
  <p:tag name="KSO_WM_DIAGRAM_GROUP_CODE" val="l1-1"/>
  <p:tag name="KSO_WM_UNIT_ID" val="custom20236190_6*l_h_f*1_2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UNIT_SUBTYPE" val="a"/>
  <p:tag name="KSO_WM_UNIT_VALUE" val="10"/>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9.xml><?xml version="1.0" encoding="utf-8"?>
<p:tagLst xmlns:p="http://schemas.openxmlformats.org/presentationml/2006/main">
  <p:tag name="KSO_WM_UNIT_TYPE" val="l_h_i"/>
  <p:tag name="KSO_WM_UNIT_INDEX" val="1_3_1"/>
  <p:tag name="KSO_WM_BEAUTIFY_FLAG" val="#wm#"/>
  <p:tag name="KSO_WM_TAG_VERSION" val="3.0"/>
  <p:tag name="KSO_WM_DIAGRAM_VERSION" val="3"/>
  <p:tag name="KSO_WM_DIAGRAM_GROUP_CODE" val="l1-1"/>
  <p:tag name="KSO_WM_UNIT_ID" val="custom20236190_6*l_h_i*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93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10.xml><?xml version="1.0" encoding="utf-8"?>
<p:tagLst xmlns:p="http://schemas.openxmlformats.org/presentationml/2006/main">
  <p:tag name="KSO_WM_UNIT_TYPE" val="l_h_i"/>
  <p:tag name="KSO_WM_UNIT_SUBTYPE" val="d"/>
  <p:tag name="KSO_WM_UNIT_INDEX" val="1_3_2"/>
  <p:tag name="KSO_WM_BEAUTIFY_FLAG" val="#wm#"/>
  <p:tag name="KSO_WM_TAG_VERSION" val="3.0"/>
  <p:tag name="KSO_WM_DIAGRAM_VERSION" val="3"/>
  <p:tag name="KSO_WM_DIAGRAM_GROUP_CODE" val="l1-1"/>
  <p:tag name="KSO_WM_UNIT_ID" val="custom20236190_6*l_h_i*1_3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TYPE" val="l_h_f"/>
  <p:tag name="KSO_WM_UNIT_INDEX" val="1_3_1"/>
  <p:tag name="KSO_WM_BEAUTIFY_FLAG" val="#wm#"/>
  <p:tag name="KSO_WM_TAG_VERSION" val="3.0"/>
  <p:tag name="KSO_WM_DIAGRAM_VERSION" val="3"/>
  <p:tag name="KSO_WM_UNIT_PRESET_TEXT" val="单击添加目录项标题"/>
  <p:tag name="KSO_WM_DIAGRAM_GROUP_CODE" val="l1-1"/>
  <p:tag name="KSO_WM_UNIT_ID" val="custom20236190_6*l_h_f*1_3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UNIT_SUBTYPE" val="a"/>
  <p:tag name="KSO_WM_UNIT_VALUE" val="10"/>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2.xml><?xml version="1.0" encoding="utf-8"?>
<p:tagLst xmlns:p="http://schemas.openxmlformats.org/presentationml/2006/main">
  <p:tag name="KSO_WM_UNIT_TYPE" val="l_h_i"/>
  <p:tag name="KSO_WM_UNIT_INDEX" val="1_4_1"/>
  <p:tag name="KSO_WM_BEAUTIFY_FLAG" val="#wm#"/>
  <p:tag name="KSO_WM_TAG_VERSION" val="3.0"/>
  <p:tag name="KSO_WM_DIAGRAM_VERSION" val="3"/>
  <p:tag name="KSO_WM_DIAGRAM_GROUP_CODE" val="l1-1"/>
  <p:tag name="KSO_WM_UNIT_ID" val="custom20236190_6*l_h_i*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93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13.xml><?xml version="1.0" encoding="utf-8"?>
<p:tagLst xmlns:p="http://schemas.openxmlformats.org/presentationml/2006/main">
  <p:tag name="KSO_WM_UNIT_TYPE" val="l_h_i"/>
  <p:tag name="KSO_WM_UNIT_SUBTYPE" val="d"/>
  <p:tag name="KSO_WM_UNIT_INDEX" val="1_4_2"/>
  <p:tag name="KSO_WM_BEAUTIFY_FLAG" val="#wm#"/>
  <p:tag name="KSO_WM_TAG_VERSION" val="3.0"/>
  <p:tag name="KSO_WM_DIAGRAM_VERSION" val="3"/>
  <p:tag name="KSO_WM_DIAGRAM_GROUP_CODE" val="l1-1"/>
  <p:tag name="KSO_WM_UNIT_ID" val="custom20236190_6*l_h_i*1_4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TYPE" val="l_h_f"/>
  <p:tag name="KSO_WM_UNIT_INDEX" val="1_4_1"/>
  <p:tag name="KSO_WM_BEAUTIFY_FLAG" val="#wm#"/>
  <p:tag name="KSO_WM_TAG_VERSION" val="3.0"/>
  <p:tag name="KSO_WM_DIAGRAM_VERSION" val="3"/>
  <p:tag name="KSO_WM_UNIT_PRESET_TEXT" val="单击添加目录项标题"/>
  <p:tag name="KSO_WM_DIAGRAM_GROUP_CODE" val="l1-1"/>
  <p:tag name="KSO_WM_UNIT_ID" val="custom20236190_6*l_h_f*1_4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UNIT_SUBTYPE" val="a"/>
  <p:tag name="KSO_WM_UNIT_VALUE" val="10"/>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5.xml><?xml version="1.0" encoding="utf-8"?>
<p:tagLst xmlns:p="http://schemas.openxmlformats.org/presentationml/2006/main">
  <p:tag name="KSO_WM_UNIT_TYPE" val="l_h_i"/>
  <p:tag name="KSO_WM_UNIT_INDEX" val="1_5_1"/>
  <p:tag name="KSO_WM_BEAUTIFY_FLAG" val="#wm#"/>
  <p:tag name="KSO_WM_TAG_VERSION" val="3.0"/>
  <p:tag name="KSO_WM_DIAGRAM_VERSION" val="3"/>
  <p:tag name="KSO_WM_DIAGRAM_GROUP_CODE" val="l1-1"/>
  <p:tag name="KSO_WM_UNIT_ID" val="custom20236190_6*l_h_i*1_5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93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16.xml><?xml version="1.0" encoding="utf-8"?>
<p:tagLst xmlns:p="http://schemas.openxmlformats.org/presentationml/2006/main">
  <p:tag name="KSO_WM_UNIT_TYPE" val="l_h_i"/>
  <p:tag name="KSO_WM_UNIT_SUBTYPE" val="d"/>
  <p:tag name="KSO_WM_UNIT_INDEX" val="1_5_2"/>
  <p:tag name="KSO_WM_BEAUTIFY_FLAG" val="#wm#"/>
  <p:tag name="KSO_WM_TAG_VERSION" val="3.0"/>
  <p:tag name="KSO_WM_DIAGRAM_VERSION" val="3"/>
  <p:tag name="KSO_WM_DIAGRAM_GROUP_CODE" val="l1-1"/>
  <p:tag name="KSO_WM_UNIT_ID" val="custom20236190_6*l_h_i*1_5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17.xml><?xml version="1.0" encoding="utf-8"?>
<p:tagLst xmlns:p="http://schemas.openxmlformats.org/presentationml/2006/main">
  <p:tag name="KSO_WM_UNIT_TYPE" val="l_h_f"/>
  <p:tag name="KSO_WM_UNIT_INDEX" val="1_5_1"/>
  <p:tag name="KSO_WM_BEAUTIFY_FLAG" val="#wm#"/>
  <p:tag name="KSO_WM_TAG_VERSION" val="3.0"/>
  <p:tag name="KSO_WM_DIAGRAM_VERSION" val="3"/>
  <p:tag name="KSO_WM_UNIT_PRESET_TEXT" val="单击添加目录项标题"/>
  <p:tag name="KSO_WM_DIAGRAM_GROUP_CODE" val="l1-1"/>
  <p:tag name="KSO_WM_UNIT_ID" val="custom20236190_6*l_h_f*1_5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UNIT_SUBTYPE" val="a"/>
  <p:tag name="KSO_WM_UNIT_VALUE" val="10"/>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18.xml><?xml version="1.0" encoding="utf-8"?>
<p:tagLst xmlns:p="http://schemas.openxmlformats.org/presentationml/2006/main">
  <p:tag name="KSO_WM_UNIT_TYPE" val="l_h_i"/>
  <p:tag name="KSO_WM_UNIT_INDEX" val="1_6_1"/>
  <p:tag name="KSO_WM_BEAUTIFY_FLAG" val="#wm#"/>
  <p:tag name="KSO_WM_TAG_VERSION" val="3.0"/>
  <p:tag name="KSO_WM_DIAGRAM_VERSION" val="3"/>
  <p:tag name="KSO_WM_DIAGRAM_GROUP_CODE" val="l1-1"/>
  <p:tag name="KSO_WM_UNIT_ID" val="custom20236190_6*l_h_i*1_6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9300000071525574},&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13"/>
  <p:tag name="KSO_WM_UNIT_TEXT_FILL_TYPE" val="1"/>
  <p:tag name="KSO_WM_UNIT_USESOURCEFORMAT_APPLY" val="1"/>
</p:tagLst>
</file>

<file path=ppt/tags/tag19.xml><?xml version="1.0" encoding="utf-8"?>
<p:tagLst xmlns:p="http://schemas.openxmlformats.org/presentationml/2006/main">
  <p:tag name="KSO_WM_UNIT_TYPE" val="l_h_i"/>
  <p:tag name="KSO_WM_UNIT_SUBTYPE" val="d"/>
  <p:tag name="KSO_WM_UNIT_INDEX" val="1_6_2"/>
  <p:tag name="KSO_WM_BEAUTIFY_FLAG" val="#wm#"/>
  <p:tag name="KSO_WM_TAG_VERSION" val="3.0"/>
  <p:tag name="KSO_WM_DIAGRAM_VERSION" val="3"/>
  <p:tag name="KSO_WM_DIAGRAM_GROUP_CODE" val="l1-1"/>
  <p:tag name="KSO_WM_UNIT_ID" val="custom20236190_6*l_h_i*1_6_2"/>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FILL_TYPE" val="1"/>
  <p:tag name="KSO_WM_UNIT_TEXT_FILL_FORE_SCHEMECOLOR_INDEX" val="2"/>
  <p:tag name="KSO_WM_UNIT_TEXT_FILL_TYPE" val="1"/>
  <p:tag name="KSO_WM_UNIT_USESOURCEFORMAT_APPLY" val="1"/>
</p:tagLst>
</file>

<file path=ppt/tags/tag20.xml><?xml version="1.0" encoding="utf-8"?>
<p:tagLst xmlns:p="http://schemas.openxmlformats.org/presentationml/2006/main">
  <p:tag name="KSO_WM_UNIT_TYPE" val="l_h_f"/>
  <p:tag name="KSO_WM_UNIT_INDEX" val="1_6_1"/>
  <p:tag name="KSO_WM_BEAUTIFY_FLAG" val="#wm#"/>
  <p:tag name="KSO_WM_TAG_VERSION" val="3.0"/>
  <p:tag name="KSO_WM_DIAGRAM_VERSION" val="3"/>
  <p:tag name="KSO_WM_UNIT_PRESET_TEXT" val="单击添加目录项标题"/>
  <p:tag name="KSO_WM_DIAGRAM_GROUP_CODE" val="l1-1"/>
  <p:tag name="KSO_WM_UNIT_ID" val="custom20236190_6*l_h_f*1_6_1"/>
  <p:tag name="KSO_WM_UNIT_ISNUMDGMTITLE" val="0"/>
  <p:tag name="KSO_WM_UNIT_NOCLEAR" val="0"/>
  <p:tag name="KSO_WM_UNIT_HIGHLIGHT" val="0"/>
  <p:tag name="KSO_WM_UNIT_COMPATIBLE" val="0"/>
  <p:tag name="KSO_WM_UNIT_DIAGRAM_ISNUMVISUAL" val="0"/>
  <p:tag name="KSO_WM_UNIT_DIAGRAM_ISREFERUNIT" val="0"/>
  <p:tag name="KSO_WM_UNIT_LAYERLEVEL" val="1_1_1"/>
  <p:tag name="KSO_WM_TEMPLATE_INDEX" val="20236190"/>
  <p:tag name="KSO_WM_TEMPLATE_CATEGORY" val="custom"/>
  <p:tag name="KSO_WM_DIAGRAM_COLOR_TRICK" val="1"/>
  <p:tag name="KSO_WM_DIAGRAM_COLOR_TEXT_CAN_REMOVE" val="n"/>
  <p:tag name="KSO_WM_UNIT_SUBTYPE" val="a"/>
  <p:tag name="KSO_WM_UNIT_VALUE" val="10"/>
  <p:tag name="KSO_WM_DIAGRAM_MAX_ITEMCNT" val="6"/>
  <p:tag name="KSO_WM_DIAGRAM_MIN_ITEMCNT" val="2"/>
  <p:tag name="KSO_WM_DIAGRAM_VIRTUALLY_FRAME" val="{&quot;height&quot;:260.4172425183485,&quot;left&quot;:74.12503937007875,&quot;top&quot;:160.50291338582676,&quot;width&quot;:802.8830708661417}"/>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FILL_FORE_SCHEMECOLOR_INDEX" val="13"/>
  <p:tag name="KSO_WM_UNIT_TEXT_FILL_TYPE" val="1"/>
  <p:tag name="KSO_WM_UNIT_USESOURCEFORMAT_APPLY" val="1"/>
</p:tagLst>
</file>

<file path=ppt/tags/tag21.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2.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3.xml><?xml version="1.0" encoding="utf-8"?>
<p:tagLst xmlns:p="http://schemas.openxmlformats.org/presentationml/2006/main">
  <p:tag name="KSO_WM_DIAGRAM_VIRTUALLY_FRAME" val="{&quot;height&quot;:525.6255118110236,&quot;left&quot;:101.34173228346457,&quot;top&quot;:106.7075590551181,&quot;width&quot;:915.1505511811023}"/>
</p:tagLst>
</file>

<file path=ppt/tags/tag24.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5.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6.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7.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8.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29.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0.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1.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2.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3.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4.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5.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6.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7.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8.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39.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0.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1.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2.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3.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4.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5.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6.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7.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8.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49.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0.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1.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2.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3.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4.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5.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6.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7.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8.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59.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60.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61.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62.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63.xml><?xml version="1.0" encoding="utf-8"?>
<p:tagLst xmlns:p="http://schemas.openxmlformats.org/presentationml/2006/main">
  <p:tag name="KSO_WM_DIAGRAM_VIRTUALLY_FRAME" val="{&quot;height&quot;:525.6255118110236,&quot;left&quot;:41.39173228346457,&quot;top&quot;:106.7075590551181,&quot;width&quot;:975.1005511811023}"/>
</p:tagLst>
</file>

<file path=ppt/tags/tag64.xml><?xml version="1.0" encoding="utf-8"?>
<p:tagLst xmlns:p="http://schemas.openxmlformats.org/presentationml/2006/main">
  <p:tag name="TIMING" val="|0.3|0.4|0.3|0.4|0.3|0.3"/>
</p:tagLst>
</file>

<file path=ppt/tags/tag65.xml><?xml version="1.0" encoding="utf-8"?>
<p:tagLst xmlns:p="http://schemas.openxmlformats.org/presentationml/2006/main">
  <p:tag name="KSO_WM_DIAGRAM_VIRTUALLY_FRAME" val="{&quot;height&quot;:363.7674803149606,&quot;left&quot;:81.71409448818898,&quot;top&quot;:124.87488188976378,&quot;width&quot;:796.571811023622}"/>
</p:tagLst>
</file>

<file path=ppt/tags/tag66.xml><?xml version="1.0" encoding="utf-8"?>
<p:tagLst xmlns:p="http://schemas.openxmlformats.org/presentationml/2006/main">
  <p:tag name="KSO_WM_DIAGRAM_VIRTUALLY_FRAME" val="{&quot;height&quot;:384.0423622047243,&quot;left&quot;:81.7,&quot;top&quot;:104.6,&quot;width&quot;:796.585905511811}"/>
</p:tagLst>
</file>

<file path=ppt/tags/tag67.xml><?xml version="1.0" encoding="utf-8"?>
<p:tagLst xmlns:p="http://schemas.openxmlformats.org/presentationml/2006/main">
  <p:tag name="KSO_WM_DIAGRAM_VIRTUALLY_FRAME" val="{&quot;height&quot;:384.0423622047243,&quot;left&quot;:81.7,&quot;top&quot;:104.6,&quot;width&quot;:796.585905511811}"/>
</p:tagLst>
</file>

<file path=ppt/tags/tag68.xml><?xml version="1.0" encoding="utf-8"?>
<p:tagLst xmlns:p="http://schemas.openxmlformats.org/presentationml/2006/main">
  <p:tag name="KSO_WM_DIAGRAM_VIRTUALLY_FRAME" val="{&quot;height&quot;:384.0423622047243,&quot;left&quot;:81.7,&quot;top&quot;:104.6,&quot;width&quot;:796.585905511811}"/>
</p:tagLst>
</file>

<file path=ppt/tags/tag69.xml><?xml version="1.0" encoding="utf-8"?>
<p:tagLst xmlns:p="http://schemas.openxmlformats.org/presentationml/2006/main">
  <p:tag name="KSO_WM_DIAGRAM_VIRTUALLY_FRAME" val="{&quot;height&quot;:384.0423622047243,&quot;left&quot;:81.7,&quot;top&quot;:104.6,&quot;width&quot;:796.585905511811}"/>
</p:tagLst>
</file>

<file path=ppt/tags/tag70.xml><?xml version="1.0" encoding="utf-8"?>
<p:tagLst xmlns:p="http://schemas.openxmlformats.org/presentationml/2006/main">
  <p:tag name="KSO_WM_DIAGRAM_VIRTUALLY_FRAME" val="{&quot;height&quot;:384.0423622047243,&quot;left&quot;:81.7,&quot;top&quot;:104.6,&quot;width&quot;:796.585905511811}"/>
</p:tagLst>
</file>

<file path=ppt/tags/tag71.xml><?xml version="1.0" encoding="utf-8"?>
<p:tagLst xmlns:p="http://schemas.openxmlformats.org/presentationml/2006/main">
  <p:tag name="KSO_WM_DIAGRAM_VIRTUALLY_FRAME" val="{&quot;height&quot;:384.0423622047243,&quot;left&quot;:81.7,&quot;top&quot;:104.6,&quot;width&quot;:796.585905511811}"/>
</p:tagLst>
</file>

<file path=ppt/tags/tag72.xml><?xml version="1.0" encoding="utf-8"?>
<p:tagLst xmlns:p="http://schemas.openxmlformats.org/presentationml/2006/main">
  <p:tag name="KSO_WM_DIAGRAM_VIRTUALLY_FRAME" val="{&quot;height&quot;:384.0423622047243,&quot;left&quot;:81.7,&quot;top&quot;:104.6,&quot;width&quot;:796.585905511811}"/>
</p:tagLst>
</file>

<file path=ppt/tags/tag73.xml><?xml version="1.0" encoding="utf-8"?>
<p:tagLst xmlns:p="http://schemas.openxmlformats.org/presentationml/2006/main">
  <p:tag name="KSO_WM_DIAGRAM_VIRTUALLY_FRAME" val="{&quot;height&quot;:384.0423622047243,&quot;left&quot;:81.7,&quot;top&quot;:104.6,&quot;width&quot;:796.585905511811}"/>
</p:tagLst>
</file>

<file path=ppt/tags/tag74.xml><?xml version="1.0" encoding="utf-8"?>
<p:tagLst xmlns:p="http://schemas.openxmlformats.org/presentationml/2006/main">
  <p:tag name="KSO_WM_DIAGRAM_VIRTUALLY_FRAME" val="{&quot;height&quot;:384.0423622047243,&quot;left&quot;:81.7,&quot;top&quot;:104.6,&quot;width&quot;:796.585905511811}"/>
</p:tagLst>
</file>

<file path=ppt/tags/tag75.xml><?xml version="1.0" encoding="utf-8"?>
<p:tagLst xmlns:p="http://schemas.openxmlformats.org/presentationml/2006/main">
  <p:tag name="KSO_WM_DIAGRAM_VIRTUALLY_FRAME" val="{&quot;height&quot;:384.0423622047243,&quot;left&quot;:81.7,&quot;top&quot;:104.6,&quot;width&quot;:796.585905511811}"/>
</p:tagLst>
</file>

<file path=ppt/tags/tag76.xml><?xml version="1.0" encoding="utf-8"?>
<p:tagLst xmlns:p="http://schemas.openxmlformats.org/presentationml/2006/main">
  <p:tag name="TIMING" val="|0.4|0.6|0.5|0.5|0.5"/>
</p:tagLst>
</file>

<file path=ppt/tags/tag77.xml><?xml version="1.0" encoding="utf-8"?>
<p:tagLst xmlns:p="http://schemas.openxmlformats.org/presentationml/2006/main">
  <p:tag name="TIMING" val="|0.4|0.5|0.5|0.4|0.5|0.7|0.4|0.4|0.4|0.3|0.5"/>
</p:tagLst>
</file>

<file path=ppt/tags/tag78.xml><?xml version="1.0" encoding="utf-8"?>
<p:tagLst xmlns:p="http://schemas.openxmlformats.org/presentationml/2006/main">
  <p:tag name="KSO_WM_DIAGRAM_VIRTUALLY_FRAME" val="{&quot;height&quot;:510.8388188976378,&quot;left&quot;:51.131417322834636,&quot;top&quot;:106.39425196850394,&quot;width&quot;:963.7608661417322}"/>
</p:tagLst>
</file>

<file path=ppt/tags/tag79.xml><?xml version="1.0" encoding="utf-8"?>
<p:tagLst xmlns:p="http://schemas.openxmlformats.org/presentationml/2006/main">
  <p:tag name="KSO_WM_DIAGRAM_VIRTUALLY_FRAME" val="{&quot;height&quot;:510.8388188976378,&quot;left&quot;:51.131417322834636,&quot;top&quot;:116.14425196850394,&quot;width&quot;:963.7608661417322}"/>
</p:tagLst>
</file>

<file path=ppt/tags/tag80.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1.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2.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3.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4.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5.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6.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7.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8.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89.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0.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1.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2.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3.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4.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5.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6.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7.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8.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99.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0.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1.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2.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3.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4.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5.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6.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7.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8.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09.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0.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1.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2.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3.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4.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5.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6.xml><?xml version="1.0" encoding="utf-8"?>
<p:tagLst xmlns:p="http://schemas.openxmlformats.org/presentationml/2006/main">
  <p:tag name="KSO_WM_DIAGRAM_VIRTUALLY_FRAME" val="{&quot;height&quot;:510.8388188976378,&quot;left&quot;:27.63401574803147,&quot;top&quot;:106.39425196850394,&quot;width&quot;:987.2582677165352}"/>
</p:tagLst>
</file>

<file path=ppt/tags/tag117.xml><?xml version="1.0" encoding="utf-8"?>
<p:tagLst xmlns:p="http://schemas.openxmlformats.org/presentationml/2006/main">
  <p:tag name="TIMING" val="|0.3|0.4|0.5|0.5|0.5|0.5|0.5"/>
</p:tagLst>
</file>

<file path=ppt/tags/tag118.xml><?xml version="1.0" encoding="utf-8"?>
<p:tagLst xmlns:p="http://schemas.openxmlformats.org/presentationml/2006/main">
  <p:tag name="KSO_WM_DIAGRAM_VIRTUALLY_FRAME" val="{&quot;height&quot;:415,&quot;left&quot;:0,&quot;top&quot;:91.09999999999997,&quot;width&quot;:893.6660320926252}"/>
</p:tagLst>
</file>

<file path=ppt/tags/tag119.xml><?xml version="1.0" encoding="utf-8"?>
<p:tagLst xmlns:p="http://schemas.openxmlformats.org/presentationml/2006/main">
  <p:tag name="KSO_WM_DIAGRAM_VIRTUALLY_FRAME" val="{&quot;height&quot;:415,&quot;left&quot;:0,&quot;top&quot;:91.09999999999997,&quot;width&quot;:893.6660320926252}"/>
</p:tagLst>
</file>

<file path=ppt/tags/tag120.xml><?xml version="1.0" encoding="utf-8"?>
<p:tagLst xmlns:p="http://schemas.openxmlformats.org/presentationml/2006/main">
  <p:tag name="KSO_WM_DIAGRAM_VIRTUALLY_FRAME" val="{&quot;height&quot;:415,&quot;left&quot;:0,&quot;top&quot;:91.09999999999997,&quot;width&quot;:893.6660320926252}"/>
</p:tagLst>
</file>

<file path=ppt/tags/tag121.xml><?xml version="1.0" encoding="utf-8"?>
<p:tagLst xmlns:p="http://schemas.openxmlformats.org/presentationml/2006/main">
  <p:tag name="KSO_WM_DIAGRAM_VIRTUALLY_FRAME" val="{&quot;height&quot;:415,&quot;left&quot;:0,&quot;top&quot;:91.09999999999997,&quot;width&quot;:893.6660320926252}"/>
</p:tagLst>
</file>

<file path=ppt/tags/tag122.xml><?xml version="1.0" encoding="utf-8"?>
<p:tagLst xmlns:p="http://schemas.openxmlformats.org/presentationml/2006/main">
  <p:tag name="KSO_WM_DIAGRAM_VIRTUALLY_FRAME" val="{&quot;height&quot;:415,&quot;left&quot;:0,&quot;top&quot;:91.09999999999997,&quot;width&quot;:893.6660320926252}"/>
</p:tagLst>
</file>

<file path=ppt/tags/tag123.xml><?xml version="1.0" encoding="utf-8"?>
<p:tagLst xmlns:p="http://schemas.openxmlformats.org/presentationml/2006/main">
  <p:tag name="KSO_WM_DIAGRAM_VIRTUALLY_FRAME" val="{&quot;height&quot;:415,&quot;left&quot;:0,&quot;top&quot;:91.09999999999997,&quot;width&quot;:893.6660320926252}"/>
</p:tagLst>
</file>

<file path=ppt/tags/tag124.xml><?xml version="1.0" encoding="utf-8"?>
<p:tagLst xmlns:p="http://schemas.openxmlformats.org/presentationml/2006/main">
  <p:tag name="KSO_WM_DIAGRAM_VIRTUALLY_FRAME" val="{&quot;height&quot;:415,&quot;left&quot;:0,&quot;top&quot;:91.09999999999997,&quot;width&quot;:893.6660320926252}"/>
</p:tagLst>
</file>

<file path=ppt/tags/tag125.xml><?xml version="1.0" encoding="utf-8"?>
<p:tagLst xmlns:p="http://schemas.openxmlformats.org/presentationml/2006/main">
  <p:tag name="KSO_WM_DIAGRAM_VIRTUALLY_FRAME" val="{&quot;height&quot;:415,&quot;left&quot;:0,&quot;top&quot;:91.09999999999997,&quot;width&quot;:893.6660320926252}"/>
</p:tagLst>
</file>

<file path=ppt/tags/tag126.xml><?xml version="1.0" encoding="utf-8"?>
<p:tagLst xmlns:p="http://schemas.openxmlformats.org/presentationml/2006/main">
  <p:tag name="KSO_WM_DIAGRAM_VIRTUALLY_FRAME" val="{&quot;height&quot;:415,&quot;left&quot;:0,&quot;top&quot;:91.09999999999997,&quot;width&quot;:893.6660320926252}"/>
</p:tagLst>
</file>

<file path=ppt/tags/tag127.xml><?xml version="1.0" encoding="utf-8"?>
<p:tagLst xmlns:p="http://schemas.openxmlformats.org/presentationml/2006/main">
  <p:tag name="KSO_WM_DIAGRAM_VIRTUALLY_FRAME" val="{&quot;height&quot;:415,&quot;left&quot;:0,&quot;top&quot;:91.09999999999997,&quot;width&quot;:893.6660320926252}"/>
</p:tagLst>
</file>

<file path=ppt/tags/tag128.xml><?xml version="1.0" encoding="utf-8"?>
<p:tagLst xmlns:p="http://schemas.openxmlformats.org/presentationml/2006/main">
  <p:tag name="KSO_WM_DIAGRAM_VIRTUALLY_FRAME" val="{&quot;height&quot;:415,&quot;left&quot;:0,&quot;top&quot;:91.09999999999997,&quot;width&quot;:893.6660320926252}"/>
</p:tagLst>
</file>

<file path=ppt/tags/tag129.xml><?xml version="1.0" encoding="utf-8"?>
<p:tagLst xmlns:p="http://schemas.openxmlformats.org/presentationml/2006/main">
  <p:tag name="KSO_WM_DIAGRAM_VIRTUALLY_FRAME" val="{&quot;height&quot;:415,&quot;left&quot;:0,&quot;top&quot;:91.09999999999997,&quot;width&quot;:893.6660320926252}"/>
</p:tagLst>
</file>

<file path=ppt/tags/tag130.xml><?xml version="1.0" encoding="utf-8"?>
<p:tagLst xmlns:p="http://schemas.openxmlformats.org/presentationml/2006/main">
  <p:tag name="KSO_WM_DIAGRAM_VIRTUALLY_FRAME" val="{&quot;height&quot;:415,&quot;left&quot;:0,&quot;top&quot;:91.09999999999997,&quot;width&quot;:893.6660320926252}"/>
</p:tagLst>
</file>

<file path=ppt/tags/tag131.xml><?xml version="1.0" encoding="utf-8"?>
<p:tagLst xmlns:p="http://schemas.openxmlformats.org/presentationml/2006/main">
  <p:tag name="KSO_WM_DIAGRAM_VIRTUALLY_FRAME" val="{&quot;height&quot;:415,&quot;left&quot;:0,&quot;top&quot;:91.09999999999997,&quot;width&quot;:893.6660320926252}"/>
</p:tagLst>
</file>

<file path=ppt/tags/tag132.xml><?xml version="1.0" encoding="utf-8"?>
<p:tagLst xmlns:p="http://schemas.openxmlformats.org/presentationml/2006/main">
  <p:tag name="KSO_WM_DIAGRAM_VIRTUALLY_FRAME" val="{&quot;height&quot;:415,&quot;left&quot;:0,&quot;top&quot;:91.09999999999997,&quot;width&quot;:893.6660320926252}"/>
</p:tagLst>
</file>

<file path=ppt/tags/tag133.xml><?xml version="1.0" encoding="utf-8"?>
<p:tagLst xmlns:p="http://schemas.openxmlformats.org/presentationml/2006/main">
  <p:tag name="KSO_WM_DIAGRAM_VIRTUALLY_FRAME" val="{&quot;height&quot;:415,&quot;left&quot;:0,&quot;top&quot;:91.09999999999997,&quot;width&quot;:893.6660320926252}"/>
</p:tagLst>
</file>

<file path=ppt/tags/tag134.xml><?xml version="1.0" encoding="utf-8"?>
<p:tagLst xmlns:p="http://schemas.openxmlformats.org/presentationml/2006/main">
  <p:tag name="KSO_WM_DIAGRAM_VIRTUALLY_FRAME" val="{&quot;height&quot;:415,&quot;left&quot;:0,&quot;top&quot;:91.09999999999997,&quot;width&quot;:893.6660320926252}"/>
</p:tagLst>
</file>

<file path=ppt/tags/tag135.xml><?xml version="1.0" encoding="utf-8"?>
<p:tagLst xmlns:p="http://schemas.openxmlformats.org/presentationml/2006/main">
  <p:tag name="KSO_WM_DIAGRAM_VIRTUALLY_FRAME" val="{&quot;height&quot;:415,&quot;left&quot;:0,&quot;top&quot;:91.09999999999997,&quot;width&quot;:893.6660320926252}"/>
</p:tagLst>
</file>

<file path=ppt/tags/tag136.xml><?xml version="1.0" encoding="utf-8"?>
<p:tagLst xmlns:p="http://schemas.openxmlformats.org/presentationml/2006/main">
  <p:tag name="KSO_WM_DIAGRAM_VIRTUALLY_FRAME" val="{&quot;height&quot;:415,&quot;left&quot;:0,&quot;top&quot;:91.09999999999997,&quot;width&quot;:893.6660320926252}"/>
</p:tagLst>
</file>

<file path=ppt/tags/tag137.xml><?xml version="1.0" encoding="utf-8"?>
<p:tagLst xmlns:p="http://schemas.openxmlformats.org/presentationml/2006/main">
  <p:tag name="KSO_WM_DIAGRAM_VIRTUALLY_FRAME" val="{&quot;height&quot;:415,&quot;left&quot;:0,&quot;top&quot;:91.09999999999997,&quot;width&quot;:893.6660320926252}"/>
</p:tagLst>
</file>

<file path=ppt/tags/tag138.xml><?xml version="1.0" encoding="utf-8"?>
<p:tagLst xmlns:p="http://schemas.openxmlformats.org/presentationml/2006/main">
  <p:tag name="KSO_WM_DIAGRAM_VIRTUALLY_FRAME" val="{&quot;height&quot;:384.04236220472427,&quot;left&quot;:81.7,&quot;top&quot;:104.60000000000005,&quot;width&quot;:796.585905511811}"/>
</p:tagLst>
</file>

<file path=ppt/tags/tag139.xml><?xml version="1.0" encoding="utf-8"?>
<p:tagLst xmlns:p="http://schemas.openxmlformats.org/presentationml/2006/main">
  <p:tag name="KSO_WM_DIAGRAM_VIRTUALLY_FRAME" val="{&quot;height&quot;:415,&quot;left&quot;:0,&quot;top&quot;:91.09999999999997,&quot;width&quot;:893.6660320926252}"/>
</p:tagLst>
</file>

<file path=ppt/tags/tag140.xml><?xml version="1.0" encoding="utf-8"?>
<p:tagLst xmlns:p="http://schemas.openxmlformats.org/presentationml/2006/main">
  <p:tag name="KSO_WM_DIAGRAM_VIRTUALLY_FRAME" val="{&quot;height&quot;:415,&quot;left&quot;:0,&quot;top&quot;:91.09999999999997,&quot;width&quot;:893.6660320926252}"/>
</p:tagLst>
</file>

<file path=ppt/tags/tag141.xml><?xml version="1.0" encoding="utf-8"?>
<p:tagLst xmlns:p="http://schemas.openxmlformats.org/presentationml/2006/main">
  <p:tag name="KSO_WM_DIAGRAM_VIRTUALLY_FRAME" val="{&quot;height&quot;:415,&quot;left&quot;:0,&quot;top&quot;:91.09999999999997,&quot;width&quot;:893.6660320926252}"/>
</p:tagLst>
</file>

<file path=ppt/tags/tag142.xml><?xml version="1.0" encoding="utf-8"?>
<p:tagLst xmlns:p="http://schemas.openxmlformats.org/presentationml/2006/main">
  <p:tag name="KSO_WM_DIAGRAM_VIRTUALLY_FRAME" val="{&quot;height&quot;:384.04236220472427,&quot;left&quot;:81.7,&quot;top&quot;:104.60000000000005,&quot;width&quot;:796.585905511811}"/>
</p:tagLst>
</file>

<file path=ppt/tags/tag143.xml><?xml version="1.0" encoding="utf-8"?>
<p:tagLst xmlns:p="http://schemas.openxmlformats.org/presentationml/2006/main">
  <p:tag name="KSO_WM_DIAGRAM_VIRTUALLY_FRAME" val="{&quot;height&quot;:415,&quot;left&quot;:0,&quot;top&quot;:91.09999999999997,&quot;width&quot;:893.6660320926252}"/>
</p:tagLst>
</file>

<file path=ppt/tags/tag144.xml><?xml version="1.0" encoding="utf-8"?>
<p:tagLst xmlns:p="http://schemas.openxmlformats.org/presentationml/2006/main">
  <p:tag name="KSO_WM_DIAGRAM_VIRTUALLY_FRAME" val="{&quot;height&quot;:415,&quot;left&quot;:0,&quot;top&quot;:91.09999999999997,&quot;width&quot;:893.6660320926252}"/>
</p:tagLst>
</file>

<file path=ppt/tags/tag145.xml><?xml version="1.0" encoding="utf-8"?>
<p:tagLst xmlns:p="http://schemas.openxmlformats.org/presentationml/2006/main">
  <p:tag name="KSO_WM_DIAGRAM_VIRTUALLY_FRAME" val="{&quot;height&quot;:415,&quot;left&quot;:0,&quot;top&quot;:91.09999999999997,&quot;width&quot;:893.6660320926252}"/>
</p:tagLst>
</file>

<file path=ppt/tags/tag146.xml><?xml version="1.0" encoding="utf-8"?>
<p:tagLst xmlns:p="http://schemas.openxmlformats.org/presentationml/2006/main">
  <p:tag name="KSO_WM_DIAGRAM_VIRTUALLY_FRAME" val="{&quot;height&quot;:384.04236220472427,&quot;left&quot;:81.7,&quot;top&quot;:104.60000000000005,&quot;width&quot;:796.585905511811}"/>
</p:tagLst>
</file>

<file path=ppt/tags/tag147.xml><?xml version="1.0" encoding="utf-8"?>
<p:tagLst xmlns:p="http://schemas.openxmlformats.org/presentationml/2006/main">
  <p:tag name="KSO_WM_DIAGRAM_VIRTUALLY_FRAME" val="{&quot;height&quot;:415,&quot;left&quot;:0,&quot;top&quot;:91.09999999999997,&quot;width&quot;:893.6660320926252}"/>
</p:tagLst>
</file>

<file path=ppt/tags/tag148.xml><?xml version="1.0" encoding="utf-8"?>
<p:tagLst xmlns:p="http://schemas.openxmlformats.org/presentationml/2006/main">
  <p:tag name="KSO_WM_DIAGRAM_VIRTUALLY_FRAME" val="{&quot;height&quot;:415,&quot;left&quot;:0,&quot;top&quot;:91.09999999999997,&quot;width&quot;:893.6660320926252}"/>
</p:tagLst>
</file>

<file path=ppt/tags/tag149.xml><?xml version="1.0" encoding="utf-8"?>
<p:tagLst xmlns:p="http://schemas.openxmlformats.org/presentationml/2006/main">
  <p:tag name="KSO_WM_DIAGRAM_VIRTUALLY_FRAME" val="{&quot;height&quot;:415,&quot;left&quot;:0,&quot;top&quot;:91.09999999999997,&quot;width&quot;:893.6660320926252}"/>
</p:tagLst>
</file>

<file path=ppt/tags/tag150.xml><?xml version="1.0" encoding="utf-8"?>
<p:tagLst xmlns:p="http://schemas.openxmlformats.org/presentationml/2006/main">
  <p:tag name="KSO_WM_DIAGRAM_VIRTUALLY_FRAME" val="{&quot;height&quot;:384.04236220472427,&quot;left&quot;:81.7,&quot;top&quot;:104.60000000000005,&quot;width&quot;:796.585905511811}"/>
</p:tagLst>
</file>

<file path=ppt/tags/tag151.xml><?xml version="1.0" encoding="utf-8"?>
<p:tagLst xmlns:p="http://schemas.openxmlformats.org/presentationml/2006/main">
  <p:tag name="KSO_WM_DIAGRAM_VIRTUALLY_FRAME" val="{&quot;height&quot;:415,&quot;left&quot;:0,&quot;top&quot;:91.09999999999997,&quot;width&quot;:893.6660320926252}"/>
</p:tagLst>
</file>

<file path=ppt/tags/tag152.xml><?xml version="1.0" encoding="utf-8"?>
<p:tagLst xmlns:p="http://schemas.openxmlformats.org/presentationml/2006/main">
  <p:tag name="KSO_WM_DIAGRAM_VIRTUALLY_FRAME" val="{&quot;height&quot;:415,&quot;left&quot;:0,&quot;top&quot;:91.09999999999997,&quot;width&quot;:893.6660320926252}"/>
</p:tagLst>
</file>

<file path=ppt/tags/tag153.xml><?xml version="1.0" encoding="utf-8"?>
<p:tagLst xmlns:p="http://schemas.openxmlformats.org/presentationml/2006/main">
  <p:tag name="KSO_WM_DIAGRAM_VIRTUALLY_FRAME" val="{&quot;height&quot;:415,&quot;left&quot;:0,&quot;top&quot;:91.09999999999997,&quot;width&quot;:893.6660320926252}"/>
</p:tagLst>
</file>

<file path=ppt/tags/tag154.xml><?xml version="1.0" encoding="utf-8"?>
<p:tagLst xmlns:p="http://schemas.openxmlformats.org/presentationml/2006/main">
  <p:tag name="KSO_WM_DIAGRAM_VIRTUALLY_FRAME" val="{&quot;height&quot;:384.04236220472427,&quot;left&quot;:81.7,&quot;top&quot;:104.60000000000005,&quot;width&quot;:796.585905511811}"/>
</p:tagLst>
</file>

<file path=ppt/tags/tag155.xml><?xml version="1.0" encoding="utf-8"?>
<p:tagLst xmlns:p="http://schemas.openxmlformats.org/presentationml/2006/main">
  <p:tag name="KSO_WM_DIAGRAM_VIRTUALLY_FRAME" val="{&quot;height&quot;:415,&quot;left&quot;:0,&quot;top&quot;:91.09999999999997,&quot;width&quot;:893.6660320926252}"/>
</p:tagLst>
</file>

<file path=ppt/tags/tag156.xml><?xml version="1.0" encoding="utf-8"?>
<p:tagLst xmlns:p="http://schemas.openxmlformats.org/presentationml/2006/main">
  <p:tag name="KSO_WM_DIAGRAM_VIRTUALLY_FRAME" val="{&quot;height&quot;:415,&quot;left&quot;:0,&quot;top&quot;:91.09999999999997,&quot;width&quot;:893.6660320926252}"/>
</p:tagLst>
</file>

<file path=ppt/tags/tag157.xml><?xml version="1.0" encoding="utf-8"?>
<p:tagLst xmlns:p="http://schemas.openxmlformats.org/presentationml/2006/main">
  <p:tag name="KSO_WM_DIAGRAM_VIRTUALLY_FRAME" val="{&quot;height&quot;:415,&quot;left&quot;:0,&quot;top&quot;:91.09999999999997,&quot;width&quot;:893.6660320926252}"/>
</p:tagLst>
</file>

<file path=ppt/tags/tag158.xml><?xml version="1.0" encoding="utf-8"?>
<p:tagLst xmlns:p="http://schemas.openxmlformats.org/presentationml/2006/main">
  <p:tag name="KSO_WM_DIAGRAM_VIRTUALLY_FRAME" val="{&quot;height&quot;:384.04236220472427,&quot;left&quot;:81.7,&quot;top&quot;:104.60000000000005,&quot;width&quot;:796.585905511811}"/>
</p:tagLst>
</file>

<file path=ppt/tags/tag159.xml><?xml version="1.0" encoding="utf-8"?>
<p:tagLst xmlns:p="http://schemas.openxmlformats.org/presentationml/2006/main">
  <p:tag name="KSO_WM_DIAGRAM_VIRTUALLY_FRAME" val="{&quot;height&quot;:415,&quot;left&quot;:0,&quot;top&quot;:91.09999999999997,&quot;width&quot;:893.6660320926252}"/>
</p:tagLst>
</file>

<file path=ppt/tags/tag160.xml><?xml version="1.0" encoding="utf-8"?>
<p:tagLst xmlns:p="http://schemas.openxmlformats.org/presentationml/2006/main">
  <p:tag name="TIMING" val="|0.3|0.3|0.4|0.3|0.4|0.4|0.7|0.6|0.6|0.5|0.3"/>
</p:tagLst>
</file>

<file path=ppt/tags/tag161.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62.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63.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64.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65.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66.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67.xml><?xml version="1.0" encoding="utf-8"?>
<p:tagLst xmlns:p="http://schemas.openxmlformats.org/presentationml/2006/main">
  <p:tag name="KSO_WM_DIAGRAM_VIRTUALLY_FRAME" val="{&quot;height&quot;:406.05,&quot;left&quot;:0,&quot;top&quot;:100.05,&quot;width&quot;:878.2859055118109}"/>
</p:tagLst>
</file>

<file path=ppt/tags/tag168.xml><?xml version="1.0" encoding="utf-8"?>
<p:tagLst xmlns:p="http://schemas.openxmlformats.org/presentationml/2006/main">
  <p:tag name="TIMING" val="|0.3|0.3|0.4|0.3|0.4|0.4|0.7|0.6|0.6|0.5|0.3"/>
</p:tagLst>
</file>

<file path=ppt/tags/tag169.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70.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71.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72.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73.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74.xml><?xml version="1.0" encoding="utf-8"?>
<p:tagLst xmlns:p="http://schemas.openxmlformats.org/presentationml/2006/main">
  <p:tag name="KSO_WM_DIAGRAM_VIRTUALLY_FRAME" val="{&quot;height&quot;:383.9285039370079,&quot;left&quot;:50.1707874015748,&quot;top&quot;:104.04960629921258,&quot;width&quot;:412.2719685039371}"/>
</p:tagLst>
</file>

<file path=ppt/tags/tag175.xml><?xml version="1.0" encoding="utf-8"?>
<p:tagLst xmlns:p="http://schemas.openxmlformats.org/presentationml/2006/main">
  <p:tag name="KSO_WM_DIAGRAM_VIRTUALLY_FRAME" val="{&quot;height&quot;:406.05,&quot;left&quot;:0,&quot;top&quot;:100.05,&quot;width&quot;:878.2859055118109}"/>
</p:tagLst>
</file>

<file path=ppt/tags/tag176.xml><?xml version="1.0" encoding="utf-8"?>
<p:tagLst xmlns:p="http://schemas.openxmlformats.org/presentationml/2006/main">
  <p:tag name="TIMING" val="|0.3|0.3|0.4|0.3|0.4|0.4|0.7|0.6|0.6|0.5|0.3"/>
</p:tagLst>
</file>

<file path=ppt/tags/tag177.xml><?xml version="1.0" encoding="utf-8"?>
<p:tagLst xmlns:p="http://schemas.openxmlformats.org/presentationml/2006/main">
  <p:tag name="TIMING" val="|0.3|0.3|0.4|0.3|0.4|0.4|0.7|0.6|0.6|0.5|0.3"/>
</p:tagLst>
</file>

<file path=ppt/tags/tag178.xml><?xml version="1.0" encoding="utf-8"?>
<p:tagLst xmlns:p="http://schemas.openxmlformats.org/presentationml/2006/main">
  <p:tag name="TIMING" val="|0.4|0.5|0.5|0.4|0.5|0.7|0.4|0.4|0.4|0.3|0.5"/>
</p:tagLst>
</file>

<file path=ppt/tags/tag179.xml><?xml version="1.0" encoding="utf-8"?>
<p:tagLst xmlns:p="http://schemas.openxmlformats.org/presentationml/2006/main">
  <p:tag name="TIMING" val="|0.4|0.5|0.5|0.4|0.5|0.7|0.4|0.4|0.4|0.3|0.5"/>
</p:tagLst>
</file>

<file path=ppt/tags/tag180.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1.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2.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3.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4.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5.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6.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7.xml><?xml version="1.0" encoding="utf-8"?>
<p:tagLst xmlns:p="http://schemas.openxmlformats.org/presentationml/2006/main">
  <p:tag name="KSO_WM_DIAGRAM_VIRTUALLY_FRAME" val="{&quot;height&quot;:476.7703149606299,&quot;left&quot;:467.33795275590546,&quot;top&quot;:155.5627559055118,&quot;width&quot;:549.1543307086615}"/>
</p:tagLst>
</file>

<file path=ppt/tags/tag188.xml><?xml version="1.0" encoding="utf-8"?>
<p:tagLst xmlns:p="http://schemas.openxmlformats.org/presentationml/2006/main">
  <p:tag name="TIMING" val="|0.4|0.3|0.4|0.4|0.3|0.4|1|0.2|0.2"/>
</p:tagLst>
</file>

<file path=ppt/tags/tag189.xml><?xml version="1.0" encoding="utf-8"?>
<p:tagLst xmlns:p="http://schemas.openxmlformats.org/presentationml/2006/main">
  <p:tag name="TABLE_ENDDRAG_ORIGIN_RECT" val="795*342"/>
  <p:tag name="TABLE_ENDDRAG_RECT" val="64*114*795*342"/>
</p:tagLst>
</file>

<file path=ppt/tags/tag190.xml><?xml version="1.0" encoding="utf-8"?>
<p:tagLst xmlns:p="http://schemas.openxmlformats.org/presentationml/2006/main">
  <p:tag name="TIMING" val="|0.3|0.3|0.4|0.3|0.4|0.4|0.7|0.6|0.6|0.5|0.3"/>
</p:tagLst>
</file>

<file path=ppt/tags/tag191.xml><?xml version="1.0" encoding="utf-8"?>
<p:tagLst xmlns:p="http://schemas.openxmlformats.org/presentationml/2006/main">
  <p:tag name="TABLE_ENDDRAG_ORIGIN_RECT" val="469*183"/>
  <p:tag name="TABLE_ENDDRAG_RECT" val="208*142*469*183"/>
</p:tagLst>
</file>

<file path=ppt/tags/tag192.xml><?xml version="1.0" encoding="utf-8"?>
<p:tagLst xmlns:p="http://schemas.openxmlformats.org/presentationml/2006/main">
  <p:tag name="TIMING" val="|0.3|0.3|0.4|0.3|0.4|0.4|0.7|0.6|0.6|0.5|0.3"/>
</p:tagLst>
</file>

<file path=ppt/tags/tag193.xml><?xml version="1.0" encoding="utf-8"?>
<p:tagLst xmlns:p="http://schemas.openxmlformats.org/presentationml/2006/main">
  <p:tag name="TIMING" val="|0.4|0.5|0.5|0.4|0.5|0.7|0.4|0.4|0.4|0.3|0.5"/>
</p:tagLst>
</file>

<file path=ppt/tags/tag194.xml><?xml version="1.0" encoding="utf-8"?>
<p:tagLst xmlns:p="http://schemas.openxmlformats.org/presentationml/2006/main">
  <p:tag name="KSO_DOCER_RESOURCE_TRACE_INFO" val="{&quot;id&quot;:&quot;91812630&quot;,&quot;origin&quot;:0,&quot;type&quot;:&quot;pictures&quot;,&quot;user&quot;:&quot;1270059531&quot;}"/>
</p:tagLst>
</file>

<file path=ppt/tags/tag195.xml><?xml version="1.0" encoding="utf-8"?>
<p:tagLst xmlns:p="http://schemas.openxmlformats.org/presentationml/2006/main">
  <p:tag name="TIMING" val="|0.4|0.4|0.3|0.4|0.3|0.4|0.4|0.3|0.5|0.4|0.3|0.3|0.3"/>
</p:tagLst>
</file>

<file path=ppt/tags/tag196.xml><?xml version="1.0" encoding="utf-8"?>
<p:tagLst xmlns:p="http://schemas.openxmlformats.org/presentationml/2006/main">
  <p:tag name="TABLE_ENDDRAG_ORIGIN_RECT" val="811*256"/>
  <p:tag name="TABLE_ENDDRAG_RECT" val="68*123*811*256"/>
</p:tagLst>
</file>

<file path=ppt/tags/tag197.xml><?xml version="1.0" encoding="utf-8"?>
<p:tagLst xmlns:p="http://schemas.openxmlformats.org/presentationml/2006/main">
  <p:tag name="TIMING" val="|0.3|0.3|0.4|0.3|0.4|0.4|0.7|0.6|0.6|0.5|0.3"/>
</p:tagLst>
</file>

<file path=ppt/tags/tag198.xml><?xml version="1.0" encoding="utf-8"?>
<p:tagLst xmlns:p="http://schemas.openxmlformats.org/presentationml/2006/main">
  <p:tag name="TABLE_ENDDRAG_ORIGIN_RECT" val="596*307"/>
  <p:tag name="TABLE_ENDDRAG_RECT" val="186*175*596*307"/>
</p:tagLst>
</file>

<file path=ppt/tags/tag199.xml><?xml version="1.0" encoding="utf-8"?>
<p:tagLst xmlns:p="http://schemas.openxmlformats.org/presentationml/2006/main">
  <p:tag name="TIMING" val="|0.3|0.3|0.4|0.3|0.4|0.4|0.7|0.6|0.6|0.5|0.3"/>
</p:tagLst>
</file>

<file path=ppt/tags/tag200.xml><?xml version="1.0" encoding="utf-8"?>
<p:tagLst xmlns:p="http://schemas.openxmlformats.org/presentationml/2006/main">
  <p:tag name="TIMING" val="|0.4|0.5|0.5|0.4|0.5|0.7|0.4|0.4|0.4|0.3|0.5"/>
</p:tagLst>
</file>

<file path=ppt/tags/tag201.xml><?xml version="1.0" encoding="utf-8"?>
<p:tagLst xmlns:p="http://schemas.openxmlformats.org/presentationml/2006/main">
  <p:tag name="KSO_WM_DIAGRAM_VIRTUALLY_FRAME" val="{&quot;height&quot;:166.5684251968504,&quot;left&quot;:56.91803149606294,&quot;top&quot;:82.04787401574802,&quot;width&quot;:770.95}"/>
</p:tagLst>
</file>

<file path=ppt/tags/tag202.xml><?xml version="1.0" encoding="utf-8"?>
<p:tagLst xmlns:p="http://schemas.openxmlformats.org/presentationml/2006/main">
  <p:tag name="KSO_WM_DIAGRAM_VIRTUALLY_FRAME" val="{&quot;height&quot;:166.5684251968504,&quot;left&quot;:56.91803149606294,&quot;top&quot;:82.04787401574802,&quot;width&quot;:770.95}"/>
</p:tagLst>
</file>

<file path=ppt/tags/tag203.xml><?xml version="1.0" encoding="utf-8"?>
<p:tagLst xmlns:p="http://schemas.openxmlformats.org/presentationml/2006/main">
  <p:tag name="KSO_WM_DIAGRAM_VIRTUALLY_FRAME" val="{&quot;height&quot;:166.5684251968504,&quot;left&quot;:56.91803149606294,&quot;top&quot;:82.04787401574802,&quot;width&quot;:770.95}"/>
</p:tagLst>
</file>

<file path=ppt/tags/tag204.xml><?xml version="1.0" encoding="utf-8"?>
<p:tagLst xmlns:p="http://schemas.openxmlformats.org/presentationml/2006/main">
  <p:tag name="KSO_WM_DIAGRAM_VIRTUALLY_FRAME" val="{&quot;height&quot;:166.5684251968504,&quot;left&quot;:56.91803149606294,&quot;top&quot;:82.04787401574802,&quot;width&quot;:770.95}"/>
</p:tagLst>
</file>

<file path=ppt/tags/tag205.xml><?xml version="1.0" encoding="utf-8"?>
<p:tagLst xmlns:p="http://schemas.openxmlformats.org/presentationml/2006/main">
  <p:tag name="KSO_WM_DIAGRAM_VIRTUALLY_FRAME" val="{&quot;height&quot;:166.5684251968504,&quot;left&quot;:56.91803149606294,&quot;top&quot;:82.04787401574802,&quot;width&quot;:770.95}"/>
</p:tagLst>
</file>

<file path=ppt/tags/tag206.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07.xml><?xml version="1.0" encoding="utf-8"?>
<p:tagLst xmlns:p="http://schemas.openxmlformats.org/presentationml/2006/main">
  <p:tag name="KSO_WM_DIAGRAM_VIRTUALLY_FRAME" val="{&quot;height&quot;:166.5684251968504,&quot;left&quot;:56.91803149606294,&quot;top&quot;:82.04787401574802,&quot;width&quot;:770.95}"/>
</p:tagLst>
</file>

<file path=ppt/tags/tag208.xml><?xml version="1.0" encoding="utf-8"?>
<p:tagLst xmlns:p="http://schemas.openxmlformats.org/presentationml/2006/main">
  <p:tag name="KSO_WM_DIAGRAM_VIRTUALLY_FRAME" val="{&quot;height&quot;:166.5684251968504,&quot;left&quot;:56.91803149606294,&quot;top&quot;:82.04787401574802,&quot;width&quot;:770.95}"/>
</p:tagLst>
</file>

<file path=ppt/tags/tag209.xml><?xml version="1.0" encoding="utf-8"?>
<p:tagLst xmlns:p="http://schemas.openxmlformats.org/presentationml/2006/main">
  <p:tag name="KSO_WM_DIAGRAM_VIRTUALLY_FRAME" val="{&quot;height&quot;:166.5684251968504,&quot;left&quot;:56.91803149606294,&quot;top&quot;:82.04787401574802,&quot;width&quot;:770.95}"/>
</p:tagLst>
</file>

<file path=ppt/tags/tag210.xml><?xml version="1.0" encoding="utf-8"?>
<p:tagLst xmlns:p="http://schemas.openxmlformats.org/presentationml/2006/main">
  <p:tag name="KSO_WM_DIAGRAM_VIRTUALLY_FRAME" val="{&quot;height&quot;:166.5684251968504,&quot;left&quot;:56.91803149606294,&quot;top&quot;:82.04787401574802,&quot;width&quot;:770.95}"/>
</p:tagLst>
</file>

<file path=ppt/tags/tag211.xml><?xml version="1.0" encoding="utf-8"?>
<p:tagLst xmlns:p="http://schemas.openxmlformats.org/presentationml/2006/main">
  <p:tag name="KSO_WM_DIAGRAM_VIRTUALLY_FRAME" val="{&quot;height&quot;:166.5684251968504,&quot;left&quot;:56.91803149606294,&quot;top&quot;:82.04787401574802,&quot;width&quot;:770.95}"/>
</p:tagLst>
</file>

<file path=ppt/tags/tag212.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13.xml><?xml version="1.0" encoding="utf-8"?>
<p:tagLst xmlns:p="http://schemas.openxmlformats.org/presentationml/2006/main">
  <p:tag name="TIMING" val="|0.2|0.4|0.5|0.5|0.4|0.5|0.3|0.3|0.4|0.4"/>
</p:tagLst>
</file>

<file path=ppt/tags/tag214.xml><?xml version="1.0" encoding="utf-8"?>
<p:tagLst xmlns:p="http://schemas.openxmlformats.org/presentationml/2006/main">
  <p:tag name="TABLE_ENDDRAG_ORIGIN_RECT" val="625*350"/>
  <p:tag name="TABLE_ENDDRAG_RECT" val="174*125*625*351"/>
</p:tagLst>
</file>

<file path=ppt/tags/tag215.xml><?xml version="1.0" encoding="utf-8"?>
<p:tagLst xmlns:p="http://schemas.openxmlformats.org/presentationml/2006/main">
  <p:tag name="TIMING" val="|0.3|0.3|0.4|0.3|0.4|0.4|0.7|0.6|0.6|0.5|0.3"/>
</p:tagLst>
</file>

<file path=ppt/tags/tag216.xml><?xml version="1.0" encoding="utf-8"?>
<p:tagLst xmlns:p="http://schemas.openxmlformats.org/presentationml/2006/main">
  <p:tag name="TIMING" val="|0.4|0.5|0.5|0.4|0.5|0.7|0.4|0.4|0.4|0.3|0.5"/>
</p:tagLst>
</file>

<file path=ppt/tags/tag217.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18.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19.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20.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1.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2.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3.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4.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5.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6.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7.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8.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29.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30.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31.xml><?xml version="1.0" encoding="utf-8"?>
<p:tagLst xmlns:p="http://schemas.openxmlformats.org/presentationml/2006/main">
  <p:tag name="KSO_WM_DIAGRAM_VIRTUALLY_FRAME" val="{&quot;height&quot;:166.5684251968504,&quot;left&quot;:56.91803149606299,&quot;top&quot;:82.04787401574802,&quot;width&quot;:545.1541732283465}"/>
</p:tagLst>
</file>

<file path=ppt/tags/tag232.xml><?xml version="1.0" encoding="utf-8"?>
<p:tagLst xmlns:p="http://schemas.openxmlformats.org/presentationml/2006/main">
  <p:tag name="TIMING" val="|0.3|0.6|0.4|0.4"/>
</p:tagLst>
</file>

<file path=ppt/tags/tag233.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34.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35.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36.xml><?xml version="1.0" encoding="utf-8"?>
<p:tagLst xmlns:p="http://schemas.openxmlformats.org/presentationml/2006/main">
  <p:tag name="TIMING" val="|0.3|0.6|0.4|0.4"/>
</p:tagLst>
</file>

<file path=ppt/tags/tag237.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38.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39.xml><?xml version="1.0" encoding="utf-8"?>
<p:tagLst xmlns:p="http://schemas.openxmlformats.org/presentationml/2006/main">
  <p:tag name="KSO_WM_DIAGRAM_VIRTUALLY_FRAME" val="{&quot;height&quot;:475.0759055118109,&quot;left&quot;:88.60070866141731,&quot;top&quot;:157.2571653543307,&quot;width&quot;:927.8915748031498}"/>
</p:tagLst>
</file>

<file path=ppt/tags/tag240.xml><?xml version="1.0" encoding="utf-8"?>
<p:tagLst xmlns:p="http://schemas.openxmlformats.org/presentationml/2006/main">
  <p:tag name="TIMING" val="|0.3|0.6|0.4|0.4"/>
</p:tagLst>
</file>

<file path=ppt/tags/tag241.xml><?xml version="1.0" encoding="utf-8"?>
<p:tagLst xmlns:p="http://schemas.openxmlformats.org/presentationml/2006/main">
  <p:tag name="TIMING" val="|0.1|0.4|0.7"/>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jr2l3oxx">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4849</Words>
  <Application>WPS 演示</Application>
  <PresentationFormat>自定义</PresentationFormat>
  <Paragraphs>786</Paragraphs>
  <Slides>36</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36</vt:i4>
      </vt:variant>
    </vt:vector>
  </HeadingPairs>
  <TitlesOfParts>
    <vt:vector size="47" baseType="lpstr">
      <vt:lpstr>Arial</vt:lpstr>
      <vt:lpstr>宋体</vt:lpstr>
      <vt:lpstr>Wingdings</vt:lpstr>
      <vt:lpstr>方正正黑简体</vt:lpstr>
      <vt:lpstr>黑体</vt:lpstr>
      <vt:lpstr>微软雅黑</vt:lpstr>
      <vt:lpstr>Arial Unicode MS</vt:lpstr>
      <vt:lpstr>Calibri</vt:lpstr>
      <vt:lpstr>微软雅黑</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绿色圆点</dc:title>
  <dc:creator>第一PPT</dc:creator>
  <cp:keywords>www.1ppt.com</cp:keywords>
  <dc:description>www.1ppt.com</dc:description>
  <cp:lastModifiedBy>许愿</cp:lastModifiedBy>
  <cp:revision>206</cp:revision>
  <dcterms:created xsi:type="dcterms:W3CDTF">2021-02-23T03:25:00Z</dcterms:created>
  <dcterms:modified xsi:type="dcterms:W3CDTF">2026-07-31T13:39:15Z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2584AE0CD08D43CDBB7CF416C02DE64B_13</vt:lpwstr>
  </property>
</Properties>
</file>