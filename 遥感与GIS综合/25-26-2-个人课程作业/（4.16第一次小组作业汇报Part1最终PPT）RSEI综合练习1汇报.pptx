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2" r:id="rId3"/>
  </p:sldMasterIdLst>
  <p:notesMasterIdLst>
    <p:notesMasterId r:id="rId35"/>
  </p:notesMasterIdLst>
  <p:handoutMasterIdLst>
    <p:handoutMasterId r:id="rId36"/>
  </p:handoutMasterIdLst>
  <p:sldIdLst>
    <p:sldId id="256" r:id="rId4"/>
    <p:sldId id="257" r:id="rId5"/>
    <p:sldId id="267" r:id="rId6"/>
    <p:sldId id="269" r:id="rId7"/>
    <p:sldId id="270" r:id="rId8"/>
    <p:sldId id="280" r:id="rId9"/>
    <p:sldId id="273" r:id="rId10"/>
    <p:sldId id="274" r:id="rId11"/>
    <p:sldId id="271" r:id="rId12"/>
    <p:sldId id="301" r:id="rId13"/>
    <p:sldId id="275" r:id="rId14"/>
    <p:sldId id="297" r:id="rId15"/>
    <p:sldId id="287" r:id="rId16"/>
    <p:sldId id="288" r:id="rId17"/>
    <p:sldId id="298" r:id="rId18"/>
    <p:sldId id="283" r:id="rId19"/>
    <p:sldId id="289" r:id="rId20"/>
    <p:sldId id="291" r:id="rId21"/>
    <p:sldId id="302" r:id="rId22"/>
    <p:sldId id="285" r:id="rId23"/>
    <p:sldId id="310" r:id="rId24"/>
    <p:sldId id="311" r:id="rId25"/>
    <p:sldId id="312" r:id="rId26"/>
    <p:sldId id="303" r:id="rId27"/>
    <p:sldId id="304" r:id="rId28"/>
    <p:sldId id="305" r:id="rId29"/>
    <p:sldId id="306" r:id="rId30"/>
    <p:sldId id="307" r:id="rId31"/>
    <p:sldId id="308" r:id="rId32"/>
    <p:sldId id="299" r:id="rId33"/>
    <p:sldId id="264" r:id="rId34"/>
  </p:sldIdLst>
  <p:sldSz cx="12192000" cy="6858000"/>
  <p:notesSz cx="6858000" cy="9144000"/>
  <p:embeddedFontLst>
    <p:embeddedFont>
      <p:font typeface="方正博雅宋大字库" panose="02010600010101010101" charset="-122"/>
      <p:regular r:id="rId40"/>
    </p:embeddedFont>
    <p:embeddedFont>
      <p:font typeface="方正大黑体_GBK" panose="02010600010101010101" charset="-122"/>
      <p:regular r:id="rId41"/>
    </p:embeddedFont>
    <p:embeddedFont>
      <p:font typeface="Calibri" panose="020F0502020204030204"/>
      <p:regular r:id="rId42"/>
      <p:bold r:id="rId43"/>
      <p:italic r:id="rId44"/>
      <p:boldItalic r:id="rId45"/>
    </p:embeddedFont>
    <p:embeddedFont>
      <p:font typeface="方正黑体_GBK" panose="02010600010101010101" charset="-122"/>
      <p:regular r:id="rId46"/>
    </p:embeddedFont>
    <p:embeddedFont>
      <p:font typeface="微软雅黑" panose="020B0503020204020204" charset="-122"/>
      <p:regular r:id="rId47"/>
      <p:bold r:id="rId48"/>
    </p:embeddedFont>
    <p:embeddedFont>
      <p:font typeface="等线 Light" panose="02010600030101010101" charset="-122"/>
      <p:regular r:id="rId49"/>
    </p:embeddedFont>
    <p:embeddedFont>
      <p:font typeface="等线" panose="02010600030101010101" charset="-122"/>
      <p:regular r:id="rId50"/>
      <p:bold r:id="rId5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70A164F-C435-46E4-9CCE-EC1D4D46BFE0}"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6879BF31-7C25-4D48-A420-0E24B9F1932C}"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3D7315D1-750A-4E69-9FDA-305B792DB219}"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17E4E0FE-5B39-4C9A-9516-ADE8BFFB904D}"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p:scale>
          <a:sx n="66" d="100"/>
          <a:sy n="66" d="100"/>
        </p:scale>
        <p:origin x="2438"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font" Target="fonts/font12.fntdata"/><Relationship Id="rId50" Type="http://schemas.openxmlformats.org/officeDocument/2006/relationships/font" Target="fonts/font11.fntdata"/><Relationship Id="rId5" Type="http://schemas.openxmlformats.org/officeDocument/2006/relationships/slide" Target="slides/slide2.xml"/><Relationship Id="rId49" Type="http://schemas.openxmlformats.org/officeDocument/2006/relationships/font" Target="fonts/font10.fntdata"/><Relationship Id="rId48" Type="http://schemas.openxmlformats.org/officeDocument/2006/relationships/font" Target="fonts/font9.fntdata"/><Relationship Id="rId47" Type="http://schemas.openxmlformats.org/officeDocument/2006/relationships/font" Target="fonts/font8.fntdata"/><Relationship Id="rId46" Type="http://schemas.openxmlformats.org/officeDocument/2006/relationships/font" Target="fonts/font7.fntdata"/><Relationship Id="rId45" Type="http://schemas.openxmlformats.org/officeDocument/2006/relationships/font" Target="fonts/font6.fntdata"/><Relationship Id="rId44" Type="http://schemas.openxmlformats.org/officeDocument/2006/relationships/font" Target="fonts/font5.fntdata"/><Relationship Id="rId43" Type="http://schemas.openxmlformats.org/officeDocument/2006/relationships/font" Target="fonts/font4.fntdata"/><Relationship Id="rId42" Type="http://schemas.openxmlformats.org/officeDocument/2006/relationships/font" Target="fonts/font3.fntdata"/><Relationship Id="rId41" Type="http://schemas.openxmlformats.org/officeDocument/2006/relationships/font" Target="fonts/font2.fntdata"/><Relationship Id="rId40" Type="http://schemas.openxmlformats.org/officeDocument/2006/relationships/font" Target="fonts/font1.fntdata"/><Relationship Id="rId4" Type="http://schemas.openxmlformats.org/officeDocument/2006/relationships/slide" Target="slides/slide1.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notesMaster" Target="notesMasters/notes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方正博雅宋大字库" panose="0201060001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方正博雅宋大字库" panose="02010600010101010101" charset="-122"/>
              </a:rPr>
            </a:fld>
            <a:endParaRPr lang="zh-CN" altLang="en-US">
              <a:cs typeface="方正博雅宋大字库" panose="0201060001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方正博雅宋大字库" panose="0201060001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方正博雅宋大字库" panose="02010600010101010101" charset="-122"/>
              </a:rPr>
            </a:fld>
            <a:endParaRPr lang="zh-CN" altLang="en-US">
              <a:cs typeface="方正博雅宋大字库" panose="0201060001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方正博雅宋大字库" panose="0201060001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方正博雅宋大字库" panose="0201060001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方正博雅宋大字库" panose="0201060001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方正博雅宋大字库" panose="0201060001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方正博雅宋大字库" panose="02010600010101010101" charset="-122"/>
      </a:defRPr>
    </a:lvl1pPr>
    <a:lvl2pPr marL="457200" algn="l" defTabSz="914400" rtl="0" eaLnBrk="1" latinLnBrk="0" hangingPunct="1">
      <a:defRPr sz="1200" kern="1200">
        <a:solidFill>
          <a:schemeClr val="tx1"/>
        </a:solidFill>
        <a:latin typeface="+mn-lt"/>
        <a:ea typeface="+mn-ea"/>
        <a:cs typeface="方正博雅宋大字库" panose="02010600010101010101" charset="-122"/>
      </a:defRPr>
    </a:lvl2pPr>
    <a:lvl3pPr marL="914400" algn="l" defTabSz="914400" rtl="0" eaLnBrk="1" latinLnBrk="0" hangingPunct="1">
      <a:defRPr sz="1200" kern="1200">
        <a:solidFill>
          <a:schemeClr val="tx1"/>
        </a:solidFill>
        <a:latin typeface="+mn-lt"/>
        <a:ea typeface="+mn-ea"/>
        <a:cs typeface="方正博雅宋大字库" panose="02010600010101010101" charset="-122"/>
      </a:defRPr>
    </a:lvl3pPr>
    <a:lvl4pPr marL="1371600" algn="l" defTabSz="914400" rtl="0" eaLnBrk="1" latinLnBrk="0" hangingPunct="1">
      <a:defRPr sz="1200" kern="1200">
        <a:solidFill>
          <a:schemeClr val="tx1"/>
        </a:solidFill>
        <a:latin typeface="+mn-lt"/>
        <a:ea typeface="+mn-ea"/>
        <a:cs typeface="方正博雅宋大字库" panose="02010600010101010101" charset="-122"/>
      </a:defRPr>
    </a:lvl4pPr>
    <a:lvl5pPr marL="1828800" algn="l" defTabSz="914400" rtl="0" eaLnBrk="1" latinLnBrk="0" hangingPunct="1">
      <a:defRPr sz="1200" kern="1200">
        <a:solidFill>
          <a:schemeClr val="tx1"/>
        </a:solidFill>
        <a:latin typeface="+mn-lt"/>
        <a:ea typeface="+mn-ea"/>
        <a:cs typeface="方正博雅宋大字库" panose="0201060001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bg>
      <p:bgPr>
        <a:blipFill>
          <a:blip r:embed="rId2"/>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CB1525BC-3219-4293-A6AB-D6042AABD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C29B444-EC66-4CDB-8C26-38198194A101}"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cs typeface="方正博雅宋大字库" panose="02010600010101010101" charset="-122"/>
              </a:defRPr>
            </a:lvl1pPr>
          </a:lstStyle>
          <a:p>
            <a:fld id="{CB1525BC-3219-4293-A6AB-D6042AABD17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cs typeface="方正博雅宋大字库" panose="0201060001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cs typeface="方正博雅宋大字库" panose="02010600010101010101" charset="-122"/>
              </a:defRPr>
            </a:lvl1pPr>
          </a:lstStyle>
          <a:p>
            <a:fld id="{BC29B444-EC66-4CDB-8C26-38198194A10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方正博雅宋大字库" panose="0201060001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方正博雅宋大字库" panose="0201060001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方正博雅宋大字库" panose="0201060001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方正博雅宋大字库" panose="0201060001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方正博雅宋大字库" panose="0201060001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方正博雅宋大字库" panose="0201060001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cs typeface="方正博雅宋大字库" panose="02010600010101010101" charset="-122"/>
              </a:defRPr>
            </a:lvl1pPr>
          </a:lstStyle>
          <a:p>
            <a:fld id="{CB1525BC-3219-4293-A6AB-D6042AABD171}"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cs typeface="方正博雅宋大字库" panose="02010600010101010101" charset="-122"/>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cs typeface="方正博雅宋大字库" panose="02010600010101010101" charset="-122"/>
              </a:defRPr>
            </a:lvl1pPr>
          </a:lstStyle>
          <a:p>
            <a:fld id="{BC29B444-EC66-4CDB-8C26-38198194A10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方正博雅宋大字库" panose="02010600010101010101"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方正博雅宋大字库" panose="02010600010101010101"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方正博雅宋大字库" panose="02010600010101010101"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方正博雅宋大字库" panose="02010600010101010101"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方正博雅宋大字库" panose="02010600010101010101"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方正博雅宋大字库" panose="0201060001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0.png"/><Relationship Id="rId2" Type="http://schemas.openxmlformats.org/officeDocument/2006/relationships/tags" Target="../tags/tag1.xml"/><Relationship Id="rId13" Type="http://schemas.openxmlformats.org/officeDocument/2006/relationships/slideLayout" Target="../slideLayouts/slideLayout22.xml"/><Relationship Id="rId12" Type="http://schemas.openxmlformats.org/officeDocument/2006/relationships/image" Target="../media/image11.pn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image" Target="../media/image14.png"/><Relationship Id="rId5" Type="http://schemas.openxmlformats.org/officeDocument/2006/relationships/tags" Target="../tags/tag12.xml"/><Relationship Id="rId4" Type="http://schemas.openxmlformats.org/officeDocument/2006/relationships/image" Target="../media/image13.png"/><Relationship Id="rId3" Type="http://schemas.openxmlformats.org/officeDocument/2006/relationships/tags" Target="../tags/tag11.xml"/><Relationship Id="rId20" Type="http://schemas.openxmlformats.org/officeDocument/2006/relationships/slideLayout" Target="../slideLayouts/slideLayout22.xml"/><Relationship Id="rId2" Type="http://schemas.openxmlformats.org/officeDocument/2006/relationships/image" Target="../media/image12.png"/><Relationship Id="rId19" Type="http://schemas.openxmlformats.org/officeDocument/2006/relationships/image" Target="../media/image18.png"/><Relationship Id="rId18" Type="http://schemas.openxmlformats.org/officeDocument/2006/relationships/tags" Target="../tags/tag21.xml"/><Relationship Id="rId17" Type="http://schemas.openxmlformats.org/officeDocument/2006/relationships/image" Target="../media/image17.png"/><Relationship Id="rId16" Type="http://schemas.openxmlformats.org/officeDocument/2006/relationships/tags" Target="../tags/tag20.xml"/><Relationship Id="rId15" Type="http://schemas.openxmlformats.org/officeDocument/2006/relationships/image" Target="../media/image16.png"/><Relationship Id="rId14" Type="http://schemas.openxmlformats.org/officeDocument/2006/relationships/tags" Target="../tags/tag19.xml"/><Relationship Id="rId13" Type="http://schemas.openxmlformats.org/officeDocument/2006/relationships/image" Target="../media/image15.png"/><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1" Type="http://schemas.openxmlformats.org/officeDocument/2006/relationships/slideLayout" Target="../slideLayouts/slideLayout22.xml"/><Relationship Id="rId10" Type="http://schemas.openxmlformats.org/officeDocument/2006/relationships/image" Target="../media/image33.png"/><Relationship Id="rId1" Type="http://schemas.openxmlformats.org/officeDocument/2006/relationships/image" Target="../media/image2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image" Target="../media/image3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41.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42.png"/><Relationship Id="rId1"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image" Target="../media/image4.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image" Target="../media/image4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image" Target="../media/image4.png"/><Relationship Id="rId5" Type="http://schemas.openxmlformats.org/officeDocument/2006/relationships/image" Target="../media/image39.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3.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39.png"/><Relationship Id="rId2" Type="http://schemas.openxmlformats.org/officeDocument/2006/relationships/image" Target="../media/image4.png"/><Relationship Id="rId1" Type="http://schemas.openxmlformats.org/officeDocument/2006/relationships/image" Target="../media/image58.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59.png"/><Relationship Id="rId2" Type="http://schemas.openxmlformats.org/officeDocument/2006/relationships/image" Target="../media/image39.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60.png"/><Relationship Id="rId2" Type="http://schemas.openxmlformats.org/officeDocument/2006/relationships/image" Target="../media/image39.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53.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53.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22.xml"/><Relationship Id="rId1"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77.png"/><Relationship Id="rId1" Type="http://schemas.openxmlformats.org/officeDocument/2006/relationships/image" Target="../media/image76.png"/></Relationships>
</file>

<file path=ppt/slides/_rels/slide30.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image" Target="../media/image81.png"/><Relationship Id="rId7" Type="http://schemas.openxmlformats.org/officeDocument/2006/relationships/tags" Target="../tags/tag26.xml"/><Relationship Id="rId6" Type="http://schemas.openxmlformats.org/officeDocument/2006/relationships/image" Target="../media/image80.png"/><Relationship Id="rId5" Type="http://schemas.openxmlformats.org/officeDocument/2006/relationships/tags" Target="../tags/tag25.xml"/><Relationship Id="rId4" Type="http://schemas.openxmlformats.org/officeDocument/2006/relationships/image" Target="../media/image79.png"/><Relationship Id="rId3" Type="http://schemas.openxmlformats.org/officeDocument/2006/relationships/tags" Target="../tags/tag24.xml"/><Relationship Id="rId21" Type="http://schemas.openxmlformats.org/officeDocument/2006/relationships/slideLayout" Target="../slideLayouts/slideLayout22.xml"/><Relationship Id="rId20" Type="http://schemas.openxmlformats.org/officeDocument/2006/relationships/image" Target="../media/image4.png"/><Relationship Id="rId2" Type="http://schemas.openxmlformats.org/officeDocument/2006/relationships/image" Target="../media/image78.png"/><Relationship Id="rId19" Type="http://schemas.openxmlformats.org/officeDocument/2006/relationships/image" Target="../media/image39.png"/><Relationship Id="rId18" Type="http://schemas.openxmlformats.org/officeDocument/2006/relationships/tags" Target="../tags/tag34.xml"/><Relationship Id="rId17" Type="http://schemas.openxmlformats.org/officeDocument/2006/relationships/tags" Target="../tags/tag33.xml"/><Relationship Id="rId16" Type="http://schemas.openxmlformats.org/officeDocument/2006/relationships/image" Target="../media/image83.png"/><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image" Target="../media/image82.png"/><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3.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8" name="文本框 7"/>
          <p:cNvSpPr txBox="1"/>
          <p:nvPr/>
        </p:nvSpPr>
        <p:spPr>
          <a:xfrm>
            <a:off x="852805" y="2155825"/>
            <a:ext cx="10486390" cy="1014730"/>
          </a:xfrm>
          <a:prstGeom prst="rect">
            <a:avLst/>
          </a:prstGeom>
          <a:noFill/>
        </p:spPr>
        <p:txBody>
          <a:bodyPr wrap="square" rtlCol="0">
            <a:spAutoFit/>
          </a:bodyPr>
          <a:lstStyle/>
          <a:p>
            <a:pPr algn="ctr"/>
            <a:r>
              <a:rPr lang="en-US" sz="6000" b="1">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湖北省襄阳市生态环境质量</a:t>
            </a:r>
            <a:endParaRPr lang="en-US" altLang="en-US" sz="6000" b="1" spc="-300" dirty="0">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1" name="文本框 10"/>
          <p:cNvSpPr txBox="1"/>
          <p:nvPr/>
        </p:nvSpPr>
        <p:spPr>
          <a:xfrm>
            <a:off x="2247600" y="3106480"/>
            <a:ext cx="8019600" cy="1476375"/>
          </a:xfrm>
          <a:prstGeom prst="rect">
            <a:avLst/>
          </a:prstGeom>
          <a:noFill/>
        </p:spPr>
        <p:txBody>
          <a:bodyPr wrap="square" rtlCol="0">
            <a:spAutoFit/>
          </a:bodyPr>
          <a:lstStyle/>
          <a:p>
            <a:pPr algn="ctr"/>
            <a:r>
              <a:rPr lang="en-US" sz="6600" b="1">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       遥感监测</a:t>
            </a:r>
            <a:r>
              <a:rPr lang="en-US" sz="3200" b="1">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(2015-2025)</a:t>
            </a:r>
            <a:endParaRPr lang="en-US" sz="6600" b="1">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p>
            <a:pPr algn="ctr">
              <a:lnSpc>
                <a:spcPct val="30000"/>
              </a:lnSpc>
            </a:pPr>
            <a:r>
              <a:rPr lang="en-US" sz="8000" b="1">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 </a:t>
            </a:r>
            <a:r>
              <a:rPr lang="en-US" sz="2800" b="1">
                <a:solidFill>
                  <a:srgbClr val="64748B"/>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基于RSEI模型的动态评估与异常归因分析</a:t>
            </a:r>
            <a:endParaRPr lang="en-US" altLang="en-US" sz="2800" b="1" spc="-300" dirty="0">
              <a:solidFill>
                <a:srgbClr val="64748B"/>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5774" y="1600200"/>
            <a:ext cx="1240451" cy="38269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4465" y="3425825"/>
            <a:ext cx="9974580" cy="1242060"/>
          </a:xfrm>
          <a:prstGeom prst="rect">
            <a:avLst/>
          </a:prstGeom>
          <a:solidFill>
            <a:schemeClr val="bg1">
              <a:alpha val="5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方正博雅宋大字库" panose="02010600010101010101" charset="-122"/>
            </a:endParaRPr>
          </a:p>
        </p:txBody>
      </p:sp>
      <p:sp>
        <p:nvSpPr>
          <p:cNvPr id="6" name="文本框 5"/>
          <p:cNvSpPr txBox="1"/>
          <p:nvPr/>
        </p:nvSpPr>
        <p:spPr>
          <a:xfrm>
            <a:off x="4053600" y="2047961"/>
            <a:ext cx="4341600" cy="1323439"/>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章节</a:t>
            </a:r>
            <a:r>
              <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1</a:t>
            </a:r>
            <a:endPar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7" name="文本框 6"/>
          <p:cNvSpPr txBox="1"/>
          <p:nvPr/>
        </p:nvSpPr>
        <p:spPr>
          <a:xfrm>
            <a:off x="922655" y="3425190"/>
            <a:ext cx="11104880" cy="1322070"/>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项目概况与数据预处理</a:t>
            </a:r>
            <a:endParaRPr lang="zh-CN" altLang="en-US" sz="8000"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90800" y="1655109"/>
            <a:ext cx="1558145" cy="333477"/>
          </a:xfrm>
          <a:prstGeom prst="rect">
            <a:avLst/>
          </a:prstGeom>
        </p:spPr>
      </p:pic>
      <p:sp>
        <p:nvSpPr>
          <p:cNvPr id="10" name="文本框 9"/>
          <p:cNvSpPr txBox="1"/>
          <p:nvPr/>
        </p:nvSpPr>
        <p:spPr>
          <a:xfrm>
            <a:off x="5693410" y="1632585"/>
            <a:ext cx="1456055" cy="398780"/>
          </a:xfrm>
          <a:prstGeom prst="rect">
            <a:avLst/>
          </a:prstGeom>
          <a:noFill/>
        </p:spPr>
        <p:txBody>
          <a:bodyPr wrap="square" rtlCol="0">
            <a:spAutoFit/>
          </a:bodyPr>
          <a:lstStyle/>
          <a:p>
            <a:pPr algn="ctr"/>
            <a:r>
              <a:rPr lang="en-US" altLang="zh-CN"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EPISODE 1</a:t>
            </a:r>
            <a:endParaRPr lang="zh-CN" altLang="en-US"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85" name="Google Shape;85;p13"/>
          <p:cNvSpPr/>
          <p:nvPr/>
        </p:nvSpPr>
        <p:spPr>
          <a:xfrm>
            <a:off x="762000" y="1333500"/>
            <a:ext cx="932705" cy="2286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876300" y="1371600"/>
            <a:ext cx="704105"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1</a:t>
            </a:r>
            <a:endPar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p:nvPr/>
        </p:nvSpPr>
        <p:spPr>
          <a:xfrm>
            <a:off x="2611755" y="6598285"/>
            <a:ext cx="952500" cy="762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txBox="1"/>
          <p:nvPr/>
        </p:nvSpPr>
        <p:spPr>
          <a:xfrm>
            <a:off x="216108" y="6569710"/>
            <a:ext cx="2796331"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DYNAMIC ASSESSMENT // RSEI MODEL</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9" name="Google Shape;99;p14" descr="image.png"/>
          <p:cNvPicPr preferRelativeResize="0"/>
          <p:nvPr/>
        </p:nvPicPr>
        <p:blipFill rotWithShape="1">
          <a:blip r:embed="rId1"/>
          <a:srcRect/>
          <a:stretch>
            <a:fillRect/>
          </a:stretch>
        </p:blipFill>
        <p:spPr>
          <a:xfrm>
            <a:off x="6381750" y="1750665"/>
            <a:ext cx="5048250" cy="4286250"/>
          </a:xfrm>
          <a:prstGeom prst="rect">
            <a:avLst/>
          </a:prstGeom>
          <a:noFill/>
          <a:ln>
            <a:noFill/>
          </a:ln>
        </p:spPr>
      </p:pic>
      <p:sp>
        <p:nvSpPr>
          <p:cNvPr id="100" name="Google Shape;100;p14"/>
          <p:cNvSpPr txBox="1"/>
          <p:nvPr/>
        </p:nvSpPr>
        <p:spPr>
          <a:xfrm>
            <a:off x="762000" y="2486947"/>
            <a:ext cx="5048250" cy="8858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研究核心：</a:t>
            </a:r>
            <a:r>
              <a:rPr lang="en-US"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以襄阳市为研究区，重点监测近十年间的城市生态脉动。</a:t>
            </a:r>
            <a:endParaRPr lang="en-US"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01" name="Google Shape;101;p14" descr="image.png"/>
          <p:cNvPicPr preferRelativeResize="0"/>
          <p:nvPr/>
        </p:nvPicPr>
        <p:blipFill rotWithShape="1">
          <a:blip r:embed="rId2"/>
          <a:srcRect t="1719" b="1719"/>
          <a:stretch>
            <a:fillRect/>
          </a:stretch>
        </p:blipFill>
        <p:spPr>
          <a:xfrm>
            <a:off x="6496050" y="1864965"/>
            <a:ext cx="4819650" cy="4057650"/>
          </a:xfrm>
          <a:prstGeom prst="rect">
            <a:avLst/>
          </a:prstGeom>
          <a:noFill/>
          <a:ln w="19050">
            <a:solidFill>
              <a:srgbClr val="CCFF00"/>
            </a:solidFill>
          </a:ln>
        </p:spPr>
      </p:pic>
      <p:sp>
        <p:nvSpPr>
          <p:cNvPr id="102" name="Google Shape;102;p14"/>
          <p:cNvSpPr txBox="1"/>
          <p:nvPr/>
        </p:nvSpPr>
        <p:spPr>
          <a:xfrm>
            <a:off x="762000" y="3622327"/>
            <a:ext cx="5048250" cy="393700"/>
          </a:xfrm>
          <a:prstGeom prst="rect">
            <a:avLst/>
          </a:prstGeom>
          <a:noFill/>
          <a:ln>
            <a:noFill/>
          </a:ln>
        </p:spPr>
        <p:txBody>
          <a:bodyPr spcFirstLastPara="1" wrap="square" lIns="2434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城区扩张：</a:t>
            </a:r>
            <a:r>
              <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监测樊城区、襄城区等核心建成区的演变。</a:t>
            </a:r>
            <a:endPar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03" name="Google Shape;103;p14"/>
          <p:cNvSpPr txBox="1"/>
          <p:nvPr/>
        </p:nvSpPr>
        <p:spPr>
          <a:xfrm>
            <a:off x="762000" y="4070002"/>
            <a:ext cx="5048250" cy="393700"/>
          </a:xfrm>
          <a:prstGeom prst="rect">
            <a:avLst/>
          </a:prstGeom>
          <a:noFill/>
          <a:ln>
            <a:noFill/>
          </a:ln>
        </p:spPr>
        <p:txBody>
          <a:bodyPr spcFirstLastPara="1" wrap="square" lIns="2434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农田变化：</a:t>
            </a:r>
            <a:r>
              <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评估农业用地向非农用地的转型规模。</a:t>
            </a:r>
            <a:endPar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04" name="Google Shape;104;p14"/>
          <p:cNvSpPr txBox="1"/>
          <p:nvPr/>
        </p:nvSpPr>
        <p:spPr>
          <a:xfrm>
            <a:off x="762000" y="4517677"/>
            <a:ext cx="5048250" cy="393700"/>
          </a:xfrm>
          <a:prstGeom prst="rect">
            <a:avLst/>
          </a:prstGeom>
          <a:noFill/>
          <a:ln>
            <a:noFill/>
          </a:ln>
        </p:spPr>
        <p:txBody>
          <a:bodyPr spcFirstLastPara="1" wrap="square" lIns="243475" tIns="0" rIns="0" bIns="0" anchor="t" anchorCtr="0">
            <a:spAutoFit/>
          </a:bodyPr>
          <a:lstStyle/>
          <a:p>
            <a:pPr marL="0" marR="0" lvl="0" indent="0" algn="l" rtl="0">
              <a:lnSpc>
                <a:spcPct val="160000"/>
              </a:lnSpc>
              <a:spcBef>
                <a:spcPts val="0"/>
              </a:spcBef>
              <a:spcAft>
                <a:spcPts val="0"/>
              </a:spcAft>
              <a:buNone/>
            </a:pPr>
            <a:r>
              <a:rPr lang="en-US" sz="16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汉江环境：</a:t>
            </a:r>
            <a:r>
              <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专题分析汉江流域水体周边的热环境变化。</a:t>
            </a:r>
            <a:endParaRPr lang="en-US" sz="16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05" name="Google Shape;105;p14" descr="image.png"/>
          <p:cNvPicPr preferRelativeResize="0"/>
          <p:nvPr/>
        </p:nvPicPr>
        <p:blipFill rotWithShape="1">
          <a:blip r:embed="rId3"/>
          <a:srcRect/>
          <a:stretch>
            <a:fillRect/>
          </a:stretch>
        </p:blipFill>
        <p:spPr>
          <a:xfrm>
            <a:off x="762000" y="3665190"/>
            <a:ext cx="148232" cy="219075"/>
          </a:xfrm>
          <a:prstGeom prst="rect">
            <a:avLst/>
          </a:prstGeom>
          <a:noFill/>
          <a:ln>
            <a:noFill/>
          </a:ln>
        </p:spPr>
      </p:pic>
      <p:pic>
        <p:nvPicPr>
          <p:cNvPr id="106" name="Google Shape;106;p14" descr="image.png"/>
          <p:cNvPicPr preferRelativeResize="0"/>
          <p:nvPr/>
        </p:nvPicPr>
        <p:blipFill rotWithShape="1">
          <a:blip r:embed="rId3"/>
          <a:srcRect/>
          <a:stretch>
            <a:fillRect/>
          </a:stretch>
        </p:blipFill>
        <p:spPr>
          <a:xfrm>
            <a:off x="762000" y="4112865"/>
            <a:ext cx="148232" cy="219075"/>
          </a:xfrm>
          <a:prstGeom prst="rect">
            <a:avLst/>
          </a:prstGeom>
          <a:noFill/>
          <a:ln>
            <a:noFill/>
          </a:ln>
        </p:spPr>
      </p:pic>
      <p:pic>
        <p:nvPicPr>
          <p:cNvPr id="107" name="Google Shape;107;p14" descr="image.png"/>
          <p:cNvPicPr preferRelativeResize="0"/>
          <p:nvPr/>
        </p:nvPicPr>
        <p:blipFill rotWithShape="1">
          <a:blip r:embed="rId3"/>
          <a:srcRect/>
          <a:stretch>
            <a:fillRect/>
          </a:stretch>
        </p:blipFill>
        <p:spPr>
          <a:xfrm>
            <a:off x="762000" y="4560540"/>
            <a:ext cx="148232" cy="219075"/>
          </a:xfrm>
          <a:prstGeom prst="rect">
            <a:avLst/>
          </a:prstGeom>
          <a:noFill/>
          <a:ln>
            <a:noFill/>
          </a:ln>
        </p:spPr>
      </p:pic>
      <p:sp>
        <p:nvSpPr>
          <p:cNvPr id="108" name="Google Shape;108;p14"/>
          <p:cNvSpPr txBox="1"/>
          <p:nvPr/>
        </p:nvSpPr>
        <p:spPr>
          <a:xfrm>
            <a:off x="762000" y="57150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研究区域与目标</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09" name="Google Shape;109;p14"/>
          <p:cNvSpPr/>
          <p:nvPr/>
        </p:nvSpPr>
        <p:spPr>
          <a:xfrm>
            <a:off x="5810250" y="826740"/>
            <a:ext cx="571500" cy="381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0" name="Google Shape;110;p14"/>
          <p:cNvSpPr txBox="1"/>
          <p:nvPr/>
        </p:nvSpPr>
        <p:spPr>
          <a:xfrm>
            <a:off x="9372302" y="381000"/>
            <a:ext cx="1295697"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02 // STUDY AREA</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6" name="Google Shape;116;p15"/>
          <p:cNvGraphicFramePr/>
          <p:nvPr/>
        </p:nvGraphicFramePr>
        <p:xfrm>
          <a:off x="762000" y="2634555"/>
          <a:ext cx="10668000" cy="3000000"/>
        </p:xfrm>
        <a:graphic>
          <a:graphicData uri="http://schemas.openxmlformats.org/drawingml/2006/table">
            <a:tbl>
              <a:tblPr firstRow="1" bandRow="1">
                <a:noFill/>
                <a:tableStyleId>{270A164F-C435-46E4-9CCE-EC1D4D46BFE0}</a:tableStyleId>
              </a:tblPr>
              <a:tblGrid>
                <a:gridCol w="1686975"/>
                <a:gridCol w="4664125"/>
                <a:gridCol w="2050850"/>
                <a:gridCol w="2266050"/>
              </a:tblGrid>
              <a:tr h="541025">
                <a:tc>
                  <a:txBody>
                    <a:bodyPr/>
                    <a:lstStyle/>
                    <a:p>
                      <a:pPr marL="0" marR="0" lvl="0" indent="0" algn="l" rtl="0">
                        <a:spcBef>
                          <a:spcPts val="0"/>
                        </a:spcBef>
                        <a:spcAft>
                          <a:spcPts val="0"/>
                        </a:spcAft>
                        <a:buNone/>
                      </a:pPr>
                      <a:r>
                        <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观测年份</a:t>
                      </a:r>
                      <a:endPar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Landsat 产品 ID</a:t>
                      </a:r>
                      <a:endPar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影像日期</a:t>
                      </a:r>
                      <a:endPar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云量覆盖 (%)</a:t>
                      </a:r>
                      <a:endParaRPr lang="en-US" sz="1350" b="1" i="0" u="none" strike="noStrike" cap="none">
                        <a:solidFill>
                          <a:srgbClr val="FFFFF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r>
              <a:tr h="541025">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2023</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LC08_L2SP_124038_20230904</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2023/09/04</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10.78%</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41025">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2021</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LC08_L2SP_124038_20210930</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2021/09/30</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0.20%</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r>
              <a:tr h="541025">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2019</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LC08_L2SP_124038_20190909</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2019/09/09</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0.58%</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41025">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2015</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LC08_L2SP_124038_20150728</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2015/07/28</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c>
                  <a:txBody>
                    <a:bodyPr/>
                    <a:lstStyle/>
                    <a:p>
                      <a:pPr marL="0" marR="0" lvl="0" indent="0" algn="l" rtl="0">
                        <a:spcBef>
                          <a:spcPts val="0"/>
                        </a:spcBef>
                        <a:spcAft>
                          <a:spcPts val="0"/>
                        </a:spcAft>
                        <a:buNone/>
                      </a:pPr>
                      <a:r>
                        <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4.08%</a:t>
                      </a:r>
                      <a:endParaRPr lang="en-US" sz="135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AFB"/>
                    </a:solidFill>
                  </a:tcPr>
                </a:tc>
              </a:tr>
            </a:tbl>
          </a:graphicData>
        </a:graphic>
      </p:graphicFrame>
      <p:sp>
        <p:nvSpPr>
          <p:cNvPr id="117" name="Google Shape;117;p15"/>
          <p:cNvSpPr txBox="1"/>
          <p:nvPr/>
        </p:nvSpPr>
        <p:spPr>
          <a:xfrm>
            <a:off x="762000" y="5530155"/>
            <a:ext cx="3276600" cy="2132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050" b="0" i="1"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备注：2017年受云量影响选用4月影像作为辅助参考。</a:t>
            </a:r>
            <a:endParaRPr lang="en-US" sz="1050" b="0" i="1"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8" name="Google Shape;118;p15"/>
          <p:cNvSpPr txBox="1"/>
          <p:nvPr/>
        </p:nvSpPr>
        <p:spPr>
          <a:xfrm>
            <a:off x="762000" y="2044005"/>
            <a:ext cx="81724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质量控制策略：</a:t>
            </a: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锁定植被旺盛季 (6-9月)，选用 Landsat 8/9 L2SP 级别数据，确保波段反演精度。</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9" name="Google Shape;119;p15"/>
          <p:cNvSpPr/>
          <p:nvPr/>
        </p:nvSpPr>
        <p:spPr>
          <a:xfrm>
            <a:off x="762000" y="3696592"/>
            <a:ext cx="168696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5"/>
          <p:cNvSpPr/>
          <p:nvPr/>
        </p:nvSpPr>
        <p:spPr>
          <a:xfrm>
            <a:off x="2448966" y="3696592"/>
            <a:ext cx="466412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5"/>
          <p:cNvSpPr/>
          <p:nvPr/>
        </p:nvSpPr>
        <p:spPr>
          <a:xfrm>
            <a:off x="7113091" y="3696592"/>
            <a:ext cx="205085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15"/>
          <p:cNvSpPr/>
          <p:nvPr/>
        </p:nvSpPr>
        <p:spPr>
          <a:xfrm>
            <a:off x="9163942" y="3696592"/>
            <a:ext cx="2266057"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15"/>
          <p:cNvSpPr/>
          <p:nvPr/>
        </p:nvSpPr>
        <p:spPr>
          <a:xfrm>
            <a:off x="762000" y="4239517"/>
            <a:ext cx="168696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4" name="Google Shape;124;p15"/>
          <p:cNvSpPr/>
          <p:nvPr/>
        </p:nvSpPr>
        <p:spPr>
          <a:xfrm>
            <a:off x="2448966" y="4239517"/>
            <a:ext cx="466412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5" name="Google Shape;125;p15"/>
          <p:cNvSpPr/>
          <p:nvPr/>
        </p:nvSpPr>
        <p:spPr>
          <a:xfrm>
            <a:off x="7113091" y="4239517"/>
            <a:ext cx="205085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6" name="Google Shape;126;p15"/>
          <p:cNvSpPr/>
          <p:nvPr/>
        </p:nvSpPr>
        <p:spPr>
          <a:xfrm>
            <a:off x="9163942" y="4239517"/>
            <a:ext cx="2266057"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7" name="Google Shape;127;p15"/>
          <p:cNvSpPr/>
          <p:nvPr/>
        </p:nvSpPr>
        <p:spPr>
          <a:xfrm>
            <a:off x="762000" y="4782442"/>
            <a:ext cx="168696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8" name="Google Shape;128;p15"/>
          <p:cNvSpPr/>
          <p:nvPr/>
        </p:nvSpPr>
        <p:spPr>
          <a:xfrm>
            <a:off x="2448966" y="4782442"/>
            <a:ext cx="466412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9" name="Google Shape;129;p15"/>
          <p:cNvSpPr/>
          <p:nvPr/>
        </p:nvSpPr>
        <p:spPr>
          <a:xfrm>
            <a:off x="7113091" y="4782442"/>
            <a:ext cx="205085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0" name="Google Shape;130;p15"/>
          <p:cNvSpPr/>
          <p:nvPr/>
        </p:nvSpPr>
        <p:spPr>
          <a:xfrm>
            <a:off x="9163942" y="4782442"/>
            <a:ext cx="2266057"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1" name="Google Shape;131;p15"/>
          <p:cNvSpPr/>
          <p:nvPr/>
        </p:nvSpPr>
        <p:spPr>
          <a:xfrm>
            <a:off x="762000" y="5325367"/>
            <a:ext cx="168696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2" name="Google Shape;132;p15"/>
          <p:cNvSpPr/>
          <p:nvPr/>
        </p:nvSpPr>
        <p:spPr>
          <a:xfrm>
            <a:off x="2448966" y="5325367"/>
            <a:ext cx="466412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3" name="Google Shape;133;p15"/>
          <p:cNvSpPr/>
          <p:nvPr/>
        </p:nvSpPr>
        <p:spPr>
          <a:xfrm>
            <a:off x="7113091" y="5325367"/>
            <a:ext cx="205085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4" name="Google Shape;134;p15"/>
          <p:cNvSpPr/>
          <p:nvPr/>
        </p:nvSpPr>
        <p:spPr>
          <a:xfrm>
            <a:off x="9163942" y="5325367"/>
            <a:ext cx="2266057"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5" name="Google Shape;135;p15"/>
          <p:cNvSpPr txBox="1"/>
          <p:nvPr/>
        </p:nvSpPr>
        <p:spPr>
          <a:xfrm>
            <a:off x="762000" y="57150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数据源筛选标准</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36" name="Google Shape;136;p15"/>
          <p:cNvSpPr/>
          <p:nvPr/>
        </p:nvSpPr>
        <p:spPr>
          <a:xfrm>
            <a:off x="5810250" y="826740"/>
            <a:ext cx="571500" cy="381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7" name="Google Shape;137;p15"/>
          <p:cNvSpPr txBox="1"/>
          <p:nvPr/>
        </p:nvSpPr>
        <p:spPr>
          <a:xfrm>
            <a:off x="9277350" y="381000"/>
            <a:ext cx="13906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03 // DATA SOURCE</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 name="Google Shape;143;p16" descr="image.png"/>
          <p:cNvPicPr preferRelativeResize="0"/>
          <p:nvPr/>
        </p:nvPicPr>
        <p:blipFill rotWithShape="1">
          <a:blip r:embed="rId1"/>
          <a:srcRect/>
          <a:stretch>
            <a:fillRect/>
          </a:stretch>
        </p:blipFill>
        <p:spPr>
          <a:xfrm>
            <a:off x="762000" y="1312545"/>
            <a:ext cx="5048250" cy="5027295"/>
          </a:xfrm>
          <a:prstGeom prst="rect">
            <a:avLst/>
          </a:prstGeom>
          <a:noFill/>
          <a:ln>
            <a:noFill/>
          </a:ln>
        </p:spPr>
      </p:pic>
      <p:pic>
        <p:nvPicPr>
          <p:cNvPr id="144" name="Google Shape;144;p16" descr="image.png"/>
          <p:cNvPicPr preferRelativeResize="0"/>
          <p:nvPr>
            <p:custDataLst>
              <p:tags r:id="rId2"/>
            </p:custDataLst>
          </p:nvPr>
        </p:nvPicPr>
        <p:blipFill rotWithShape="1">
          <a:blip r:embed="rId3"/>
          <a:srcRect/>
          <a:stretch>
            <a:fillRect/>
          </a:stretch>
        </p:blipFill>
        <p:spPr>
          <a:xfrm>
            <a:off x="6381750" y="1501080"/>
            <a:ext cx="5048250" cy="1485900"/>
          </a:xfrm>
          <a:prstGeom prst="rect">
            <a:avLst/>
          </a:prstGeom>
          <a:noFill/>
          <a:ln>
            <a:noFill/>
          </a:ln>
        </p:spPr>
      </p:pic>
      <p:pic>
        <p:nvPicPr>
          <p:cNvPr id="145" name="Google Shape;145;p16" descr="image.png"/>
          <p:cNvPicPr preferRelativeResize="0"/>
          <p:nvPr>
            <p:custDataLst>
              <p:tags r:id="rId4"/>
            </p:custDataLst>
          </p:nvPr>
        </p:nvPicPr>
        <p:blipFill rotWithShape="1">
          <a:blip r:embed="rId3"/>
          <a:srcRect/>
          <a:stretch>
            <a:fillRect/>
          </a:stretch>
        </p:blipFill>
        <p:spPr>
          <a:xfrm>
            <a:off x="6381750" y="3177480"/>
            <a:ext cx="5048250" cy="1485900"/>
          </a:xfrm>
          <a:prstGeom prst="rect">
            <a:avLst/>
          </a:prstGeom>
          <a:noFill/>
          <a:ln>
            <a:noFill/>
          </a:ln>
        </p:spPr>
      </p:pic>
      <p:pic>
        <p:nvPicPr>
          <p:cNvPr id="146" name="Google Shape;146;p16" descr="image.png"/>
          <p:cNvPicPr preferRelativeResize="0"/>
          <p:nvPr>
            <p:custDataLst>
              <p:tags r:id="rId5"/>
            </p:custDataLst>
          </p:nvPr>
        </p:nvPicPr>
        <p:blipFill rotWithShape="1">
          <a:blip r:embed="rId3"/>
          <a:srcRect/>
          <a:stretch>
            <a:fillRect/>
          </a:stretch>
        </p:blipFill>
        <p:spPr>
          <a:xfrm>
            <a:off x="6381750" y="4853880"/>
            <a:ext cx="5048250" cy="1485900"/>
          </a:xfrm>
          <a:prstGeom prst="rect">
            <a:avLst/>
          </a:prstGeom>
          <a:noFill/>
          <a:ln>
            <a:noFill/>
          </a:ln>
        </p:spPr>
      </p:pic>
      <p:sp>
        <p:nvSpPr>
          <p:cNvPr id="148" name="Google Shape;148;p16"/>
          <p:cNvSpPr txBox="1"/>
          <p:nvPr>
            <p:custDataLst>
              <p:tags r:id="rId6"/>
            </p:custDataLst>
          </p:nvPr>
        </p:nvSpPr>
        <p:spPr>
          <a:xfrm>
            <a:off x="6667500" y="1739205"/>
            <a:ext cx="4750593"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STEP 01 预处理与因子反演</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49" name="Google Shape;149;p16"/>
          <p:cNvSpPr txBox="1"/>
          <p:nvPr>
            <p:custDataLst>
              <p:tags r:id="rId7"/>
            </p:custDataLst>
          </p:nvPr>
        </p:nvSpPr>
        <p:spPr>
          <a:xfrm>
            <a:off x="6667500" y="2139255"/>
            <a:ext cx="4524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对 Landsat 影像进行裁剪、合并。基于物理常数还原地表反射率与地温 (LST)。</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0" name="Google Shape;150;p16"/>
          <p:cNvSpPr txBox="1"/>
          <p:nvPr>
            <p:custDataLst>
              <p:tags r:id="rId8"/>
            </p:custDataLst>
          </p:nvPr>
        </p:nvSpPr>
        <p:spPr>
          <a:xfrm>
            <a:off x="6667500" y="3415605"/>
            <a:ext cx="4750593"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STEP 02 稳健归一化处理</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1" name="Google Shape;151;p16"/>
          <p:cNvSpPr txBox="1"/>
          <p:nvPr>
            <p:custDataLst>
              <p:tags r:id="rId9"/>
            </p:custDataLst>
          </p:nvPr>
        </p:nvSpPr>
        <p:spPr>
          <a:xfrm>
            <a:off x="6667500" y="3815655"/>
            <a:ext cx="4524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采用 1%—99% 百分位裁断归一化，剔除高亮地物或大气伪影产生的异常极值点。</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2" name="Google Shape;152;p16"/>
          <p:cNvSpPr txBox="1"/>
          <p:nvPr>
            <p:custDataLst>
              <p:tags r:id="rId10"/>
            </p:custDataLst>
          </p:nvPr>
        </p:nvSpPr>
        <p:spPr>
          <a:xfrm>
            <a:off x="6667500" y="5092005"/>
            <a:ext cx="4750593"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STEP 03 PCA 主成分构建</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3" name="Google Shape;153;p16"/>
          <p:cNvSpPr txBox="1"/>
          <p:nvPr>
            <p:custDataLst>
              <p:tags r:id="rId11"/>
            </p:custDataLst>
          </p:nvPr>
        </p:nvSpPr>
        <p:spPr>
          <a:xfrm>
            <a:off x="6667500" y="5492055"/>
            <a:ext cx="4524375"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通过 ENVI 进行 PCA 旋转，提取代表生态质量的 PC1，并进行二次归一化得到 RSEI。</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4" name="Google Shape;154;p16"/>
          <p:cNvSpPr txBox="1"/>
          <p:nvPr/>
        </p:nvSpPr>
        <p:spPr>
          <a:xfrm>
            <a:off x="762000" y="57150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技术路径总览</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55" name="Google Shape;155;p16"/>
          <p:cNvSpPr/>
          <p:nvPr/>
        </p:nvSpPr>
        <p:spPr>
          <a:xfrm>
            <a:off x="5810250" y="826740"/>
            <a:ext cx="571500" cy="38100"/>
          </a:xfrm>
          <a:prstGeom prst="rect">
            <a:avLst/>
          </a:prstGeom>
          <a:solidFill>
            <a:srgbClr val="CCFF00"/>
          </a:solidFill>
          <a:ln>
            <a:solidFill>
              <a:srgbClr val="CCFF00"/>
            </a:solid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6" name="Google Shape;156;p16"/>
          <p:cNvSpPr txBox="1"/>
          <p:nvPr/>
        </p:nvSpPr>
        <p:spPr>
          <a:xfrm>
            <a:off x="9181951" y="381000"/>
            <a:ext cx="1486048"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04 // METHODOLOGY</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3" name="图片 2"/>
          <p:cNvPicPr/>
          <p:nvPr/>
        </p:nvPicPr>
        <p:blipFill>
          <a:blip r:embed="rId12"/>
          <a:stretch>
            <a:fillRect/>
          </a:stretch>
        </p:blipFill>
        <p:spPr>
          <a:xfrm>
            <a:off x="923290" y="1461135"/>
            <a:ext cx="4726305" cy="4730115"/>
          </a:xfrm>
          <a:prstGeom prst="rect">
            <a:avLst/>
          </a:prstGeom>
          <a:ln w="19050">
            <a:solidFill>
              <a:srgbClr val="CCFF00"/>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4465" y="3425825"/>
            <a:ext cx="9974580" cy="1242060"/>
          </a:xfrm>
          <a:prstGeom prst="rect">
            <a:avLst/>
          </a:prstGeom>
          <a:solidFill>
            <a:schemeClr val="bg1">
              <a:alpha val="5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方正博雅宋大字库" panose="02010600010101010101" charset="-122"/>
            </a:endParaRPr>
          </a:p>
        </p:txBody>
      </p:sp>
      <p:sp>
        <p:nvSpPr>
          <p:cNvPr id="6" name="文本框 5"/>
          <p:cNvSpPr txBox="1"/>
          <p:nvPr/>
        </p:nvSpPr>
        <p:spPr>
          <a:xfrm>
            <a:off x="4053600" y="2047961"/>
            <a:ext cx="4341600" cy="1322070"/>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章节</a:t>
            </a:r>
            <a:r>
              <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2</a:t>
            </a:r>
            <a:endPar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7" name="文本框 6"/>
          <p:cNvSpPr txBox="1"/>
          <p:nvPr/>
        </p:nvSpPr>
        <p:spPr>
          <a:xfrm>
            <a:off x="922655" y="3425190"/>
            <a:ext cx="11104880" cy="1322070"/>
          </a:xfrm>
          <a:prstGeom prst="rect">
            <a:avLst/>
          </a:prstGeom>
          <a:noFill/>
        </p:spPr>
        <p:txBody>
          <a:bodyPr wrap="square" rtlCol="0">
            <a:spAutoFit/>
          </a:bodyPr>
          <a:lstStyle/>
          <a:p>
            <a:pPr algn="ctr"/>
            <a:r>
              <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因子提取与关键算法</a:t>
            </a:r>
            <a:endPar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90800" y="1655109"/>
            <a:ext cx="1558145" cy="333477"/>
          </a:xfrm>
          <a:prstGeom prst="rect">
            <a:avLst/>
          </a:prstGeom>
        </p:spPr>
      </p:pic>
      <p:sp>
        <p:nvSpPr>
          <p:cNvPr id="10" name="文本框 9"/>
          <p:cNvSpPr txBox="1"/>
          <p:nvPr/>
        </p:nvSpPr>
        <p:spPr>
          <a:xfrm>
            <a:off x="5693410" y="1632585"/>
            <a:ext cx="1456055" cy="398780"/>
          </a:xfrm>
          <a:prstGeom prst="rect">
            <a:avLst/>
          </a:prstGeom>
          <a:noFill/>
        </p:spPr>
        <p:txBody>
          <a:bodyPr wrap="square" rtlCol="0">
            <a:spAutoFit/>
          </a:bodyPr>
          <a:lstStyle/>
          <a:p>
            <a:pPr algn="ctr"/>
            <a:r>
              <a:rPr lang="en-US" altLang="zh-CN"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EPISODE 2</a:t>
            </a:r>
            <a:endParaRPr lang="zh-CN" altLang="en-US"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85" name="Google Shape;85;p13"/>
          <p:cNvSpPr/>
          <p:nvPr/>
        </p:nvSpPr>
        <p:spPr>
          <a:xfrm>
            <a:off x="762000" y="1333500"/>
            <a:ext cx="932705" cy="2286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876300" y="1371600"/>
            <a:ext cx="704105" cy="161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2</a:t>
            </a:r>
            <a:endPar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p:nvPr/>
        </p:nvSpPr>
        <p:spPr>
          <a:xfrm>
            <a:off x="2611755" y="6598285"/>
            <a:ext cx="952500" cy="762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txBox="1"/>
          <p:nvPr/>
        </p:nvSpPr>
        <p:spPr>
          <a:xfrm>
            <a:off x="216108" y="6569710"/>
            <a:ext cx="2796331"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DYNAMIC ASSESSMENT // RSEI MODEL</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5" name="Google Shape;85;p13" descr="image.png"/>
          <p:cNvPicPr preferRelativeResize="0"/>
          <p:nvPr>
            <p:custDataLst>
              <p:tags r:id="rId1"/>
            </p:custDataLst>
          </p:nvPr>
        </p:nvPicPr>
        <p:blipFill rotWithShape="1">
          <a:blip r:embed="rId2"/>
          <a:srcRect/>
          <a:stretch>
            <a:fillRect/>
          </a:stretch>
        </p:blipFill>
        <p:spPr>
          <a:xfrm>
            <a:off x="762000" y="2997993"/>
            <a:ext cx="5095875" cy="2290762"/>
          </a:xfrm>
          <a:prstGeom prst="rect">
            <a:avLst/>
          </a:prstGeom>
          <a:noFill/>
          <a:ln>
            <a:noFill/>
          </a:ln>
        </p:spPr>
      </p:pic>
      <p:pic>
        <p:nvPicPr>
          <p:cNvPr id="86" name="Google Shape;86;p13" descr="image.png"/>
          <p:cNvPicPr preferRelativeResize="0"/>
          <p:nvPr>
            <p:custDataLst>
              <p:tags r:id="rId3"/>
            </p:custDataLst>
          </p:nvPr>
        </p:nvPicPr>
        <p:blipFill rotWithShape="1">
          <a:blip r:embed="rId4"/>
          <a:srcRect/>
          <a:stretch>
            <a:fillRect/>
          </a:stretch>
        </p:blipFill>
        <p:spPr>
          <a:xfrm>
            <a:off x="6334125" y="3000375"/>
            <a:ext cx="5095875" cy="2286000"/>
          </a:xfrm>
          <a:prstGeom prst="rect">
            <a:avLst/>
          </a:prstGeom>
          <a:noFill/>
          <a:ln>
            <a:noFill/>
          </a:ln>
        </p:spPr>
      </p:pic>
      <p:pic>
        <p:nvPicPr>
          <p:cNvPr id="87" name="Google Shape;87;p13" descr="image.png"/>
          <p:cNvPicPr preferRelativeResize="0"/>
          <p:nvPr>
            <p:custDataLst>
              <p:tags r:id="rId5"/>
            </p:custDataLst>
          </p:nvPr>
        </p:nvPicPr>
        <p:blipFill rotWithShape="1">
          <a:blip r:embed="rId6"/>
          <a:srcRect/>
          <a:stretch>
            <a:fillRect/>
          </a:stretch>
        </p:blipFill>
        <p:spPr>
          <a:xfrm>
            <a:off x="1047750" y="4426743"/>
            <a:ext cx="4524375" cy="576262"/>
          </a:xfrm>
          <a:prstGeom prst="rect">
            <a:avLst/>
          </a:prstGeom>
          <a:noFill/>
          <a:ln>
            <a:noFill/>
          </a:ln>
        </p:spPr>
      </p:pic>
      <p:pic>
        <p:nvPicPr>
          <p:cNvPr id="88" name="Google Shape;88;p13" descr="image.png"/>
          <p:cNvPicPr preferRelativeResize="0"/>
          <p:nvPr>
            <p:custDataLst>
              <p:tags r:id="rId7"/>
            </p:custDataLst>
          </p:nvPr>
        </p:nvPicPr>
        <p:blipFill rotWithShape="1">
          <a:blip r:embed="rId6"/>
          <a:srcRect/>
          <a:stretch>
            <a:fillRect/>
          </a:stretch>
        </p:blipFill>
        <p:spPr>
          <a:xfrm>
            <a:off x="6619875" y="4429125"/>
            <a:ext cx="4524375" cy="571500"/>
          </a:xfrm>
          <a:prstGeom prst="rect">
            <a:avLst/>
          </a:prstGeom>
          <a:noFill/>
          <a:ln>
            <a:noFill/>
          </a:ln>
        </p:spPr>
      </p:pic>
      <p:sp>
        <p:nvSpPr>
          <p:cNvPr id="89" name="Google Shape;89;p13"/>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0" name="Google Shape;90;p13"/>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FACTOR EXTRACTION 01</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91" name="Google Shape;91;p13"/>
          <p:cNvSpPr txBox="1"/>
          <p:nvPr>
            <p:custDataLst>
              <p:tags r:id="rId8"/>
            </p:custDataLst>
          </p:nvPr>
        </p:nvSpPr>
        <p:spPr>
          <a:xfrm>
            <a:off x="1320849" y="3321843"/>
            <a:ext cx="4463839" cy="30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绿度因子 (NDVI)</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txBox="1"/>
          <p:nvPr>
            <p:custDataLst>
              <p:tags r:id="rId9"/>
            </p:custDataLst>
          </p:nvPr>
        </p:nvSpPr>
        <p:spPr>
          <a:xfrm>
            <a:off x="1047750" y="3769518"/>
            <a:ext cx="4524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归一化植被指数。通过近红外与红光波段的比值运算，精准表征研究区植被覆盖度与生长活力。</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3" name="Google Shape;93;p13"/>
          <p:cNvSpPr txBox="1"/>
          <p:nvPr>
            <p:custDataLst>
              <p:tags r:id="rId10"/>
            </p:custDataLst>
          </p:nvPr>
        </p:nvSpPr>
        <p:spPr>
          <a:xfrm>
            <a:off x="6892974" y="3324225"/>
            <a:ext cx="4463839" cy="30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湿度因子 (WET)</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4" name="Google Shape;94;p13"/>
          <p:cNvSpPr txBox="1"/>
          <p:nvPr>
            <p:custDataLst>
              <p:tags r:id="rId11"/>
            </p:custDataLst>
          </p:nvPr>
        </p:nvSpPr>
        <p:spPr>
          <a:xfrm>
            <a:off x="6619875" y="3771900"/>
            <a:ext cx="4524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基于缨帽变换 (Tasseled Cap) 的湿度分量。选用 Baig (2014) 推导的 Landsat 8 系数，反映土壤与植被水分。</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95" name="Google Shape;95;p13" descr="image.png"/>
          <p:cNvPicPr preferRelativeResize="0"/>
          <p:nvPr>
            <p:custDataLst>
              <p:tags r:id="rId12"/>
            </p:custDataLst>
          </p:nvPr>
        </p:nvPicPr>
        <p:blipFill rotWithShape="1">
          <a:blip r:embed="rId13"/>
          <a:srcRect/>
          <a:stretch>
            <a:fillRect/>
          </a:stretch>
        </p:blipFill>
        <p:spPr>
          <a:xfrm>
            <a:off x="1047750" y="3359943"/>
            <a:ext cx="177849" cy="228600"/>
          </a:xfrm>
          <a:prstGeom prst="rect">
            <a:avLst/>
          </a:prstGeom>
          <a:noFill/>
          <a:ln>
            <a:noFill/>
          </a:ln>
        </p:spPr>
      </p:pic>
      <p:pic>
        <p:nvPicPr>
          <p:cNvPr id="96" name="Google Shape;96;p13" descr="image.png"/>
          <p:cNvPicPr preferRelativeResize="0"/>
          <p:nvPr>
            <p:custDataLst>
              <p:tags r:id="rId14"/>
            </p:custDataLst>
          </p:nvPr>
        </p:nvPicPr>
        <p:blipFill rotWithShape="1">
          <a:blip r:embed="rId15"/>
          <a:srcRect/>
          <a:stretch>
            <a:fillRect/>
          </a:stretch>
        </p:blipFill>
        <p:spPr>
          <a:xfrm>
            <a:off x="1247775" y="4647307"/>
            <a:ext cx="1031676" cy="155674"/>
          </a:xfrm>
          <a:prstGeom prst="rect">
            <a:avLst/>
          </a:prstGeom>
          <a:noFill/>
          <a:ln>
            <a:noFill/>
          </a:ln>
        </p:spPr>
      </p:pic>
      <p:pic>
        <p:nvPicPr>
          <p:cNvPr id="97" name="Google Shape;97;p13" descr="image.png"/>
          <p:cNvPicPr preferRelativeResize="0"/>
          <p:nvPr>
            <p:custDataLst>
              <p:tags r:id="rId16"/>
            </p:custDataLst>
          </p:nvPr>
        </p:nvPicPr>
        <p:blipFill rotWithShape="1">
          <a:blip r:embed="rId17"/>
          <a:srcRect/>
          <a:stretch>
            <a:fillRect/>
          </a:stretch>
        </p:blipFill>
        <p:spPr>
          <a:xfrm>
            <a:off x="6619875" y="3362325"/>
            <a:ext cx="177849" cy="228600"/>
          </a:xfrm>
          <a:prstGeom prst="rect">
            <a:avLst/>
          </a:prstGeom>
          <a:noFill/>
          <a:ln>
            <a:noFill/>
          </a:ln>
        </p:spPr>
      </p:pic>
      <p:pic>
        <p:nvPicPr>
          <p:cNvPr id="98" name="Google Shape;98;p13" descr="image.png"/>
          <p:cNvPicPr preferRelativeResize="0"/>
          <p:nvPr>
            <p:custDataLst>
              <p:tags r:id="rId18"/>
            </p:custDataLst>
          </p:nvPr>
        </p:nvPicPr>
        <p:blipFill rotWithShape="1">
          <a:blip r:embed="rId19"/>
          <a:srcRect/>
          <a:stretch>
            <a:fillRect/>
          </a:stretch>
        </p:blipFill>
        <p:spPr>
          <a:xfrm>
            <a:off x="6819900" y="4648200"/>
            <a:ext cx="1675655" cy="152400"/>
          </a:xfrm>
          <a:prstGeom prst="rect">
            <a:avLst/>
          </a:prstGeom>
          <a:noFill/>
          <a:ln>
            <a:noFill/>
          </a:ln>
        </p:spPr>
      </p:pic>
      <p:sp>
        <p:nvSpPr>
          <p:cNvPr id="99" name="Google Shape;99;p13"/>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绿度因子与湿度因子</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00" name="Google Shape;100;p13"/>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 name="Google Shape;101;p13"/>
          <p:cNvSpPr txBox="1"/>
          <p:nvPr/>
        </p:nvSpPr>
        <p:spPr>
          <a:xfrm>
            <a:off x="8929687" y="381000"/>
            <a:ext cx="250031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REF: BAIG_2014 // LANDSAT_TRANSFORM</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7" name="Google Shape;107;p14" descr="image.png"/>
          <p:cNvPicPr preferRelativeResize="0"/>
          <p:nvPr/>
        </p:nvPicPr>
        <p:blipFill rotWithShape="1">
          <a:blip r:embed="rId1"/>
          <a:srcRect/>
          <a:stretch>
            <a:fillRect/>
          </a:stretch>
        </p:blipFill>
        <p:spPr>
          <a:xfrm>
            <a:off x="762000" y="2997993"/>
            <a:ext cx="5095875" cy="2290762"/>
          </a:xfrm>
          <a:prstGeom prst="rect">
            <a:avLst/>
          </a:prstGeom>
          <a:noFill/>
          <a:ln>
            <a:noFill/>
          </a:ln>
        </p:spPr>
      </p:pic>
      <p:pic>
        <p:nvPicPr>
          <p:cNvPr id="108" name="Google Shape;108;p14" descr="image.png"/>
          <p:cNvPicPr preferRelativeResize="0"/>
          <p:nvPr/>
        </p:nvPicPr>
        <p:blipFill rotWithShape="1">
          <a:blip r:embed="rId2"/>
          <a:srcRect/>
          <a:stretch>
            <a:fillRect/>
          </a:stretch>
        </p:blipFill>
        <p:spPr>
          <a:xfrm>
            <a:off x="6334125" y="3000375"/>
            <a:ext cx="5095875" cy="2286000"/>
          </a:xfrm>
          <a:prstGeom prst="rect">
            <a:avLst/>
          </a:prstGeom>
          <a:noFill/>
          <a:ln>
            <a:noFill/>
          </a:ln>
        </p:spPr>
      </p:pic>
      <p:sp>
        <p:nvSpPr>
          <p:cNvPr id="109" name="Google Shape;109;p14"/>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0" name="Google Shape;110;p14"/>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FACTOR EXTRACTION 02</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11" name="Google Shape;111;p14"/>
          <p:cNvSpPr txBox="1"/>
          <p:nvPr/>
        </p:nvSpPr>
        <p:spPr>
          <a:xfrm>
            <a:off x="1320849" y="3321843"/>
            <a:ext cx="4463839" cy="30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干度因子 (NDBSI)</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2" name="Google Shape;112;p14"/>
          <p:cNvSpPr txBox="1"/>
          <p:nvPr/>
        </p:nvSpPr>
        <p:spPr>
          <a:xfrm>
            <a:off x="1047750" y="3769518"/>
            <a:ext cx="4524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归一化建筑裸土指数。合并了 IBI (建筑用地指数) 与 SI (裸土指数)，反映地表“干度”负效应。</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3" name="Google Shape;113;p14"/>
          <p:cNvSpPr txBox="1"/>
          <p:nvPr/>
        </p:nvSpPr>
        <p:spPr>
          <a:xfrm>
            <a:off x="6892974" y="3324225"/>
            <a:ext cx="4463839" cy="3048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热度因子 (LST)</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4" name="Google Shape;114;p14"/>
          <p:cNvSpPr txBox="1"/>
          <p:nvPr/>
        </p:nvSpPr>
        <p:spPr>
          <a:xfrm>
            <a:off x="6619875" y="3771900"/>
            <a:ext cx="45243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地表温度。利用 ST_B10 热红外波段，通过辐射亮度转化与大气校正还原得到绝对温度 (℃)。</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15" name="Google Shape;115;p14" descr="image.png"/>
          <p:cNvPicPr preferRelativeResize="0"/>
          <p:nvPr/>
        </p:nvPicPr>
        <p:blipFill rotWithShape="1">
          <a:blip r:embed="rId3"/>
          <a:srcRect/>
          <a:stretch>
            <a:fillRect/>
          </a:stretch>
        </p:blipFill>
        <p:spPr>
          <a:xfrm>
            <a:off x="1047750" y="3359943"/>
            <a:ext cx="177849" cy="228600"/>
          </a:xfrm>
          <a:prstGeom prst="rect">
            <a:avLst/>
          </a:prstGeom>
          <a:noFill/>
          <a:ln>
            <a:noFill/>
          </a:ln>
        </p:spPr>
      </p:pic>
      <p:pic>
        <p:nvPicPr>
          <p:cNvPr id="116" name="Google Shape;116;p14" descr="image.png"/>
          <p:cNvPicPr preferRelativeResize="0"/>
          <p:nvPr/>
        </p:nvPicPr>
        <p:blipFill rotWithShape="1">
          <a:blip r:embed="rId4"/>
          <a:srcRect/>
          <a:stretch>
            <a:fillRect/>
          </a:stretch>
        </p:blipFill>
        <p:spPr>
          <a:xfrm>
            <a:off x="1247775" y="4647307"/>
            <a:ext cx="987772" cy="155674"/>
          </a:xfrm>
          <a:prstGeom prst="rect">
            <a:avLst/>
          </a:prstGeom>
          <a:noFill/>
          <a:ln>
            <a:noFill/>
          </a:ln>
        </p:spPr>
      </p:pic>
      <p:pic>
        <p:nvPicPr>
          <p:cNvPr id="117" name="Google Shape;117;p14" descr="image.png"/>
          <p:cNvPicPr preferRelativeResize="0"/>
          <p:nvPr/>
        </p:nvPicPr>
        <p:blipFill rotWithShape="1">
          <a:blip r:embed="rId5"/>
          <a:srcRect/>
          <a:stretch>
            <a:fillRect/>
          </a:stretch>
        </p:blipFill>
        <p:spPr>
          <a:xfrm>
            <a:off x="6619875" y="3362325"/>
            <a:ext cx="177849" cy="228600"/>
          </a:xfrm>
          <a:prstGeom prst="rect">
            <a:avLst/>
          </a:prstGeom>
          <a:noFill/>
          <a:ln>
            <a:noFill/>
          </a:ln>
        </p:spPr>
      </p:pic>
      <p:pic>
        <p:nvPicPr>
          <p:cNvPr id="118" name="Google Shape;118;p14" descr="image.png"/>
          <p:cNvPicPr preferRelativeResize="0"/>
          <p:nvPr/>
        </p:nvPicPr>
        <p:blipFill rotWithShape="1">
          <a:blip r:embed="rId6"/>
          <a:srcRect/>
          <a:stretch>
            <a:fillRect/>
          </a:stretch>
        </p:blipFill>
        <p:spPr>
          <a:xfrm>
            <a:off x="6819900" y="4648200"/>
            <a:ext cx="2434381" cy="152400"/>
          </a:xfrm>
          <a:prstGeom prst="rect">
            <a:avLst/>
          </a:prstGeom>
          <a:noFill/>
          <a:ln>
            <a:noFill/>
          </a:ln>
        </p:spPr>
      </p:pic>
      <p:sp>
        <p:nvSpPr>
          <p:cNvPr id="119" name="Google Shape;119;p14"/>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干度因子与热度因子</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20" name="Google Shape;120;p14"/>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4"/>
          <p:cNvSpPr txBox="1"/>
          <p:nvPr/>
        </p:nvSpPr>
        <p:spPr>
          <a:xfrm>
            <a:off x="9215437" y="381000"/>
            <a:ext cx="22145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REF: XU_2008 // THERMAL_RESTORE</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2" name="Google Shape;162;p17" descr="image.png"/>
          <p:cNvPicPr preferRelativeResize="0"/>
          <p:nvPr/>
        </p:nvPicPr>
        <p:blipFill rotWithShape="1">
          <a:blip r:embed="rId1"/>
          <a:srcRect/>
          <a:stretch>
            <a:fillRect/>
          </a:stretch>
        </p:blipFill>
        <p:spPr>
          <a:xfrm>
            <a:off x="762000" y="2557611"/>
            <a:ext cx="5238750" cy="1719708"/>
          </a:xfrm>
          <a:prstGeom prst="rect">
            <a:avLst/>
          </a:prstGeom>
          <a:noFill/>
          <a:ln>
            <a:noFill/>
          </a:ln>
        </p:spPr>
      </p:pic>
      <p:pic>
        <p:nvPicPr>
          <p:cNvPr id="163" name="Google Shape;163;p17" descr="image.png"/>
          <p:cNvPicPr preferRelativeResize="0"/>
          <p:nvPr/>
        </p:nvPicPr>
        <p:blipFill rotWithShape="1">
          <a:blip r:embed="rId1"/>
          <a:srcRect/>
          <a:stretch>
            <a:fillRect/>
          </a:stretch>
        </p:blipFill>
        <p:spPr>
          <a:xfrm>
            <a:off x="6191250" y="2557611"/>
            <a:ext cx="5238750" cy="1719708"/>
          </a:xfrm>
          <a:prstGeom prst="rect">
            <a:avLst/>
          </a:prstGeom>
          <a:noFill/>
          <a:ln>
            <a:noFill/>
          </a:ln>
        </p:spPr>
      </p:pic>
      <p:pic>
        <p:nvPicPr>
          <p:cNvPr id="164" name="Google Shape;164;p17" descr="image.png"/>
          <p:cNvPicPr preferRelativeResize="0"/>
          <p:nvPr/>
        </p:nvPicPr>
        <p:blipFill rotWithShape="1">
          <a:blip r:embed="rId2"/>
          <a:srcRect/>
          <a:stretch>
            <a:fillRect/>
          </a:stretch>
        </p:blipFill>
        <p:spPr>
          <a:xfrm>
            <a:off x="762000" y="4467820"/>
            <a:ext cx="5238750" cy="1714500"/>
          </a:xfrm>
          <a:prstGeom prst="rect">
            <a:avLst/>
          </a:prstGeom>
          <a:noFill/>
          <a:ln>
            <a:noFill/>
          </a:ln>
        </p:spPr>
      </p:pic>
      <p:pic>
        <p:nvPicPr>
          <p:cNvPr id="165" name="Google Shape;165;p17" descr="image.png"/>
          <p:cNvPicPr preferRelativeResize="0"/>
          <p:nvPr/>
        </p:nvPicPr>
        <p:blipFill rotWithShape="1">
          <a:blip r:embed="rId3"/>
          <a:srcRect/>
          <a:stretch>
            <a:fillRect/>
          </a:stretch>
        </p:blipFill>
        <p:spPr>
          <a:xfrm>
            <a:off x="6191250" y="4467820"/>
            <a:ext cx="5238750" cy="1714500"/>
          </a:xfrm>
          <a:prstGeom prst="rect">
            <a:avLst/>
          </a:prstGeom>
          <a:noFill/>
          <a:ln>
            <a:noFill/>
          </a:ln>
        </p:spPr>
      </p:pic>
      <p:pic>
        <p:nvPicPr>
          <p:cNvPr id="166" name="Google Shape;166;p17" descr="image.png"/>
          <p:cNvPicPr preferRelativeResize="0"/>
          <p:nvPr/>
        </p:nvPicPr>
        <p:blipFill rotWithShape="1">
          <a:blip r:embed="rId4"/>
          <a:srcRect/>
          <a:stretch>
            <a:fillRect/>
          </a:stretch>
        </p:blipFill>
        <p:spPr>
          <a:xfrm>
            <a:off x="1047750" y="3595836"/>
            <a:ext cx="4714875" cy="443358"/>
          </a:xfrm>
          <a:prstGeom prst="rect">
            <a:avLst/>
          </a:prstGeom>
          <a:noFill/>
          <a:ln>
            <a:noFill/>
          </a:ln>
        </p:spPr>
      </p:pic>
      <p:pic>
        <p:nvPicPr>
          <p:cNvPr id="167" name="Google Shape;167;p17" descr="image.png"/>
          <p:cNvPicPr preferRelativeResize="0"/>
          <p:nvPr/>
        </p:nvPicPr>
        <p:blipFill rotWithShape="1">
          <a:blip r:embed="rId4"/>
          <a:srcRect/>
          <a:stretch>
            <a:fillRect/>
          </a:stretch>
        </p:blipFill>
        <p:spPr>
          <a:xfrm>
            <a:off x="6477000" y="3595836"/>
            <a:ext cx="4714875" cy="443358"/>
          </a:xfrm>
          <a:prstGeom prst="rect">
            <a:avLst/>
          </a:prstGeom>
          <a:noFill/>
          <a:ln>
            <a:noFill/>
          </a:ln>
        </p:spPr>
      </p:pic>
      <p:pic>
        <p:nvPicPr>
          <p:cNvPr id="168" name="Google Shape;168;p17" descr="image.png"/>
          <p:cNvPicPr preferRelativeResize="0"/>
          <p:nvPr/>
        </p:nvPicPr>
        <p:blipFill rotWithShape="1">
          <a:blip r:embed="rId5"/>
          <a:srcRect/>
          <a:stretch>
            <a:fillRect/>
          </a:stretch>
        </p:blipFill>
        <p:spPr>
          <a:xfrm>
            <a:off x="1047750" y="5506045"/>
            <a:ext cx="4714875" cy="438150"/>
          </a:xfrm>
          <a:prstGeom prst="rect">
            <a:avLst/>
          </a:prstGeom>
          <a:noFill/>
          <a:ln>
            <a:noFill/>
          </a:ln>
        </p:spPr>
      </p:pic>
      <p:pic>
        <p:nvPicPr>
          <p:cNvPr id="169" name="Google Shape;169;p17" descr="image.png"/>
          <p:cNvPicPr preferRelativeResize="0"/>
          <p:nvPr/>
        </p:nvPicPr>
        <p:blipFill rotWithShape="1">
          <a:blip r:embed="rId6"/>
          <a:srcRect/>
          <a:stretch>
            <a:fillRect/>
          </a:stretch>
        </p:blipFill>
        <p:spPr>
          <a:xfrm>
            <a:off x="6477000" y="5506045"/>
            <a:ext cx="4714875" cy="438150"/>
          </a:xfrm>
          <a:prstGeom prst="rect">
            <a:avLst/>
          </a:prstGeom>
          <a:noFill/>
          <a:ln>
            <a:noFill/>
          </a:ln>
        </p:spPr>
      </p:pic>
      <p:sp>
        <p:nvSpPr>
          <p:cNvPr id="170" name="Google Shape;170;p17"/>
          <p:cNvSpPr txBox="1"/>
          <p:nvPr/>
        </p:nvSpPr>
        <p:spPr>
          <a:xfrm>
            <a:off x="1047750" y="2795736"/>
            <a:ext cx="495061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绿度与湿度 (NDVI/WET)</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1" name="Google Shape;171;p17"/>
          <p:cNvSpPr txBox="1"/>
          <p:nvPr/>
        </p:nvSpPr>
        <p:spPr>
          <a:xfrm>
            <a:off x="1047750" y="3195786"/>
            <a:ext cx="4714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表征植被生长与地表含水状态。</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2" name="Google Shape;172;p17"/>
          <p:cNvSpPr txBox="1"/>
          <p:nvPr/>
        </p:nvSpPr>
        <p:spPr>
          <a:xfrm>
            <a:off x="6477000" y="2795736"/>
            <a:ext cx="495061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干度指标 (NDBSI)</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3" name="Google Shape;173;p17"/>
          <p:cNvSpPr txBox="1"/>
          <p:nvPr/>
        </p:nvSpPr>
        <p:spPr>
          <a:xfrm>
            <a:off x="6477000" y="3195786"/>
            <a:ext cx="4714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综合建筑用地 (IBI) 与裸土 (SI) 指数。</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4" name="Google Shape;174;p17"/>
          <p:cNvSpPr txBox="1"/>
          <p:nvPr/>
        </p:nvSpPr>
        <p:spPr>
          <a:xfrm>
            <a:off x="1047750" y="4705945"/>
            <a:ext cx="495061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热度指标 (LST)</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5" name="Google Shape;175;p17"/>
          <p:cNvSpPr txBox="1"/>
          <p:nvPr/>
        </p:nvSpPr>
        <p:spPr>
          <a:xfrm>
            <a:off x="1047750" y="5105995"/>
            <a:ext cx="4714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基于地表温度产品进行转换。</a:t>
            </a:r>
            <a:endParaRPr lang="en-US" sz="15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6" name="Google Shape;176;p17"/>
          <p:cNvSpPr txBox="1"/>
          <p:nvPr/>
        </p:nvSpPr>
        <p:spPr>
          <a:xfrm>
            <a:off x="6477000" y="4705945"/>
            <a:ext cx="495061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CCFF00"/>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RSEI 指数构建</a:t>
            </a:r>
            <a:endParaRPr lang="en-US" sz="1800" b="1" i="0" u="none" strike="noStrike" cap="none">
              <a:solidFill>
                <a:srgbClr val="CCFF00"/>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7" name="Google Shape;177;p17"/>
          <p:cNvSpPr txBox="1"/>
          <p:nvPr/>
        </p:nvSpPr>
        <p:spPr>
          <a:xfrm>
            <a:off x="6477000" y="5105995"/>
            <a:ext cx="47148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CCCCCC"/>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利用主成分分析集成四大生态因子。</a:t>
            </a:r>
            <a:endParaRPr lang="en-US" sz="1500" b="0" i="0" u="none" strike="noStrike" cap="none">
              <a:solidFill>
                <a:srgbClr val="CCCCCC"/>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78" name="Google Shape;178;p17" descr="image.png"/>
          <p:cNvPicPr preferRelativeResize="0"/>
          <p:nvPr/>
        </p:nvPicPr>
        <p:blipFill rotWithShape="1">
          <a:blip r:embed="rId7"/>
          <a:srcRect/>
          <a:stretch>
            <a:fillRect/>
          </a:stretch>
        </p:blipFill>
        <p:spPr>
          <a:xfrm>
            <a:off x="1143000" y="3723084"/>
            <a:ext cx="1422796" cy="220860"/>
          </a:xfrm>
          <a:prstGeom prst="rect">
            <a:avLst/>
          </a:prstGeom>
          <a:noFill/>
          <a:ln>
            <a:noFill/>
          </a:ln>
        </p:spPr>
      </p:pic>
      <p:pic>
        <p:nvPicPr>
          <p:cNvPr id="179" name="Google Shape;179;p17" descr="image.png"/>
          <p:cNvPicPr preferRelativeResize="0"/>
          <p:nvPr/>
        </p:nvPicPr>
        <p:blipFill rotWithShape="1">
          <a:blip r:embed="rId8"/>
          <a:srcRect/>
          <a:stretch>
            <a:fillRect/>
          </a:stretch>
        </p:blipFill>
        <p:spPr>
          <a:xfrm>
            <a:off x="6572250" y="3723084"/>
            <a:ext cx="1362521" cy="220860"/>
          </a:xfrm>
          <a:prstGeom prst="rect">
            <a:avLst/>
          </a:prstGeom>
          <a:noFill/>
          <a:ln>
            <a:noFill/>
          </a:ln>
        </p:spPr>
      </p:pic>
      <p:pic>
        <p:nvPicPr>
          <p:cNvPr id="180" name="Google Shape;180;p17" descr="image.png"/>
          <p:cNvPicPr preferRelativeResize="0"/>
          <p:nvPr/>
        </p:nvPicPr>
        <p:blipFill rotWithShape="1">
          <a:blip r:embed="rId9"/>
          <a:srcRect/>
          <a:stretch>
            <a:fillRect/>
          </a:stretch>
        </p:blipFill>
        <p:spPr>
          <a:xfrm>
            <a:off x="1143000" y="5648920"/>
            <a:ext cx="2027187" cy="142875"/>
          </a:xfrm>
          <a:prstGeom prst="rect">
            <a:avLst/>
          </a:prstGeom>
          <a:noFill/>
          <a:ln>
            <a:noFill/>
          </a:ln>
        </p:spPr>
      </p:pic>
      <p:pic>
        <p:nvPicPr>
          <p:cNvPr id="181" name="Google Shape;181;p17" descr="image.png"/>
          <p:cNvPicPr preferRelativeResize="0"/>
          <p:nvPr/>
        </p:nvPicPr>
        <p:blipFill rotWithShape="1">
          <a:blip r:embed="rId10"/>
          <a:srcRect/>
          <a:stretch>
            <a:fillRect/>
          </a:stretch>
        </p:blipFill>
        <p:spPr>
          <a:xfrm>
            <a:off x="6572250" y="5648920"/>
            <a:ext cx="3403103" cy="190946"/>
          </a:xfrm>
          <a:prstGeom prst="rect">
            <a:avLst/>
          </a:prstGeom>
          <a:noFill/>
          <a:ln>
            <a:noFill/>
          </a:ln>
        </p:spPr>
      </p:pic>
      <p:sp>
        <p:nvSpPr>
          <p:cNvPr id="182" name="Google Shape;182;p17"/>
          <p:cNvSpPr txBox="1"/>
          <p:nvPr/>
        </p:nvSpPr>
        <p:spPr>
          <a:xfrm>
            <a:off x="762000" y="1524000"/>
            <a:ext cx="11201400" cy="5485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因子计算与模型定义</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83" name="Google Shape;183;p17"/>
          <p:cNvSpPr/>
          <p:nvPr/>
        </p:nvSpPr>
        <p:spPr>
          <a:xfrm>
            <a:off x="5810250" y="1779240"/>
            <a:ext cx="571500" cy="381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17"/>
          <p:cNvSpPr txBox="1"/>
          <p:nvPr/>
        </p:nvSpPr>
        <p:spPr>
          <a:xfrm>
            <a:off x="952500" y="6343650"/>
            <a:ext cx="2027932" cy="1384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FACTOR CALCULATION</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7" name="Google Shape;127;p15" descr="image.png"/>
          <p:cNvPicPr preferRelativeResize="0"/>
          <p:nvPr/>
        </p:nvPicPr>
        <p:blipFill rotWithShape="1">
          <a:blip r:embed="rId1"/>
          <a:srcRect/>
          <a:stretch>
            <a:fillRect/>
          </a:stretch>
        </p:blipFill>
        <p:spPr>
          <a:xfrm>
            <a:off x="6112510" y="2649855"/>
            <a:ext cx="5317490" cy="2640330"/>
          </a:xfrm>
          <a:prstGeom prst="rect">
            <a:avLst/>
          </a:prstGeom>
          <a:noFill/>
          <a:ln>
            <a:noFill/>
          </a:ln>
        </p:spPr>
      </p:pic>
      <p:sp>
        <p:nvSpPr>
          <p:cNvPr id="128" name="Google Shape;128;p15"/>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9" name="Google Shape;129;p15"/>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DATA VALIDATION</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30" name="Google Shape;130;p15"/>
          <p:cNvSpPr txBox="1"/>
          <p:nvPr/>
        </p:nvSpPr>
        <p:spPr>
          <a:xfrm>
            <a:off x="762000" y="2718117"/>
            <a:ext cx="5350668"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现象：极端像元值出现</a:t>
            </a:r>
            <a:endParaRPr lang="en-US" sz="24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31" name="Google Shape;131;p15"/>
          <p:cNvSpPr txBox="1"/>
          <p:nvPr/>
        </p:nvSpPr>
        <p:spPr>
          <a:xfrm>
            <a:off x="762000" y="3667442"/>
            <a:ext cx="50958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在初步反演中，发现地表反射率出现 </a:t>
            </a: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&lt; 0</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或 </a:t>
            </a: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&gt; 1</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的异常数据点。通过 ENVI Quick Stats 发现均值正常但最值异常。</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33" name="Google Shape;133;p15"/>
          <p:cNvSpPr txBox="1"/>
          <p:nvPr/>
        </p:nvSpPr>
        <p:spPr>
          <a:xfrm>
            <a:off x="762000" y="4372292"/>
            <a:ext cx="5095875" cy="514350"/>
          </a:xfrm>
          <a:prstGeom prst="rect">
            <a:avLst/>
          </a:prstGeom>
          <a:noFill/>
          <a:ln>
            <a:noFill/>
          </a:ln>
        </p:spPr>
        <p:txBody>
          <a:bodyPr spcFirstLastPara="1" wrap="square" lIns="1334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负值成因：</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USGS 官方 -0.2 偏移量导致水体、阴影区域计算后低于物理零值。</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34" name="Google Shape;134;p15"/>
          <p:cNvSpPr txBox="1"/>
          <p:nvPr/>
        </p:nvSpPr>
        <p:spPr>
          <a:xfrm>
            <a:off x="762000" y="5000942"/>
            <a:ext cx="5095875" cy="514350"/>
          </a:xfrm>
          <a:prstGeom prst="rect">
            <a:avLst/>
          </a:prstGeom>
          <a:noFill/>
          <a:ln>
            <a:noFill/>
          </a:ln>
        </p:spPr>
        <p:txBody>
          <a:bodyPr spcFirstLastPara="1" wrap="square" lIns="13347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高值成因：</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大气校正伪影或高亮地物（金属/云边缘）导致反射率溢出。</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35" name="Google Shape;135;p15" descr="image.png"/>
          <p:cNvPicPr preferRelativeResize="0"/>
          <p:nvPr/>
        </p:nvPicPr>
        <p:blipFill rotWithShape="1">
          <a:blip r:embed="rId2"/>
          <a:srcRect/>
          <a:stretch>
            <a:fillRect/>
          </a:stretch>
        </p:blipFill>
        <p:spPr>
          <a:xfrm>
            <a:off x="762000" y="4171950"/>
            <a:ext cx="133498" cy="200025"/>
          </a:xfrm>
          <a:prstGeom prst="rect">
            <a:avLst/>
          </a:prstGeom>
          <a:noFill/>
          <a:ln>
            <a:noFill/>
          </a:ln>
        </p:spPr>
      </p:pic>
      <p:pic>
        <p:nvPicPr>
          <p:cNvPr id="136" name="Google Shape;136;p15" descr="image.png"/>
          <p:cNvPicPr preferRelativeResize="0"/>
          <p:nvPr/>
        </p:nvPicPr>
        <p:blipFill rotWithShape="1">
          <a:blip r:embed="rId2"/>
          <a:srcRect/>
          <a:stretch>
            <a:fillRect/>
          </a:stretch>
        </p:blipFill>
        <p:spPr>
          <a:xfrm>
            <a:off x="762000" y="4800600"/>
            <a:ext cx="133498" cy="200025"/>
          </a:xfrm>
          <a:prstGeom prst="rect">
            <a:avLst/>
          </a:prstGeom>
          <a:noFill/>
          <a:ln>
            <a:noFill/>
          </a:ln>
        </p:spPr>
      </p:pic>
      <p:sp>
        <p:nvSpPr>
          <p:cNvPr id="137" name="Google Shape;137;p15"/>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实验发现：反射率异常排查</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38" name="Google Shape;138;p15"/>
          <p:cNvSpPr/>
          <p:nvPr/>
        </p:nvSpPr>
        <p:spPr>
          <a:xfrm>
            <a:off x="6334125"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9" name="Google Shape;139;p15"/>
          <p:cNvSpPr txBox="1"/>
          <p:nvPr/>
        </p:nvSpPr>
        <p:spPr>
          <a:xfrm>
            <a:off x="9215437" y="381000"/>
            <a:ext cx="22145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SYS_LOG: REFLECTANCE_ERROR_0XAF</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2" name="图片 1" descr="Pasted image 20260512211040"/>
          <p:cNvPicPr>
            <a:picLocks noChangeAspect="1"/>
          </p:cNvPicPr>
          <p:nvPr/>
        </p:nvPicPr>
        <p:blipFill>
          <a:blip r:embed="rId3"/>
          <a:stretch>
            <a:fillRect/>
          </a:stretch>
        </p:blipFill>
        <p:spPr>
          <a:xfrm>
            <a:off x="6329045" y="2934970"/>
            <a:ext cx="5100955" cy="2058035"/>
          </a:xfrm>
          <a:prstGeom prst="rect">
            <a:avLst/>
          </a:prstGeom>
          <a:ln w="19050">
            <a:solidFill>
              <a:srgbClr val="CCFF00"/>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Google Shape;146;p16" descr="image.png"/>
          <p:cNvPicPr preferRelativeResize="0"/>
          <p:nvPr/>
        </p:nvPicPr>
        <p:blipFill rotWithShape="1">
          <a:blip r:embed="rId1"/>
          <a:srcRect/>
          <a:stretch>
            <a:fillRect/>
          </a:stretch>
        </p:blipFill>
        <p:spPr>
          <a:xfrm>
            <a:off x="5989320" y="4846320"/>
            <a:ext cx="5440680" cy="729615"/>
          </a:xfrm>
          <a:prstGeom prst="rect">
            <a:avLst/>
          </a:prstGeom>
          <a:noFill/>
          <a:ln>
            <a:noFill/>
          </a:ln>
        </p:spPr>
      </p:pic>
      <p:pic>
        <p:nvPicPr>
          <p:cNvPr id="2" name="Google Shape;145;p16" descr="image.png"/>
          <p:cNvPicPr preferRelativeResize="0"/>
          <p:nvPr/>
        </p:nvPicPr>
        <p:blipFill rotWithShape="1">
          <a:blip r:embed="rId2"/>
          <a:srcRect/>
          <a:stretch>
            <a:fillRect/>
          </a:stretch>
        </p:blipFill>
        <p:spPr>
          <a:xfrm>
            <a:off x="876300" y="1489710"/>
            <a:ext cx="4839335" cy="5244465"/>
          </a:xfrm>
          <a:prstGeom prst="rect">
            <a:avLst/>
          </a:prstGeom>
          <a:noFill/>
          <a:ln>
            <a:noFill/>
          </a:ln>
        </p:spPr>
      </p:pic>
      <p:pic>
        <p:nvPicPr>
          <p:cNvPr id="3" name="Google Shape;146;p16" descr="image.png"/>
          <p:cNvPicPr preferRelativeResize="0"/>
          <p:nvPr/>
        </p:nvPicPr>
        <p:blipFill rotWithShape="1">
          <a:blip r:embed="rId1"/>
          <a:srcRect/>
          <a:stretch>
            <a:fillRect/>
          </a:stretch>
        </p:blipFill>
        <p:spPr>
          <a:xfrm>
            <a:off x="6206490" y="4153535"/>
            <a:ext cx="5223510" cy="600075"/>
          </a:xfrm>
          <a:prstGeom prst="rect">
            <a:avLst/>
          </a:prstGeom>
          <a:noFill/>
          <a:ln>
            <a:noFill/>
          </a:ln>
        </p:spPr>
      </p:pic>
      <p:sp>
        <p:nvSpPr>
          <p:cNvPr id="4" name="Google Shape;147;p16"/>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Google Shape;148;p16"/>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CORE ALGORITHM</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7" name="Google Shape;150;p16"/>
          <p:cNvSpPr txBox="1"/>
          <p:nvPr/>
        </p:nvSpPr>
        <p:spPr>
          <a:xfrm>
            <a:off x="6206490" y="2967037"/>
            <a:ext cx="5350668" cy="3073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策略：Linear 1% 裁断方案</a:t>
            </a:r>
            <a:endParaRPr lang="en-US" sz="20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8" name="Google Shape;151;p16"/>
          <p:cNvSpPr txBox="1"/>
          <p:nvPr/>
        </p:nvSpPr>
        <p:spPr>
          <a:xfrm>
            <a:off x="6206490" y="3414712"/>
            <a:ext cx="5095875" cy="6457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为消除上述异常点对主成分分析的干扰，引入掩膜约束下的 </a:t>
            </a:r>
            <a:r>
              <a:rPr lang="en-US" sz="14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1%—99% 百分位稳健归一化</a:t>
            </a:r>
            <a:r>
              <a:rPr lang="en-US" sz="14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4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 name="Google Shape;152;p16"/>
          <p:cNvSpPr txBox="1"/>
          <p:nvPr/>
        </p:nvSpPr>
        <p:spPr>
          <a:xfrm>
            <a:off x="6206490" y="4862512"/>
            <a:ext cx="5095875" cy="64579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该方法可有效压制噪声，强制将计算值映射到 [0, 1] 区间，使各因子在 PCA 旋转中具有平等的量纲权重。</a:t>
            </a:r>
            <a:endParaRPr lang="en-US" sz="14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0" name="Google Shape;153;p16"/>
          <p:cNvSpPr txBox="1"/>
          <p:nvPr/>
        </p:nvSpPr>
        <p:spPr>
          <a:xfrm>
            <a:off x="6406515" y="4319587"/>
            <a:ext cx="4695825" cy="27686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(b1 lt A)*0 + (b1 ge A)*(b1 le B)*((b1 - A)/(B - A)) + (b1 gt B)*1</a:t>
            </a:r>
            <a:endParaRPr lang="en-US" sz="1200" b="0"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1" name="Google Shape;154;p16"/>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1% 百分位稳健归一化</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2" name="Google Shape;155;p16"/>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 name="Google Shape;156;p16"/>
          <p:cNvSpPr txBox="1"/>
          <p:nvPr/>
        </p:nvSpPr>
        <p:spPr>
          <a:xfrm>
            <a:off x="9644062" y="381000"/>
            <a:ext cx="1785937"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ALGO_CORE: ROBUST_NORM_V2</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5" name="图片 14" descr="Pasted image 20260512212158"/>
          <p:cNvPicPr>
            <a:picLocks noChangeAspect="1"/>
          </p:cNvPicPr>
          <p:nvPr/>
        </p:nvPicPr>
        <p:blipFill>
          <a:blip r:embed="rId3"/>
          <a:stretch>
            <a:fillRect/>
          </a:stretch>
        </p:blipFill>
        <p:spPr>
          <a:xfrm>
            <a:off x="1291590" y="1809750"/>
            <a:ext cx="4036695" cy="4728210"/>
          </a:xfrm>
          <a:prstGeom prst="rect">
            <a:avLst/>
          </a:prstGeom>
          <a:ln w="19050">
            <a:solidFill>
              <a:srgbClr val="CCFF00"/>
            </a:solidFill>
          </a:ln>
        </p:spPr>
      </p:pic>
      <p:pic>
        <p:nvPicPr>
          <p:cNvPr id="16" name="图片 15" descr="三角"/>
          <p:cNvPicPr>
            <a:picLocks noChangeAspect="1"/>
          </p:cNvPicPr>
          <p:nvPr/>
        </p:nvPicPr>
        <p:blipFill>
          <a:blip r:embed="rId4"/>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4"/>
          <a:stretch>
            <a:fillRect/>
          </a:stretch>
        </p:blipFill>
        <p:spPr>
          <a:xfrm>
            <a:off x="9926320" y="1403985"/>
            <a:ext cx="767715" cy="748665"/>
          </a:xfrm>
          <a:prstGeom prst="rect">
            <a:avLst/>
          </a:prstGeom>
        </p:spPr>
      </p:pic>
      <p:pic>
        <p:nvPicPr>
          <p:cNvPr id="18" name="图片 17" descr="title"/>
          <p:cNvPicPr>
            <a:picLocks noChangeAspect="1"/>
          </p:cNvPicPr>
          <p:nvPr/>
        </p:nvPicPr>
        <p:blipFill>
          <a:blip r:embed="rId5"/>
          <a:stretch>
            <a:fillRect/>
          </a:stretch>
        </p:blipFill>
        <p:spPr>
          <a:xfrm>
            <a:off x="7298055" y="1009650"/>
            <a:ext cx="1689100" cy="17278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4465" y="3425825"/>
            <a:ext cx="9974580" cy="1242060"/>
          </a:xfrm>
          <a:prstGeom prst="rect">
            <a:avLst/>
          </a:prstGeom>
          <a:solidFill>
            <a:schemeClr val="bg1">
              <a:alpha val="5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方正博雅宋大字库" panose="02010600010101010101" charset="-122"/>
            </a:endParaRPr>
          </a:p>
        </p:txBody>
      </p:sp>
      <p:sp>
        <p:nvSpPr>
          <p:cNvPr id="6" name="文本框 5"/>
          <p:cNvSpPr txBox="1"/>
          <p:nvPr/>
        </p:nvSpPr>
        <p:spPr>
          <a:xfrm>
            <a:off x="4053600" y="2047961"/>
            <a:ext cx="4341600" cy="1322070"/>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章节</a:t>
            </a:r>
            <a:r>
              <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3</a:t>
            </a:r>
            <a:endPar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7" name="文本框 6"/>
          <p:cNvSpPr txBox="1"/>
          <p:nvPr/>
        </p:nvSpPr>
        <p:spPr>
          <a:xfrm>
            <a:off x="922655" y="3425190"/>
            <a:ext cx="11104880" cy="1322070"/>
          </a:xfrm>
          <a:prstGeom prst="rect">
            <a:avLst/>
          </a:prstGeom>
          <a:noFill/>
        </p:spPr>
        <p:txBody>
          <a:bodyPr wrap="square" rtlCol="0">
            <a:spAutoFit/>
          </a:bodyPr>
          <a:lstStyle/>
          <a:p>
            <a:pPr algn="ctr"/>
            <a:r>
              <a:rPr lang="en-US" altLang="zh-CN"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PCA </a:t>
            </a:r>
            <a:r>
              <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构建与验证</a:t>
            </a:r>
            <a:endPar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90800" y="1655109"/>
            <a:ext cx="1558145" cy="333477"/>
          </a:xfrm>
          <a:prstGeom prst="rect">
            <a:avLst/>
          </a:prstGeom>
        </p:spPr>
      </p:pic>
      <p:sp>
        <p:nvSpPr>
          <p:cNvPr id="10" name="文本框 9"/>
          <p:cNvSpPr txBox="1"/>
          <p:nvPr/>
        </p:nvSpPr>
        <p:spPr>
          <a:xfrm>
            <a:off x="5693410" y="1632585"/>
            <a:ext cx="1456055" cy="398780"/>
          </a:xfrm>
          <a:prstGeom prst="rect">
            <a:avLst/>
          </a:prstGeom>
          <a:noFill/>
        </p:spPr>
        <p:txBody>
          <a:bodyPr wrap="square" rtlCol="0">
            <a:spAutoFit/>
          </a:bodyPr>
          <a:lstStyle/>
          <a:p>
            <a:pPr algn="ctr"/>
            <a:r>
              <a:rPr lang="en-US" altLang="zh-CN"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EPISODE 3</a:t>
            </a:r>
            <a:endParaRPr lang="zh-CN" altLang="en-US"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85" name="Google Shape;85;p13"/>
          <p:cNvSpPr/>
          <p:nvPr/>
        </p:nvSpPr>
        <p:spPr>
          <a:xfrm>
            <a:off x="762000" y="1333500"/>
            <a:ext cx="932705" cy="2286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876300" y="1371600"/>
            <a:ext cx="704105" cy="161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3</a:t>
            </a:r>
            <a:endPar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p:nvPr/>
        </p:nvSpPr>
        <p:spPr>
          <a:xfrm>
            <a:off x="2611755" y="6598285"/>
            <a:ext cx="952500" cy="762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txBox="1"/>
          <p:nvPr/>
        </p:nvSpPr>
        <p:spPr>
          <a:xfrm>
            <a:off x="216108" y="6569710"/>
            <a:ext cx="2796331"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DYNAMIC ASSESSMENT // RSEI MODEL</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2" name="Google Shape;162;p17" descr="image.png"/>
          <p:cNvPicPr preferRelativeResize="0"/>
          <p:nvPr/>
        </p:nvPicPr>
        <p:blipFill rotWithShape="1">
          <a:blip r:embed="rId1"/>
          <a:srcRect/>
          <a:stretch>
            <a:fillRect/>
          </a:stretch>
        </p:blipFill>
        <p:spPr>
          <a:xfrm>
            <a:off x="762000" y="2909887"/>
            <a:ext cx="10668000" cy="2619375"/>
          </a:xfrm>
          <a:prstGeom prst="rect">
            <a:avLst/>
          </a:prstGeom>
          <a:noFill/>
          <a:ln>
            <a:noFill/>
          </a:ln>
        </p:spPr>
      </p:pic>
      <p:sp>
        <p:nvSpPr>
          <p:cNvPr id="163" name="Google Shape;163;p17"/>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4" name="Google Shape;164;p17"/>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EPISODE 2 // PCA CONSTRUCTION</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65" name="Google Shape;165;p17"/>
          <p:cNvSpPr txBox="1"/>
          <p:nvPr/>
        </p:nvSpPr>
        <p:spPr>
          <a:xfrm>
            <a:off x="762000" y="2366962"/>
            <a:ext cx="9039671"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通过构建 Mask 掩膜排除无效像元，对四大因子进行前向 PCA 旋转。实验结果显示，PC1 能够集中绝大部分生态信息。</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66" name="Google Shape;166;p17"/>
          <p:cNvSpPr txBox="1"/>
          <p:nvPr/>
        </p:nvSpPr>
        <p:spPr>
          <a:xfrm>
            <a:off x="762000" y="5719762"/>
            <a:ext cx="3267075"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 数据来源：2023年 Landsat 9 OLI-2 影像主成分统计</a:t>
            </a:r>
            <a:endParaRPr lang="en-US" sz="1050"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graphicFrame>
        <p:nvGraphicFramePr>
          <p:cNvPr id="167" name="Google Shape;167;p17"/>
          <p:cNvGraphicFramePr/>
          <p:nvPr/>
        </p:nvGraphicFramePr>
        <p:xfrm>
          <a:off x="771525" y="2919412"/>
          <a:ext cx="10648950" cy="3000000"/>
        </p:xfrm>
        <a:graphic>
          <a:graphicData uri="http://schemas.openxmlformats.org/drawingml/2006/table">
            <a:tbl>
              <a:tblPr firstRow="1" bandRow="1">
                <a:noFill/>
                <a:tableStyleId>{6879BF31-7C25-4D48-A420-0E24B9F1932C}</a:tableStyleId>
              </a:tblPr>
              <a:tblGrid>
                <a:gridCol w="2426200"/>
                <a:gridCol w="2408325"/>
                <a:gridCol w="2807350"/>
                <a:gridCol w="3007075"/>
              </a:tblGrid>
              <a:tr h="520075">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主成分 (Components)</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特征值 (Eigenvalue)</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贡献率 (Contribution %)</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累计贡献率 (Cumulative %)</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r>
              <a:tr h="520075">
                <a:tc>
                  <a:txBody>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PC1 (Eco Quality)</a:t>
                      </a:r>
                      <a:endPar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0.1475</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73.04%</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73.04%</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20075">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PC2</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0.0387</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19.06%</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92.10%</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20075">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PC3</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0.0136</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6.86%</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98.96%</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20075">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PC4</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0.0021</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1.04%</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100.00%</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168" name="Google Shape;168;p17"/>
          <p:cNvSpPr/>
          <p:nvPr/>
        </p:nvSpPr>
        <p:spPr>
          <a:xfrm>
            <a:off x="771525" y="3943350"/>
            <a:ext cx="242619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9" name="Google Shape;169;p17"/>
          <p:cNvSpPr/>
          <p:nvPr/>
        </p:nvSpPr>
        <p:spPr>
          <a:xfrm>
            <a:off x="3197721" y="3943350"/>
            <a:ext cx="240833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0" name="Google Shape;170;p17"/>
          <p:cNvSpPr/>
          <p:nvPr/>
        </p:nvSpPr>
        <p:spPr>
          <a:xfrm>
            <a:off x="5606057" y="3943350"/>
            <a:ext cx="280734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1" name="Google Shape;171;p17"/>
          <p:cNvSpPr/>
          <p:nvPr/>
        </p:nvSpPr>
        <p:spPr>
          <a:xfrm>
            <a:off x="8413402" y="3943350"/>
            <a:ext cx="3007072"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2" name="Google Shape;172;p17"/>
          <p:cNvSpPr/>
          <p:nvPr/>
        </p:nvSpPr>
        <p:spPr>
          <a:xfrm>
            <a:off x="771525" y="4467225"/>
            <a:ext cx="242619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3" name="Google Shape;173;p17"/>
          <p:cNvSpPr/>
          <p:nvPr/>
        </p:nvSpPr>
        <p:spPr>
          <a:xfrm>
            <a:off x="3197721" y="4467225"/>
            <a:ext cx="240833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4" name="Google Shape;174;p17"/>
          <p:cNvSpPr/>
          <p:nvPr/>
        </p:nvSpPr>
        <p:spPr>
          <a:xfrm>
            <a:off x="5606057" y="4467225"/>
            <a:ext cx="280734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5" name="Google Shape;175;p17"/>
          <p:cNvSpPr/>
          <p:nvPr/>
        </p:nvSpPr>
        <p:spPr>
          <a:xfrm>
            <a:off x="8413402" y="4467225"/>
            <a:ext cx="3007072"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6" name="Google Shape;176;p17"/>
          <p:cNvSpPr/>
          <p:nvPr/>
        </p:nvSpPr>
        <p:spPr>
          <a:xfrm>
            <a:off x="771525" y="4991100"/>
            <a:ext cx="242619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7" name="Google Shape;177;p17"/>
          <p:cNvSpPr/>
          <p:nvPr/>
        </p:nvSpPr>
        <p:spPr>
          <a:xfrm>
            <a:off x="3197721" y="4991100"/>
            <a:ext cx="2408336"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8" name="Google Shape;178;p17"/>
          <p:cNvSpPr/>
          <p:nvPr/>
        </p:nvSpPr>
        <p:spPr>
          <a:xfrm>
            <a:off x="5606057" y="4991100"/>
            <a:ext cx="280734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17"/>
          <p:cNvSpPr/>
          <p:nvPr/>
        </p:nvSpPr>
        <p:spPr>
          <a:xfrm>
            <a:off x="8413402" y="4991100"/>
            <a:ext cx="3007072"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0" name="Google Shape;180;p17"/>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主成分分析 (PCA) 构建</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81" name="Google Shape;181;p17"/>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2" name="Google Shape;182;p17"/>
          <p:cNvSpPr txBox="1"/>
          <p:nvPr/>
        </p:nvSpPr>
        <p:spPr>
          <a:xfrm>
            <a:off x="9429750" y="381000"/>
            <a:ext cx="20002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ENGINE: FORWARD_PCA_ROTATION</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6" name="图片 15" descr="三角"/>
          <p:cNvPicPr>
            <a:picLocks noChangeAspect="1"/>
          </p:cNvPicPr>
          <p:nvPr/>
        </p:nvPicPr>
        <p:blipFill>
          <a:blip r:embed="rId2"/>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2"/>
          <a:stretch>
            <a:fillRect/>
          </a:stretch>
        </p:blipFill>
        <p:spPr>
          <a:xfrm>
            <a:off x="9926320" y="1403985"/>
            <a:ext cx="767715" cy="748665"/>
          </a:xfrm>
          <a:prstGeom prst="rect">
            <a:avLst/>
          </a:prstGeom>
        </p:spPr>
      </p:pic>
      <p:pic>
        <p:nvPicPr>
          <p:cNvPr id="18" name="图片 17" descr="title"/>
          <p:cNvPicPr>
            <a:picLocks noChangeAspect="1"/>
          </p:cNvPicPr>
          <p:nvPr/>
        </p:nvPicPr>
        <p:blipFill>
          <a:blip r:embed="rId3"/>
          <a:stretch>
            <a:fillRect/>
          </a:stretch>
        </p:blipFill>
        <p:spPr>
          <a:xfrm>
            <a:off x="8744585" y="5597525"/>
            <a:ext cx="1057275" cy="10814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8" name="Google Shape;188;p18" descr="image.png"/>
          <p:cNvPicPr preferRelativeResize="0"/>
          <p:nvPr/>
        </p:nvPicPr>
        <p:blipFill rotWithShape="1">
          <a:blip r:embed="rId1"/>
          <a:srcRect/>
          <a:stretch>
            <a:fillRect/>
          </a:stretch>
        </p:blipFill>
        <p:spPr>
          <a:xfrm>
            <a:off x="762000" y="2824162"/>
            <a:ext cx="10668000" cy="2733675"/>
          </a:xfrm>
          <a:prstGeom prst="rect">
            <a:avLst/>
          </a:prstGeom>
          <a:noFill/>
          <a:ln>
            <a:noFill/>
          </a:ln>
        </p:spPr>
      </p:pic>
      <p:sp>
        <p:nvSpPr>
          <p:cNvPr id="189" name="Google Shape;189;p18"/>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0" name="Google Shape;190;p18"/>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ECOLOGICAL VALIDATION</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91" name="Google Shape;191;p18"/>
          <p:cNvSpPr txBox="1"/>
          <p:nvPr/>
        </p:nvSpPr>
        <p:spPr>
          <a:xfrm>
            <a:off x="762000" y="2281237"/>
            <a:ext cx="8424118"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检查 PC1 特征向量。若 NDVI/WET 为正且 NDBSI/LST 为负，则 PC1 直接代表生态正向质量，无需反向处理。</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2" name="Google Shape;192;p18"/>
          <p:cNvSpPr txBox="1"/>
          <p:nvPr/>
        </p:nvSpPr>
        <p:spPr>
          <a:xfrm>
            <a:off x="762000" y="5748337"/>
            <a:ext cx="4772471" cy="257175"/>
          </a:xfrm>
          <a:prstGeom prst="rect">
            <a:avLst/>
          </a:prstGeom>
          <a:noFill/>
          <a:ln>
            <a:noFill/>
          </a:ln>
        </p:spPr>
        <p:txBody>
          <a:bodyPr spcFirstLastPara="1" wrap="square" lIns="228725"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验证结论：载荷正负号完全符合生态逻辑，PC1 构建成功。</a:t>
            </a:r>
            <a:endParaRPr lang="en-US" sz="13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graphicFrame>
        <p:nvGraphicFramePr>
          <p:cNvPr id="193" name="Google Shape;193;p18"/>
          <p:cNvGraphicFramePr/>
          <p:nvPr/>
        </p:nvGraphicFramePr>
        <p:xfrm>
          <a:off x="771525" y="2833687"/>
          <a:ext cx="10648975" cy="3000000"/>
        </p:xfrm>
        <a:graphic>
          <a:graphicData uri="http://schemas.openxmlformats.org/drawingml/2006/table">
            <a:tbl>
              <a:tblPr firstRow="1" bandRow="1">
                <a:noFill/>
                <a:tableStyleId>{6879BF31-7C25-4D48-A420-0E24B9F1932C}</a:tableStyleId>
              </a:tblPr>
              <a:tblGrid>
                <a:gridCol w="2033450"/>
                <a:gridCol w="3014525"/>
                <a:gridCol w="2693200"/>
                <a:gridCol w="2907800"/>
              </a:tblGrid>
              <a:tr h="542925">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因子名称</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特征向量 (Eigenvectors)</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符号方向 (Direction)</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生态含义 (Eco Meaning)</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r>
              <a:tr h="542925">
                <a:tc>
                  <a:txBody>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NDVI (绿度)</a:t>
                      </a:r>
                      <a:endPar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+ 0.2949</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1" i="0" u="none" strike="noStrike" cap="none">
                          <a:solidFill>
                            <a:srgbClr val="059669"/>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正向 (+)</a:t>
                      </a:r>
                      <a:endParaRPr lang="en-US" sz="1200" b="1" i="0" u="none" strike="noStrike" cap="none">
                        <a:solidFill>
                          <a:srgbClr val="059669"/>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高覆盖提升生态质量</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42925">
                <a:tc>
                  <a:txBody>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WET (湿度)</a:t>
                      </a:r>
                      <a:endPar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+ 0.5682</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1" i="0" u="none" strike="noStrike" cap="none">
                          <a:solidFill>
                            <a:srgbClr val="059669"/>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正向 (+)</a:t>
                      </a:r>
                      <a:endParaRPr lang="en-US" sz="1200" b="1" i="0" u="none" strike="noStrike" cap="none">
                        <a:solidFill>
                          <a:srgbClr val="059669"/>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水分充足改善环境</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42925">
                <a:tc>
                  <a:txBody>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NDBSI (干度)</a:t>
                      </a:r>
                      <a:endPar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- 0.6523</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1" i="0" u="none" strike="noStrike" cap="none">
                          <a:solidFill>
                            <a:srgbClr val="DC2626"/>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负向 (-)</a:t>
                      </a:r>
                      <a:endParaRPr lang="en-US" sz="1200" b="1" i="0" u="none" strike="noStrike" cap="none">
                        <a:solidFill>
                          <a:srgbClr val="DC2626"/>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建筑裸土降低质量</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542925">
                <a:tc>
                  <a:txBody>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LST (热度)</a:t>
                      </a:r>
                      <a:endPar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- 0.4075</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1" i="0" u="none" strike="noStrike" cap="none">
                          <a:solidFill>
                            <a:srgbClr val="DC2626"/>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负向 (-)</a:t>
                      </a:r>
                      <a:endParaRPr lang="en-US" sz="1200" b="1" i="0" u="none" strike="noStrike" cap="none">
                        <a:solidFill>
                          <a:srgbClr val="DC2626"/>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热岛效应负面影响</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pic>
        <p:nvPicPr>
          <p:cNvPr id="194" name="Google Shape;194;p18" descr="image.png"/>
          <p:cNvPicPr preferRelativeResize="0"/>
          <p:nvPr/>
        </p:nvPicPr>
        <p:blipFill rotWithShape="1">
          <a:blip r:embed="rId2"/>
          <a:srcRect/>
          <a:stretch>
            <a:fillRect/>
          </a:stretch>
        </p:blipFill>
        <p:spPr>
          <a:xfrm>
            <a:off x="762000" y="5786437"/>
            <a:ext cx="133498" cy="171450"/>
          </a:xfrm>
          <a:prstGeom prst="rect">
            <a:avLst/>
          </a:prstGeom>
          <a:noFill/>
          <a:ln>
            <a:noFill/>
          </a:ln>
        </p:spPr>
      </p:pic>
      <p:sp>
        <p:nvSpPr>
          <p:cNvPr id="195" name="Google Shape;195;p18"/>
          <p:cNvSpPr/>
          <p:nvPr/>
        </p:nvSpPr>
        <p:spPr>
          <a:xfrm>
            <a:off x="771525" y="3886200"/>
            <a:ext cx="203343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6" name="Google Shape;196;p18"/>
          <p:cNvSpPr/>
          <p:nvPr/>
        </p:nvSpPr>
        <p:spPr>
          <a:xfrm>
            <a:off x="2804963" y="3886200"/>
            <a:ext cx="301451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7" name="Google Shape;197;p18"/>
          <p:cNvSpPr/>
          <p:nvPr/>
        </p:nvSpPr>
        <p:spPr>
          <a:xfrm>
            <a:off x="5819477" y="3886200"/>
            <a:ext cx="269319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8" name="Google Shape;198;p18"/>
          <p:cNvSpPr/>
          <p:nvPr/>
        </p:nvSpPr>
        <p:spPr>
          <a:xfrm>
            <a:off x="8512671" y="3886200"/>
            <a:ext cx="290780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9" name="Google Shape;199;p18"/>
          <p:cNvSpPr/>
          <p:nvPr/>
        </p:nvSpPr>
        <p:spPr>
          <a:xfrm>
            <a:off x="771525" y="4438650"/>
            <a:ext cx="203343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0" name="Google Shape;200;p18"/>
          <p:cNvSpPr/>
          <p:nvPr/>
        </p:nvSpPr>
        <p:spPr>
          <a:xfrm>
            <a:off x="2804963" y="4438650"/>
            <a:ext cx="301451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1" name="Google Shape;201;p18"/>
          <p:cNvSpPr/>
          <p:nvPr/>
        </p:nvSpPr>
        <p:spPr>
          <a:xfrm>
            <a:off x="5819477" y="4438650"/>
            <a:ext cx="269319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2" name="Google Shape;202;p18"/>
          <p:cNvSpPr/>
          <p:nvPr/>
        </p:nvSpPr>
        <p:spPr>
          <a:xfrm>
            <a:off x="8512671" y="4438650"/>
            <a:ext cx="290780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3" name="Google Shape;203;p18"/>
          <p:cNvSpPr/>
          <p:nvPr/>
        </p:nvSpPr>
        <p:spPr>
          <a:xfrm>
            <a:off x="771525" y="4991100"/>
            <a:ext cx="203343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4" name="Google Shape;204;p18"/>
          <p:cNvSpPr/>
          <p:nvPr/>
        </p:nvSpPr>
        <p:spPr>
          <a:xfrm>
            <a:off x="2804963" y="4991100"/>
            <a:ext cx="301451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5" name="Google Shape;205;p18"/>
          <p:cNvSpPr/>
          <p:nvPr/>
        </p:nvSpPr>
        <p:spPr>
          <a:xfrm>
            <a:off x="5819477" y="4991100"/>
            <a:ext cx="269319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6" name="Google Shape;206;p18"/>
          <p:cNvSpPr/>
          <p:nvPr/>
        </p:nvSpPr>
        <p:spPr>
          <a:xfrm>
            <a:off x="8512671" y="4991100"/>
            <a:ext cx="2907803"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7" name="Google Shape;207;p18"/>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生态意义验证：载荷检查</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08" name="Google Shape;208;p18"/>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9" name="Google Shape;209;p18"/>
          <p:cNvSpPr txBox="1"/>
          <p:nvPr/>
        </p:nvSpPr>
        <p:spPr>
          <a:xfrm>
            <a:off x="9358312" y="381000"/>
            <a:ext cx="2071687"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LOGIC: ECOLOGICAL_CONSISTENCY</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6" name="图片 15" descr="三角"/>
          <p:cNvPicPr>
            <a:picLocks noChangeAspect="1"/>
          </p:cNvPicPr>
          <p:nvPr/>
        </p:nvPicPr>
        <p:blipFill>
          <a:blip r:embed="rId3"/>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3"/>
          <a:stretch>
            <a:fillRect/>
          </a:stretch>
        </p:blipFill>
        <p:spPr>
          <a:xfrm>
            <a:off x="9926320" y="1403985"/>
            <a:ext cx="767715" cy="748665"/>
          </a:xfrm>
          <a:prstGeom prst="rect">
            <a:avLst/>
          </a:prstGeom>
        </p:spPr>
      </p:pic>
      <p:pic>
        <p:nvPicPr>
          <p:cNvPr id="18" name="图片 17" descr="title"/>
          <p:cNvPicPr>
            <a:picLocks noChangeAspect="1"/>
          </p:cNvPicPr>
          <p:nvPr/>
        </p:nvPicPr>
        <p:blipFill>
          <a:blip r:embed="rId4"/>
          <a:stretch>
            <a:fillRect/>
          </a:stretch>
        </p:blipFill>
        <p:spPr>
          <a:xfrm>
            <a:off x="8744585" y="5597525"/>
            <a:ext cx="1057275" cy="10814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4465" y="3425825"/>
            <a:ext cx="9974580" cy="1242060"/>
          </a:xfrm>
          <a:prstGeom prst="rect">
            <a:avLst/>
          </a:prstGeom>
          <a:solidFill>
            <a:schemeClr val="bg1">
              <a:alpha val="5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方正博雅宋大字库" panose="02010600010101010101" charset="-122"/>
            </a:endParaRPr>
          </a:p>
        </p:txBody>
      </p:sp>
      <p:sp>
        <p:nvSpPr>
          <p:cNvPr id="6" name="文本框 5"/>
          <p:cNvSpPr txBox="1"/>
          <p:nvPr/>
        </p:nvSpPr>
        <p:spPr>
          <a:xfrm>
            <a:off x="4053600" y="2047961"/>
            <a:ext cx="4341600" cy="1322070"/>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章节</a:t>
            </a:r>
            <a:r>
              <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4</a:t>
            </a:r>
            <a:endPar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7" name="文本框 6"/>
          <p:cNvSpPr txBox="1"/>
          <p:nvPr/>
        </p:nvSpPr>
        <p:spPr>
          <a:xfrm>
            <a:off x="922655" y="3425190"/>
            <a:ext cx="11104880" cy="1322070"/>
          </a:xfrm>
          <a:prstGeom prst="rect">
            <a:avLst/>
          </a:prstGeom>
          <a:noFill/>
        </p:spPr>
        <p:txBody>
          <a:bodyPr wrap="square" rtlCol="0">
            <a:spAutoFit/>
          </a:bodyPr>
          <a:lstStyle/>
          <a:p>
            <a:pPr algn="ctr"/>
            <a:r>
              <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时空演变分析</a:t>
            </a:r>
            <a:endPar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90800" y="1655109"/>
            <a:ext cx="1558145" cy="333477"/>
          </a:xfrm>
          <a:prstGeom prst="rect">
            <a:avLst/>
          </a:prstGeom>
        </p:spPr>
      </p:pic>
      <p:sp>
        <p:nvSpPr>
          <p:cNvPr id="10" name="文本框 9"/>
          <p:cNvSpPr txBox="1"/>
          <p:nvPr/>
        </p:nvSpPr>
        <p:spPr>
          <a:xfrm>
            <a:off x="5693410" y="1632585"/>
            <a:ext cx="1456055" cy="398780"/>
          </a:xfrm>
          <a:prstGeom prst="rect">
            <a:avLst/>
          </a:prstGeom>
          <a:noFill/>
        </p:spPr>
        <p:txBody>
          <a:bodyPr wrap="square" rtlCol="0">
            <a:spAutoFit/>
          </a:bodyPr>
          <a:lstStyle/>
          <a:p>
            <a:pPr algn="ctr"/>
            <a:r>
              <a:rPr lang="en-US" altLang="zh-CN"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EPISODE 4</a:t>
            </a:r>
            <a:endParaRPr lang="zh-CN" altLang="en-US"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85" name="Google Shape;85;p13"/>
          <p:cNvSpPr/>
          <p:nvPr/>
        </p:nvSpPr>
        <p:spPr>
          <a:xfrm>
            <a:off x="762000" y="1333500"/>
            <a:ext cx="932705" cy="2286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876300" y="1371600"/>
            <a:ext cx="704105" cy="161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4</a:t>
            </a:r>
            <a:endPar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p:nvPr/>
        </p:nvSpPr>
        <p:spPr>
          <a:xfrm>
            <a:off x="2611755" y="6598285"/>
            <a:ext cx="952500" cy="762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txBox="1"/>
          <p:nvPr/>
        </p:nvSpPr>
        <p:spPr>
          <a:xfrm>
            <a:off x="216108" y="6569710"/>
            <a:ext cx="2796331"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DYNAMIC ASSESSMENT // RSEI MODEL</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章节"/>
          <p:cNvPicPr>
            <a:picLocks noChangeAspect="1"/>
          </p:cNvPicPr>
          <p:nvPr/>
        </p:nvPicPr>
        <p:blipFill>
          <a:blip r:embed="rId1"/>
          <a:stretch>
            <a:fillRect/>
          </a:stretch>
        </p:blipFill>
        <p:spPr>
          <a:xfrm>
            <a:off x="762000" y="2527300"/>
            <a:ext cx="2619375" cy="560705"/>
          </a:xfrm>
          <a:prstGeom prst="rect">
            <a:avLst/>
          </a:prstGeom>
        </p:spPr>
      </p:pic>
      <p:pic>
        <p:nvPicPr>
          <p:cNvPr id="85" name="Google Shape;85;p13" descr="image.png"/>
          <p:cNvPicPr preferRelativeResize="0"/>
          <p:nvPr/>
        </p:nvPicPr>
        <p:blipFill rotWithShape="1">
          <a:blip r:embed="rId2"/>
          <a:srcRect/>
          <a:stretch>
            <a:fillRect/>
          </a:stretch>
        </p:blipFill>
        <p:spPr>
          <a:xfrm>
            <a:off x="6334125" y="2238375"/>
            <a:ext cx="5095875" cy="3810000"/>
          </a:xfrm>
          <a:prstGeom prst="rect">
            <a:avLst/>
          </a:prstGeom>
          <a:noFill/>
          <a:ln>
            <a:noFill/>
          </a:ln>
        </p:spPr>
      </p:pic>
      <p:sp>
        <p:nvSpPr>
          <p:cNvPr id="86" name="Google Shape;86;p13"/>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13"/>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EPISODE 4 // SPATIOTEMPORAL EVOLUTION</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88" name="Google Shape;88;p13"/>
          <p:cNvSpPr txBox="1"/>
          <p:nvPr/>
        </p:nvSpPr>
        <p:spPr>
          <a:xfrm>
            <a:off x="983615" y="2655312"/>
            <a:ext cx="535066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生态质量高位稳定</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89" name="Google Shape;89;p13"/>
          <p:cNvSpPr txBox="1"/>
          <p:nvPr/>
        </p:nvSpPr>
        <p:spPr>
          <a:xfrm>
            <a:off x="762000" y="3666232"/>
            <a:ext cx="5095875"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2015年作为本研究的基准年份，总体呈现出良好的生态面貌。</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90" name="Google Shape;90;p13" descr="image.png"/>
          <p:cNvPicPr preferRelativeResize="0"/>
          <p:nvPr/>
        </p:nvPicPr>
        <p:blipFill rotWithShape="1">
          <a:blip r:embed="rId3"/>
          <a:srcRect l="2028" r="2028"/>
          <a:stretch>
            <a:fillRect/>
          </a:stretch>
        </p:blipFill>
        <p:spPr>
          <a:xfrm>
            <a:off x="6438900" y="2343150"/>
            <a:ext cx="4886325" cy="3600450"/>
          </a:xfrm>
          <a:prstGeom prst="rect">
            <a:avLst/>
          </a:prstGeom>
          <a:noFill/>
          <a:ln>
            <a:noFill/>
          </a:ln>
        </p:spPr>
      </p:pic>
      <p:sp>
        <p:nvSpPr>
          <p:cNvPr id="91" name="Google Shape;91;p13"/>
          <p:cNvSpPr txBox="1"/>
          <p:nvPr/>
        </p:nvSpPr>
        <p:spPr>
          <a:xfrm>
            <a:off x="762000" y="4131022"/>
            <a:ext cx="5095875" cy="274290"/>
          </a:xfrm>
          <a:prstGeom prst="rect">
            <a:avLst/>
          </a:prstGeom>
          <a:noFill/>
          <a:ln>
            <a:noFill/>
          </a:ln>
        </p:spPr>
        <p:txBody>
          <a:bodyPr spcFirstLastPara="1" wrap="square" lIns="1334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等级分布：</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“优”与“良”等级区域合计占比约 </a:t>
            </a: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62.6%</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txBox="1"/>
          <p:nvPr/>
        </p:nvSpPr>
        <p:spPr>
          <a:xfrm>
            <a:off x="762000" y="4519612"/>
            <a:ext cx="5095875" cy="548580"/>
          </a:xfrm>
          <a:prstGeom prst="rect">
            <a:avLst/>
          </a:prstGeom>
          <a:noFill/>
          <a:ln>
            <a:noFill/>
          </a:ln>
        </p:spPr>
        <p:txBody>
          <a:bodyPr spcFirstLastPara="1" wrap="square" lIns="1334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空间特征：</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襄城区及外围山地林区呈现出极高的 RSEI 指数值，城市核心建成区保持紧凑。</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93" name="Google Shape;93;p13" descr="image.png"/>
          <p:cNvPicPr preferRelativeResize="0"/>
          <p:nvPr/>
        </p:nvPicPr>
        <p:blipFill rotWithShape="1">
          <a:blip r:embed="rId4"/>
          <a:srcRect/>
          <a:stretch>
            <a:fillRect/>
          </a:stretch>
        </p:blipFill>
        <p:spPr>
          <a:xfrm>
            <a:off x="762000" y="4164359"/>
            <a:ext cx="133498" cy="200025"/>
          </a:xfrm>
          <a:prstGeom prst="rect">
            <a:avLst/>
          </a:prstGeom>
          <a:noFill/>
          <a:ln>
            <a:noFill/>
          </a:ln>
        </p:spPr>
      </p:pic>
      <p:pic>
        <p:nvPicPr>
          <p:cNvPr id="94" name="Google Shape;94;p13" descr="image.png"/>
          <p:cNvPicPr preferRelativeResize="0"/>
          <p:nvPr/>
        </p:nvPicPr>
        <p:blipFill rotWithShape="1">
          <a:blip r:embed="rId5"/>
          <a:srcRect/>
          <a:stretch>
            <a:fillRect/>
          </a:stretch>
        </p:blipFill>
        <p:spPr>
          <a:xfrm>
            <a:off x="762000" y="4552950"/>
            <a:ext cx="133498" cy="200025"/>
          </a:xfrm>
          <a:prstGeom prst="rect">
            <a:avLst/>
          </a:prstGeom>
          <a:noFill/>
          <a:ln>
            <a:noFill/>
          </a:ln>
        </p:spPr>
      </p:pic>
      <p:sp>
        <p:nvSpPr>
          <p:cNvPr id="95" name="Google Shape;95;p13"/>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2015年：基准期状况</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96" name="Google Shape;96;p13"/>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13"/>
          <p:cNvSpPr txBox="1"/>
          <p:nvPr/>
        </p:nvSpPr>
        <p:spPr>
          <a:xfrm>
            <a:off x="9501187" y="381000"/>
            <a:ext cx="192881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RSEI_EVAL // Y2015_BASELINE</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6" name="图片 15" descr="三角"/>
          <p:cNvPicPr>
            <a:picLocks noChangeAspect="1"/>
          </p:cNvPicPr>
          <p:nvPr/>
        </p:nvPicPr>
        <p:blipFill>
          <a:blip r:embed="rId6"/>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6"/>
          <a:stretch>
            <a:fillRect/>
          </a:stretch>
        </p:blipFill>
        <p:spPr>
          <a:xfrm>
            <a:off x="9926320" y="1403985"/>
            <a:ext cx="767715" cy="748665"/>
          </a:xfrm>
          <a:prstGeom prst="rect">
            <a:avLst/>
          </a:prstGeom>
        </p:spPr>
      </p:pic>
      <p:pic>
        <p:nvPicPr>
          <p:cNvPr id="18" name="图片 17" descr="title"/>
          <p:cNvPicPr>
            <a:picLocks noChangeAspect="1"/>
          </p:cNvPicPr>
          <p:nvPr/>
        </p:nvPicPr>
        <p:blipFill>
          <a:blip r:embed="rId7"/>
          <a:stretch>
            <a:fillRect/>
          </a:stretch>
        </p:blipFill>
        <p:spPr>
          <a:xfrm>
            <a:off x="3883025" y="5012690"/>
            <a:ext cx="1682115" cy="1720215"/>
          </a:xfrm>
          <a:prstGeom prst="rect">
            <a:avLst/>
          </a:prstGeom>
        </p:spPr>
      </p:pic>
      <p:pic>
        <p:nvPicPr>
          <p:cNvPr id="3" name="图片 2" descr="话题"/>
          <p:cNvPicPr>
            <a:picLocks noChangeAspect="1"/>
          </p:cNvPicPr>
          <p:nvPr/>
        </p:nvPicPr>
        <p:blipFill>
          <a:blip r:embed="rId8"/>
          <a:stretch>
            <a:fillRect/>
          </a:stretch>
        </p:blipFill>
        <p:spPr>
          <a:xfrm>
            <a:off x="762000" y="1615440"/>
            <a:ext cx="1145540" cy="353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3" name="Google Shape;103;p14" descr="image.png"/>
          <p:cNvPicPr preferRelativeResize="0"/>
          <p:nvPr/>
        </p:nvPicPr>
        <p:blipFill rotWithShape="1">
          <a:blip r:embed="rId1"/>
          <a:srcRect/>
          <a:stretch>
            <a:fillRect/>
          </a:stretch>
        </p:blipFill>
        <p:spPr>
          <a:xfrm>
            <a:off x="762000" y="2667000"/>
            <a:ext cx="5095875" cy="2952750"/>
          </a:xfrm>
          <a:prstGeom prst="rect">
            <a:avLst/>
          </a:prstGeom>
          <a:noFill/>
          <a:ln>
            <a:noFill/>
          </a:ln>
        </p:spPr>
      </p:pic>
      <p:pic>
        <p:nvPicPr>
          <p:cNvPr id="104" name="Google Shape;104;p14" descr="image.png"/>
          <p:cNvPicPr preferRelativeResize="0"/>
          <p:nvPr/>
        </p:nvPicPr>
        <p:blipFill rotWithShape="1">
          <a:blip r:embed="rId2"/>
          <a:srcRect/>
          <a:stretch>
            <a:fillRect/>
          </a:stretch>
        </p:blipFill>
        <p:spPr>
          <a:xfrm>
            <a:off x="6334125" y="4180582"/>
            <a:ext cx="5095875" cy="1112341"/>
          </a:xfrm>
          <a:prstGeom prst="rect">
            <a:avLst/>
          </a:prstGeom>
          <a:noFill/>
          <a:ln>
            <a:noFill/>
          </a:ln>
        </p:spPr>
      </p:pic>
      <p:sp>
        <p:nvSpPr>
          <p:cNvPr id="105" name="Google Shape;105;p14"/>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4"/>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RESULTS // 2017</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graphicFrame>
        <p:nvGraphicFramePr>
          <p:cNvPr id="107" name="Google Shape;107;p14"/>
          <p:cNvGraphicFramePr/>
          <p:nvPr/>
        </p:nvGraphicFramePr>
        <p:xfrm>
          <a:off x="771525" y="2676525"/>
          <a:ext cx="5076825" cy="3000000"/>
        </p:xfrm>
        <a:graphic>
          <a:graphicData uri="http://schemas.openxmlformats.org/drawingml/2006/table">
            <a:tbl>
              <a:tblPr firstRow="1" bandRow="1">
                <a:noFill/>
                <a:tableStyleId>{3D7315D1-750A-4E69-9FDA-305B792DB219}</a:tableStyleId>
              </a:tblPr>
              <a:tblGrid>
                <a:gridCol w="1871375"/>
                <a:gridCol w="1657500"/>
                <a:gridCol w="1547950"/>
              </a:tblGrid>
              <a:tr h="488950">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生态等级</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面积占比 (%)</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状态评估</a:t>
                      </a:r>
                      <a:endParaRPr lang="en-US" sz="1050"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r>
              <a:tr h="488950">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优 (Excellent)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12.4%</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EF4444"/>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显著下降</a:t>
                      </a:r>
                      <a:endParaRPr lang="en-US" sz="1200" b="0" i="0" u="none" strike="noStrike" cap="none">
                        <a:solidFill>
                          <a:srgbClr val="EF4444"/>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88950">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良 (Good)</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31.2%</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88950">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中 (Moderate)</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38.5%</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0B981"/>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异常升高</a:t>
                      </a:r>
                      <a:endParaRPr lang="en-US" sz="1200" b="0" i="0" u="none" strike="noStrike" cap="none">
                        <a:solidFill>
                          <a:srgbClr val="10B981"/>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88950">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差 (Poor)</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14.3%</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488950">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极差 (Worst)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3.6%</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108" name="Google Shape;108;p14"/>
          <p:cNvSpPr txBox="1"/>
          <p:nvPr/>
        </p:nvSpPr>
        <p:spPr>
          <a:xfrm>
            <a:off x="6334125" y="2993826"/>
            <a:ext cx="535066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非生长季数据偏差</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09" name="Google Shape;109;p14"/>
          <p:cNvSpPr txBox="1"/>
          <p:nvPr/>
        </p:nvSpPr>
        <p:spPr>
          <a:xfrm>
            <a:off x="6334125" y="3441501"/>
            <a:ext cx="50958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2017年由于夏季云量极高（&gt;80%），被迫选用 </a:t>
            </a: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4月</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影像作为替代。</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0" name="Google Shape;110;p14"/>
          <p:cNvSpPr txBox="1"/>
          <p:nvPr/>
        </p:nvSpPr>
        <p:spPr>
          <a:xfrm>
            <a:off x="6562725" y="4371082"/>
            <a:ext cx="4676775"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因未处于植被生长旺盛季（6-9月），导致整体 NDVI 偏低，大量原属于“优良”的阔叶林区域被错分为“中等”质量，呈现出典型的季节性数据扰动特征。</a:t>
            </a:r>
            <a:endPar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11" name="Google Shape;111;p14"/>
          <p:cNvSpPr/>
          <p:nvPr/>
        </p:nvSpPr>
        <p:spPr>
          <a:xfrm>
            <a:off x="771525" y="3614737"/>
            <a:ext cx="187136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2" name="Google Shape;112;p14"/>
          <p:cNvSpPr/>
          <p:nvPr/>
        </p:nvSpPr>
        <p:spPr>
          <a:xfrm>
            <a:off x="2642889" y="3614737"/>
            <a:ext cx="165749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3" name="Google Shape;113;p14"/>
          <p:cNvSpPr/>
          <p:nvPr/>
        </p:nvSpPr>
        <p:spPr>
          <a:xfrm>
            <a:off x="4300388" y="3614737"/>
            <a:ext cx="154796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4" name="Google Shape;114;p14"/>
          <p:cNvSpPr/>
          <p:nvPr/>
        </p:nvSpPr>
        <p:spPr>
          <a:xfrm>
            <a:off x="771525" y="4110037"/>
            <a:ext cx="187136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5" name="Google Shape;115;p14"/>
          <p:cNvSpPr/>
          <p:nvPr/>
        </p:nvSpPr>
        <p:spPr>
          <a:xfrm>
            <a:off x="2642889" y="4110037"/>
            <a:ext cx="165749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6" name="Google Shape;116;p14"/>
          <p:cNvSpPr/>
          <p:nvPr/>
        </p:nvSpPr>
        <p:spPr>
          <a:xfrm>
            <a:off x="4300388" y="4110037"/>
            <a:ext cx="154796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7" name="Google Shape;117;p14"/>
          <p:cNvSpPr/>
          <p:nvPr/>
        </p:nvSpPr>
        <p:spPr>
          <a:xfrm>
            <a:off x="771525" y="4605337"/>
            <a:ext cx="187136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8" name="Google Shape;118;p14"/>
          <p:cNvSpPr/>
          <p:nvPr/>
        </p:nvSpPr>
        <p:spPr>
          <a:xfrm>
            <a:off x="2642889" y="4605337"/>
            <a:ext cx="165749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14"/>
          <p:cNvSpPr/>
          <p:nvPr/>
        </p:nvSpPr>
        <p:spPr>
          <a:xfrm>
            <a:off x="4300388" y="4605337"/>
            <a:ext cx="154796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0" name="Google Shape;120;p14"/>
          <p:cNvSpPr/>
          <p:nvPr/>
        </p:nvSpPr>
        <p:spPr>
          <a:xfrm>
            <a:off x="771525" y="5100637"/>
            <a:ext cx="187136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1" name="Google Shape;121;p14"/>
          <p:cNvSpPr/>
          <p:nvPr/>
        </p:nvSpPr>
        <p:spPr>
          <a:xfrm>
            <a:off x="2642889" y="5100637"/>
            <a:ext cx="165749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2" name="Google Shape;122;p14"/>
          <p:cNvSpPr/>
          <p:nvPr/>
        </p:nvSpPr>
        <p:spPr>
          <a:xfrm>
            <a:off x="4300388" y="5100637"/>
            <a:ext cx="154796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14"/>
          <p:cNvSpPr/>
          <p:nvPr/>
        </p:nvSpPr>
        <p:spPr>
          <a:xfrm>
            <a:off x="771525" y="5595937"/>
            <a:ext cx="1871364"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4" name="Google Shape;124;p14"/>
          <p:cNvSpPr/>
          <p:nvPr/>
        </p:nvSpPr>
        <p:spPr>
          <a:xfrm>
            <a:off x="2642889" y="5595937"/>
            <a:ext cx="1657498"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5" name="Google Shape;125;p14"/>
          <p:cNvSpPr/>
          <p:nvPr/>
        </p:nvSpPr>
        <p:spPr>
          <a:xfrm>
            <a:off x="4300388" y="5595937"/>
            <a:ext cx="1547961" cy="9525"/>
          </a:xfrm>
          <a:prstGeom prst="rect">
            <a:avLst/>
          </a:prstGeom>
          <a:solidFill>
            <a:srgbClr val="E5E7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6" name="Google Shape;126;p14"/>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2017年：季节性因素扰动</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27" name="Google Shape;127;p14"/>
          <p:cNvSpPr/>
          <p:nvPr/>
        </p:nvSpPr>
        <p:spPr>
          <a:xfrm>
            <a:off x="608076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8" name="Google Shape;128;p14"/>
          <p:cNvSpPr txBox="1"/>
          <p:nvPr/>
        </p:nvSpPr>
        <p:spPr>
          <a:xfrm>
            <a:off x="9786937" y="381000"/>
            <a:ext cx="16430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SYS_WARN: SEASONAL_BIAS</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2" name="图片 1" descr="2017年rsei5级分类图"/>
          <p:cNvPicPr>
            <a:picLocks noChangeAspect="1"/>
          </p:cNvPicPr>
          <p:nvPr/>
        </p:nvPicPr>
        <p:blipFill>
          <a:blip r:embed="rId3"/>
          <a:stretch>
            <a:fillRect/>
          </a:stretch>
        </p:blipFill>
        <p:spPr>
          <a:xfrm>
            <a:off x="8244205" y="823595"/>
            <a:ext cx="3185795" cy="2252345"/>
          </a:xfrm>
          <a:prstGeom prst="rect">
            <a:avLst/>
          </a:prstGeom>
        </p:spPr>
      </p:pic>
      <p:pic>
        <p:nvPicPr>
          <p:cNvPr id="18" name="图片 17" descr="title"/>
          <p:cNvPicPr>
            <a:picLocks noChangeAspect="1"/>
          </p:cNvPicPr>
          <p:nvPr/>
        </p:nvPicPr>
        <p:blipFill>
          <a:blip r:embed="rId4"/>
          <a:stretch>
            <a:fillRect/>
          </a:stretch>
        </p:blipFill>
        <p:spPr>
          <a:xfrm>
            <a:off x="3883025" y="5012690"/>
            <a:ext cx="1682115" cy="1720215"/>
          </a:xfrm>
          <a:prstGeom prst="rect">
            <a:avLst/>
          </a:prstGeom>
        </p:spPr>
      </p:pic>
      <p:pic>
        <p:nvPicPr>
          <p:cNvPr id="3" name="图片 2" descr="话题"/>
          <p:cNvPicPr>
            <a:picLocks noChangeAspect="1"/>
          </p:cNvPicPr>
          <p:nvPr/>
        </p:nvPicPr>
        <p:blipFill>
          <a:blip r:embed="rId5"/>
          <a:stretch>
            <a:fillRect/>
          </a:stretch>
        </p:blipFill>
        <p:spPr>
          <a:xfrm>
            <a:off x="762000" y="1615440"/>
            <a:ext cx="1145540" cy="353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1" name="Google Shape;151;p16" descr="image.png"/>
          <p:cNvPicPr preferRelativeResize="0"/>
          <p:nvPr/>
        </p:nvPicPr>
        <p:blipFill rotWithShape="1">
          <a:blip r:embed="rId1"/>
          <a:srcRect/>
          <a:stretch>
            <a:fillRect/>
          </a:stretch>
        </p:blipFill>
        <p:spPr>
          <a:xfrm>
            <a:off x="762000" y="2238375"/>
            <a:ext cx="5095875" cy="3810000"/>
          </a:xfrm>
          <a:prstGeom prst="rect">
            <a:avLst/>
          </a:prstGeom>
          <a:noFill/>
          <a:ln>
            <a:noFill/>
          </a:ln>
        </p:spPr>
      </p:pic>
      <p:sp>
        <p:nvSpPr>
          <p:cNvPr id="152" name="Google Shape;152;p16"/>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3" name="Google Shape;153;p16"/>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RESULTS // 2019</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54" name="Google Shape;154;p16" descr="image.png"/>
          <p:cNvPicPr preferRelativeResize="0"/>
          <p:nvPr/>
        </p:nvPicPr>
        <p:blipFill rotWithShape="1">
          <a:blip r:embed="rId2"/>
          <a:srcRect l="9" r="9"/>
          <a:stretch>
            <a:fillRect/>
          </a:stretch>
        </p:blipFill>
        <p:spPr>
          <a:xfrm>
            <a:off x="866775" y="2343150"/>
            <a:ext cx="4886325" cy="3600450"/>
          </a:xfrm>
          <a:prstGeom prst="rect">
            <a:avLst/>
          </a:prstGeom>
          <a:noFill/>
          <a:ln>
            <a:noFill/>
          </a:ln>
        </p:spPr>
      </p:pic>
      <p:sp>
        <p:nvSpPr>
          <p:cNvPr id="155" name="Google Shape;155;p16"/>
          <p:cNvSpPr txBox="1"/>
          <p:nvPr/>
        </p:nvSpPr>
        <p:spPr>
          <a:xfrm>
            <a:off x="6334125" y="2882354"/>
            <a:ext cx="535066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特大干旱事件印证</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6" name="Google Shape;156;p16"/>
          <p:cNvSpPr txBox="1"/>
          <p:nvPr/>
        </p:nvSpPr>
        <p:spPr>
          <a:xfrm>
            <a:off x="6334125" y="3330029"/>
            <a:ext cx="509587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通过交叉验证历史气象与灾情记录，成功归因了 RSEI 模型的异常报警：</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7" name="Google Shape;157;p16"/>
          <p:cNvSpPr txBox="1"/>
          <p:nvPr/>
        </p:nvSpPr>
        <p:spPr>
          <a:xfrm>
            <a:off x="6334125" y="4021484"/>
            <a:ext cx="5095875" cy="548580"/>
          </a:xfrm>
          <a:prstGeom prst="rect">
            <a:avLst/>
          </a:prstGeom>
          <a:noFill/>
          <a:ln>
            <a:noFill/>
          </a:ln>
        </p:spPr>
        <p:txBody>
          <a:bodyPr spcFirstLastPara="1" wrap="square" lIns="1334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降水锐减：</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2019年夏季襄阳遭遇特大干旱，核心降水季降雨量较往年锐减近四成。</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8" name="Google Shape;158;p16"/>
          <p:cNvSpPr txBox="1"/>
          <p:nvPr/>
        </p:nvSpPr>
        <p:spPr>
          <a:xfrm>
            <a:off x="6334125" y="4712940"/>
            <a:ext cx="5095875" cy="548580"/>
          </a:xfrm>
          <a:prstGeom prst="rect">
            <a:avLst/>
          </a:prstGeom>
          <a:noFill/>
          <a:ln>
            <a:noFill/>
          </a:ln>
        </p:spPr>
        <p:txBody>
          <a:bodyPr spcFirstLastPara="1" wrap="square" lIns="133475"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农业受灾：</a:t>
            </a:r>
            <a:r>
              <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持续高温干旱导致东南部大面积农作物受灾，植被枯萎直接导致 NDVI 下降及地表裸露 (SI 上升)。</a:t>
            </a:r>
            <a:endParaRPr lang="en-US" sz="135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59" name="Google Shape;159;p16" descr="image.png"/>
          <p:cNvPicPr preferRelativeResize="0"/>
          <p:nvPr/>
        </p:nvPicPr>
        <p:blipFill rotWithShape="1">
          <a:blip r:embed="rId3"/>
          <a:srcRect/>
          <a:stretch>
            <a:fillRect/>
          </a:stretch>
        </p:blipFill>
        <p:spPr>
          <a:xfrm>
            <a:off x="6334125" y="4054822"/>
            <a:ext cx="133498" cy="200025"/>
          </a:xfrm>
          <a:prstGeom prst="rect">
            <a:avLst/>
          </a:prstGeom>
          <a:noFill/>
          <a:ln>
            <a:noFill/>
          </a:ln>
        </p:spPr>
      </p:pic>
      <p:pic>
        <p:nvPicPr>
          <p:cNvPr id="160" name="Google Shape;160;p16" descr="image.png"/>
          <p:cNvPicPr preferRelativeResize="0"/>
          <p:nvPr/>
        </p:nvPicPr>
        <p:blipFill rotWithShape="1">
          <a:blip r:embed="rId4"/>
          <a:srcRect/>
          <a:stretch>
            <a:fillRect/>
          </a:stretch>
        </p:blipFill>
        <p:spPr>
          <a:xfrm>
            <a:off x="6334125" y="4746277"/>
            <a:ext cx="133498" cy="200025"/>
          </a:xfrm>
          <a:prstGeom prst="rect">
            <a:avLst/>
          </a:prstGeom>
          <a:noFill/>
          <a:ln>
            <a:noFill/>
          </a:ln>
        </p:spPr>
      </p:pic>
      <p:sp>
        <p:nvSpPr>
          <p:cNvPr id="161" name="Google Shape;161;p16"/>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2019年：环境灾害归因</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62" name="Google Shape;162;p16"/>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3" name="Google Shape;163;p16"/>
          <p:cNvSpPr txBox="1"/>
          <p:nvPr/>
        </p:nvSpPr>
        <p:spPr>
          <a:xfrm>
            <a:off x="10072687" y="381000"/>
            <a:ext cx="135731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ROOT_CAUSE_ANALYSIS</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6" name="图片 15" descr="三角"/>
          <p:cNvPicPr>
            <a:picLocks noChangeAspect="1"/>
          </p:cNvPicPr>
          <p:nvPr/>
        </p:nvPicPr>
        <p:blipFill>
          <a:blip r:embed="rId5"/>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5"/>
          <a:stretch>
            <a:fillRect/>
          </a:stretch>
        </p:blipFill>
        <p:spPr>
          <a:xfrm>
            <a:off x="9926320" y="1403985"/>
            <a:ext cx="767715" cy="748665"/>
          </a:xfrm>
          <a:prstGeom prst="rect">
            <a:avLst/>
          </a:prstGeom>
        </p:spPr>
      </p:pic>
      <p:pic>
        <p:nvPicPr>
          <p:cNvPr id="5" name="图片 4" descr="话题"/>
          <p:cNvPicPr>
            <a:picLocks noChangeAspect="1"/>
          </p:cNvPicPr>
          <p:nvPr/>
        </p:nvPicPr>
        <p:blipFill>
          <a:blip r:embed="rId6"/>
          <a:stretch>
            <a:fillRect/>
          </a:stretch>
        </p:blipFill>
        <p:spPr>
          <a:xfrm>
            <a:off x="762000" y="1615440"/>
            <a:ext cx="1145540" cy="353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5" name="Google Shape;85;p13" descr="image.png"/>
          <p:cNvPicPr preferRelativeResize="0"/>
          <p:nvPr/>
        </p:nvPicPr>
        <p:blipFill rotWithShape="1">
          <a:blip r:embed="rId1"/>
          <a:srcRect/>
          <a:stretch>
            <a:fillRect/>
          </a:stretch>
        </p:blipFill>
        <p:spPr>
          <a:xfrm>
            <a:off x="6286500" y="1371600"/>
            <a:ext cx="5143500" cy="5010150"/>
          </a:xfrm>
          <a:prstGeom prst="rect">
            <a:avLst/>
          </a:prstGeom>
          <a:noFill/>
          <a:ln>
            <a:noFill/>
          </a:ln>
        </p:spPr>
      </p:pic>
      <p:pic>
        <p:nvPicPr>
          <p:cNvPr id="86" name="Google Shape;86;p13" descr="image.png"/>
          <p:cNvPicPr preferRelativeResize="0"/>
          <p:nvPr/>
        </p:nvPicPr>
        <p:blipFill rotWithShape="1">
          <a:blip r:embed="rId2"/>
          <a:srcRect/>
          <a:stretch>
            <a:fillRect/>
          </a:stretch>
        </p:blipFill>
        <p:spPr>
          <a:xfrm>
            <a:off x="762000" y="2564765"/>
            <a:ext cx="5143500" cy="1896110"/>
          </a:xfrm>
          <a:prstGeom prst="rect">
            <a:avLst/>
          </a:prstGeom>
          <a:noFill/>
          <a:ln>
            <a:noFill/>
          </a:ln>
        </p:spPr>
      </p:pic>
      <p:sp>
        <p:nvSpPr>
          <p:cNvPr id="88" name="Google Shape;88;p13"/>
          <p:cNvSpPr/>
          <p:nvPr/>
        </p:nvSpPr>
        <p:spPr>
          <a:xfrm>
            <a:off x="9486900" y="5770880"/>
            <a:ext cx="1790700" cy="458470"/>
          </a:xfrm>
          <a:prstGeom prst="rect">
            <a:avLst/>
          </a:prstGeom>
          <a:solidFill>
            <a:srgbClr val="1A1A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9" name="Google Shape;89;p13"/>
          <p:cNvSpPr txBox="1"/>
          <p:nvPr/>
        </p:nvSpPr>
        <p:spPr>
          <a:xfrm>
            <a:off x="9582150" y="5879465"/>
            <a:ext cx="1600200" cy="31178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SRC: LANDSAT_9 // PCA_RESULT</a:t>
            </a:r>
            <a:endPar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90" name="Google Shape;90;p13"/>
          <p:cNvSpPr/>
          <p:nvPr/>
        </p:nvSpPr>
        <p:spPr>
          <a:xfrm>
            <a:off x="3262312" y="3305175"/>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1" name="Google Shape;91;p13"/>
          <p:cNvSpPr txBox="1"/>
          <p:nvPr/>
        </p:nvSpPr>
        <p:spPr>
          <a:xfrm>
            <a:off x="1009650" y="2812256"/>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生态质量显著回升</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txBox="1"/>
          <p:nvPr/>
        </p:nvSpPr>
        <p:spPr>
          <a:xfrm>
            <a:off x="1009650" y="3212306"/>
            <a:ext cx="4648200" cy="7286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基于 Landsat 9 数据的最新监测显示，襄阳市生态质量出现显著修复。“良”与“中等”等级面积占比合计超过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60%</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，占据绝对主体。随着生态治理初见成效，区域整体环境健康度优于历史低点。</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3" name="Google Shape;93;p13"/>
          <p:cNvSpPr/>
          <p:nvPr/>
        </p:nvSpPr>
        <p:spPr>
          <a:xfrm>
            <a:off x="762000" y="4379118"/>
            <a:ext cx="5143500" cy="166687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94" name="Google Shape;94;p13"/>
          <p:cNvGraphicFramePr/>
          <p:nvPr/>
        </p:nvGraphicFramePr>
        <p:xfrm>
          <a:off x="762000" y="4379118"/>
          <a:ext cx="5133950" cy="3000000"/>
        </p:xfrm>
        <a:graphic>
          <a:graphicData uri="http://schemas.openxmlformats.org/drawingml/2006/table">
            <a:tbl>
              <a:tblPr firstRow="1" bandRow="1">
                <a:noFill/>
                <a:tableStyleId>{17E4E0FE-5B39-4C9A-9516-ADE8BFFB904D}</a:tableStyleId>
              </a:tblPr>
              <a:tblGrid>
                <a:gridCol w="1189725"/>
                <a:gridCol w="1557475"/>
                <a:gridCol w="2386750"/>
              </a:tblGrid>
              <a:tr h="416725">
                <a:tc>
                  <a:txBody>
                    <a:bodyPr/>
                    <a:lstStyle/>
                    <a:p>
                      <a:pPr marL="0" marR="0" lvl="0" indent="0" algn="l" rtl="0">
                        <a:spcBef>
                          <a:spcPts val="0"/>
                        </a:spcBef>
                        <a:spcAft>
                          <a:spcPts val="0"/>
                        </a:spcAft>
                        <a:buNone/>
                      </a:pPr>
                      <a:r>
                        <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生态等级</a:t>
                      </a:r>
                      <a:endPar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面积占比 (%)</a:t>
                      </a:r>
                      <a:endPar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c>
                  <a:txBody>
                    <a:bodyPr/>
                    <a:lstStyle/>
                    <a:p>
                      <a:pPr marL="0" marR="0" lvl="0" indent="0" algn="l" rtl="0">
                        <a:spcBef>
                          <a:spcPts val="0"/>
                        </a:spcBef>
                        <a:spcAft>
                          <a:spcPts val="0"/>
                        </a:spcAft>
                        <a:buNone/>
                      </a:pPr>
                      <a:r>
                        <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描述</a:t>
                      </a:r>
                      <a:endParaRPr lang="en-US" sz="975" b="1"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A1A1A"/>
                    </a:solidFill>
                  </a:tcPr>
                </a:tc>
              </a:tr>
              <a:tr h="416725">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优 (Ex)</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11.4%</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主要分布于外围林地</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416725">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良 (Gd)</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BFCFD"/>
                    </a:solidFill>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36.8%</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BFCFD"/>
                    </a:solidFill>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生态主干区域</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BFCFD"/>
                    </a:solidFill>
                  </a:tcPr>
                </a:tc>
              </a:tr>
              <a:tr h="416725">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中 (Md)</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25.2%</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过渡农田区域</a:t>
                      </a:r>
                      <a:endParaRPr lang="en-US" sz="1125"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95" name="Google Shape;95;p13"/>
          <p:cNvSpPr txBox="1"/>
          <p:nvPr/>
        </p:nvSpPr>
        <p:spPr>
          <a:xfrm>
            <a:off x="762000" y="2174081"/>
            <a:ext cx="1311473" cy="3225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PC1 CONTRIBUTION</a:t>
            </a:r>
            <a:endParaRPr 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p>
            <a:pPr marL="0" marR="0" lvl="0" indent="0" algn="l" rtl="0">
              <a:spcBef>
                <a:spcPts val="0"/>
              </a:spcBef>
              <a:spcAft>
                <a:spcPts val="0"/>
              </a:spcAft>
              <a:buNone/>
            </a:pPr>
            <a:r>
              <a:rPr lang="en-US" altLang="zh-CN"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PC1</a:t>
            </a:r>
            <a:r>
              <a:rPr lang="zh-CN" alt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贡献率</a:t>
            </a:r>
            <a:endParaRPr lang="zh-CN" alt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6" name="Google Shape;96;p13"/>
          <p:cNvSpPr txBox="1"/>
          <p:nvPr/>
        </p:nvSpPr>
        <p:spPr>
          <a:xfrm>
            <a:off x="2654300" y="2174240"/>
            <a:ext cx="1912620" cy="15176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RSEI MEAN VALUE</a:t>
            </a:r>
            <a:endParaRPr 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a:p>
            <a:pPr marL="0" marR="0" lvl="0" indent="0" algn="l" rtl="0">
              <a:spcBef>
                <a:spcPts val="0"/>
              </a:spcBef>
              <a:spcAft>
                <a:spcPts val="0"/>
              </a:spcAft>
              <a:buNone/>
            </a:pPr>
            <a:r>
              <a:rPr lang="en-US" altLang="zh-CN"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RSEI</a:t>
            </a:r>
            <a:r>
              <a:rPr lang="zh-CN" alt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均值</a:t>
            </a:r>
            <a:endParaRPr lang="zh-CN" altLang="en-US" sz="1050" b="0" i="0" u="none" strike="noStrike" cap="none">
              <a:solidFill>
                <a:srgbClr val="64748B"/>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97" name="Google Shape;97;p13" descr="image.png"/>
          <p:cNvPicPr preferRelativeResize="0"/>
          <p:nvPr/>
        </p:nvPicPr>
        <p:blipFill rotWithShape="1">
          <a:blip r:embed="rId3"/>
          <a:srcRect/>
          <a:stretch>
            <a:fillRect/>
          </a:stretch>
        </p:blipFill>
        <p:spPr>
          <a:xfrm>
            <a:off x="762000" y="1716881"/>
            <a:ext cx="1009650" cy="390525"/>
          </a:xfrm>
          <a:prstGeom prst="rect">
            <a:avLst/>
          </a:prstGeom>
          <a:noFill/>
          <a:ln>
            <a:noFill/>
          </a:ln>
        </p:spPr>
      </p:pic>
      <p:pic>
        <p:nvPicPr>
          <p:cNvPr id="98" name="Google Shape;98;p13" descr="image.png"/>
          <p:cNvPicPr preferRelativeResize="0"/>
          <p:nvPr/>
        </p:nvPicPr>
        <p:blipFill rotWithShape="1">
          <a:blip r:embed="rId4"/>
          <a:srcRect/>
          <a:stretch>
            <a:fillRect/>
          </a:stretch>
        </p:blipFill>
        <p:spPr>
          <a:xfrm>
            <a:off x="2654498" y="1716881"/>
            <a:ext cx="1009650" cy="390525"/>
          </a:xfrm>
          <a:prstGeom prst="rect">
            <a:avLst/>
          </a:prstGeom>
          <a:noFill/>
          <a:ln>
            <a:noFill/>
          </a:ln>
        </p:spPr>
      </p:pic>
      <p:sp>
        <p:nvSpPr>
          <p:cNvPr id="99" name="Google Shape;99;p13"/>
          <p:cNvSpPr/>
          <p:nvPr/>
        </p:nvSpPr>
        <p:spPr>
          <a:xfrm>
            <a:off x="766762" y="5193506"/>
            <a:ext cx="11897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0" name="Google Shape;100;p13"/>
          <p:cNvSpPr/>
          <p:nvPr/>
        </p:nvSpPr>
        <p:spPr>
          <a:xfrm>
            <a:off x="1956494" y="5193506"/>
            <a:ext cx="15574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1" name="Google Shape;101;p13"/>
          <p:cNvSpPr/>
          <p:nvPr/>
        </p:nvSpPr>
        <p:spPr>
          <a:xfrm>
            <a:off x="3513980" y="5193506"/>
            <a:ext cx="23867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2" name="Google Shape;102;p13"/>
          <p:cNvSpPr/>
          <p:nvPr/>
        </p:nvSpPr>
        <p:spPr>
          <a:xfrm>
            <a:off x="766762" y="5612606"/>
            <a:ext cx="11897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3" name="Google Shape;103;p13"/>
          <p:cNvSpPr/>
          <p:nvPr/>
        </p:nvSpPr>
        <p:spPr>
          <a:xfrm>
            <a:off x="1956494" y="5612606"/>
            <a:ext cx="15574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4" name="Google Shape;104;p13"/>
          <p:cNvSpPr/>
          <p:nvPr/>
        </p:nvSpPr>
        <p:spPr>
          <a:xfrm>
            <a:off x="3513980" y="5612606"/>
            <a:ext cx="23867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13"/>
          <p:cNvSpPr/>
          <p:nvPr/>
        </p:nvSpPr>
        <p:spPr>
          <a:xfrm>
            <a:off x="766762" y="6031706"/>
            <a:ext cx="118973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6" name="Google Shape;106;p13"/>
          <p:cNvSpPr/>
          <p:nvPr/>
        </p:nvSpPr>
        <p:spPr>
          <a:xfrm>
            <a:off x="1956494" y="6031706"/>
            <a:ext cx="155748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7" name="Google Shape;107;p13"/>
          <p:cNvSpPr/>
          <p:nvPr/>
        </p:nvSpPr>
        <p:spPr>
          <a:xfrm>
            <a:off x="3513980" y="6031706"/>
            <a:ext cx="238675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8" name="Google Shape;108;p13"/>
          <p:cNvSpPr/>
          <p:nvPr/>
        </p:nvSpPr>
        <p:spPr>
          <a:xfrm>
            <a:off x="11239500" y="285750"/>
            <a:ext cx="381000" cy="3810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9" name="Google Shape;109;p13"/>
          <p:cNvSpPr/>
          <p:nvPr/>
        </p:nvSpPr>
        <p:spPr>
          <a:xfrm>
            <a:off x="11180318" y="226569"/>
            <a:ext cx="404112" cy="404111"/>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1" name="Google Shape;111;p13"/>
          <p:cNvSpPr txBox="1"/>
          <p:nvPr/>
        </p:nvSpPr>
        <p:spPr>
          <a:xfrm>
            <a:off x="762000" y="285750"/>
            <a:ext cx="3805237"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REPORT_ID: Y2025_EVALUATION // MISSION_COMPLETE</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12" name="Google Shape;112;p13"/>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2025年：最新生态监测评估</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13" name="Google Shape;113;p13"/>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图片 2" descr="2025年rsei5级分类图"/>
          <p:cNvPicPr>
            <a:picLocks noChangeAspect="1"/>
          </p:cNvPicPr>
          <p:nvPr/>
        </p:nvPicPr>
        <p:blipFill>
          <a:blip r:embed="rId5"/>
          <a:stretch>
            <a:fillRect/>
          </a:stretch>
        </p:blipFill>
        <p:spPr>
          <a:xfrm>
            <a:off x="6410325" y="2057400"/>
            <a:ext cx="4935855" cy="3489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4465" y="3425825"/>
            <a:ext cx="9974580" cy="1242060"/>
          </a:xfrm>
          <a:prstGeom prst="rect">
            <a:avLst/>
          </a:prstGeom>
          <a:solidFill>
            <a:schemeClr val="bg1">
              <a:alpha val="5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方正博雅宋大字库" panose="02010600010101010101" charset="-122"/>
            </a:endParaRPr>
          </a:p>
        </p:txBody>
      </p:sp>
      <p:sp>
        <p:nvSpPr>
          <p:cNvPr id="6" name="文本框 5"/>
          <p:cNvSpPr txBox="1"/>
          <p:nvPr/>
        </p:nvSpPr>
        <p:spPr>
          <a:xfrm>
            <a:off x="4053600" y="2047961"/>
            <a:ext cx="4341600" cy="1322070"/>
          </a:xfrm>
          <a:prstGeom prst="rect">
            <a:avLst/>
          </a:prstGeom>
          <a:noFill/>
        </p:spPr>
        <p:txBody>
          <a:bodyPr wrap="square" rtlCol="0">
            <a:spAutoFit/>
          </a:bodyPr>
          <a:lstStyle/>
          <a:p>
            <a:pPr algn="ctr"/>
            <a:r>
              <a:rPr lang="zh-CN" altLang="en-US"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章节</a:t>
            </a:r>
            <a:r>
              <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5</a:t>
            </a:r>
            <a:endParaRPr lang="en-US" altLang="zh-CN" sz="8000" spc="-30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7" name="文本框 6"/>
          <p:cNvSpPr txBox="1"/>
          <p:nvPr/>
        </p:nvSpPr>
        <p:spPr>
          <a:xfrm>
            <a:off x="922655" y="3425190"/>
            <a:ext cx="11104880" cy="1322070"/>
          </a:xfrm>
          <a:prstGeom prst="rect">
            <a:avLst/>
          </a:prstGeom>
          <a:noFill/>
        </p:spPr>
        <p:txBody>
          <a:bodyPr wrap="square" rtlCol="0">
            <a:spAutoFit/>
          </a:bodyPr>
          <a:lstStyle/>
          <a:p>
            <a:pPr algn="ctr"/>
            <a:r>
              <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rPr>
              <a:t>总结与结论</a:t>
            </a:r>
            <a:endParaRPr lang="zh-CN" altLang="en-US" sz="8000" b="1" spc="-300" dirty="0">
              <a:solidFill>
                <a:schemeClr val="tx1">
                  <a:lumMod val="75000"/>
                  <a:lumOff val="25000"/>
                </a:schemeClr>
              </a:solidFill>
              <a:latin typeface="方正博雅宋大字库" panose="02010600010101010101" charset="-122"/>
              <a:ea typeface="方正博雅宋大字库" panose="02010600010101010101" charset="-122"/>
              <a:cs typeface="方正博雅宋大字库" panose="02010600010101010101"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90800" y="1655109"/>
            <a:ext cx="1558145" cy="333477"/>
          </a:xfrm>
          <a:prstGeom prst="rect">
            <a:avLst/>
          </a:prstGeom>
        </p:spPr>
      </p:pic>
      <p:sp>
        <p:nvSpPr>
          <p:cNvPr id="10" name="文本框 9"/>
          <p:cNvSpPr txBox="1"/>
          <p:nvPr/>
        </p:nvSpPr>
        <p:spPr>
          <a:xfrm>
            <a:off x="5693410" y="1632585"/>
            <a:ext cx="1456055" cy="398780"/>
          </a:xfrm>
          <a:prstGeom prst="rect">
            <a:avLst/>
          </a:prstGeom>
          <a:noFill/>
        </p:spPr>
        <p:txBody>
          <a:bodyPr wrap="square" rtlCol="0">
            <a:spAutoFit/>
          </a:bodyPr>
          <a:lstStyle/>
          <a:p>
            <a:pPr algn="ctr"/>
            <a:r>
              <a:rPr lang="en-US" altLang="zh-CN"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rPr>
              <a:t>EPISODE 5</a:t>
            </a:r>
            <a:endParaRPr lang="zh-CN" altLang="en-US" sz="2000" spc="-150" dirty="0">
              <a:solidFill>
                <a:schemeClr val="tx1">
                  <a:lumMod val="75000"/>
                  <a:lumOff val="25000"/>
                </a:schemeClr>
              </a:solidFill>
              <a:latin typeface="方正大黑体_GBK" panose="02010600010101010101" charset="-122"/>
              <a:ea typeface="方正大黑体_GBK" panose="02010600010101010101" charset="-122"/>
              <a:cs typeface="方正大黑体_GBK" panose="02010600010101010101" charset="-122"/>
            </a:endParaRPr>
          </a:p>
        </p:txBody>
      </p:sp>
      <p:sp>
        <p:nvSpPr>
          <p:cNvPr id="85" name="Google Shape;85;p13"/>
          <p:cNvSpPr/>
          <p:nvPr/>
        </p:nvSpPr>
        <p:spPr>
          <a:xfrm>
            <a:off x="762000" y="1333500"/>
            <a:ext cx="932705" cy="2286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876300" y="1371600"/>
            <a:ext cx="704105" cy="161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5</a:t>
            </a:r>
            <a:endParaRPr lang="en-US" sz="10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92" name="Google Shape;92;p13"/>
          <p:cNvSpPr/>
          <p:nvPr/>
        </p:nvSpPr>
        <p:spPr>
          <a:xfrm>
            <a:off x="2611755" y="6598285"/>
            <a:ext cx="952500" cy="762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3" name="Google Shape;93;p13"/>
          <p:cNvSpPr txBox="1"/>
          <p:nvPr/>
        </p:nvSpPr>
        <p:spPr>
          <a:xfrm>
            <a:off x="216108" y="6569710"/>
            <a:ext cx="2796331"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DYNAMIC ASSESSMENT // RSEI MODEL</a:t>
            </a:r>
            <a:endParaRPr lang="en-US" sz="900" b="1" i="0" u="none" strike="noStrike" cap="none">
              <a:solidFill>
                <a:srgbClr val="9CA3AF"/>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表格 1"/>
          <p:cNvGraphicFramePr/>
          <p:nvPr/>
        </p:nvGraphicFramePr>
        <p:xfrm>
          <a:off x="455295" y="2597658"/>
          <a:ext cx="14683740" cy="2720975"/>
        </p:xfrm>
        <a:graphic>
          <a:graphicData uri="http://schemas.openxmlformats.org/drawingml/2006/table">
            <a:tbl>
              <a:tblPr/>
              <a:tblGrid>
                <a:gridCol w="586740"/>
                <a:gridCol w="739140"/>
                <a:gridCol w="1061720"/>
                <a:gridCol w="880745"/>
                <a:gridCol w="833755"/>
                <a:gridCol w="948055"/>
                <a:gridCol w="776605"/>
                <a:gridCol w="1507490"/>
                <a:gridCol w="814705"/>
                <a:gridCol w="833755"/>
                <a:gridCol w="947420"/>
                <a:gridCol w="1042670"/>
              </a:tblGrid>
              <a:tr h="296545">
                <a:tc>
                  <a:txBody>
                    <a:bodyPr/>
                    <a:p>
                      <a:pPr algn="ctr" fontAlgn="ctr"/>
                      <a:r>
                        <a:rPr lang="zh-CN" altLang="en-US" sz="800" b="1" i="0">
                          <a:solidFill>
                            <a:srgbClr val="FFFFFF"/>
                          </a:solidFill>
                          <a:latin typeface="微软雅黑" panose="020B0503020204020204" charset="-122"/>
                          <a:ea typeface="微软雅黑" panose="020B0503020204020204" charset="-122"/>
                        </a:rPr>
                        <a:t>年份</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zh-CN" altLang="en-US" sz="800" b="1" i="0">
                          <a:solidFill>
                            <a:srgbClr val="FFFFFF"/>
                          </a:solidFill>
                          <a:latin typeface="微软雅黑" panose="020B0503020204020204" charset="-122"/>
                          <a:ea typeface="微软雅黑" panose="020B0503020204020204" charset="-122"/>
                        </a:rPr>
                        <a:t>云量</a:t>
                      </a:r>
                      <a:r>
                        <a:rPr lang="en-US" altLang="zh-CN" sz="800" b="1" i="0">
                          <a:solidFill>
                            <a:srgbClr val="FFFFFF"/>
                          </a:solidFill>
                          <a:latin typeface="微软雅黑" panose="020B0503020204020204" charset="-122"/>
                          <a:ea typeface="微软雅黑" panose="020B0503020204020204" charset="-122"/>
                        </a:rPr>
                        <a:t>/%</a:t>
                      </a:r>
                      <a:endParaRPr lang="en-US" altLang="zh-CN"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PC1</a:t>
                      </a:r>
                      <a:r>
                        <a:rPr lang="zh-CN" altLang="en-US" sz="800" b="1" i="0">
                          <a:solidFill>
                            <a:srgbClr val="FFFFFF"/>
                          </a:solidFill>
                          <a:latin typeface="微软雅黑" panose="020B0503020204020204" charset="-122"/>
                          <a:ea typeface="微软雅黑" panose="020B0503020204020204" charset="-122"/>
                        </a:rPr>
                        <a:t>贡献率</a:t>
                      </a:r>
                      <a:r>
                        <a:rPr lang="en-US" altLang="zh-CN" sz="800" b="1" i="0">
                          <a:solidFill>
                            <a:srgbClr val="FFFFFF"/>
                          </a:solidFill>
                          <a:latin typeface="微软雅黑" panose="020B0503020204020204" charset="-122"/>
                          <a:ea typeface="微软雅黑" panose="020B0503020204020204" charset="-122"/>
                        </a:rPr>
                        <a:t>/%</a:t>
                      </a:r>
                      <a:endParaRPr lang="en-US" altLang="zh-CN"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NDVI</a:t>
                      </a:r>
                      <a:r>
                        <a:rPr lang="zh-CN" altLang="en-US" sz="800" b="1" i="0">
                          <a:solidFill>
                            <a:srgbClr val="FFFFFF"/>
                          </a:solidFill>
                          <a:latin typeface="微软雅黑" panose="020B0503020204020204" charset="-122"/>
                          <a:ea typeface="微软雅黑" panose="020B0503020204020204" charset="-122"/>
                        </a:rPr>
                        <a:t>载荷</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WET</a:t>
                      </a:r>
                      <a:r>
                        <a:rPr lang="zh-CN" altLang="en-US" sz="800" b="1" i="0">
                          <a:solidFill>
                            <a:srgbClr val="FFFFFF"/>
                          </a:solidFill>
                          <a:latin typeface="微软雅黑" panose="020B0503020204020204" charset="-122"/>
                          <a:ea typeface="微软雅黑" panose="020B0503020204020204" charset="-122"/>
                        </a:rPr>
                        <a:t>载荷</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NDBSI</a:t>
                      </a:r>
                      <a:r>
                        <a:rPr lang="zh-CN" altLang="en-US" sz="800" b="1" i="0">
                          <a:solidFill>
                            <a:srgbClr val="FFFFFF"/>
                          </a:solidFill>
                          <a:latin typeface="微软雅黑" panose="020B0503020204020204" charset="-122"/>
                          <a:ea typeface="微软雅黑" panose="020B0503020204020204" charset="-122"/>
                        </a:rPr>
                        <a:t>载荷</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LST</a:t>
                      </a:r>
                      <a:r>
                        <a:rPr lang="zh-CN" altLang="en-US" sz="800" b="1" i="0">
                          <a:solidFill>
                            <a:srgbClr val="FFFFFF"/>
                          </a:solidFill>
                          <a:latin typeface="微软雅黑" panose="020B0503020204020204" charset="-122"/>
                          <a:ea typeface="微软雅黑" panose="020B0503020204020204" charset="-122"/>
                        </a:rPr>
                        <a:t>载荷</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PC1</a:t>
                      </a:r>
                      <a:r>
                        <a:rPr lang="zh-CN" altLang="en-US" sz="800" b="1" i="0">
                          <a:solidFill>
                            <a:srgbClr val="FFFFFF"/>
                          </a:solidFill>
                          <a:latin typeface="微软雅黑" panose="020B0503020204020204" charset="-122"/>
                          <a:ea typeface="微软雅黑" panose="020B0503020204020204" charset="-122"/>
                        </a:rPr>
                        <a:t>方向</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zh-CN" altLang="en-US" sz="800" b="1" i="0">
                          <a:solidFill>
                            <a:srgbClr val="FFFFFF"/>
                          </a:solidFill>
                          <a:latin typeface="微软雅黑" panose="020B0503020204020204" charset="-122"/>
                          <a:ea typeface="微软雅黑" panose="020B0503020204020204" charset="-122"/>
                        </a:rPr>
                        <a:t>是否反转</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RSEI</a:t>
                      </a:r>
                      <a:r>
                        <a:rPr lang="zh-CN" altLang="en-US" sz="800" b="1" i="0">
                          <a:solidFill>
                            <a:srgbClr val="FFFFFF"/>
                          </a:solidFill>
                          <a:latin typeface="微软雅黑" panose="020B0503020204020204" charset="-122"/>
                          <a:ea typeface="微软雅黑" panose="020B0503020204020204" charset="-122"/>
                        </a:rPr>
                        <a:t>均值</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800" b="1" i="0">
                          <a:solidFill>
                            <a:srgbClr val="FFFFFF"/>
                          </a:solidFill>
                          <a:latin typeface="微软雅黑" panose="020B0503020204020204" charset="-122"/>
                          <a:ea typeface="微软雅黑" panose="020B0503020204020204" charset="-122"/>
                        </a:rPr>
                        <a:t>RSEI</a:t>
                      </a:r>
                      <a:r>
                        <a:rPr lang="zh-CN" altLang="en-US" sz="800" b="1" i="0">
                          <a:solidFill>
                            <a:srgbClr val="FFFFFF"/>
                          </a:solidFill>
                          <a:latin typeface="微软雅黑" panose="020B0503020204020204" charset="-122"/>
                          <a:ea typeface="微软雅黑" panose="020B0503020204020204" charset="-122"/>
                        </a:rPr>
                        <a:t>标准差</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c>
                  <a:txBody>
                    <a:bodyPr/>
                    <a:p>
                      <a:pPr algn="ctr" fontAlgn="ctr"/>
                      <a:r>
                        <a:rPr lang="zh-CN" altLang="en-US" sz="800" b="1" i="0">
                          <a:solidFill>
                            <a:srgbClr val="FFFFFF"/>
                          </a:solidFill>
                          <a:latin typeface="微软雅黑" panose="020B0503020204020204" charset="-122"/>
                          <a:ea typeface="微软雅黑" panose="020B0503020204020204" charset="-122"/>
                        </a:rPr>
                        <a:t>等级值估均值</a:t>
                      </a:r>
                      <a:endParaRPr lang="zh-CN" altLang="en-US" sz="800" b="1" i="0">
                        <a:solidFill>
                          <a:srgbClr val="FFFFFF"/>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000000"/>
                    </a:solidFill>
                  </a:tcPr>
                </a:tc>
              </a:tr>
              <a:tr h="289560">
                <a:tc>
                  <a:txBody>
                    <a:bodyPr/>
                    <a:p>
                      <a:pPr algn="ctr" fontAlgn="ctr"/>
                      <a:r>
                        <a:rPr lang="en-US" altLang="zh-CN" sz="800" b="0" i="0">
                          <a:solidFill>
                            <a:srgbClr val="000000"/>
                          </a:solidFill>
                          <a:latin typeface="微软雅黑" panose="020B0503020204020204" charset="-122"/>
                          <a:ea typeface="微软雅黑" panose="020B0503020204020204" charset="-122"/>
                        </a:rPr>
                        <a:t>2015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4.08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73.47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0.3914</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0.5451</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-0.6579</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-0.3418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0.623494</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0.209214</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r>
              <a:tr h="289560">
                <a:tc>
                  <a:txBody>
                    <a:bodyPr/>
                    <a:p>
                      <a:pPr algn="ctr" fontAlgn="ctr"/>
                      <a:r>
                        <a:rPr lang="en-US" altLang="zh-CN" sz="800" b="0" i="0">
                          <a:solidFill>
                            <a:srgbClr val="000000"/>
                          </a:solidFill>
                          <a:latin typeface="微软雅黑" panose="020B0503020204020204" charset="-122"/>
                          <a:ea typeface="微软雅黑" panose="020B0503020204020204" charset="-122"/>
                        </a:rPr>
                        <a:t>2017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0.95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67.16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0.4918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0.6427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-0.4671</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-0.3564</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生态正向（但季节偏早）</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0.595013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0.193183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r>
              <a:tr h="289560">
                <a:tc>
                  <a:txBody>
                    <a:bodyPr/>
                    <a:p>
                      <a:pPr algn="ctr" fontAlgn="ctr"/>
                      <a:r>
                        <a:rPr lang="en-US" altLang="zh-CN" sz="800" b="0" i="0">
                          <a:solidFill>
                            <a:srgbClr val="000000"/>
                          </a:solidFill>
                          <a:latin typeface="微软雅黑" panose="020B0503020204020204" charset="-122"/>
                          <a:ea typeface="微软雅黑" panose="020B0503020204020204" charset="-122"/>
                        </a:rPr>
                        <a:t>2019</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77.62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0.3362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0.5746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-0.6163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-0.4207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0.465798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0.224597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r>
              <a:tr h="288925">
                <a:tc>
                  <a:txBody>
                    <a:bodyPr/>
                    <a:p>
                      <a:pPr algn="ctr" fontAlgn="ctr"/>
                      <a:r>
                        <a:rPr lang="en-US" altLang="zh-CN" sz="800" b="0" i="0">
                          <a:solidFill>
                            <a:srgbClr val="000000"/>
                          </a:solidFill>
                          <a:latin typeface="微软雅黑" panose="020B0503020204020204" charset="-122"/>
                          <a:ea typeface="微软雅黑" panose="020B0503020204020204" charset="-122"/>
                        </a:rPr>
                        <a:t>2021</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65.11</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0.088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0.5536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-0.7302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-0.3906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0.460087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0.212869</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E6E6E6"/>
                    </a:solidFill>
                  </a:tcPr>
                </a:tc>
              </a:tr>
              <a:tr h="289560">
                <a:tc>
                  <a:txBody>
                    <a:bodyPr/>
                    <a:p>
                      <a:pPr algn="ctr" fontAlgn="ctr"/>
                      <a:r>
                        <a:rPr lang="en-US" altLang="zh-CN" sz="800" b="0" i="0">
                          <a:solidFill>
                            <a:srgbClr val="000000"/>
                          </a:solidFill>
                          <a:latin typeface="微软雅黑" panose="020B0503020204020204" charset="-122"/>
                          <a:ea typeface="微软雅黑" panose="020B0503020204020204" charset="-122"/>
                        </a:rPr>
                        <a:t>2023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10.78</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73.04</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0.2949</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0.5682</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-0.6523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-0.4076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0.351497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0.34056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a:noFill/>
                    </a:lnB>
                    <a:solidFill>
                      <a:srgbClr val="FFFFFF"/>
                    </a:solidFill>
                  </a:tcPr>
                </a:tc>
              </a:tr>
              <a:tr h="289560">
                <a:tc>
                  <a:txBody>
                    <a:bodyPr/>
                    <a:p>
                      <a:pPr algn="ctr" fontAlgn="ctr"/>
                      <a:r>
                        <a:rPr lang="en-US" altLang="zh-CN" sz="800" b="0" i="0">
                          <a:solidFill>
                            <a:srgbClr val="000000"/>
                          </a:solidFill>
                          <a:latin typeface="微软雅黑" panose="020B0503020204020204" charset="-122"/>
                          <a:ea typeface="微软雅黑" panose="020B0503020204020204" charset="-122"/>
                        </a:rPr>
                        <a:t>2025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4.75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72.05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0.3885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0.5356</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-0.6349</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-0.4025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生态正向</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zh-CN" altLang="en-US" sz="800" b="0" i="0">
                          <a:solidFill>
                            <a:srgbClr val="000000"/>
                          </a:solidFill>
                          <a:latin typeface="微软雅黑" panose="020B0503020204020204" charset="-122"/>
                          <a:ea typeface="微软雅黑" panose="020B0503020204020204" charset="-122"/>
                        </a:rPr>
                        <a:t>否</a:t>
                      </a:r>
                      <a:endParaRPr lang="zh-CN" altLang="en-US"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0.578163</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0.212975</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800" b="0" i="0">
                          <a:solidFill>
                            <a:srgbClr val="000000"/>
                          </a:solidFill>
                          <a:latin typeface="微软雅黑" panose="020B0503020204020204" charset="-122"/>
                          <a:ea typeface="微软雅黑" panose="020B0503020204020204" charset="-122"/>
                        </a:rPr>
                        <a:t>0.57</a:t>
                      </a:r>
                      <a:endParaRPr lang="en-US" altLang="zh-CN" sz="800" b="0" i="0">
                        <a:solidFill>
                          <a:srgbClr val="000000"/>
                        </a:solidFill>
                        <a:latin typeface="微软雅黑" panose="020B0503020204020204" charset="-122"/>
                        <a:ea typeface="微软雅黑" panose="020B0503020204020204"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r>
            </a:tbl>
          </a:graphicData>
        </a:graphic>
      </p:graphicFrame>
      <p:sp>
        <p:nvSpPr>
          <p:cNvPr id="205" name="Google Shape;205;p18"/>
          <p:cNvSpPr txBox="1"/>
          <p:nvPr/>
        </p:nvSpPr>
        <p:spPr>
          <a:xfrm>
            <a:off x="2096839" y="4734877"/>
            <a:ext cx="7998172" cy="368935"/>
          </a:xfrm>
          <a:prstGeom prst="rect">
            <a:avLst/>
          </a:prstGeom>
          <a:noFill/>
          <a:ln>
            <a:noFill/>
          </a:ln>
        </p:spPr>
        <p:txBody>
          <a:bodyPr spcFirstLastPara="1" wrap="square" lIns="118600" tIns="0" rIns="0" bIns="0" anchor="t" anchorCtr="0">
            <a:spAutoFit/>
          </a:bodyPr>
          <a:lstStyle/>
          <a:p>
            <a:pPr marL="0" marR="0" lvl="0" indent="0" algn="l" rtl="0">
              <a:spcBef>
                <a:spcPts val="0"/>
              </a:spcBef>
              <a:spcAft>
                <a:spcPts val="0"/>
              </a:spcAft>
              <a:buNone/>
            </a:pP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各期第一主成分（</a:t>
            </a:r>
            <a:r>
              <a:rPr lang="en-US" altLang="zh-CN"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PC1）</a:t>
            </a: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均稳定呈现出“绿度（</a:t>
            </a:r>
            <a:r>
              <a:rPr lang="en-US" altLang="zh-CN"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NDVI）</a:t>
            </a: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与湿度（</a:t>
            </a:r>
            <a:r>
              <a:rPr lang="en-US" altLang="zh-CN"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WET）</a:t>
            </a: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正向驱动、干度（</a:t>
            </a:r>
            <a:r>
              <a:rPr lang="en-US" altLang="zh-CN"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NDBSI）</a:t>
            </a: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与热度（</a:t>
            </a:r>
            <a:r>
              <a:rPr lang="en-US" altLang="zh-CN"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LST）</a:t>
            </a:r>
            <a:r>
              <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负向驱动”的特征。</a:t>
            </a:r>
            <a:endParaRPr lang="zh-CN" alt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208" name="Google Shape;208;p18" descr="image.png"/>
          <p:cNvPicPr preferRelativeResize="0"/>
          <p:nvPr/>
        </p:nvPicPr>
        <p:blipFill rotWithShape="1">
          <a:blip r:embed="rId1"/>
          <a:srcRect/>
          <a:stretch>
            <a:fillRect/>
          </a:stretch>
        </p:blipFill>
        <p:spPr>
          <a:xfrm>
            <a:off x="2038350" y="4734560"/>
            <a:ext cx="177165" cy="200025"/>
          </a:xfrm>
          <a:prstGeom prst="rect">
            <a:avLst/>
          </a:prstGeom>
          <a:noFill/>
          <a:ln>
            <a:noFill/>
          </a:ln>
        </p:spPr>
      </p:pic>
      <p:sp>
        <p:nvSpPr>
          <p:cNvPr id="175" name="Google Shape;175;p16"/>
          <p:cNvSpPr txBox="1"/>
          <p:nvPr/>
        </p:nvSpPr>
        <p:spPr>
          <a:xfrm>
            <a:off x="762000" y="285750"/>
            <a:ext cx="3400425" cy="127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EXCEL DATA // [2025 - 2015]</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6" name="Google Shape;176;p16"/>
          <p:cNvSpPr txBox="1"/>
          <p:nvPr/>
        </p:nvSpPr>
        <p:spPr>
          <a:xfrm>
            <a:off x="952500" y="476250"/>
            <a:ext cx="11001375" cy="5073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2015—2025：</a:t>
            </a:r>
            <a:r>
              <a:rPr lang="zh-CN" alt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整体数据汇总表格</a:t>
            </a:r>
            <a:endParaRPr lang="zh-CN" alt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7" name="Google Shape;177;p16"/>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5" name="图片 4" descr="话题"/>
          <p:cNvPicPr>
            <a:picLocks noChangeAspect="1"/>
          </p:cNvPicPr>
          <p:nvPr/>
        </p:nvPicPr>
        <p:blipFill>
          <a:blip r:embed="rId2"/>
          <a:stretch>
            <a:fillRect/>
          </a:stretch>
        </p:blipFill>
        <p:spPr>
          <a:xfrm>
            <a:off x="762000" y="1615440"/>
            <a:ext cx="1145540" cy="353695"/>
          </a:xfrm>
          <a:prstGeom prst="rect">
            <a:avLst/>
          </a:prstGeom>
        </p:spPr>
      </p:pic>
      <p:pic>
        <p:nvPicPr>
          <p:cNvPr id="16" name="图片 15" descr="三角"/>
          <p:cNvPicPr>
            <a:picLocks noChangeAspect="1"/>
          </p:cNvPicPr>
          <p:nvPr/>
        </p:nvPicPr>
        <p:blipFill>
          <a:blip r:embed="rId3"/>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3"/>
          <a:stretch>
            <a:fillRect/>
          </a:stretch>
        </p:blipFill>
        <p:spPr>
          <a:xfrm>
            <a:off x="9926320" y="1403985"/>
            <a:ext cx="767715" cy="74866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 name="Google Shape;175;p16"/>
          <p:cNvSpPr txBox="1"/>
          <p:nvPr/>
        </p:nvSpPr>
        <p:spPr>
          <a:xfrm>
            <a:off x="762000" y="285750"/>
            <a:ext cx="3400425" cy="127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EXCEL DATA // [2025 - 2015]</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7" name="Google Shape;177;p16"/>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5" name="图片 4" descr="话题"/>
          <p:cNvPicPr>
            <a:picLocks noChangeAspect="1"/>
          </p:cNvPicPr>
          <p:nvPr/>
        </p:nvPicPr>
        <p:blipFill>
          <a:blip r:embed="rId1"/>
          <a:stretch>
            <a:fillRect/>
          </a:stretch>
        </p:blipFill>
        <p:spPr>
          <a:xfrm>
            <a:off x="762000" y="1615440"/>
            <a:ext cx="1145540" cy="353695"/>
          </a:xfrm>
          <a:prstGeom prst="rect">
            <a:avLst/>
          </a:prstGeom>
        </p:spPr>
      </p:pic>
      <p:pic>
        <p:nvPicPr>
          <p:cNvPr id="16" name="图片 15" descr="三角"/>
          <p:cNvPicPr>
            <a:picLocks noChangeAspect="1"/>
          </p:cNvPicPr>
          <p:nvPr/>
        </p:nvPicPr>
        <p:blipFill>
          <a:blip r:embed="rId2"/>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2"/>
          <a:stretch>
            <a:fillRect/>
          </a:stretch>
        </p:blipFill>
        <p:spPr>
          <a:xfrm>
            <a:off x="9926320" y="1403985"/>
            <a:ext cx="767715" cy="748665"/>
          </a:xfrm>
          <a:prstGeom prst="rect">
            <a:avLst/>
          </a:prstGeom>
        </p:spPr>
      </p:pic>
      <p:pic>
        <p:nvPicPr>
          <p:cNvPr id="3" name="图片 2"/>
          <p:cNvPicPr>
            <a:picLocks noChangeAspect="1"/>
          </p:cNvPicPr>
          <p:nvPr/>
        </p:nvPicPr>
        <p:blipFill>
          <a:blip r:embed="rId3"/>
          <a:stretch>
            <a:fillRect/>
          </a:stretch>
        </p:blipFill>
        <p:spPr>
          <a:xfrm>
            <a:off x="762000" y="615950"/>
            <a:ext cx="10605770" cy="58458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 name="Google Shape;175;p16"/>
          <p:cNvSpPr txBox="1"/>
          <p:nvPr/>
        </p:nvSpPr>
        <p:spPr>
          <a:xfrm>
            <a:off x="762000" y="285750"/>
            <a:ext cx="3400425" cy="127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EXCEL DATA // [2025 - 2015]</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7" name="Google Shape;177;p16"/>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5" name="图片 4" descr="话题"/>
          <p:cNvPicPr>
            <a:picLocks noChangeAspect="1"/>
          </p:cNvPicPr>
          <p:nvPr/>
        </p:nvPicPr>
        <p:blipFill>
          <a:blip r:embed="rId1"/>
          <a:stretch>
            <a:fillRect/>
          </a:stretch>
        </p:blipFill>
        <p:spPr>
          <a:xfrm>
            <a:off x="762000" y="1615440"/>
            <a:ext cx="1145540" cy="353695"/>
          </a:xfrm>
          <a:prstGeom prst="rect">
            <a:avLst/>
          </a:prstGeom>
        </p:spPr>
      </p:pic>
      <p:pic>
        <p:nvPicPr>
          <p:cNvPr id="16" name="图片 15" descr="三角"/>
          <p:cNvPicPr>
            <a:picLocks noChangeAspect="1"/>
          </p:cNvPicPr>
          <p:nvPr/>
        </p:nvPicPr>
        <p:blipFill>
          <a:blip r:embed="rId2"/>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2"/>
          <a:stretch>
            <a:fillRect/>
          </a:stretch>
        </p:blipFill>
        <p:spPr>
          <a:xfrm>
            <a:off x="9926320" y="1403985"/>
            <a:ext cx="767715" cy="748665"/>
          </a:xfrm>
          <a:prstGeom prst="rect">
            <a:avLst/>
          </a:prstGeom>
        </p:spPr>
      </p:pic>
      <p:pic>
        <p:nvPicPr>
          <p:cNvPr id="2" name="图片 1"/>
          <p:cNvPicPr>
            <a:picLocks noChangeAspect="1"/>
          </p:cNvPicPr>
          <p:nvPr/>
        </p:nvPicPr>
        <p:blipFill>
          <a:blip r:embed="rId3"/>
          <a:stretch>
            <a:fillRect/>
          </a:stretch>
        </p:blipFill>
        <p:spPr>
          <a:xfrm>
            <a:off x="811530" y="306070"/>
            <a:ext cx="10187305" cy="63773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9" name="Google Shape;119;p14" descr="image.png"/>
          <p:cNvPicPr preferRelativeResize="0"/>
          <p:nvPr/>
        </p:nvPicPr>
        <p:blipFill rotWithShape="1">
          <a:blip r:embed="rId1"/>
          <a:srcRect/>
          <a:stretch>
            <a:fillRect/>
          </a:stretch>
        </p:blipFill>
        <p:spPr>
          <a:xfrm>
            <a:off x="762000" y="1371600"/>
            <a:ext cx="5143500" cy="5010150"/>
          </a:xfrm>
          <a:prstGeom prst="rect">
            <a:avLst/>
          </a:prstGeom>
          <a:noFill/>
          <a:ln>
            <a:noFill/>
          </a:ln>
        </p:spPr>
      </p:pic>
      <p:pic>
        <p:nvPicPr>
          <p:cNvPr id="120" name="Google Shape;120;p14" descr="image.png"/>
          <p:cNvPicPr preferRelativeResize="0"/>
          <p:nvPr/>
        </p:nvPicPr>
        <p:blipFill rotWithShape="1">
          <a:blip r:embed="rId2"/>
          <a:srcRect/>
          <a:stretch>
            <a:fillRect/>
          </a:stretch>
        </p:blipFill>
        <p:spPr>
          <a:xfrm>
            <a:off x="6286500" y="2424112"/>
            <a:ext cx="5143500" cy="2238375"/>
          </a:xfrm>
          <a:prstGeom prst="rect">
            <a:avLst/>
          </a:prstGeom>
          <a:noFill/>
          <a:ln>
            <a:noFill/>
          </a:ln>
        </p:spPr>
      </p:pic>
      <p:sp>
        <p:nvSpPr>
          <p:cNvPr id="122" name="Google Shape;122;p14"/>
          <p:cNvSpPr/>
          <p:nvPr/>
        </p:nvSpPr>
        <p:spPr>
          <a:xfrm>
            <a:off x="4019550" y="5818505"/>
            <a:ext cx="1733550" cy="410845"/>
          </a:xfrm>
          <a:prstGeom prst="rect">
            <a:avLst/>
          </a:prstGeom>
          <a:solidFill>
            <a:srgbClr val="1A1A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3" name="Google Shape;123;p14"/>
          <p:cNvSpPr txBox="1"/>
          <p:nvPr/>
        </p:nvSpPr>
        <p:spPr>
          <a:xfrm>
            <a:off x="4114800" y="5911850"/>
            <a:ext cx="1543050" cy="279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TREND: FLUCTUATING_RECOVERY</a:t>
            </a:r>
            <a:endPar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24" name="Google Shape;124;p14"/>
          <p:cNvSpPr/>
          <p:nvPr/>
        </p:nvSpPr>
        <p:spPr>
          <a:xfrm>
            <a:off x="8786812" y="3471862"/>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25" name="Google Shape;125;p14"/>
          <p:cNvSpPr txBox="1"/>
          <p:nvPr/>
        </p:nvSpPr>
        <p:spPr>
          <a:xfrm>
            <a:off x="6534150" y="2671762"/>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“波动中恢复”态势</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26" name="Google Shape;126;p14"/>
          <p:cNvSpPr txBox="1"/>
          <p:nvPr/>
        </p:nvSpPr>
        <p:spPr>
          <a:xfrm>
            <a:off x="6534150" y="3071812"/>
            <a:ext cx="4648200" cy="4857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纵观十年动态，襄阳市 RSEI 均值经历了</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先波动下降后强劲回升</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的过程：</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27" name="Google Shape;127;p14"/>
          <p:cNvSpPr txBox="1"/>
          <p:nvPr/>
        </p:nvSpPr>
        <p:spPr>
          <a:xfrm>
            <a:off x="6534150" y="3700462"/>
            <a:ext cx="4648200" cy="200025"/>
          </a:xfrm>
          <a:prstGeom prst="rect">
            <a:avLst/>
          </a:prstGeom>
          <a:noFill/>
          <a:ln>
            <a:noFill/>
          </a:ln>
        </p:spPr>
        <p:txBody>
          <a:bodyPr spcFirstLastPara="1" wrap="square" lIns="21385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2015-2023年呈下行波动，于2023年触及低点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(0.3515)</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28" name="Google Shape;128;p14"/>
          <p:cNvSpPr txBox="1"/>
          <p:nvPr/>
        </p:nvSpPr>
        <p:spPr>
          <a:xfrm>
            <a:off x="6534150" y="4014787"/>
            <a:ext cx="4648200" cy="400050"/>
          </a:xfrm>
          <a:prstGeom prst="rect">
            <a:avLst/>
          </a:prstGeom>
          <a:noFill/>
          <a:ln>
            <a:noFill/>
          </a:ln>
        </p:spPr>
        <p:txBody>
          <a:bodyPr spcFirstLastPara="1" wrap="square" lIns="21385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2025年受有利气候及政策导向影响，实现均值大幅反弹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(0.5782)</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29" name="Google Shape;129;p14" descr="image.png"/>
          <p:cNvPicPr preferRelativeResize="0"/>
          <p:nvPr/>
        </p:nvPicPr>
        <p:blipFill rotWithShape="1">
          <a:blip r:embed="rId3"/>
          <a:srcRect/>
          <a:stretch>
            <a:fillRect/>
          </a:stretch>
        </p:blipFill>
        <p:spPr>
          <a:xfrm>
            <a:off x="6534150" y="3709987"/>
            <a:ext cx="118616" cy="171450"/>
          </a:xfrm>
          <a:prstGeom prst="rect">
            <a:avLst/>
          </a:prstGeom>
          <a:noFill/>
          <a:ln>
            <a:noFill/>
          </a:ln>
        </p:spPr>
      </p:pic>
      <p:pic>
        <p:nvPicPr>
          <p:cNvPr id="130" name="Google Shape;130;p14" descr="image.png"/>
          <p:cNvPicPr preferRelativeResize="0"/>
          <p:nvPr/>
        </p:nvPicPr>
        <p:blipFill rotWithShape="1">
          <a:blip r:embed="rId4"/>
          <a:srcRect/>
          <a:stretch>
            <a:fillRect/>
          </a:stretch>
        </p:blipFill>
        <p:spPr>
          <a:xfrm>
            <a:off x="6534150" y="4024312"/>
            <a:ext cx="118616" cy="171450"/>
          </a:xfrm>
          <a:prstGeom prst="rect">
            <a:avLst/>
          </a:prstGeom>
          <a:noFill/>
          <a:ln>
            <a:noFill/>
          </a:ln>
        </p:spPr>
      </p:pic>
      <p:sp>
        <p:nvSpPr>
          <p:cNvPr id="131" name="Google Shape;131;p14"/>
          <p:cNvSpPr/>
          <p:nvPr/>
        </p:nvSpPr>
        <p:spPr>
          <a:xfrm>
            <a:off x="11239500" y="285750"/>
            <a:ext cx="285750" cy="2857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2" name="Google Shape;132;p14"/>
          <p:cNvSpPr/>
          <p:nvPr/>
        </p:nvSpPr>
        <p:spPr>
          <a:xfrm>
            <a:off x="6286500" y="4948237"/>
            <a:ext cx="381000" cy="3810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33" name="Google Shape;133;p14"/>
          <p:cNvSpPr txBox="1"/>
          <p:nvPr/>
        </p:nvSpPr>
        <p:spPr>
          <a:xfrm>
            <a:off x="762000" y="285750"/>
            <a:ext cx="37242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TIMELINE_ANALYSIS: 2015-2025 // TREND_DETECTED</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34" name="Google Shape;134;p14"/>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十年演变宏观趋势：均值动态</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35" name="Google Shape;135;p14"/>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图片 1" descr="RSEI_2015_2025均值折线图_中文修正版"/>
          <p:cNvPicPr>
            <a:picLocks noChangeAspect="1"/>
          </p:cNvPicPr>
          <p:nvPr/>
        </p:nvPicPr>
        <p:blipFill>
          <a:blip r:embed="rId5"/>
          <a:stretch>
            <a:fillRect/>
          </a:stretch>
        </p:blipFill>
        <p:spPr>
          <a:xfrm>
            <a:off x="934085" y="2359660"/>
            <a:ext cx="4819015" cy="28708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1" name="Google Shape;141;p15" descr="image.png"/>
          <p:cNvPicPr preferRelativeResize="0"/>
          <p:nvPr/>
        </p:nvPicPr>
        <p:blipFill rotWithShape="1">
          <a:blip r:embed="rId1"/>
          <a:srcRect/>
          <a:stretch>
            <a:fillRect/>
          </a:stretch>
        </p:blipFill>
        <p:spPr>
          <a:xfrm>
            <a:off x="6286500" y="1371600"/>
            <a:ext cx="5143500" cy="5010150"/>
          </a:xfrm>
          <a:prstGeom prst="rect">
            <a:avLst/>
          </a:prstGeom>
          <a:noFill/>
          <a:ln>
            <a:noFill/>
          </a:ln>
        </p:spPr>
      </p:pic>
      <p:pic>
        <p:nvPicPr>
          <p:cNvPr id="142" name="Google Shape;142;p15" descr="image.png"/>
          <p:cNvPicPr preferRelativeResize="0"/>
          <p:nvPr/>
        </p:nvPicPr>
        <p:blipFill rotWithShape="1">
          <a:blip r:embed="rId2"/>
          <a:srcRect/>
          <a:stretch>
            <a:fillRect/>
          </a:stretch>
        </p:blipFill>
        <p:spPr>
          <a:xfrm>
            <a:off x="762000" y="2683668"/>
            <a:ext cx="5143500" cy="2195512"/>
          </a:xfrm>
          <a:prstGeom prst="rect">
            <a:avLst/>
          </a:prstGeom>
          <a:noFill/>
          <a:ln>
            <a:noFill/>
          </a:ln>
        </p:spPr>
      </p:pic>
      <p:sp>
        <p:nvSpPr>
          <p:cNvPr id="146" name="Google Shape;146;p15"/>
          <p:cNvSpPr/>
          <p:nvPr/>
        </p:nvSpPr>
        <p:spPr>
          <a:xfrm>
            <a:off x="3262312" y="3709987"/>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7" name="Google Shape;147;p15"/>
          <p:cNvSpPr txBox="1"/>
          <p:nvPr/>
        </p:nvSpPr>
        <p:spPr>
          <a:xfrm>
            <a:off x="1009650" y="2931318"/>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等级构成深度演变</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48" name="Google Shape;148;p15"/>
          <p:cNvSpPr txBox="1"/>
          <p:nvPr/>
        </p:nvSpPr>
        <p:spPr>
          <a:xfrm>
            <a:off x="1009650" y="3331368"/>
            <a:ext cx="4648200" cy="24288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通过堆叠占比分析，可见生态结构的剧烈扰动：</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49" name="Google Shape;149;p15"/>
          <p:cNvSpPr txBox="1"/>
          <p:nvPr/>
        </p:nvSpPr>
        <p:spPr>
          <a:xfrm>
            <a:off x="1009650" y="3717131"/>
            <a:ext cx="4648200" cy="400050"/>
          </a:xfrm>
          <a:prstGeom prst="rect">
            <a:avLst/>
          </a:prstGeom>
          <a:noFill/>
          <a:ln>
            <a:noFill/>
          </a:ln>
        </p:spPr>
        <p:txBody>
          <a:bodyPr spcFirstLastPara="1" wrap="square" lIns="213850" tIns="0" rIns="0" bIns="0" anchor="t" anchorCtr="0">
            <a:spAutoFit/>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2019/2021：</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“差”与“较差”等级出现病态扩张，主因归于极端干旱导致的植被退化。</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50" name="Google Shape;150;p15"/>
          <p:cNvSpPr txBox="1"/>
          <p:nvPr/>
        </p:nvSpPr>
        <p:spPr>
          <a:xfrm>
            <a:off x="1009650" y="4231481"/>
            <a:ext cx="4648200" cy="400050"/>
          </a:xfrm>
          <a:prstGeom prst="rect">
            <a:avLst/>
          </a:prstGeom>
          <a:noFill/>
          <a:ln>
            <a:noFill/>
          </a:ln>
        </p:spPr>
        <p:txBody>
          <a:bodyPr spcFirstLastPara="1" wrap="square" lIns="213850" tIns="0" rIns="0" bIns="0" anchor="t" anchorCtr="0">
            <a:spAutoFit/>
          </a:bodyPr>
          <a:lstStyle/>
          <a:p>
            <a:pPr marL="0" marR="0" lvl="0" indent="0" algn="l" rtl="0">
              <a:spcBef>
                <a:spcPts val="0"/>
              </a:spcBef>
              <a:spcAft>
                <a:spcPts val="0"/>
              </a:spcAft>
              <a:buNone/>
            </a:pP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2025优化：</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“优”与“良”合计占比攀升至近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50%</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，生态等级结构趋于稳健与平衡。</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151" name="Google Shape;151;p15" descr="image.png"/>
          <p:cNvPicPr preferRelativeResize="0"/>
          <p:nvPr/>
        </p:nvPicPr>
        <p:blipFill rotWithShape="1">
          <a:blip r:embed="rId3"/>
          <a:srcRect/>
          <a:stretch>
            <a:fillRect/>
          </a:stretch>
        </p:blipFill>
        <p:spPr>
          <a:xfrm>
            <a:off x="1009650" y="3726656"/>
            <a:ext cx="118616" cy="171450"/>
          </a:xfrm>
          <a:prstGeom prst="rect">
            <a:avLst/>
          </a:prstGeom>
          <a:noFill/>
          <a:ln>
            <a:noFill/>
          </a:ln>
        </p:spPr>
      </p:pic>
      <p:pic>
        <p:nvPicPr>
          <p:cNvPr id="152" name="Google Shape;152;p15" descr="image.png"/>
          <p:cNvPicPr preferRelativeResize="0"/>
          <p:nvPr/>
        </p:nvPicPr>
        <p:blipFill rotWithShape="1">
          <a:blip r:embed="rId4"/>
          <a:srcRect/>
          <a:stretch>
            <a:fillRect/>
          </a:stretch>
        </p:blipFill>
        <p:spPr>
          <a:xfrm>
            <a:off x="1009650" y="4241006"/>
            <a:ext cx="118616" cy="171450"/>
          </a:xfrm>
          <a:prstGeom prst="rect">
            <a:avLst/>
          </a:prstGeom>
          <a:noFill/>
          <a:ln>
            <a:noFill/>
          </a:ln>
        </p:spPr>
      </p:pic>
      <p:sp>
        <p:nvSpPr>
          <p:cNvPr id="153" name="Google Shape;153;p15"/>
          <p:cNvSpPr/>
          <p:nvPr/>
        </p:nvSpPr>
        <p:spPr>
          <a:xfrm>
            <a:off x="762000" y="6572250"/>
            <a:ext cx="381000" cy="3810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4" name="Google Shape;154;p15"/>
          <p:cNvSpPr txBox="1"/>
          <p:nvPr/>
        </p:nvSpPr>
        <p:spPr>
          <a:xfrm>
            <a:off x="762000" y="285750"/>
            <a:ext cx="396716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STRUCTURE_DECOMP: LEVEL_PERCENTAGE // RATIO_CHART</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55" name="Google Shape;155;p15"/>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十年演变结构解析：等级占比</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56" name="Google Shape;156;p15"/>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8" name="Google Shape;188;p17"/>
          <p:cNvSpPr/>
          <p:nvPr/>
        </p:nvSpPr>
        <p:spPr>
          <a:xfrm>
            <a:off x="9658350" y="5878195"/>
            <a:ext cx="1619250" cy="503555"/>
          </a:xfrm>
          <a:prstGeom prst="rect">
            <a:avLst/>
          </a:prstGeom>
          <a:solidFill>
            <a:srgbClr val="1A1A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9" name="Google Shape;189;p17"/>
          <p:cNvSpPr txBox="1"/>
          <p:nvPr/>
        </p:nvSpPr>
        <p:spPr>
          <a:xfrm>
            <a:off x="9753600" y="5916295"/>
            <a:ext cx="1428750" cy="415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a:solidFill>
                  <a:schemeClr val="bg1"/>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VAR: STACKED_RATIO_ANALYSIS</a:t>
            </a:r>
            <a:endParaRPr lang="en-US" sz="900" b="0" i="0" u="none" strike="noStrike" cap="none">
              <a:solidFill>
                <a:schemeClr val="bg1"/>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2" name="图片 1" descr="RSEI_6年五级面积比例堆叠柱状图_中文修正版"/>
          <p:cNvPicPr>
            <a:picLocks noChangeAspect="1"/>
          </p:cNvPicPr>
          <p:nvPr/>
        </p:nvPicPr>
        <p:blipFill>
          <a:blip r:embed="rId5"/>
          <a:stretch>
            <a:fillRect/>
          </a:stretch>
        </p:blipFill>
        <p:spPr>
          <a:xfrm>
            <a:off x="6367145" y="2309495"/>
            <a:ext cx="5062855" cy="32042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2" name="Google Shape;162;p16" descr="image.png"/>
          <p:cNvPicPr preferRelativeResize="0"/>
          <p:nvPr/>
        </p:nvPicPr>
        <p:blipFill rotWithShape="1">
          <a:blip r:embed="rId1"/>
          <a:srcRect/>
          <a:stretch>
            <a:fillRect/>
          </a:stretch>
        </p:blipFill>
        <p:spPr>
          <a:xfrm>
            <a:off x="450215" y="1371600"/>
            <a:ext cx="5759450" cy="5136515"/>
          </a:xfrm>
          <a:prstGeom prst="rect">
            <a:avLst/>
          </a:prstGeom>
          <a:noFill/>
          <a:ln>
            <a:noFill/>
          </a:ln>
        </p:spPr>
      </p:pic>
      <p:pic>
        <p:nvPicPr>
          <p:cNvPr id="163" name="Google Shape;163;p16" descr="image.png"/>
          <p:cNvPicPr preferRelativeResize="0"/>
          <p:nvPr/>
        </p:nvPicPr>
        <p:blipFill rotWithShape="1">
          <a:blip r:embed="rId2"/>
          <a:srcRect/>
          <a:stretch>
            <a:fillRect/>
          </a:stretch>
        </p:blipFill>
        <p:spPr>
          <a:xfrm>
            <a:off x="6286500" y="2570559"/>
            <a:ext cx="5143500" cy="2071687"/>
          </a:xfrm>
          <a:prstGeom prst="rect">
            <a:avLst/>
          </a:prstGeom>
          <a:noFill/>
          <a:ln>
            <a:noFill/>
          </a:ln>
        </p:spPr>
      </p:pic>
      <p:sp>
        <p:nvSpPr>
          <p:cNvPr id="165" name="Google Shape;165;p16"/>
          <p:cNvSpPr/>
          <p:nvPr/>
        </p:nvSpPr>
        <p:spPr>
          <a:xfrm>
            <a:off x="4076700" y="6117431"/>
            <a:ext cx="1676400" cy="238125"/>
          </a:xfrm>
          <a:prstGeom prst="rect">
            <a:avLst/>
          </a:prstGeom>
          <a:solidFill>
            <a:srgbClr val="1A1A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6" name="Google Shape;166;p16"/>
          <p:cNvSpPr txBox="1"/>
          <p:nvPr/>
        </p:nvSpPr>
        <p:spPr>
          <a:xfrm>
            <a:off x="4171950" y="6155531"/>
            <a:ext cx="14859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DIFF: CHANGE_DETECTION_MAP</a:t>
            </a:r>
            <a:endPar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67" name="Google Shape;167;p16"/>
          <p:cNvSpPr/>
          <p:nvPr/>
        </p:nvSpPr>
        <p:spPr>
          <a:xfrm>
            <a:off x="8786812" y="3534965"/>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68" name="Google Shape;168;p16"/>
          <p:cNvSpPr txBox="1"/>
          <p:nvPr/>
        </p:nvSpPr>
        <p:spPr>
          <a:xfrm>
            <a:off x="6534150" y="2818209"/>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十年空间演变格局</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69" name="Google Shape;169;p16"/>
          <p:cNvSpPr txBox="1"/>
          <p:nvPr/>
        </p:nvSpPr>
        <p:spPr>
          <a:xfrm>
            <a:off x="6534150" y="3218259"/>
            <a:ext cx="4648200" cy="24288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利用栅格计算器对基准期 (2015) 与末期 (2025) 进行差值测算：</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0" name="Google Shape;170;p16"/>
          <p:cNvSpPr txBox="1"/>
          <p:nvPr/>
        </p:nvSpPr>
        <p:spPr>
          <a:xfrm>
            <a:off x="6534150" y="3604021"/>
            <a:ext cx="464820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改善区：</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集中于汉江两岸及外围封山育林区。</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1" name="Google Shape;171;p16"/>
          <p:cNvSpPr txBox="1"/>
          <p:nvPr/>
        </p:nvSpPr>
        <p:spPr>
          <a:xfrm>
            <a:off x="6534150" y="3899296"/>
            <a:ext cx="464820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退化区：</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主要位于新设工业园区及城市扩张边缘。</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2" name="Google Shape;172;p16"/>
          <p:cNvSpPr txBox="1"/>
          <p:nvPr/>
        </p:nvSpPr>
        <p:spPr>
          <a:xfrm>
            <a:off x="6534150" y="4194571"/>
            <a:ext cx="4648200"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a:t>
            </a:r>
            <a:r>
              <a:rPr lang="en-US" sz="12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稳定区：</a:t>
            </a: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核心主城区及深山区保持稳定。</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73" name="Google Shape;173;p16"/>
          <p:cNvSpPr/>
          <p:nvPr/>
        </p:nvSpPr>
        <p:spPr>
          <a:xfrm>
            <a:off x="11239500" y="285750"/>
            <a:ext cx="381000" cy="381000"/>
          </a:xfrm>
          <a:prstGeom prst="rect">
            <a:avLst/>
          </a:prstGeom>
          <a:noFill/>
          <a:ln w="1905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4" name="Google Shape;174;p16"/>
          <p:cNvSpPr/>
          <p:nvPr/>
        </p:nvSpPr>
        <p:spPr>
          <a:xfrm>
            <a:off x="6286500" y="4832746"/>
            <a:ext cx="476250" cy="476250"/>
          </a:xfrm>
          <a:prstGeom prst="rect">
            <a:avLst/>
          </a:prstGeom>
          <a:noFill/>
          <a:ln w="1905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5" name="Google Shape;175;p16"/>
          <p:cNvSpPr txBox="1"/>
          <p:nvPr/>
        </p:nvSpPr>
        <p:spPr>
          <a:xfrm>
            <a:off x="762000" y="285750"/>
            <a:ext cx="3400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SPATIAL_DIFF: RASTER_CALC // [2025 - 2015]</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6" name="Google Shape;176;p16"/>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2015—2025：生态环境质量空间变化</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77" name="Google Shape;177;p16"/>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图片 1" descr="2015-2025年生态变化图"/>
          <p:cNvPicPr>
            <a:picLocks noChangeAspect="1"/>
          </p:cNvPicPr>
          <p:nvPr/>
        </p:nvPicPr>
        <p:blipFill>
          <a:blip r:embed="rId3"/>
          <a:stretch>
            <a:fillRect/>
          </a:stretch>
        </p:blipFill>
        <p:spPr>
          <a:xfrm>
            <a:off x="545465" y="1788795"/>
            <a:ext cx="5576570" cy="394271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3" name="Google Shape;183;p17" descr="image.png"/>
          <p:cNvPicPr preferRelativeResize="0"/>
          <p:nvPr/>
        </p:nvPicPr>
        <p:blipFill rotWithShape="1">
          <a:blip r:embed="rId1"/>
          <a:srcRect/>
          <a:stretch>
            <a:fillRect/>
          </a:stretch>
        </p:blipFill>
        <p:spPr>
          <a:xfrm>
            <a:off x="6286500" y="1543050"/>
            <a:ext cx="5143500" cy="4838700"/>
          </a:xfrm>
          <a:prstGeom prst="rect">
            <a:avLst/>
          </a:prstGeom>
          <a:noFill/>
          <a:ln>
            <a:noFill/>
          </a:ln>
        </p:spPr>
      </p:pic>
      <p:pic>
        <p:nvPicPr>
          <p:cNvPr id="3" name="图片 2" descr="Pasted image 20260512003840"/>
          <p:cNvPicPr>
            <a:picLocks noChangeAspect="1"/>
          </p:cNvPicPr>
          <p:nvPr/>
        </p:nvPicPr>
        <p:blipFill>
          <a:blip r:embed="rId2"/>
          <a:stretch>
            <a:fillRect/>
          </a:stretch>
        </p:blipFill>
        <p:spPr>
          <a:xfrm>
            <a:off x="6393180" y="1779905"/>
            <a:ext cx="4930140" cy="4298315"/>
          </a:xfrm>
          <a:prstGeom prst="rect">
            <a:avLst/>
          </a:prstGeom>
        </p:spPr>
      </p:pic>
      <p:pic>
        <p:nvPicPr>
          <p:cNvPr id="184" name="Google Shape;184;p17" descr="image.png"/>
          <p:cNvPicPr preferRelativeResize="0"/>
          <p:nvPr/>
        </p:nvPicPr>
        <p:blipFill rotWithShape="1">
          <a:blip r:embed="rId3"/>
          <a:srcRect/>
          <a:stretch>
            <a:fillRect/>
          </a:stretch>
        </p:blipFill>
        <p:spPr>
          <a:xfrm>
            <a:off x="762000" y="2243137"/>
            <a:ext cx="5143500" cy="1381125"/>
          </a:xfrm>
          <a:prstGeom prst="rect">
            <a:avLst/>
          </a:prstGeom>
          <a:noFill/>
          <a:ln>
            <a:noFill/>
          </a:ln>
        </p:spPr>
      </p:pic>
      <p:pic>
        <p:nvPicPr>
          <p:cNvPr id="185" name="Google Shape;185;p17" descr="image.png"/>
          <p:cNvPicPr preferRelativeResize="0"/>
          <p:nvPr/>
        </p:nvPicPr>
        <p:blipFill rotWithShape="1">
          <a:blip r:embed="rId4"/>
          <a:srcRect/>
          <a:stretch>
            <a:fillRect/>
          </a:stretch>
        </p:blipFill>
        <p:spPr>
          <a:xfrm>
            <a:off x="762000" y="3814762"/>
            <a:ext cx="5143500" cy="1866900"/>
          </a:xfrm>
          <a:prstGeom prst="rect">
            <a:avLst/>
          </a:prstGeom>
          <a:noFill/>
          <a:ln>
            <a:noFill/>
          </a:ln>
        </p:spPr>
      </p:pic>
      <p:sp>
        <p:nvSpPr>
          <p:cNvPr id="186" name="Google Shape;186;p17"/>
          <p:cNvSpPr txBox="1"/>
          <p:nvPr/>
        </p:nvSpPr>
        <p:spPr>
          <a:xfrm>
            <a:off x="762000" y="476250"/>
            <a:ext cx="106680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EPISODE 4 // DRIVING FORCE ANALYSIS</a:t>
            </a:r>
            <a:endParaRPr lang="en-US" sz="1200" b="0"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88" name="Google Shape;188;p17"/>
          <p:cNvSpPr/>
          <p:nvPr/>
        </p:nvSpPr>
        <p:spPr>
          <a:xfrm>
            <a:off x="9658350" y="5878195"/>
            <a:ext cx="1619250" cy="385445"/>
          </a:xfrm>
          <a:prstGeom prst="rect">
            <a:avLst/>
          </a:prstGeom>
          <a:solidFill>
            <a:srgbClr val="1A1A1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9" name="Google Shape;189;p17"/>
          <p:cNvSpPr txBox="1"/>
          <p:nvPr/>
        </p:nvSpPr>
        <p:spPr>
          <a:xfrm>
            <a:off x="9753600" y="5916295"/>
            <a:ext cx="14287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GRID: 1000M_SAMPLING_PLAN</a:t>
            </a:r>
            <a:endParaRPr lang="en-US" sz="900" b="0" i="0" u="none" strike="noStrike" cap="none">
              <a:solidFill>
                <a:srgbClr val="FFFFFF"/>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90" name="Google Shape;190;p17"/>
          <p:cNvSpPr/>
          <p:nvPr/>
        </p:nvSpPr>
        <p:spPr>
          <a:xfrm>
            <a:off x="3262312" y="2862262"/>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1" name="Google Shape;191;p17"/>
          <p:cNvSpPr txBox="1"/>
          <p:nvPr/>
        </p:nvSpPr>
        <p:spPr>
          <a:xfrm>
            <a:off x="1009650" y="2490787"/>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定量剖析空间分异</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2" name="Google Shape;192;p17"/>
          <p:cNvSpPr txBox="1"/>
          <p:nvPr/>
        </p:nvSpPr>
        <p:spPr>
          <a:xfrm>
            <a:off x="1009650" y="2890837"/>
            <a:ext cx="4648200" cy="4857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目的：</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利用 q 值定量解释四大因子 (NDVI, WET, NDBSI, LST) 对 RSEI 空间分异的贡献广度。</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3" name="Google Shape;193;p17"/>
          <p:cNvSpPr/>
          <p:nvPr/>
        </p:nvSpPr>
        <p:spPr>
          <a:xfrm>
            <a:off x="3262312" y="4676775"/>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94" name="Google Shape;194;p17"/>
          <p:cNvSpPr txBox="1"/>
          <p:nvPr/>
        </p:nvSpPr>
        <p:spPr>
          <a:xfrm>
            <a:off x="1009650" y="4062412"/>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实验前处理方案</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5" name="Google Shape;195;p17"/>
          <p:cNvSpPr txBox="1"/>
          <p:nvPr/>
        </p:nvSpPr>
        <p:spPr>
          <a:xfrm>
            <a:off x="1009650" y="4462462"/>
            <a:ext cx="4648200" cy="4857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连续变量离散化：</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采用自然断点法 (Natural Breaks) 将因子划分为 5 级。</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6" name="Google Shape;196;p17"/>
          <p:cNvSpPr txBox="1"/>
          <p:nvPr/>
        </p:nvSpPr>
        <p:spPr>
          <a:xfrm>
            <a:off x="1009650" y="4948237"/>
            <a:ext cx="4648200" cy="4857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空间采样：</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设置全域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1000m</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规则格网，共获取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2220</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个有效样本点进行探测计算。</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197" name="Google Shape;197;p17"/>
          <p:cNvSpPr txBox="1"/>
          <p:nvPr/>
        </p:nvSpPr>
        <p:spPr>
          <a:xfrm>
            <a:off x="762000" y="285750"/>
            <a:ext cx="38862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DRIVING_FORCE: GEODETECTOR_v1 // PARAMETER_SETUP</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98" name="Google Shape;198;p17"/>
          <p:cNvSpPr txBox="1"/>
          <p:nvPr/>
        </p:nvSpPr>
        <p:spPr>
          <a:xfrm>
            <a:off x="952500" y="64770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地理探测器引入与参数设定</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199" name="Google Shape;199;p17"/>
          <p:cNvSpPr/>
          <p:nvPr/>
        </p:nvSpPr>
        <p:spPr>
          <a:xfrm>
            <a:off x="762000" y="64770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 name="Google Shape;205;p18"/>
          <p:cNvSpPr txBox="1"/>
          <p:nvPr/>
        </p:nvSpPr>
        <p:spPr>
          <a:xfrm>
            <a:off x="2096839" y="5397182"/>
            <a:ext cx="7998172" cy="200025"/>
          </a:xfrm>
          <a:prstGeom prst="rect">
            <a:avLst/>
          </a:prstGeom>
          <a:noFill/>
          <a:ln>
            <a:noFill/>
          </a:ln>
        </p:spPr>
        <p:txBody>
          <a:bodyPr spcFirstLastPara="1" wrap="square" lIns="118600" tIns="0" rIns="0" bIns="0" anchor="t" anchorCtr="0">
            <a:spAutoFit/>
          </a:bodyPr>
          <a:lstStyle/>
          <a:p>
            <a:pPr marL="0" marR="0" lvl="0" indent="0" algn="l" rtl="0">
              <a:spcBef>
                <a:spcPts val="0"/>
              </a:spcBef>
              <a:spcAft>
                <a:spcPts val="0"/>
              </a:spcAft>
              <a:buNone/>
            </a:pPr>
            <a:r>
              <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所有年份均通过 </a:t>
            </a:r>
            <a:r>
              <a:rPr lang="en-US" sz="12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p &lt; 0.001</a:t>
            </a:r>
            <a:r>
              <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显著性检验。除 2017/2019 年外，</a:t>
            </a:r>
            <a:r>
              <a:rPr lang="en-US" sz="1200"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NDBSI (干度)</a:t>
            </a:r>
            <a:r>
              <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均为襄阳生态空间分异的第一主导因子。</a:t>
            </a:r>
            <a:endPar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06" name="Google Shape;206;p18"/>
          <p:cNvSpPr/>
          <p:nvPr/>
        </p:nvSpPr>
        <p:spPr>
          <a:xfrm>
            <a:off x="762000" y="1994535"/>
            <a:ext cx="10668000" cy="3340735"/>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08" name="Google Shape;208;p18" descr="image.png"/>
          <p:cNvPicPr preferRelativeResize="0"/>
          <p:nvPr/>
        </p:nvPicPr>
        <p:blipFill rotWithShape="1">
          <a:blip r:embed="rId1"/>
          <a:srcRect/>
          <a:stretch>
            <a:fillRect/>
          </a:stretch>
        </p:blipFill>
        <p:spPr>
          <a:xfrm>
            <a:off x="2038350" y="5396865"/>
            <a:ext cx="177165" cy="200025"/>
          </a:xfrm>
          <a:prstGeom prst="rect">
            <a:avLst/>
          </a:prstGeom>
          <a:noFill/>
          <a:ln>
            <a:noFill/>
          </a:ln>
        </p:spPr>
      </p:pic>
      <p:sp>
        <p:nvSpPr>
          <p:cNvPr id="209" name="Google Shape;209;p18"/>
          <p:cNvSpPr/>
          <p:nvPr/>
        </p:nvSpPr>
        <p:spPr>
          <a:xfrm>
            <a:off x="766762" y="3238500"/>
            <a:ext cx="12043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0" name="Google Shape;210;p18"/>
          <p:cNvSpPr/>
          <p:nvPr/>
        </p:nvSpPr>
        <p:spPr>
          <a:xfrm>
            <a:off x="1971079" y="3238500"/>
            <a:ext cx="19137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1" name="Google Shape;211;p18"/>
          <p:cNvSpPr/>
          <p:nvPr/>
        </p:nvSpPr>
        <p:spPr>
          <a:xfrm>
            <a:off x="3884860" y="32385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18"/>
          <p:cNvSpPr/>
          <p:nvPr/>
        </p:nvSpPr>
        <p:spPr>
          <a:xfrm>
            <a:off x="5676007" y="3238500"/>
            <a:ext cx="20362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3" name="Google Shape;213;p18"/>
          <p:cNvSpPr/>
          <p:nvPr/>
        </p:nvSpPr>
        <p:spPr>
          <a:xfrm>
            <a:off x="7712273" y="32385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4" name="Google Shape;214;p18"/>
          <p:cNvSpPr/>
          <p:nvPr/>
        </p:nvSpPr>
        <p:spPr>
          <a:xfrm>
            <a:off x="9503419" y="3238500"/>
            <a:ext cx="19218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5" name="Google Shape;215;p18"/>
          <p:cNvSpPr/>
          <p:nvPr/>
        </p:nvSpPr>
        <p:spPr>
          <a:xfrm>
            <a:off x="766762" y="3657600"/>
            <a:ext cx="12043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6" name="Google Shape;216;p18"/>
          <p:cNvSpPr/>
          <p:nvPr/>
        </p:nvSpPr>
        <p:spPr>
          <a:xfrm>
            <a:off x="1971079" y="3657600"/>
            <a:ext cx="19137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7" name="Google Shape;217;p18"/>
          <p:cNvSpPr/>
          <p:nvPr/>
        </p:nvSpPr>
        <p:spPr>
          <a:xfrm>
            <a:off x="3884860" y="36576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8" name="Google Shape;218;p18"/>
          <p:cNvSpPr/>
          <p:nvPr/>
        </p:nvSpPr>
        <p:spPr>
          <a:xfrm>
            <a:off x="5676007" y="3657600"/>
            <a:ext cx="20362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9" name="Google Shape;219;p18"/>
          <p:cNvSpPr/>
          <p:nvPr/>
        </p:nvSpPr>
        <p:spPr>
          <a:xfrm>
            <a:off x="7712273" y="36576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0" name="Google Shape;220;p18"/>
          <p:cNvSpPr/>
          <p:nvPr/>
        </p:nvSpPr>
        <p:spPr>
          <a:xfrm>
            <a:off x="9503419" y="3657600"/>
            <a:ext cx="19218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1" name="Google Shape;221;p18"/>
          <p:cNvSpPr/>
          <p:nvPr/>
        </p:nvSpPr>
        <p:spPr>
          <a:xfrm>
            <a:off x="766762" y="4057650"/>
            <a:ext cx="12043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2" name="Google Shape;222;p18"/>
          <p:cNvSpPr/>
          <p:nvPr/>
        </p:nvSpPr>
        <p:spPr>
          <a:xfrm>
            <a:off x="1971079" y="4057650"/>
            <a:ext cx="19137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3" name="Google Shape;223;p18"/>
          <p:cNvSpPr/>
          <p:nvPr/>
        </p:nvSpPr>
        <p:spPr>
          <a:xfrm>
            <a:off x="3884860" y="405765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4" name="Google Shape;224;p18"/>
          <p:cNvSpPr/>
          <p:nvPr/>
        </p:nvSpPr>
        <p:spPr>
          <a:xfrm>
            <a:off x="5676007" y="4057650"/>
            <a:ext cx="20362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5" name="Google Shape;225;p18"/>
          <p:cNvSpPr/>
          <p:nvPr/>
        </p:nvSpPr>
        <p:spPr>
          <a:xfrm>
            <a:off x="7712273" y="405765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6" name="Google Shape;226;p18"/>
          <p:cNvSpPr/>
          <p:nvPr/>
        </p:nvSpPr>
        <p:spPr>
          <a:xfrm>
            <a:off x="9503419" y="4057650"/>
            <a:ext cx="19218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7" name="Google Shape;227;p18"/>
          <p:cNvSpPr/>
          <p:nvPr/>
        </p:nvSpPr>
        <p:spPr>
          <a:xfrm>
            <a:off x="766762" y="4457700"/>
            <a:ext cx="12043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8" name="Google Shape;228;p18"/>
          <p:cNvSpPr/>
          <p:nvPr/>
        </p:nvSpPr>
        <p:spPr>
          <a:xfrm>
            <a:off x="1971079" y="4457700"/>
            <a:ext cx="19137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9" name="Google Shape;229;p18"/>
          <p:cNvSpPr/>
          <p:nvPr/>
        </p:nvSpPr>
        <p:spPr>
          <a:xfrm>
            <a:off x="3884860" y="44577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0" name="Google Shape;230;p18"/>
          <p:cNvSpPr/>
          <p:nvPr/>
        </p:nvSpPr>
        <p:spPr>
          <a:xfrm>
            <a:off x="5676007" y="4457700"/>
            <a:ext cx="20362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1" name="Google Shape;231;p18"/>
          <p:cNvSpPr/>
          <p:nvPr/>
        </p:nvSpPr>
        <p:spPr>
          <a:xfrm>
            <a:off x="7712273" y="445770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2" name="Google Shape;232;p18"/>
          <p:cNvSpPr/>
          <p:nvPr/>
        </p:nvSpPr>
        <p:spPr>
          <a:xfrm>
            <a:off x="9503419" y="4457700"/>
            <a:ext cx="19218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3" name="Google Shape;233;p18"/>
          <p:cNvSpPr/>
          <p:nvPr/>
        </p:nvSpPr>
        <p:spPr>
          <a:xfrm>
            <a:off x="766762" y="4857750"/>
            <a:ext cx="12043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4" name="Google Shape;234;p18"/>
          <p:cNvSpPr/>
          <p:nvPr/>
        </p:nvSpPr>
        <p:spPr>
          <a:xfrm>
            <a:off x="1971079" y="4857750"/>
            <a:ext cx="19137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5" name="Google Shape;235;p18"/>
          <p:cNvSpPr/>
          <p:nvPr/>
        </p:nvSpPr>
        <p:spPr>
          <a:xfrm>
            <a:off x="3884860" y="485775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6" name="Google Shape;236;p18"/>
          <p:cNvSpPr/>
          <p:nvPr/>
        </p:nvSpPr>
        <p:spPr>
          <a:xfrm>
            <a:off x="5676007" y="4857750"/>
            <a:ext cx="20362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7" name="Google Shape;237;p18"/>
          <p:cNvSpPr/>
          <p:nvPr/>
        </p:nvSpPr>
        <p:spPr>
          <a:xfrm>
            <a:off x="7712273" y="4857750"/>
            <a:ext cx="17911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8" name="Google Shape;238;p18"/>
          <p:cNvSpPr/>
          <p:nvPr/>
        </p:nvSpPr>
        <p:spPr>
          <a:xfrm>
            <a:off x="9503419" y="4857750"/>
            <a:ext cx="192181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9" name="Google Shape;239;p18"/>
          <p:cNvSpPr/>
          <p:nvPr/>
        </p:nvSpPr>
        <p:spPr>
          <a:xfrm>
            <a:off x="11239500" y="285750"/>
            <a:ext cx="381000" cy="3810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0" name="Google Shape;240;p18"/>
          <p:cNvSpPr/>
          <p:nvPr/>
        </p:nvSpPr>
        <p:spPr>
          <a:xfrm>
            <a:off x="11239500" y="285750"/>
            <a:ext cx="381000" cy="38100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1" name="Google Shape;241;p18"/>
          <p:cNvSpPr txBox="1"/>
          <p:nvPr/>
        </p:nvSpPr>
        <p:spPr>
          <a:xfrm>
            <a:off x="762000" y="285750"/>
            <a:ext cx="32385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STAT_RESULT: q-VALUE_OUTPUT // P &lt; 0.001</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42" name="Google Shape;242;p18"/>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因子探测结果：解释力 (q值) 时序对比</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43" name="Google Shape;243;p18"/>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4" name="表格 3"/>
          <p:cNvGraphicFramePr/>
          <p:nvPr>
            <p:custDataLst>
              <p:tags r:id="rId2"/>
            </p:custDataLst>
          </p:nvPr>
        </p:nvGraphicFramePr>
        <p:xfrm>
          <a:off x="1360805" y="2113280"/>
          <a:ext cx="9471025" cy="3088640"/>
        </p:xfrm>
        <a:graphic>
          <a:graphicData uri="http://schemas.openxmlformats.org/drawingml/2006/table">
            <a:tbl>
              <a:tblPr/>
              <a:tblGrid>
                <a:gridCol w="1283970"/>
                <a:gridCol w="1596390"/>
                <a:gridCol w="1533525"/>
                <a:gridCol w="1740535"/>
                <a:gridCol w="1534160"/>
                <a:gridCol w="1782445"/>
              </a:tblGrid>
              <a:tr h="450215">
                <a:tc>
                  <a:txBody>
                    <a:bodyPr/>
                    <a:p>
                      <a:pPr algn="ctr" fontAlgn="ctr"/>
                      <a:r>
                        <a:rPr lang="zh-CN" altLang="en-US" sz="1200" b="1" i="0">
                          <a:solidFill>
                            <a:srgbClr val="FFFFFF"/>
                          </a:solidFill>
                          <a:latin typeface="方正黑体_GBK" panose="02010600010101010101" charset="-122"/>
                          <a:ea typeface="方正黑体_GBK" panose="02010600010101010101" charset="-122"/>
                        </a:rPr>
                        <a:t>年份</a:t>
                      </a:r>
                      <a:endParaRPr lang="zh-CN" altLang="en-US"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1200" b="1" i="0">
                          <a:solidFill>
                            <a:srgbClr val="FFFFFF"/>
                          </a:solidFill>
                          <a:latin typeface="方正黑体_GBK" panose="02010600010101010101" charset="-122"/>
                          <a:ea typeface="方正黑体_GBK" panose="02010600010101010101" charset="-122"/>
                        </a:rPr>
                        <a:t>NDVIq</a:t>
                      </a:r>
                      <a:endParaRPr lang="en-US" altLang="zh-CN"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1200" b="1" i="0">
                          <a:solidFill>
                            <a:srgbClr val="FFFFFF"/>
                          </a:solidFill>
                          <a:latin typeface="方正黑体_GBK" panose="02010600010101010101" charset="-122"/>
                          <a:ea typeface="方正黑体_GBK" panose="02010600010101010101" charset="-122"/>
                        </a:rPr>
                        <a:t>WETq</a:t>
                      </a:r>
                      <a:endParaRPr lang="en-US" altLang="zh-CN"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1200" b="1" i="0">
                          <a:solidFill>
                            <a:srgbClr val="FFFFFF"/>
                          </a:solidFill>
                          <a:latin typeface="方正黑体_GBK" panose="02010600010101010101" charset="-122"/>
                          <a:ea typeface="方正黑体_GBK" panose="02010600010101010101" charset="-122"/>
                        </a:rPr>
                        <a:t>NDBSIq</a:t>
                      </a:r>
                      <a:endParaRPr lang="en-US" altLang="zh-CN"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c>
                  <a:txBody>
                    <a:bodyPr/>
                    <a:p>
                      <a:pPr algn="ctr" fontAlgn="ctr"/>
                      <a:r>
                        <a:rPr lang="en-US" altLang="zh-CN" sz="1200" b="1" i="0">
                          <a:solidFill>
                            <a:srgbClr val="FFFFFF"/>
                          </a:solidFill>
                          <a:latin typeface="方正黑体_GBK" panose="02010600010101010101" charset="-122"/>
                          <a:ea typeface="方正黑体_GBK" panose="02010600010101010101" charset="-122"/>
                        </a:rPr>
                        <a:t>LSTq</a:t>
                      </a:r>
                      <a:endParaRPr lang="en-US" altLang="zh-CN"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c>
                  <a:txBody>
                    <a:bodyPr/>
                    <a:p>
                      <a:pPr algn="ctr" fontAlgn="ctr"/>
                      <a:r>
                        <a:rPr lang="zh-CN" altLang="en-US" sz="1200" b="1" i="0">
                          <a:solidFill>
                            <a:srgbClr val="FFFFFF"/>
                          </a:solidFill>
                          <a:latin typeface="方正黑体_GBK" panose="02010600010101010101" charset="-122"/>
                          <a:ea typeface="方正黑体_GBK" panose="02010600010101010101" charset="-122"/>
                        </a:rPr>
                        <a:t>主导因子</a:t>
                      </a:r>
                      <a:endParaRPr lang="zh-CN" altLang="en-US" sz="1200" b="1" i="0">
                        <a:solidFill>
                          <a:srgbClr val="FFFFFF"/>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000000"/>
                    </a:solidFill>
                  </a:tcPr>
                </a:tc>
              </a:tr>
              <a:tr h="440055">
                <a:tc>
                  <a:txBody>
                    <a:bodyPr/>
                    <a:p>
                      <a:pPr algn="ctr" fontAlgn="ctr"/>
                      <a:r>
                        <a:rPr lang="en-US" altLang="zh-CN" sz="1100" b="0" i="0">
                          <a:solidFill>
                            <a:srgbClr val="000000"/>
                          </a:solidFill>
                          <a:latin typeface="方正黑体_GBK" panose="02010600010101010101" charset="-122"/>
                          <a:ea typeface="方正黑体_GBK" panose="02010600010101010101" charset="-122"/>
                        </a:rPr>
                        <a:t>2015</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0.7451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0.8057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0.9310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0.6108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NDBSI</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r>
              <a:tr h="439420">
                <a:tc>
                  <a:txBody>
                    <a:bodyPr/>
                    <a:p>
                      <a:pPr algn="ctr" fontAlgn="ctr"/>
                      <a:r>
                        <a:rPr lang="en-US" altLang="zh-CN" sz="1100" b="0" i="0">
                          <a:solidFill>
                            <a:srgbClr val="000000"/>
                          </a:solidFill>
                          <a:latin typeface="方正黑体_GBK" panose="02010600010101010101" charset="-122"/>
                          <a:ea typeface="方正黑体_GBK" panose="02010600010101010101" charset="-122"/>
                        </a:rPr>
                        <a:t>2017</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0.7276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0.8305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0.8182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0.5745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WET</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r>
              <a:tr h="440055">
                <a:tc>
                  <a:txBody>
                    <a:bodyPr/>
                    <a:p>
                      <a:pPr algn="ctr" fontAlgn="ctr"/>
                      <a:r>
                        <a:rPr lang="en-US" altLang="zh-CN" sz="1100" b="0" i="0">
                          <a:solidFill>
                            <a:srgbClr val="000000"/>
                          </a:solidFill>
                          <a:latin typeface="方正黑体_GBK" panose="02010600010101010101" charset="-122"/>
                          <a:ea typeface="方正黑体_GBK" panose="02010600010101010101" charset="-122"/>
                        </a:rPr>
                        <a:t>2019</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0.7018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0.8682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0.9231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0.6904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NDBSI</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r>
              <a:tr h="439420">
                <a:tc>
                  <a:txBody>
                    <a:bodyPr/>
                    <a:p>
                      <a:pPr algn="ctr" fontAlgn="ctr"/>
                      <a:r>
                        <a:rPr lang="en-US" altLang="zh-CN" sz="1100" b="0" i="0">
                          <a:solidFill>
                            <a:srgbClr val="000000"/>
                          </a:solidFill>
                          <a:latin typeface="方正黑体_GBK" panose="02010600010101010101" charset="-122"/>
                          <a:ea typeface="方正黑体_GBK" panose="02010600010101010101" charset="-122"/>
                        </a:rPr>
                        <a:t>2021</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0.6188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0.8099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0.8876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0.5090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NDBSI</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E6E6E6"/>
                    </a:solidFill>
                  </a:tcPr>
                </a:tc>
              </a:tr>
              <a:tr h="440055">
                <a:tc>
                  <a:txBody>
                    <a:bodyPr/>
                    <a:p>
                      <a:pPr algn="ctr" fontAlgn="ctr"/>
                      <a:r>
                        <a:rPr lang="en-US" altLang="zh-CN" sz="1100" b="0" i="0">
                          <a:solidFill>
                            <a:srgbClr val="000000"/>
                          </a:solidFill>
                          <a:latin typeface="方正黑体_GBK" panose="02010600010101010101" charset="-122"/>
                          <a:ea typeface="方正黑体_GBK" panose="02010600010101010101" charset="-122"/>
                        </a:rPr>
                        <a:t>2023</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0.6943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0.8342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0.9206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0.6286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NDBSI</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a:noFill/>
                    </a:lnB>
                    <a:solidFill>
                      <a:srgbClr val="FFFFFF"/>
                    </a:solidFill>
                  </a:tcPr>
                </a:tc>
              </a:tr>
              <a:tr h="439420">
                <a:tc>
                  <a:txBody>
                    <a:bodyPr/>
                    <a:p>
                      <a:pPr algn="ctr" fontAlgn="ctr"/>
                      <a:r>
                        <a:rPr lang="en-US" altLang="zh-CN" sz="1100" b="0" i="0">
                          <a:solidFill>
                            <a:srgbClr val="000000"/>
                          </a:solidFill>
                          <a:latin typeface="方正黑体_GBK" panose="02010600010101010101" charset="-122"/>
                          <a:ea typeface="方正黑体_GBK" panose="02010600010101010101" charset="-122"/>
                        </a:rPr>
                        <a:t>2025</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0.7309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0.7885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0.9103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0.5487 </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c>
                  <a:txBody>
                    <a:bodyPr/>
                    <a:p>
                      <a:pPr algn="ctr" fontAlgn="ctr"/>
                      <a:r>
                        <a:rPr lang="en-US" altLang="zh-CN" sz="1100" b="0" i="0">
                          <a:solidFill>
                            <a:srgbClr val="000000"/>
                          </a:solidFill>
                          <a:latin typeface="方正黑体_GBK" panose="02010600010101010101" charset="-122"/>
                          <a:ea typeface="方正黑体_GBK" panose="02010600010101010101" charset="-122"/>
                        </a:rPr>
                        <a:t>NDBSI</a:t>
                      </a:r>
                      <a:endParaRPr lang="en-US" altLang="zh-CN" sz="1100" b="0" i="0">
                        <a:solidFill>
                          <a:srgbClr val="000000"/>
                        </a:solidFill>
                        <a:latin typeface="方正黑体_GBK" panose="02010600010101010101" charset="-122"/>
                        <a:ea typeface="方正黑体_GBK" panose="02010600010101010101" charset="-122"/>
                      </a:endParaRPr>
                    </a:p>
                  </a:txBody>
                  <a:tcPr marL="7937" marR="7937" marT="7937" marB="0" anchor="ctr" anchorCtr="0">
                    <a:lnL>
                      <a:noFill/>
                    </a:lnL>
                    <a:lnR>
                      <a:noFill/>
                    </a:lnR>
                    <a:lnT>
                      <a:noFill/>
                    </a:lnT>
                    <a:lnB w="6350" cap="flat" cmpd="sng">
                      <a:solidFill>
                        <a:srgbClr val="000000"/>
                      </a:solidFill>
                      <a:prstDash val="solid"/>
                      <a:headEnd type="none" w="med" len="med"/>
                      <a:tailEnd type="none" w="med" len="med"/>
                    </a:lnB>
                    <a:solidFill>
                      <a:srgbClr val="E6E6E6"/>
                    </a:solid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9" name="Google Shape;249;p19" descr="image.png"/>
          <p:cNvPicPr preferRelativeResize="0"/>
          <p:nvPr/>
        </p:nvPicPr>
        <p:blipFill rotWithShape="1">
          <a:blip r:embed="rId1"/>
          <a:srcRect/>
          <a:stretch>
            <a:fillRect/>
          </a:stretch>
        </p:blipFill>
        <p:spPr>
          <a:xfrm>
            <a:off x="762000" y="3064668"/>
            <a:ext cx="5143500" cy="1624012"/>
          </a:xfrm>
          <a:prstGeom prst="rect">
            <a:avLst/>
          </a:prstGeom>
          <a:noFill/>
          <a:ln>
            <a:noFill/>
          </a:ln>
        </p:spPr>
      </p:pic>
      <p:pic>
        <p:nvPicPr>
          <p:cNvPr id="250" name="Google Shape;250;p19" descr="image.png"/>
          <p:cNvPicPr preferRelativeResize="0"/>
          <p:nvPr/>
        </p:nvPicPr>
        <p:blipFill rotWithShape="1">
          <a:blip r:embed="rId2"/>
          <a:srcRect/>
          <a:stretch>
            <a:fillRect/>
          </a:stretch>
        </p:blipFill>
        <p:spPr>
          <a:xfrm>
            <a:off x="6286500" y="3064668"/>
            <a:ext cx="5143500" cy="1624012"/>
          </a:xfrm>
          <a:prstGeom prst="rect">
            <a:avLst/>
          </a:prstGeom>
          <a:noFill/>
          <a:ln>
            <a:noFill/>
          </a:ln>
        </p:spPr>
      </p:pic>
      <p:sp>
        <p:nvSpPr>
          <p:cNvPr id="251" name="Google Shape;251;p19"/>
          <p:cNvSpPr/>
          <p:nvPr/>
        </p:nvSpPr>
        <p:spPr>
          <a:xfrm>
            <a:off x="3262312" y="3805237"/>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2" name="Google Shape;252;p19"/>
          <p:cNvSpPr txBox="1"/>
          <p:nvPr/>
        </p:nvSpPr>
        <p:spPr>
          <a:xfrm>
            <a:off x="1009650" y="3312318"/>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核心驱动：建设与扩张</a:t>
            </a:r>
            <a:endParaRPr lang="en-US" sz="165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53" name="Google Shape;253;p19"/>
          <p:cNvSpPr txBox="1"/>
          <p:nvPr/>
        </p:nvSpPr>
        <p:spPr>
          <a:xfrm>
            <a:off x="1009650" y="3712368"/>
            <a:ext cx="4648200" cy="7286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监测结果证实：由城市化建设扩张及地表裸露引发的</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干度 (NDBSI)</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是影响襄阳生态空间分异的最强解释因子，</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湿度 (WET)</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次之。这反映了人类活动对区域生态质量的强力塑形。</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54" name="Google Shape;254;p19"/>
          <p:cNvSpPr/>
          <p:nvPr/>
        </p:nvSpPr>
        <p:spPr>
          <a:xfrm>
            <a:off x="8786812" y="3805237"/>
            <a:ext cx="142875" cy="142875"/>
          </a:xfrm>
          <a:prstGeom prst="rect">
            <a:avLst/>
          </a:prstGeom>
          <a:noFill/>
          <a:ln w="3810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5" name="Google Shape;255;p19"/>
          <p:cNvSpPr txBox="1"/>
          <p:nvPr/>
        </p:nvSpPr>
        <p:spPr>
          <a:xfrm>
            <a:off x="6534150" y="3312318"/>
            <a:ext cx="4880610" cy="2857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B91C1C"/>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异常印证：极端气候冲击</a:t>
            </a:r>
            <a:endParaRPr lang="en-US" sz="1650" b="1" i="0" u="none" strike="noStrike" cap="none">
              <a:solidFill>
                <a:srgbClr val="B91C1C"/>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56" name="Google Shape;256;p19"/>
          <p:cNvSpPr txBox="1"/>
          <p:nvPr/>
        </p:nvSpPr>
        <p:spPr>
          <a:xfrm>
            <a:off x="6534150" y="3712368"/>
            <a:ext cx="4648200" cy="72866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2019年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热度 (LST)</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 的 q 值激增至 </a:t>
            </a:r>
            <a:r>
              <a:rPr lang="en-US" sz="1275" b="1"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0.6904</a:t>
            </a:r>
            <a:r>
              <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，跃升为核心驱动力。这在统计学上定量印证了当年极端高温干旱对襄阳区域生态质量的绝对主导与破坏性冲击。</a:t>
            </a:r>
            <a:endParaRPr lang="en-US" sz="1275"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57" name="Google Shape;257;p19"/>
          <p:cNvSpPr/>
          <p:nvPr/>
        </p:nvSpPr>
        <p:spPr>
          <a:xfrm>
            <a:off x="762000" y="6572250"/>
            <a:ext cx="285750" cy="2857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8" name="Google Shape;258;p19"/>
          <p:cNvSpPr/>
          <p:nvPr/>
        </p:nvSpPr>
        <p:spPr>
          <a:xfrm>
            <a:off x="762000" y="6572250"/>
            <a:ext cx="285750" cy="285750"/>
          </a:xfrm>
          <a:prstGeom prst="rect">
            <a:avLst/>
          </a:prstGeom>
          <a:noFill/>
          <a:ln w="19050" cap="flat" cmpd="sng">
            <a:solidFill>
              <a:srgbClr val="CCFF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59" name="Google Shape;259;p19"/>
          <p:cNvSpPr txBox="1"/>
          <p:nvPr/>
        </p:nvSpPr>
        <p:spPr>
          <a:xfrm>
            <a:off x="762000" y="285750"/>
            <a:ext cx="3157537"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DEEP_INSIGHT: FACTOR_GAME // DRY_VS_WET</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60" name="Google Shape;260;p19"/>
          <p:cNvSpPr txBox="1"/>
          <p:nvPr/>
        </p:nvSpPr>
        <p:spPr>
          <a:xfrm>
            <a:off x="952500" y="476250"/>
            <a:ext cx="11001375" cy="561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主导因素揭秘：干度与湿度的博弈</a:t>
            </a:r>
            <a:endParaRPr lang="en-US" sz="33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61" name="Google Shape;261;p19"/>
          <p:cNvSpPr/>
          <p:nvPr/>
        </p:nvSpPr>
        <p:spPr>
          <a:xfrm>
            <a:off x="762000" y="476250"/>
            <a:ext cx="76200" cy="56197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1" name="Google Shape;231;p21" descr="image.png"/>
          <p:cNvPicPr preferRelativeResize="0"/>
          <p:nvPr>
            <p:custDataLst>
              <p:tags r:id="rId1"/>
            </p:custDataLst>
          </p:nvPr>
        </p:nvPicPr>
        <p:blipFill rotWithShape="1">
          <a:blip r:embed="rId2"/>
          <a:srcRect/>
          <a:stretch>
            <a:fillRect/>
          </a:stretch>
        </p:blipFill>
        <p:spPr>
          <a:xfrm>
            <a:off x="762000" y="2874764"/>
            <a:ext cx="3365450" cy="2537221"/>
          </a:xfrm>
          <a:prstGeom prst="rect">
            <a:avLst/>
          </a:prstGeom>
          <a:noFill/>
          <a:ln>
            <a:noFill/>
          </a:ln>
        </p:spPr>
      </p:pic>
      <p:pic>
        <p:nvPicPr>
          <p:cNvPr id="232" name="Google Shape;232;p21" descr="image.png"/>
          <p:cNvPicPr preferRelativeResize="0"/>
          <p:nvPr>
            <p:custDataLst>
              <p:tags r:id="rId3"/>
            </p:custDataLst>
          </p:nvPr>
        </p:nvPicPr>
        <p:blipFill rotWithShape="1">
          <a:blip r:embed="rId4"/>
          <a:srcRect/>
          <a:stretch>
            <a:fillRect/>
          </a:stretch>
        </p:blipFill>
        <p:spPr>
          <a:xfrm>
            <a:off x="4413200" y="2874764"/>
            <a:ext cx="3365450" cy="2537221"/>
          </a:xfrm>
          <a:prstGeom prst="rect">
            <a:avLst/>
          </a:prstGeom>
          <a:noFill/>
          <a:ln>
            <a:noFill/>
          </a:ln>
        </p:spPr>
      </p:pic>
      <p:pic>
        <p:nvPicPr>
          <p:cNvPr id="233" name="Google Shape;233;p21" descr="image.png"/>
          <p:cNvPicPr preferRelativeResize="0"/>
          <p:nvPr>
            <p:custDataLst>
              <p:tags r:id="rId5"/>
            </p:custDataLst>
          </p:nvPr>
        </p:nvPicPr>
        <p:blipFill rotWithShape="1">
          <a:blip r:embed="rId6"/>
          <a:srcRect/>
          <a:stretch>
            <a:fillRect/>
          </a:stretch>
        </p:blipFill>
        <p:spPr>
          <a:xfrm>
            <a:off x="8064400" y="2874764"/>
            <a:ext cx="3365599" cy="2537221"/>
          </a:xfrm>
          <a:prstGeom prst="rect">
            <a:avLst/>
          </a:prstGeom>
          <a:noFill/>
          <a:ln>
            <a:noFill/>
          </a:ln>
        </p:spPr>
      </p:pic>
      <p:sp>
        <p:nvSpPr>
          <p:cNvPr id="234" name="Google Shape;234;p21"/>
          <p:cNvSpPr/>
          <p:nvPr/>
        </p:nvSpPr>
        <p:spPr>
          <a:xfrm>
            <a:off x="762000" y="571500"/>
            <a:ext cx="10668000" cy="247650"/>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5" name="Google Shape;235;p21"/>
          <p:cNvSpPr txBox="1"/>
          <p:nvPr/>
        </p:nvSpPr>
        <p:spPr>
          <a:xfrm>
            <a:off x="876300" y="609600"/>
            <a:ext cx="10439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CONCLUSION</a:t>
            </a:r>
            <a:endParaRPr lang="en-US" sz="105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236" name="Google Shape;236;p21" descr="image.png"/>
          <p:cNvPicPr preferRelativeResize="0"/>
          <p:nvPr>
            <p:custDataLst>
              <p:tags r:id="rId7"/>
            </p:custDataLst>
          </p:nvPr>
        </p:nvPicPr>
        <p:blipFill rotWithShape="1">
          <a:blip r:embed="rId8"/>
          <a:srcRect/>
          <a:stretch>
            <a:fillRect/>
          </a:stretch>
        </p:blipFill>
        <p:spPr>
          <a:xfrm>
            <a:off x="1057275" y="3198614"/>
            <a:ext cx="237083" cy="304800"/>
          </a:xfrm>
          <a:prstGeom prst="rect">
            <a:avLst/>
          </a:prstGeom>
          <a:noFill/>
          <a:ln>
            <a:noFill/>
          </a:ln>
        </p:spPr>
      </p:pic>
      <p:sp>
        <p:nvSpPr>
          <p:cNvPr id="237" name="Google Shape;237;p21"/>
          <p:cNvSpPr txBox="1"/>
          <p:nvPr>
            <p:custDataLst>
              <p:tags r:id="rId9"/>
            </p:custDataLst>
          </p:nvPr>
        </p:nvSpPr>
        <p:spPr>
          <a:xfrm>
            <a:off x="1057275" y="3693914"/>
            <a:ext cx="2913645"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十年态势总结</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38" name="Google Shape;238;p21"/>
          <p:cNvSpPr txBox="1"/>
          <p:nvPr>
            <p:custDataLst>
              <p:tags r:id="rId10"/>
            </p:custDataLst>
          </p:nvPr>
        </p:nvSpPr>
        <p:spPr>
          <a:xfrm>
            <a:off x="1057275" y="4141589"/>
            <a:ext cx="2774900" cy="88455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襄阳市生态质量十年间呈现“</a:t>
            </a:r>
            <a:r>
              <a:rPr lang="en-US" sz="1200" b="1">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高位-下降-触底-回升</a:t>
            </a:r>
            <a:r>
              <a:rPr lang="en-US" sz="1200">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”的波动特征，整体正逐步迈向健康恢复期。</a:t>
            </a:r>
            <a:endPar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239" name="Google Shape;239;p21" descr="image.png"/>
          <p:cNvPicPr preferRelativeResize="0"/>
          <p:nvPr>
            <p:custDataLst>
              <p:tags r:id="rId11"/>
            </p:custDataLst>
          </p:nvPr>
        </p:nvPicPr>
        <p:blipFill rotWithShape="1">
          <a:blip r:embed="rId12"/>
          <a:srcRect/>
          <a:stretch>
            <a:fillRect/>
          </a:stretch>
        </p:blipFill>
        <p:spPr>
          <a:xfrm>
            <a:off x="4708475" y="3198614"/>
            <a:ext cx="237083" cy="304800"/>
          </a:xfrm>
          <a:prstGeom prst="rect">
            <a:avLst/>
          </a:prstGeom>
          <a:noFill/>
          <a:ln>
            <a:noFill/>
          </a:ln>
        </p:spPr>
      </p:pic>
      <p:sp>
        <p:nvSpPr>
          <p:cNvPr id="240" name="Google Shape;240;p21"/>
          <p:cNvSpPr txBox="1"/>
          <p:nvPr>
            <p:custDataLst>
              <p:tags r:id="rId13"/>
            </p:custDataLst>
          </p:nvPr>
        </p:nvSpPr>
        <p:spPr>
          <a:xfrm>
            <a:off x="4708475" y="3693914"/>
            <a:ext cx="2913645"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模型灵敏度验证</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41" name="Google Shape;241;p21"/>
          <p:cNvSpPr txBox="1"/>
          <p:nvPr>
            <p:custDataLst>
              <p:tags r:id="rId14"/>
            </p:custDataLst>
          </p:nvPr>
        </p:nvSpPr>
        <p:spPr>
          <a:xfrm>
            <a:off x="4708475" y="4141589"/>
            <a:ext cx="2774900" cy="88455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实验证明 RSEI 模型对极端气候（如2019年旱情）具备高度灵敏的瞬时响应能力，是有效的区域环境监测工具</a:t>
            </a:r>
            <a:r>
              <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a:t>
            </a:r>
            <a:endPar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pic>
        <p:nvPicPr>
          <p:cNvPr id="242" name="Google Shape;242;p21" descr="image.png"/>
          <p:cNvPicPr preferRelativeResize="0"/>
          <p:nvPr>
            <p:custDataLst>
              <p:tags r:id="rId15"/>
            </p:custDataLst>
          </p:nvPr>
        </p:nvPicPr>
        <p:blipFill rotWithShape="1">
          <a:blip r:embed="rId16"/>
          <a:srcRect/>
          <a:stretch>
            <a:fillRect/>
          </a:stretch>
        </p:blipFill>
        <p:spPr>
          <a:xfrm>
            <a:off x="8359675" y="3198614"/>
            <a:ext cx="237083" cy="304800"/>
          </a:xfrm>
          <a:prstGeom prst="rect">
            <a:avLst/>
          </a:prstGeom>
          <a:noFill/>
          <a:ln>
            <a:noFill/>
          </a:ln>
        </p:spPr>
      </p:pic>
      <p:sp>
        <p:nvSpPr>
          <p:cNvPr id="243" name="Google Shape;243;p21"/>
          <p:cNvSpPr txBox="1"/>
          <p:nvPr>
            <p:custDataLst>
              <p:tags r:id="rId17"/>
            </p:custDataLst>
          </p:nvPr>
        </p:nvSpPr>
        <p:spPr>
          <a:xfrm>
            <a:off x="8359675" y="3693914"/>
            <a:ext cx="2913801" cy="2768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核心机制</a:t>
            </a:r>
            <a:endParaRPr lang="en-US" sz="1800" b="1" i="0" u="none" strike="noStrike" cap="none">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44" name="Google Shape;244;p21"/>
          <p:cNvSpPr txBox="1"/>
          <p:nvPr>
            <p:custDataLst>
              <p:tags r:id="rId18"/>
            </p:custDataLst>
          </p:nvPr>
        </p:nvSpPr>
        <p:spPr>
          <a:xfrm>
            <a:off x="8359675" y="4141589"/>
            <a:ext cx="2775049" cy="88455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区域生态空间分异由多因子协同作用，其中“</a:t>
            </a:r>
            <a:r>
              <a:rPr lang="en-US" sz="1200" b="1">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干度</a:t>
            </a:r>
            <a:r>
              <a:rPr lang="en-US" sz="1200">
                <a:solidFill>
                  <a:srgbClr val="1A1A1A"/>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rPr>
              <a:t>”因子是襄阳市生态质量最核心的限制性与驱动性因素。</a:t>
            </a:r>
            <a:endParaRPr lang="en-US" sz="1200" b="0" i="0" u="none" strike="noStrike" cap="none">
              <a:solidFill>
                <a:srgbClr val="4B5563"/>
              </a:solidFill>
              <a:latin typeface="方正黑体_GBK" panose="02010600010101010101" charset="-122"/>
              <a:ea typeface="方正黑体_GBK" panose="02010600010101010101" charset="-122"/>
              <a:cs typeface="方正黑体_GBK" panose="02010600010101010101" charset="-122"/>
              <a:sym typeface="方正黑体_GBK" panose="02010600010101010101" charset="-122"/>
            </a:endParaRPr>
          </a:p>
        </p:txBody>
      </p:sp>
      <p:sp>
        <p:nvSpPr>
          <p:cNvPr id="245" name="Google Shape;245;p21"/>
          <p:cNvSpPr txBox="1"/>
          <p:nvPr/>
        </p:nvSpPr>
        <p:spPr>
          <a:xfrm>
            <a:off x="762000" y="1009650"/>
            <a:ext cx="11201400"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研究结论与思考</a:t>
            </a:r>
            <a:endParaRPr lang="en-US" sz="3600" b="1" i="0" u="none" strike="noStrike" cap="none">
              <a:solidFill>
                <a:srgbClr val="1A1A1A"/>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sp>
        <p:nvSpPr>
          <p:cNvPr id="246" name="Google Shape;246;p21"/>
          <p:cNvSpPr/>
          <p:nvPr/>
        </p:nvSpPr>
        <p:spPr>
          <a:xfrm>
            <a:off x="5715000" y="1290637"/>
            <a:ext cx="762000" cy="47625"/>
          </a:xfrm>
          <a:prstGeom prst="rect">
            <a:avLst/>
          </a:prstGeom>
          <a:solidFill>
            <a:srgbClr val="CCFF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7" name="Google Shape;247;p21"/>
          <p:cNvSpPr txBox="1"/>
          <p:nvPr/>
        </p:nvSpPr>
        <p:spPr>
          <a:xfrm>
            <a:off x="10215562" y="381000"/>
            <a:ext cx="1214437"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rPr>
              <a:t>RESEARCH_FINDINGS</a:t>
            </a:r>
            <a:endParaRPr lang="en-US" sz="825" b="0" i="0" u="none" strike="noStrike" cap="none">
              <a:solidFill>
                <a:srgbClr val="94A3B8"/>
              </a:solidFill>
              <a:latin typeface="方正博雅宋大字库" panose="02010600010101010101" charset="-122"/>
              <a:ea typeface="方正博雅宋大字库" panose="02010600010101010101" charset="-122"/>
              <a:cs typeface="方正博雅宋大字库" panose="02010600010101010101" charset="-122"/>
              <a:sym typeface="方正博雅宋大字库" panose="02010600010101010101" charset="-122"/>
            </a:endParaRPr>
          </a:p>
        </p:txBody>
      </p:sp>
      <p:pic>
        <p:nvPicPr>
          <p:cNvPr id="16" name="图片 15" descr="三角"/>
          <p:cNvPicPr>
            <a:picLocks noChangeAspect="1"/>
          </p:cNvPicPr>
          <p:nvPr/>
        </p:nvPicPr>
        <p:blipFill>
          <a:blip r:embed="rId19"/>
          <a:stretch>
            <a:fillRect/>
          </a:stretch>
        </p:blipFill>
        <p:spPr>
          <a:xfrm>
            <a:off x="10490835" y="994410"/>
            <a:ext cx="508000" cy="495300"/>
          </a:xfrm>
          <a:prstGeom prst="rect">
            <a:avLst/>
          </a:prstGeom>
        </p:spPr>
      </p:pic>
      <p:pic>
        <p:nvPicPr>
          <p:cNvPr id="17" name="图片 16" descr="三角"/>
          <p:cNvPicPr>
            <a:picLocks noChangeAspect="1"/>
          </p:cNvPicPr>
          <p:nvPr/>
        </p:nvPicPr>
        <p:blipFill>
          <a:blip r:embed="rId19"/>
          <a:stretch>
            <a:fillRect/>
          </a:stretch>
        </p:blipFill>
        <p:spPr>
          <a:xfrm>
            <a:off x="9926320" y="1403985"/>
            <a:ext cx="767715" cy="748665"/>
          </a:xfrm>
          <a:prstGeom prst="rect">
            <a:avLst/>
          </a:prstGeom>
        </p:spPr>
      </p:pic>
      <p:pic>
        <p:nvPicPr>
          <p:cNvPr id="3" name="图片 2" descr="话题"/>
          <p:cNvPicPr>
            <a:picLocks noChangeAspect="1"/>
          </p:cNvPicPr>
          <p:nvPr/>
        </p:nvPicPr>
        <p:blipFill>
          <a:blip r:embed="rId20"/>
          <a:stretch>
            <a:fillRect/>
          </a:stretch>
        </p:blipFill>
        <p:spPr>
          <a:xfrm>
            <a:off x="762000" y="1615440"/>
            <a:ext cx="1145540" cy="3536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文本框 7"/>
          <p:cNvSpPr txBox="1"/>
          <p:nvPr/>
        </p:nvSpPr>
        <p:spPr>
          <a:xfrm>
            <a:off x="4053600" y="2625851"/>
            <a:ext cx="4341600"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8000" b="0" i="0" u="none" strike="noStrike" kern="1200" cap="none" spc="-300" normalizeH="0" baseline="0" noProof="0" dirty="0">
                <a:ln>
                  <a:noFill/>
                </a:ln>
                <a:solidFill>
                  <a:prstClr val="black">
                    <a:lumMod val="75000"/>
                    <a:lumOff val="25000"/>
                  </a:prstClr>
                </a:solidFill>
                <a:effectLst/>
                <a:uLnTx/>
                <a:uFillTx/>
                <a:latin typeface="方正博雅宋大字库" panose="02010600010101010101" charset="-122"/>
                <a:ea typeface="方正博雅宋大字库" panose="02010600010101010101" charset="-122"/>
                <a:cs typeface="方正博雅宋大字库" panose="02010600010101010101" charset="-122"/>
              </a:rPr>
              <a:t>感谢聆听</a:t>
            </a:r>
            <a:endParaRPr kumimoji="0" lang="zh-CN" altLang="en-US" sz="8000" b="0" i="0" u="none" strike="noStrike" kern="1200" cap="none" spc="-300" normalizeH="0" baseline="0" noProof="0" dirty="0">
              <a:ln>
                <a:noFill/>
              </a:ln>
              <a:solidFill>
                <a:prstClr val="black">
                  <a:lumMod val="75000"/>
                  <a:lumOff val="25000"/>
                </a:prstClr>
              </a:solidFill>
              <a:effectLst/>
              <a:uLnTx/>
              <a:uFillTx/>
              <a:latin typeface="方正博雅宋大字库" panose="02010600010101010101" charset="-122"/>
              <a:ea typeface="方正博雅宋大字库" panose="02010600010101010101" charset="-122"/>
              <a:cs typeface="方正博雅宋大字库" panose="02010600010101010101" charset="-122"/>
            </a:endParaRPr>
          </a:p>
        </p:txBody>
      </p:sp>
      <p:sp>
        <p:nvSpPr>
          <p:cNvPr id="14" name="文本框 13"/>
          <p:cNvSpPr txBox="1"/>
          <p:nvPr/>
        </p:nvSpPr>
        <p:spPr>
          <a:xfrm>
            <a:off x="3925199" y="3857215"/>
            <a:ext cx="4341600"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150" normalizeH="0" baseline="0" noProof="0" dirty="0">
                <a:ln>
                  <a:noFill/>
                </a:ln>
                <a:solidFill>
                  <a:prstClr val="black">
                    <a:lumMod val="75000"/>
                    <a:lumOff val="25000"/>
                  </a:prstClr>
                </a:solidFill>
                <a:effectLst/>
                <a:uLnTx/>
                <a:uFillTx/>
                <a:latin typeface="方正大黑体_GBK" panose="02010600010101010101" charset="-122"/>
                <a:ea typeface="方正大黑体_GBK" panose="02010600010101010101" charset="-122"/>
                <a:cs typeface="方正大黑体_GBK" panose="02010600010101010101" charset="-122"/>
              </a:rPr>
              <a:t>Thanks for your listening</a:t>
            </a:r>
            <a:endParaRPr kumimoji="0" lang="zh-CN" altLang="en-US" sz="2800" b="0" i="0" u="none" strike="noStrike" kern="1200" cap="none" spc="-150" normalizeH="0" baseline="0" noProof="0" dirty="0">
              <a:ln>
                <a:noFill/>
              </a:ln>
              <a:solidFill>
                <a:prstClr val="black">
                  <a:lumMod val="75000"/>
                  <a:lumOff val="25000"/>
                </a:prstClr>
              </a:solidFill>
              <a:effectLst/>
              <a:uLnTx/>
              <a:uFillTx/>
              <a:latin typeface="方正大黑体_GBK" panose="02010600010101010101" charset="-122"/>
              <a:ea typeface="方正大黑体_GBK" panose="02010600010101010101" charset="-122"/>
              <a:cs typeface="方正大黑体_GBK" panose="02010600010101010101"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0148" y="2247599"/>
            <a:ext cx="1117770" cy="239226"/>
          </a:xfrm>
          <a:prstGeom prst="rect">
            <a:avLst/>
          </a:prstGeom>
        </p:spPr>
      </p:pic>
      <p:sp>
        <p:nvSpPr>
          <p:cNvPr id="6" name="文本框 5"/>
          <p:cNvSpPr txBox="1"/>
          <p:nvPr/>
        </p:nvSpPr>
        <p:spPr>
          <a:xfrm>
            <a:off x="5612637" y="2210611"/>
            <a:ext cx="966723" cy="3231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500" b="0" i="0" u="none" strike="noStrike" kern="1200" cap="none" spc="-150" normalizeH="0" baseline="0" noProof="0" dirty="0">
                <a:ln>
                  <a:noFill/>
                </a:ln>
                <a:solidFill>
                  <a:prstClr val="black">
                    <a:lumMod val="75000"/>
                    <a:lumOff val="25000"/>
                  </a:prstClr>
                </a:solidFill>
                <a:effectLst/>
                <a:uLnTx/>
                <a:uFillTx/>
                <a:latin typeface="方正大黑体_GBK" panose="02010600010101010101" charset="-122"/>
                <a:ea typeface="方正大黑体_GBK" panose="02010600010101010101" charset="-122"/>
                <a:cs typeface="方正大黑体_GBK" panose="02010600010101010101" charset="-122"/>
              </a:rPr>
              <a:t>THE END</a:t>
            </a:r>
            <a:endParaRPr kumimoji="0" lang="zh-CN" altLang="en-US" sz="1500" b="0" i="0" u="none" strike="noStrike" kern="1200" cap="none" spc="-150" normalizeH="0" baseline="0" noProof="0" dirty="0">
              <a:ln>
                <a:noFill/>
              </a:ln>
              <a:solidFill>
                <a:prstClr val="black">
                  <a:lumMod val="75000"/>
                  <a:lumOff val="25000"/>
                </a:prstClr>
              </a:solidFill>
              <a:effectLst/>
              <a:uLnTx/>
              <a:uFillTx/>
              <a:latin typeface="方正大黑体_GBK" panose="02010600010101010101" charset="-122"/>
              <a:ea typeface="方正大黑体_GBK" panose="02010600010101010101" charset="-122"/>
              <a:cs typeface="方正大黑体_GBK" panose="02010600010101010101"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000">
        <p159:morph option="byObject"/>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380.99999999999994,&quot;left&quot;:502.5,&quot;top&quot;:118.19527559055118,&quot;width&quot;:397.5}"/>
</p:tagLst>
</file>

<file path=ppt/tags/tag2.xml><?xml version="1.0" encoding="utf-8"?>
<p:tagLst xmlns:p="http://schemas.openxmlformats.org/presentationml/2006/main">
  <p:tag name="KSO_WM_DIAGRAM_VIRTUALLY_FRAME" val="{&quot;height&quot;:380.99999999999994,&quot;left&quot;:502.5,&quot;top&quot;:118.19527559055118,&quot;width&quot;:397.5}"/>
</p:tagLst>
</file>

<file path=ppt/tags/tag3.xml><?xml version="1.0" encoding="utf-8"?>
<p:tagLst xmlns:p="http://schemas.openxmlformats.org/presentationml/2006/main">
  <p:tag name="KSO_WM_DIAGRAM_VIRTUALLY_FRAME" val="{&quot;height&quot;:380.99999999999994,&quot;left&quot;:502.5,&quot;top&quot;:118.19527559055118,&quot;width&quot;:397.5}"/>
</p:tagLst>
</file>

<file path=ppt/tags/tag4.xml><?xml version="1.0" encoding="utf-8"?>
<p:tagLst xmlns:p="http://schemas.openxmlformats.org/presentationml/2006/main">
  <p:tag name="KSO_WM_DIAGRAM_VIRTUALLY_FRAME" val="{&quot;height&quot;:380.99999999999994,&quot;left&quot;:502.5,&quot;top&quot;:118.19527559055118,&quot;width&quot;:397.5}"/>
</p:tagLst>
</file>

<file path=ppt/tags/tag5.xml><?xml version="1.0" encoding="utf-8"?>
<p:tagLst xmlns:p="http://schemas.openxmlformats.org/presentationml/2006/main">
  <p:tag name="KSO_WM_DIAGRAM_VIRTUALLY_FRAME" val="{&quot;height&quot;:380.99999999999994,&quot;left&quot;:502.5,&quot;top&quot;:118.19527559055118,&quot;width&quot;:397.5}"/>
</p:tagLst>
</file>

<file path=ppt/tags/tag6.xml><?xml version="1.0" encoding="utf-8"?>
<p:tagLst xmlns:p="http://schemas.openxmlformats.org/presentationml/2006/main">
  <p:tag name="KSO_WM_DIAGRAM_VIRTUALLY_FRAME" val="{&quot;height&quot;:380.99999999999994,&quot;left&quot;:502.5,&quot;top&quot;:118.19527559055118,&quot;width&quot;:397.5}"/>
</p:tagLst>
</file>

<file path=ppt/tags/tag7.xml><?xml version="1.0" encoding="utf-8"?>
<p:tagLst xmlns:p="http://schemas.openxmlformats.org/presentationml/2006/main">
  <p:tag name="KSO_WM_DIAGRAM_VIRTUALLY_FRAME" val="{&quot;height&quot;:380.99999999999994,&quot;left&quot;:502.5,&quot;top&quot;:118.19527559055118,&quot;width&quot;:397.5}"/>
</p:tagLst>
</file>

<file path=ppt/tags/tag8.xml><?xml version="1.0" encoding="utf-8"?>
<p:tagLst xmlns:p="http://schemas.openxmlformats.org/presentationml/2006/main">
  <p:tag name="KSO_WM_DIAGRAM_VIRTUALLY_FRAME" val="{&quot;height&quot;:380.99999999999994,&quot;left&quot;:502.5,&quot;top&quot;:118.19527559055118,&quot;width&quot;:397.5}"/>
</p:tagLst>
</file>

<file path=ppt/tags/tag9.xml><?xml version="1.0" encoding="utf-8"?>
<p:tagLst xmlns:p="http://schemas.openxmlformats.org/presentationml/2006/main">
  <p:tag name="KSO_WM_DIAGRAM_VIRTUALLY_FRAME" val="{&quot;height&quot;:380.99999999999994,&quot;left&quot;:502.5,&quot;top&quot;:118.19527559055118,&quot;width&quot;:397.5}"/>
</p:tagLst>
</file>

<file path=ppt/tags/tag10.xml><?xml version="1.0" encoding="utf-8"?>
<p:tagLst xmlns:p="http://schemas.openxmlformats.org/presentationml/2006/main">
  <p:tag name="KSO_WM_DIAGRAM_VIRTUALLY_FRAME" val="{&quot;height&quot;:180.37496062992128,&quot;left&quot;:60,&quot;top&quot;:236.06244094488187,&quot;width&quot;:840}"/>
</p:tagLst>
</file>

<file path=ppt/tags/tag11.xml><?xml version="1.0" encoding="utf-8"?>
<p:tagLst xmlns:p="http://schemas.openxmlformats.org/presentationml/2006/main">
  <p:tag name="KSO_WM_DIAGRAM_VIRTUALLY_FRAME" val="{&quot;height&quot;:180.37496062992128,&quot;left&quot;:60,&quot;top&quot;:236.06244094488187,&quot;width&quot;:840}"/>
</p:tagLst>
</file>

<file path=ppt/tags/tag12.xml><?xml version="1.0" encoding="utf-8"?>
<p:tagLst xmlns:p="http://schemas.openxmlformats.org/presentationml/2006/main">
  <p:tag name="KSO_WM_DIAGRAM_VIRTUALLY_FRAME" val="{&quot;height&quot;:180.37496062992128,&quot;left&quot;:60,&quot;top&quot;:236.06244094488187,&quot;width&quot;:840}"/>
</p:tagLst>
</file>

<file path=ppt/tags/tag13.xml><?xml version="1.0" encoding="utf-8"?>
<p:tagLst xmlns:p="http://schemas.openxmlformats.org/presentationml/2006/main">
  <p:tag name="KSO_WM_DIAGRAM_VIRTUALLY_FRAME" val="{&quot;height&quot;:180.37496062992128,&quot;left&quot;:60,&quot;top&quot;:236.06244094488187,&quot;width&quot;:840}"/>
</p:tagLst>
</file>

<file path=ppt/tags/tag14.xml><?xml version="1.0" encoding="utf-8"?>
<p:tagLst xmlns:p="http://schemas.openxmlformats.org/presentationml/2006/main">
  <p:tag name="KSO_WM_DIAGRAM_VIRTUALLY_FRAME" val="{&quot;height&quot;:180.37496062992128,&quot;left&quot;:60,&quot;top&quot;:236.06244094488187,&quot;width&quot;:840}"/>
</p:tagLst>
</file>

<file path=ppt/tags/tag15.xml><?xml version="1.0" encoding="utf-8"?>
<p:tagLst xmlns:p="http://schemas.openxmlformats.org/presentationml/2006/main">
  <p:tag name="KSO_WM_DIAGRAM_VIRTUALLY_FRAME" val="{&quot;height&quot;:180.37496062992128,&quot;left&quot;:60,&quot;top&quot;:236.06244094488187,&quot;width&quot;:840}"/>
</p:tagLst>
</file>

<file path=ppt/tags/tag16.xml><?xml version="1.0" encoding="utf-8"?>
<p:tagLst xmlns:p="http://schemas.openxmlformats.org/presentationml/2006/main">
  <p:tag name="KSO_WM_DIAGRAM_VIRTUALLY_FRAME" val="{&quot;height&quot;:180.37496062992128,&quot;left&quot;:60,&quot;top&quot;:236.06244094488187,&quot;width&quot;:840}"/>
</p:tagLst>
</file>

<file path=ppt/tags/tag17.xml><?xml version="1.0" encoding="utf-8"?>
<p:tagLst xmlns:p="http://schemas.openxmlformats.org/presentationml/2006/main">
  <p:tag name="KSO_WM_DIAGRAM_VIRTUALLY_FRAME" val="{&quot;height&quot;:180.37496062992128,&quot;left&quot;:60,&quot;top&quot;:236.06244094488187,&quot;width&quot;:840}"/>
</p:tagLst>
</file>

<file path=ppt/tags/tag18.xml><?xml version="1.0" encoding="utf-8"?>
<p:tagLst xmlns:p="http://schemas.openxmlformats.org/presentationml/2006/main">
  <p:tag name="KSO_WM_DIAGRAM_VIRTUALLY_FRAME" val="{&quot;height&quot;:180.37496062992128,&quot;left&quot;:60,&quot;top&quot;:236.06244094488187,&quot;width&quot;:840}"/>
</p:tagLst>
</file>

<file path=ppt/tags/tag19.xml><?xml version="1.0" encoding="utf-8"?>
<p:tagLst xmlns:p="http://schemas.openxmlformats.org/presentationml/2006/main">
  <p:tag name="KSO_WM_DIAGRAM_VIRTUALLY_FRAME" val="{&quot;height&quot;:180.37496062992128,&quot;left&quot;:60,&quot;top&quot;:236.06244094488187,&quot;width&quot;:840}"/>
</p:tagLst>
</file>

<file path=ppt/tags/tag20.xml><?xml version="1.0" encoding="utf-8"?>
<p:tagLst xmlns:p="http://schemas.openxmlformats.org/presentationml/2006/main">
  <p:tag name="KSO_WM_DIAGRAM_VIRTUALLY_FRAME" val="{&quot;height&quot;:180.37496062992128,&quot;left&quot;:60,&quot;top&quot;:236.06244094488187,&quot;width&quot;:840}"/>
</p:tagLst>
</file>

<file path=ppt/tags/tag21.xml><?xml version="1.0" encoding="utf-8"?>
<p:tagLst xmlns:p="http://schemas.openxmlformats.org/presentationml/2006/main">
  <p:tag name="KSO_WM_DIAGRAM_VIRTUALLY_FRAME" val="{&quot;height&quot;:180.37496062992128,&quot;left&quot;:60,&quot;top&quot;:236.06244094488187,&quot;width&quot;:840}"/>
</p:tagLst>
</file>

<file path=ppt/tags/tag22.xml><?xml version="1.0" encoding="utf-8"?>
<p:tagLst xmlns:p="http://schemas.openxmlformats.org/presentationml/2006/main">
  <p:tag name="TABLE_ENDDRAG_ORIGIN_RECT" val="745*243"/>
  <p:tag name="TABLE_ENDDRAG_RECT" val="101*133*745*243"/>
</p:tagLst>
</file>

<file path=ppt/tags/tag23.xml><?xml version="1.0" encoding="utf-8"?>
<p:tagLst xmlns:p="http://schemas.openxmlformats.org/presentationml/2006/main">
  <p:tag name="KSO_WM_DIAGRAM_VIRTUALLY_FRAME" val="{&quot;height&quot;:199.78118110236218,&quot;left&quot;:60,&quot;top&quot;:226.35937007874017,&quot;width&quot;:839.9999212598425}"/>
</p:tagLst>
</file>

<file path=ppt/tags/tag24.xml><?xml version="1.0" encoding="utf-8"?>
<p:tagLst xmlns:p="http://schemas.openxmlformats.org/presentationml/2006/main">
  <p:tag name="KSO_WM_DIAGRAM_VIRTUALLY_FRAME" val="{&quot;height&quot;:199.78118110236218,&quot;left&quot;:60,&quot;top&quot;:226.35937007874017,&quot;width&quot;:839.9999212598425}"/>
</p:tagLst>
</file>

<file path=ppt/tags/tag25.xml><?xml version="1.0" encoding="utf-8"?>
<p:tagLst xmlns:p="http://schemas.openxmlformats.org/presentationml/2006/main">
  <p:tag name="KSO_WM_DIAGRAM_VIRTUALLY_FRAME" val="{&quot;height&quot;:199.78118110236218,&quot;left&quot;:60,&quot;top&quot;:226.35937007874017,&quot;width&quot;:839.9999212598425}"/>
</p:tagLst>
</file>

<file path=ppt/tags/tag26.xml><?xml version="1.0" encoding="utf-8"?>
<p:tagLst xmlns:p="http://schemas.openxmlformats.org/presentationml/2006/main">
  <p:tag name="KSO_WM_DIAGRAM_VIRTUALLY_FRAME" val="{&quot;height&quot;:199.78118110236218,&quot;left&quot;:60,&quot;top&quot;:226.35937007874017,&quot;width&quot;:839.9999212598425}"/>
</p:tagLst>
</file>

<file path=ppt/tags/tag27.xml><?xml version="1.0" encoding="utf-8"?>
<p:tagLst xmlns:p="http://schemas.openxmlformats.org/presentationml/2006/main">
  <p:tag name="KSO_WM_DIAGRAM_VIRTUALLY_FRAME" val="{&quot;height&quot;:199.78118110236218,&quot;left&quot;:60,&quot;top&quot;:226.35937007874017,&quot;width&quot;:839.9999212598425}"/>
</p:tagLst>
</file>

<file path=ppt/tags/tag28.xml><?xml version="1.0" encoding="utf-8"?>
<p:tagLst xmlns:p="http://schemas.openxmlformats.org/presentationml/2006/main">
  <p:tag name="KSO_WM_DIAGRAM_VIRTUALLY_FRAME" val="{&quot;height&quot;:199.78118110236218,&quot;left&quot;:60,&quot;top&quot;:226.35937007874017,&quot;width&quot;:839.9999212598425}"/>
</p:tagLst>
</file>

<file path=ppt/tags/tag29.xml><?xml version="1.0" encoding="utf-8"?>
<p:tagLst xmlns:p="http://schemas.openxmlformats.org/presentationml/2006/main">
  <p:tag name="KSO_WM_DIAGRAM_VIRTUALLY_FRAME" val="{&quot;height&quot;:199.78118110236218,&quot;left&quot;:60,&quot;top&quot;:226.35937007874017,&quot;width&quot;:839.9999212598425}"/>
</p:tagLst>
</file>

<file path=ppt/tags/tag30.xml><?xml version="1.0" encoding="utf-8"?>
<p:tagLst xmlns:p="http://schemas.openxmlformats.org/presentationml/2006/main">
  <p:tag name="KSO_WM_DIAGRAM_VIRTUALLY_FRAME" val="{&quot;height&quot;:199.78118110236218,&quot;left&quot;:60,&quot;top&quot;:226.35937007874017,&quot;width&quot;:839.9999212598425}"/>
</p:tagLst>
</file>

<file path=ppt/tags/tag31.xml><?xml version="1.0" encoding="utf-8"?>
<p:tagLst xmlns:p="http://schemas.openxmlformats.org/presentationml/2006/main">
  <p:tag name="KSO_WM_DIAGRAM_VIRTUALLY_FRAME" val="{&quot;height&quot;:199.78118110236218,&quot;left&quot;:60,&quot;top&quot;:226.35937007874017,&quot;width&quot;:839.9999212598425}"/>
</p:tagLst>
</file>

<file path=ppt/tags/tag32.xml><?xml version="1.0" encoding="utf-8"?>
<p:tagLst xmlns:p="http://schemas.openxmlformats.org/presentationml/2006/main">
  <p:tag name="KSO_WM_DIAGRAM_VIRTUALLY_FRAME" val="{&quot;height&quot;:199.78118110236218,&quot;left&quot;:60,&quot;top&quot;:226.35937007874017,&quot;width&quot;:839.9999212598425}"/>
</p:tagLst>
</file>

<file path=ppt/tags/tag33.xml><?xml version="1.0" encoding="utf-8"?>
<p:tagLst xmlns:p="http://schemas.openxmlformats.org/presentationml/2006/main">
  <p:tag name="KSO_WM_DIAGRAM_VIRTUALLY_FRAME" val="{&quot;height&quot;:199.78118110236218,&quot;left&quot;:60,&quot;top&quot;:226.35937007874017,&quot;width&quot;:839.9999212598425}"/>
</p:tagLst>
</file>

<file path=ppt/tags/tag34.xml><?xml version="1.0" encoding="utf-8"?>
<p:tagLst xmlns:p="http://schemas.openxmlformats.org/presentationml/2006/main">
  <p:tag name="KSO_WM_DIAGRAM_VIRTUALLY_FRAME" val="{&quot;height&quot;:199.78118110236218,&quot;left&quot;:60,&quot;top&quot;:226.35937007874017,&quot;width&quot;:839.999921259842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方正博雅宋大字库"/>
        <a:font script="Hebr" typeface="方正博雅宋大字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博雅宋大字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方正博雅宋大字库"/>
        <a:font script="Hebr" typeface="方正博雅宋大字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博雅宋大字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博雅宋大字库"/>
        <a:font script="Hebr" typeface="方正博雅宋大字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博雅宋大字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方正博雅宋大字库"/>
        <a:font script="Hebr" typeface="方正博雅宋大字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方正博雅宋大字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5933</Words>
  <Application>WPS 演示</Application>
  <PresentationFormat>宽屏</PresentationFormat>
  <Paragraphs>789</Paragraphs>
  <Slides>31</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31</vt:i4>
      </vt:variant>
    </vt:vector>
  </HeadingPairs>
  <TitlesOfParts>
    <vt:vector size="44" baseType="lpstr">
      <vt:lpstr>Arial</vt:lpstr>
      <vt:lpstr>宋体</vt:lpstr>
      <vt:lpstr>Wingdings</vt:lpstr>
      <vt:lpstr>方正博雅宋大字库</vt:lpstr>
      <vt:lpstr>方正大黑体_GBK</vt:lpstr>
      <vt:lpstr>Calibri</vt:lpstr>
      <vt:lpstr>方正黑体_GBK</vt:lpstr>
      <vt:lpstr>微软雅黑</vt:lpstr>
      <vt:lpstr>Arial Unicode MS</vt:lpstr>
      <vt:lpstr>等线 Light</vt:lpstr>
      <vt:lpstr>等线</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Undo Memory</dc:creator>
  <cp:lastModifiedBy>许愿</cp:lastModifiedBy>
  <cp:revision>13</cp:revision>
  <dcterms:created xsi:type="dcterms:W3CDTF">2026-05-05T10:09:00Z</dcterms:created>
  <dcterms:modified xsi:type="dcterms:W3CDTF">2026-07-31T12:47:35Z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B795060BB4024CDA961A81CCB7DDF05B_13</vt:lpwstr>
  </property>
</Properties>
</file>