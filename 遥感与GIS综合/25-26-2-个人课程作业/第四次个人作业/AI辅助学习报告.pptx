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53" autoAdjust="0"/>
  </p:normalViewPr>
  <p:slideViewPr>
    <p:cSldViewPr snapToGrid="0" showGuides="1">
      <p:cViewPr varScale="1">
        <p:scale>
          <a:sx n="88" d="100"/>
          <a:sy n="88" d="100"/>
        </p:scale>
        <p:origin x="72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总人口相对误差（%）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非分层方案</c:v>
                </c:pt>
                <c:pt idx="1">
                  <c:v>分层方案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872c6bf1-f136-4b9f-8338-b24c7918066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9AC5B-8040-4994-A867-6378791A51C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89792-7BBB-4AB5-B066-1096FA1D4C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3347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23882" y="685800"/>
            <a:ext cx="188173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课程汇报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23882" y="1219200"/>
            <a:ext cx="6286343" cy="13555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75" b="1" dirty="0">
                <a:solidFill>
                  <a:srgbClr val="0B12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AI辅助学习《遥感与GIS综合》</a:t>
            </a:r>
            <a:endParaRPr lang="en-US" sz="3175" b="1" dirty="0">
              <a:solidFill>
                <a:srgbClr val="0B122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3175" b="1" dirty="0">
                <a:solidFill>
                  <a:srgbClr val="0B12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3、Chap 10</a:t>
            </a:r>
            <a:endParaRPr lang="en-US" sz="3175" dirty="0"/>
          </a:p>
        </p:txBody>
      </p:sp>
      <p:sp>
        <p:nvSpPr>
          <p:cNvPr id="6" name="Text 4"/>
          <p:cNvSpPr/>
          <p:nvPr/>
        </p:nvSpPr>
        <p:spPr>
          <a:xfrm>
            <a:off x="761981" y="3162300"/>
            <a:ext cx="6594316" cy="985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从城市土地利用/覆盖分类</a:t>
            </a:r>
            <a:endParaRPr lang="en-US" sz="1725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72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到基于Landsat ETM+与人口普查数据的人口估算</a:t>
            </a:r>
            <a:endParaRPr lang="en-US" sz="1725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72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一条“遥感观测 + GIS语义 + AI整理”的学习主线。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761981" y="4600575"/>
            <a:ext cx="561961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1AA5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61981" y="4819650"/>
            <a:ext cx="2645248" cy="8304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</a:t>
            </a:r>
            <a:endParaRPr lang="en-US" sz="2800" b="1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619809" y="666750"/>
            <a:ext cx="3905152" cy="55245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4961" dist="2381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981750" y="1181100"/>
            <a:ext cx="2000200" cy="1181100"/>
          </a:xfrm>
          <a:prstGeom prst="rect">
            <a:avLst/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410465" y="2362200"/>
            <a:ext cx="1638259" cy="876300"/>
          </a:xfrm>
          <a:prstGeom prst="rect">
            <a:avLst/>
          </a:prstGeom>
          <a:solidFill>
            <a:srgbClr val="84CC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324642" y="3810000"/>
            <a:ext cx="2495488" cy="127635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02425" y="3137085"/>
            <a:ext cx="2701822" cy="574305"/>
          </a:xfrm>
          <a:prstGeom prst="lineInv">
            <a:avLst/>
          </a:prstGeom>
          <a:solidFill>
            <a:srgbClr val="FFFFFF">
              <a:alpha val="0"/>
            </a:srgbClr>
          </a:solidFill>
          <a:ln w="28575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510629" y="5373073"/>
            <a:ext cx="2333058" cy="369528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962701" y="5147667"/>
            <a:ext cx="0" cy="719733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134147" y="5147667"/>
            <a:ext cx="2285943" cy="7197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6FF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Remote Sensing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E6FF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GIS Integration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E6FF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Population Estimation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6733" y="457200"/>
            <a:ext cx="64768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汇报路线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6733" y="781050"/>
            <a:ext cx="8000800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在几</a:t>
            </a:r>
            <a:r>
              <a:rPr lang="en-US" sz="271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分钟内，把作业压缩为一条“多源融合”主线</a:t>
            </a:r>
            <a:endParaRPr lang="en-US" sz="2710" dirty="0"/>
          </a:p>
        </p:txBody>
      </p:sp>
      <p:sp>
        <p:nvSpPr>
          <p:cNvPr id="5" name="Shape 3"/>
          <p:cNvSpPr/>
          <p:nvPr/>
        </p:nvSpPr>
        <p:spPr>
          <a:xfrm>
            <a:off x="666733" y="1695450"/>
            <a:ext cx="10667733" cy="19050"/>
          </a:xfrm>
          <a:prstGeom prst="rect">
            <a:avLst/>
          </a:prstGeom>
          <a:solidFill>
            <a:srgbClr val="DBE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6733" y="2152650"/>
            <a:ext cx="2952676" cy="37147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52476" y="2476500"/>
            <a:ext cx="2381190" cy="2839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9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</a:t>
            </a:r>
            <a:endParaRPr lang="en-US" sz="1895" dirty="0"/>
          </a:p>
        </p:txBody>
      </p:sp>
      <p:sp>
        <p:nvSpPr>
          <p:cNvPr id="8" name="Text 6"/>
          <p:cNvSpPr/>
          <p:nvPr/>
        </p:nvSpPr>
        <p:spPr>
          <a:xfrm>
            <a:off x="952476" y="2956409"/>
            <a:ext cx="2562162" cy="13282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城市土地利用分类与人口估算都不能只靠单一影像光谱完成</a:t>
            </a:r>
            <a:r>
              <a:rPr lang="en-US" sz="1350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1350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endParaRPr lang="en-US" sz="1350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350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关键是把遥感连续观测与GIS边界、普查、住房、POI等语义数据连接起来</a:t>
            </a:r>
            <a:r>
              <a:rPr lang="en-US" sz="1350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43271" y="2152650"/>
            <a:ext cx="2047824" cy="1352550"/>
          </a:xfrm>
          <a:prstGeom prst="rect">
            <a:avLst/>
          </a:prstGeom>
          <a:solidFill>
            <a:srgbClr val="F1F7FB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24242" y="2333625"/>
            <a:ext cx="168588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AI辅助过程</a:t>
            </a:r>
            <a:endParaRPr lang="en-US" sz="1035" dirty="0"/>
          </a:p>
        </p:txBody>
      </p:sp>
      <p:sp>
        <p:nvSpPr>
          <p:cNvPr id="12" name="Text 10"/>
          <p:cNvSpPr/>
          <p:nvPr/>
        </p:nvSpPr>
        <p:spPr>
          <a:xfrm>
            <a:off x="4324242" y="2514600"/>
            <a:ext cx="1685883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翻译、术语、文献检索、PPT生成与人工核验。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714957" y="2152650"/>
            <a:ext cx="2047824" cy="1352550"/>
          </a:xfrm>
          <a:prstGeom prst="rect">
            <a:avLst/>
          </a:prstGeom>
          <a:solidFill>
            <a:srgbClr val="F1F7FB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95928" y="2333625"/>
            <a:ext cx="168588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3</a:t>
            </a:r>
            <a:endParaRPr lang="en-US" sz="1035" dirty="0"/>
          </a:p>
        </p:txBody>
      </p:sp>
      <p:sp>
        <p:nvSpPr>
          <p:cNvPr id="16" name="Text 14"/>
          <p:cNvSpPr/>
          <p:nvPr/>
        </p:nvSpPr>
        <p:spPr>
          <a:xfrm>
            <a:off x="6895928" y="2514600"/>
            <a:ext cx="1685883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城市LULC分类：为什么需要GIS辅助数据。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286643" y="2152650"/>
            <a:ext cx="2047824" cy="1352550"/>
          </a:xfrm>
          <a:prstGeom prst="rect">
            <a:avLst/>
          </a:prstGeom>
          <a:solidFill>
            <a:srgbClr val="F1F7FB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467613" y="2333625"/>
            <a:ext cx="168588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</a:t>
            </a:r>
            <a:endParaRPr lang="en-US" sz="1035" dirty="0"/>
          </a:p>
        </p:txBody>
      </p:sp>
      <p:sp>
        <p:nvSpPr>
          <p:cNvPr id="20" name="Text 18"/>
          <p:cNvSpPr/>
          <p:nvPr/>
        </p:nvSpPr>
        <p:spPr>
          <a:xfrm>
            <a:off x="9467613" y="2514600"/>
            <a:ext cx="1685883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遥感人口估算：变量构建、回归、误差评价。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5429114" y="4152900"/>
            <a:ext cx="2047824" cy="1352550"/>
          </a:xfrm>
          <a:prstGeom prst="rect">
            <a:avLst/>
          </a:prstGeom>
          <a:solidFill>
            <a:srgbClr val="F1F7FB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610085" y="4333875"/>
            <a:ext cx="168588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文献进展</a:t>
            </a:r>
            <a:endParaRPr lang="en-US" sz="1035" dirty="0"/>
          </a:p>
        </p:txBody>
      </p:sp>
      <p:sp>
        <p:nvSpPr>
          <p:cNvPr id="24" name="Text 22"/>
          <p:cNvSpPr/>
          <p:nvPr/>
        </p:nvSpPr>
        <p:spPr>
          <a:xfrm>
            <a:off x="5610085" y="4514850"/>
            <a:ext cx="1685883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从传统回归走向高分辨率、多源融合和深度学习。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8000800" y="4152900"/>
            <a:ext cx="2047824" cy="1352550"/>
          </a:xfrm>
          <a:prstGeom prst="rect">
            <a:avLst/>
          </a:prstGeom>
          <a:solidFill>
            <a:srgbClr val="F1F7FB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181770" y="4333875"/>
            <a:ext cx="1685883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改进方向</a:t>
            </a:r>
            <a:endParaRPr lang="en-US" sz="1035" dirty="0"/>
          </a:p>
        </p:txBody>
      </p:sp>
      <p:sp>
        <p:nvSpPr>
          <p:cNvPr id="28" name="Text 26"/>
          <p:cNvSpPr/>
          <p:nvPr/>
        </p:nvSpPr>
        <p:spPr>
          <a:xfrm>
            <a:off x="8181770" y="4514850"/>
            <a:ext cx="1685883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不确定性、可解释性、本地化应用与AI使用反思。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6191095" y="2819400"/>
            <a:ext cx="523862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762781" y="2819400"/>
            <a:ext cx="523862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114797" y="3505200"/>
            <a:ext cx="19050" cy="64770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258169" y="3505200"/>
            <a:ext cx="19050" cy="64770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114797" y="4152900"/>
            <a:ext cx="1314417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972326" y="4152900"/>
            <a:ext cx="1304892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360660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8634" y="400050"/>
            <a:ext cx="11563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AI辅助学习过程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34" y="723900"/>
            <a:ext cx="9334267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AI提高整理效率，但核验和版面仍需要人工兜底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28634" y="1257300"/>
            <a:ext cx="10975537" cy="524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本次作业不是让AI替代阅读，而是把AI放在“文本整理—线索检索—结构化输出”的辅助位置，再由人校对术语、文献与汇报逻辑。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28634" y="2047875"/>
            <a:ext cx="1904952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778" dist="1389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8634" y="2081212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528824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28634" y="3586163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33397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0555" y="2305050"/>
            <a:ext cx="1581110" cy="247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教材阅读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90555" y="2628456"/>
            <a:ext cx="1581110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围绕Chap 3与Chap 10提取研究问题、变量和流程。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2866953" y="2047875"/>
            <a:ext cx="1904952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778" dist="1389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866953" y="2081212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67143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866953" y="3586163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871716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028874" y="2305050"/>
            <a:ext cx="1581110" cy="247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中英互译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028874" y="2628456"/>
            <a:ext cx="1581110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用Codex辅助翻译Chap 10正文与关键段落。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5105272" y="2047875"/>
            <a:ext cx="1904952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778" dist="1389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105272" y="2081212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005462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105272" y="3586163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110035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267193" y="2305050"/>
            <a:ext cx="1581110" cy="247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文献核验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267193" y="2628456"/>
            <a:ext cx="1581110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AI给出线索后，在Google Scholar等平台校对题名与DOI。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343591" y="2047875"/>
            <a:ext cx="1904952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778" dist="1389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343591" y="2081212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9243781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343591" y="3586163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348354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505512" y="2305050"/>
            <a:ext cx="1581110" cy="247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总结拓展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505512" y="2628456"/>
            <a:ext cx="1581110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用ChatGPT归纳未来改进方向与课程联系。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9581910" y="2047875"/>
            <a:ext cx="1904952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778" dist="1389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581910" y="2081212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482100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581910" y="3586163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586673" y="2047875"/>
            <a:ext cx="0" cy="1543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2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743831" y="2305050"/>
            <a:ext cx="1581110" cy="247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PPT生成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743831" y="2628456"/>
            <a:ext cx="1581110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尝试HTML转PPT与专业PPT工具，比较可编辑性和页数控制。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2552636" y="2752725"/>
            <a:ext cx="333367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790955" y="2752725"/>
            <a:ext cx="333367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029274" y="2752725"/>
            <a:ext cx="333367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267593" y="2752725"/>
            <a:ext cx="333367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28634" y="4667250"/>
            <a:ext cx="3463739" cy="12382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38179" y="4876800"/>
            <a:ext cx="30446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术语不只翻译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38179" y="5244192"/>
            <a:ext cx="3254194" cy="4417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land use / land cover、impervious surface 等需要结合城市遥感语境解释。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01918" y="4667250"/>
            <a:ext cx="3463888" cy="12382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511463" y="4876800"/>
            <a:ext cx="3044798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文献必须核验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511463" y="5244192"/>
            <a:ext cx="3044798" cy="4417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AI可能生成错误年份、作者或DOI</a:t>
            </a:r>
            <a:r>
              <a:rPr lang="en-US" sz="1200" dirty="0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200" dirty="0">
              <a:solidFill>
                <a:srgbClr val="CDE7E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1200" dirty="0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所提供的文献</a:t>
            </a:r>
            <a:r>
              <a:rPr lang="en-US" sz="1200" dirty="0" err="1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不能直接放入作业</a:t>
            </a:r>
            <a:r>
              <a:rPr lang="en-US" sz="1200" dirty="0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975351" y="4667250"/>
            <a:ext cx="3463888" cy="12382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184896" y="4876800"/>
            <a:ext cx="3044798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PPT不能只好看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184896" y="5244192"/>
            <a:ext cx="3044798" cy="4417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HTML图片化会牺牲可编辑性</a:t>
            </a:r>
            <a:r>
              <a:rPr lang="en-US" sz="1200" dirty="0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1200" dirty="0">
              <a:solidFill>
                <a:srgbClr val="CDE7E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课程汇报更需要结构清楚、页数可控</a:t>
            </a:r>
            <a:r>
              <a:rPr lang="en-US" sz="1200" dirty="0">
                <a:solidFill>
                  <a:srgbClr val="CDE7E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379709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6733" y="400050"/>
            <a:ext cx="24742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3 · 城市土地利用/覆盖分类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9905752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城市LULC分类的难点来自“光谱—语义”错位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66733" y="1257300"/>
            <a:ext cx="8096048" cy="262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遥感影像能看到地表覆盖，但城市管理关心的常是功能用途；二者并不总是一一对应。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66733" y="2057400"/>
            <a:ext cx="5143371" cy="2933700"/>
          </a:xfrm>
          <a:prstGeom prst="rect">
            <a:avLst/>
          </a:prstGeom>
          <a:solidFill>
            <a:srgbClr val="F3F7FA"/>
          </a:solidFill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42951" y="2333625"/>
            <a:ext cx="459093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同谱异义：相似覆盖，不同功能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2951" y="2729594"/>
            <a:ext cx="4590935" cy="5018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商业区、工业区与交通设施都可能包含屋顶、道路</a:t>
            </a:r>
            <a:endParaRPr lang="en-US" sz="1275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75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和大面积不透水面，仅靠多光谱波段容易混淆</a:t>
            </a: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42951" y="3359348"/>
            <a:ext cx="2238319" cy="8170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66763" y="3359348"/>
            <a:ext cx="0" cy="817066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23922" y="3483173"/>
            <a:ext cx="1924002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商业/服务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123922" y="3692723"/>
            <a:ext cx="1924002" cy="3598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建筑密集、停车场多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05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光谱接近工业区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5568" y="3359348"/>
            <a:ext cx="2238319" cy="8170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319380" y="3359348"/>
            <a:ext cx="0" cy="817066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476538" y="3483173"/>
            <a:ext cx="1924002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工业/仓储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3476538" y="3692723"/>
            <a:ext cx="1924002" cy="3598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屋顶材料和硬化地表比例高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05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功能语义不同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81590" y="2057400"/>
            <a:ext cx="5143371" cy="2933700"/>
          </a:xfrm>
          <a:prstGeom prst="rect">
            <a:avLst/>
          </a:prstGeom>
          <a:solidFill>
            <a:srgbClr val="F3F7FA"/>
          </a:solidFill>
          <a:ln w="9525">
            <a:solidFill>
              <a:srgbClr val="D6E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7809" y="2333625"/>
            <a:ext cx="459093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同义异谱：同一用途，多种覆盖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57809" y="2729594"/>
            <a:ext cx="4590935" cy="5018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居民区内部同时包含建筑、道路、草地、树木与阴影</a:t>
            </a: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1275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75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不同住房密度对应不同光谱组合</a:t>
            </a: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657809" y="3359348"/>
            <a:ext cx="2238319" cy="8170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81620" y="3359348"/>
            <a:ext cx="0" cy="817066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38779" y="3483173"/>
            <a:ext cx="1924002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低密度住宅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6838779" y="3692723"/>
            <a:ext cx="1924002" cy="3598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绿地比例较高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05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建筑分散，纹理较弱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10425" y="3359348"/>
            <a:ext cx="2238319" cy="8170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034237" y="3359348"/>
            <a:ext cx="0" cy="817066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91395" y="3483173"/>
            <a:ext cx="1924002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高密度住宅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191395" y="3692723"/>
            <a:ext cx="1924002" cy="3598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建筑集中、不透水面高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05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050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阴影和纹理更复杂</a:t>
            </a: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6733" y="5372100"/>
            <a:ext cx="10858229" cy="7048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90575" y="5586413"/>
            <a:ext cx="2021631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3启示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012206" y="5481191"/>
            <a:ext cx="8188914" cy="4866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城市LULC分类需要把影像光谱、GIS边界、住房密度、人口普查和分区数据结合</a:t>
            </a:r>
            <a:r>
              <a:rPr lang="en-US" sz="1350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350" dirty="0">
              <a:solidFill>
                <a:srgbClr val="E2F5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350" dirty="0" err="1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才能从“地表覆盖”推断“城市功能</a:t>
            </a:r>
            <a:r>
              <a:rPr lang="en-US" sz="1350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”。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379709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158304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3 · 技术流程图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23900"/>
            <a:ext cx="9334267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影像分类与GIS规则在后处理阶段合流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09585" y="1257300"/>
            <a:ext cx="9239019" cy="262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流程的关键不是多做一个分类器，而是让遥感影像的连续观测与GIS辅助数据的语义约束共同修正混淆类别。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09585" y="2190750"/>
            <a:ext cx="3143171" cy="11811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38179" y="2409825"/>
            <a:ext cx="2685983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遥感影像流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179" y="2762252"/>
            <a:ext cx="2685983" cy="4265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Landsat </a:t>
            </a:r>
            <a:r>
              <a:rPr lang="en-US" sz="1200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ETM+影像</a:t>
            </a:r>
            <a:endParaRPr lang="en-US" sz="1200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提供光谱信息与空间连续覆盖</a:t>
            </a:r>
            <a:r>
              <a:rPr lang="en-US" sz="1200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5" y="3714750"/>
            <a:ext cx="3143171" cy="11811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38179" y="3933825"/>
            <a:ext cx="2685983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GIS辅助流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179" y="4286252"/>
            <a:ext cx="2685983" cy="4265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人口普查、住房密度、分区等数据</a:t>
            </a:r>
            <a:endParaRPr lang="en-US" sz="1200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提供城市功能语义</a:t>
            </a:r>
            <a:r>
              <a:rPr lang="en-US" sz="1200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38519" y="2381250"/>
            <a:ext cx="163825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BE5"/>
            </a:solidFill>
            <a:prstDash val="solid"/>
          </a:ln>
          <a:effectLst>
            <a:outerShdw blurRad="2183" dist="992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52856" y="2570708"/>
            <a:ext cx="609585" cy="402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辐射校正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几何配准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8519" y="3905250"/>
            <a:ext cx="163825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BE5"/>
            </a:solidFill>
            <a:prstDash val="solid"/>
          </a:ln>
          <a:effectLst>
            <a:outerShdw blurRad="2183" dist="992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52856" y="4094708"/>
            <a:ext cx="609585" cy="402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统一坐标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空间叠置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29214" y="2381250"/>
            <a:ext cx="163825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BE5"/>
            </a:solidFill>
            <a:prstDash val="solid"/>
          </a:ln>
          <a:effectLst>
            <a:outerShdw blurRad="2183" dist="992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943551" y="2570708"/>
            <a:ext cx="609585" cy="402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影像光谱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初始分类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29214" y="3905250"/>
            <a:ext cx="1638259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BE5"/>
            </a:solidFill>
            <a:prstDash val="solid"/>
          </a:ln>
          <a:effectLst>
            <a:outerShdw blurRad="2183" dist="992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943551" y="4094708"/>
            <a:ext cx="609585" cy="402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规则构建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参考样本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19909" y="3000375"/>
            <a:ext cx="1952576" cy="1066800"/>
          </a:xfrm>
          <a:prstGeom prst="rect">
            <a:avLst/>
          </a:prstGeom>
          <a:solidFill>
            <a:srgbClr val="DFF7F4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96138" y="3405783"/>
            <a:ext cx="1200120" cy="255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多源融合分类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8896128" y="4705350"/>
            <a:ext cx="1952576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90800" y="4867275"/>
            <a:ext cx="1363232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分类后修正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居民/商业/工业细分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96128" y="5619750"/>
            <a:ext cx="1952576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B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244674" y="5781675"/>
            <a:ext cx="1255334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精度评价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 / Kappa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52756" y="2762250"/>
            <a:ext cx="485763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752756" y="4286250"/>
            <a:ext cx="485763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876778" y="2762250"/>
            <a:ext cx="552436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876778" y="4286250"/>
            <a:ext cx="552436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067473" y="2771775"/>
            <a:ext cx="496526" cy="242178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067473" y="4053597"/>
            <a:ext cx="496526" cy="242178"/>
          </a:xfrm>
          <a:prstGeom prst="lineInv">
            <a:avLst/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581910" y="4067175"/>
            <a:ext cx="19050" cy="638175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867653" y="5410200"/>
            <a:ext cx="19050" cy="2095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379709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6733" y="400050"/>
            <a:ext cx="18483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 · 变量构建逻辑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096248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把“地表特征”转成可回归的人口解释变量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66734" y="1257300"/>
            <a:ext cx="5570780" cy="8401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遥感数据不直接记录人口数量</a:t>
            </a: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425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425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但城市建筑密度、植被比例、热环境和纹理结构会影响影像特征</a:t>
            </a: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425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425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从而为人口估算提供间接证据</a:t>
            </a: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66733" y="2190750"/>
            <a:ext cx="2381190" cy="10858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66733" y="2219325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043161" y="2190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66733" y="3271838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1496" y="2190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7704" y="2409825"/>
            <a:ext cx="2019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PCA主成分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7704" y="2733676"/>
            <a:ext cx="2019250" cy="388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压缩多光谱波段冗余；前三个PC解释约99%总方差。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66733" y="3714750"/>
            <a:ext cx="2381190" cy="10858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66733" y="3743325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043161" y="3714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66733" y="4795837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496" y="3714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7704" y="3933825"/>
            <a:ext cx="2019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植被指数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7704" y="4257676"/>
            <a:ext cx="2019250" cy="5826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NDVI、SAVI、RDVI、TNDVI、SVI、RVI刻画植被覆盖。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3476538" y="4857750"/>
            <a:ext cx="2381190" cy="10858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476538" y="4886325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852966" y="4857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76538" y="5938837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81300" y="4857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657509" y="5076825"/>
            <a:ext cx="2019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SMA分量影像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509" y="5400676"/>
            <a:ext cx="2019250" cy="388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分解植被、不透水面与阴影等亚像元比例。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6333967" y="4857750"/>
            <a:ext cx="2381190" cy="10858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33967" y="4886325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710395" y="4857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333967" y="5938837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38729" y="4857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14937" y="5076825"/>
            <a:ext cx="2019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纹理特征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4937" y="5400676"/>
            <a:ext cx="2019250" cy="388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用方差和不同窗口反映城市空间结构复杂度。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9143771" y="2190750"/>
            <a:ext cx="2381190" cy="10858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143771" y="2219325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520199" y="2190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143771" y="3271838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148534" y="2190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24742" y="2409825"/>
            <a:ext cx="2019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地表温度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324742" y="2733676"/>
            <a:ext cx="2019250" cy="388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由热红外波段6转换，常与建成环境和人口密度相关。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9143771" y="3714750"/>
            <a:ext cx="2381190" cy="10858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9143771" y="3743325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520199" y="3714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143771" y="4795837"/>
            <a:ext cx="238119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9148534" y="3714750"/>
            <a:ext cx="0" cy="10858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9324742" y="3933825"/>
            <a:ext cx="2019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普查块组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324742" y="4257676"/>
            <a:ext cx="2019250" cy="388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把像元统计到census block group，与人口密度对齐。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4476638" y="2619375"/>
            <a:ext cx="3238419" cy="16192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010025" y="3047554"/>
            <a:ext cx="2171646" cy="3257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1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人口密度估算模型</a:t>
            </a:r>
            <a:endParaRPr lang="en-US" sz="2140" dirty="0"/>
          </a:p>
        </p:txBody>
      </p:sp>
      <p:sp>
        <p:nvSpPr>
          <p:cNvPr id="50" name="Text 48"/>
          <p:cNvSpPr/>
          <p:nvPr/>
        </p:nvSpPr>
        <p:spPr>
          <a:xfrm>
            <a:off x="4866558" y="3373338"/>
            <a:ext cx="2458579" cy="436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相关分析 → 逐步回归 → 精度评价</a:t>
            </a:r>
            <a:endParaRPr lang="en-US" sz="1275" dirty="0"/>
          </a:p>
          <a:p>
            <a:pPr marL="0" indent="0" algn="ctr">
              <a:buNone/>
            </a:pPr>
            <a:r>
              <a:rPr lang="en-US" sz="127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 / LPD / SPD多形式比较</a:t>
            </a:r>
            <a:endParaRPr lang="en-US" sz="1275" dirty="0"/>
          </a:p>
        </p:txBody>
      </p:sp>
      <p:sp>
        <p:nvSpPr>
          <p:cNvPr id="51" name="Shape 49"/>
          <p:cNvSpPr/>
          <p:nvPr/>
        </p:nvSpPr>
        <p:spPr>
          <a:xfrm>
            <a:off x="3047924" y="2724150"/>
            <a:ext cx="1409665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3047924" y="4248150"/>
            <a:ext cx="1409665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7734107" y="2733675"/>
            <a:ext cx="1409665" cy="9525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734107" y="4257675"/>
            <a:ext cx="1409665" cy="9525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019550" y="4312451"/>
            <a:ext cx="403093" cy="554824"/>
          </a:xfrm>
          <a:prstGeom prst="lineInv">
            <a:avLst/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769053" y="4312451"/>
            <a:ext cx="403093" cy="554824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379709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8634" y="400050"/>
            <a:ext cx="297544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 · Study Area and Datasets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34" y="723900"/>
            <a:ext cx="9858129" cy="3275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8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案例数据以印第安纳波利斯为单位，把像元汇总到普查块组</a:t>
            </a:r>
            <a:endParaRPr lang="en-US" sz="2185" dirty="0"/>
          </a:p>
        </p:txBody>
      </p:sp>
      <p:sp>
        <p:nvSpPr>
          <p:cNvPr id="5" name="Text 3"/>
          <p:cNvSpPr/>
          <p:nvPr/>
        </p:nvSpPr>
        <p:spPr>
          <a:xfrm>
            <a:off x="628634" y="1257300"/>
            <a:ext cx="9524762" cy="236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影像与普查数据格式、坐标系和空间分辨率不同；建模前先统一投影，并选择共同统计单元。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8634" y="2000250"/>
            <a:ext cx="521957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6753" y="2200275"/>
            <a:ext cx="4743331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研究设计事实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6753" y="2500313"/>
            <a:ext cx="4743331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66753" y="2668361"/>
            <a:ext cx="1162021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28774" y="2668361"/>
            <a:ext cx="3581310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Indianapolis, Indiana；与Chap 3案例区相衔接。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6753" y="2992955"/>
            <a:ext cx="1162021" cy="4872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影像数据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28774" y="2992955"/>
            <a:ext cx="3581310" cy="4872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Landsat 7 ETM+，2000-06-22，path/row 21/32，USGS 1G级校正。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6753" y="3480218"/>
            <a:ext cx="1162021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人口数据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28774" y="3480218"/>
            <a:ext cx="3581310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ESRI Data &amp; Maps CD；TIGER边界 + 2000 U.S. Census。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6753" y="3804813"/>
            <a:ext cx="1162021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空间匹配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28774" y="3804813"/>
            <a:ext cx="3581310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普查数据坐标转UTM，与ETM+影像统一。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6753" y="4129407"/>
            <a:ext cx="1162021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抽样规模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28774" y="4129407"/>
            <a:ext cx="3581310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总普查块组658个；非分层建模样本162个。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6753" y="4454001"/>
            <a:ext cx="1162021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密度范围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28774" y="4454001"/>
            <a:ext cx="3581310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0–7253 人/km²；多数为400–3000 人/km²。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43491" y="2000250"/>
            <a:ext cx="521957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581610" y="2200275"/>
            <a:ext cx="4743331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进入模型的变量组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1610" y="2484664"/>
            <a:ext cx="2324042" cy="6667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605422" y="2495550"/>
            <a:ext cx="0" cy="66675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43531" y="2600325"/>
            <a:ext cx="204782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ETM+光谱波段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6743531" y="2809875"/>
            <a:ext cx="2047824" cy="1547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多光谱1–5、7；热红外6用于温度。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9000900" y="2484664"/>
            <a:ext cx="2324042" cy="6667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024712" y="2495550"/>
            <a:ext cx="0" cy="66675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162821" y="2600325"/>
            <a:ext cx="204782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主成分PCs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162821" y="2809875"/>
            <a:ext cx="2047824" cy="1547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降低相邻波段相关带来的冗余。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6581610" y="3246664"/>
            <a:ext cx="2324042" cy="728663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605422" y="3257550"/>
            <a:ext cx="0" cy="728663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43531" y="3362325"/>
            <a:ext cx="204782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植被指数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6743531" y="3571875"/>
            <a:ext cx="2047824" cy="30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NDVI、SAVI、RDVI、TNDVI、SVI、RVI。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9000900" y="3246664"/>
            <a:ext cx="2324042" cy="728663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9024712" y="3257550"/>
            <a:ext cx="0" cy="728663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62821" y="3362325"/>
            <a:ext cx="204782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分量影像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9162821" y="3571875"/>
            <a:ext cx="2047824" cy="30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绿色植被、不透水面、阴影；阴影未用于人口分析。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6581610" y="4070576"/>
            <a:ext cx="2324042" cy="728663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605422" y="4081462"/>
            <a:ext cx="0" cy="728663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743531" y="4186238"/>
            <a:ext cx="204782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纹理指标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6743531" y="4395787"/>
            <a:ext cx="2047824" cy="30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波段3和7；3×3、5×5、7×7窗口方差。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9000900" y="4070576"/>
            <a:ext cx="2324042" cy="728663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024712" y="4081462"/>
            <a:ext cx="0" cy="728663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162821" y="4186238"/>
            <a:ext cx="2047824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统计变量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9162821" y="4395787"/>
            <a:ext cx="2047824" cy="30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PD、LPD、SPD；比较不同人口密度变换。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1379709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6733" y="400050"/>
            <a:ext cx="260740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 · Model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9810505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先解决尺度匹配，再做回归和残差评价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66733" y="1257300"/>
            <a:ext cx="9048524" cy="262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模型开发把“像元级影像变量”转成“普查块组级统计表”，再用相关分析和逐步回归筛选变量。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66733" y="2238375"/>
            <a:ext cx="1676358" cy="14287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66733" y="2271713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338329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66733" y="3662362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1496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8654" y="2476500"/>
            <a:ext cx="1352516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分区统计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8654" y="2724150"/>
            <a:ext cx="1352516" cy="591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用ERDAS IMAGINE将遥感变量聚合到block group。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2590735" y="2238375"/>
            <a:ext cx="1676358" cy="14287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590735" y="2271713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262331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90735" y="3662362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95498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52656" y="2476500"/>
            <a:ext cx="1352516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相关分析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52655" y="2724150"/>
            <a:ext cx="1485863" cy="7881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计算人口密度与波段、PC、指数、纹理、温度的Pearson相关。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4514737" y="2238375"/>
            <a:ext cx="1676358" cy="14287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14737" y="2271713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86333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14737" y="3662362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519500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676658" y="2476500"/>
            <a:ext cx="1352516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逐步回归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76658" y="2724150"/>
            <a:ext cx="1352516" cy="591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比较变量组合，以及PD、LPD、SPD三种因变量形式。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6438739" y="2238375"/>
            <a:ext cx="1676358" cy="1428750"/>
          </a:xfrm>
          <a:prstGeom prst="rect">
            <a:avLst/>
          </a:prstGeom>
          <a:solidFill>
            <a:srgbClr val="F2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38739" y="2271713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110335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38739" y="3662362"/>
            <a:ext cx="167635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43501" y="2238375"/>
            <a:ext cx="0" cy="1428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600660" y="2476500"/>
            <a:ext cx="1352516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精度评价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00659" y="2724150"/>
            <a:ext cx="1495387" cy="591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用未抽样块组计算误差</a:t>
            </a:r>
            <a:endParaRPr lang="en-US" sz="1125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并绘制残差空间分布图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2343091" y="2924175"/>
            <a:ext cx="247644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267093" y="2924175"/>
            <a:ext cx="247644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191095" y="2924175"/>
            <a:ext cx="247644" cy="1905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66733" y="4191000"/>
            <a:ext cx="7429314" cy="9906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33427" y="4400550"/>
            <a:ext cx="6895928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为什么要做残差图？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33427" y="4676775"/>
            <a:ext cx="6895928" cy="2163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F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总体误差说明模型准不准，残差空间分布能指出哪些城市区域系统性高估或低估。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24662" y="2238375"/>
            <a:ext cx="3000300" cy="2952750"/>
          </a:xfrm>
          <a:prstGeom prst="rect">
            <a:avLst/>
          </a:prstGeom>
          <a:solidFill>
            <a:srgbClr val="F8FBFD"/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800880" y="2514600"/>
            <a:ext cx="2447864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评价指标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8800880" y="2828925"/>
            <a:ext cx="2447864" cy="2509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个体相对误差：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8800880" y="3079849"/>
            <a:ext cx="2447864" cy="5128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 = (Pg − Pe) / Pg × 100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800880" y="3592711"/>
            <a:ext cx="2447864" cy="2509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整体评价：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8800880" y="3843635"/>
            <a:ext cx="2447864" cy="4942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RE、AE 越小越好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800880" y="4337893"/>
            <a:ext cx="2447864" cy="2512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Pg为参考人口，Pe为估算人口。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666733" y="5802362"/>
            <a:ext cx="10572486" cy="579388"/>
          </a:xfrm>
          <a:prstGeom prst="rect">
            <a:avLst/>
          </a:prstGeom>
          <a:solidFill>
            <a:srgbClr val="DF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00070" y="5802362"/>
            <a:ext cx="0" cy="579388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42951" y="5973812"/>
            <a:ext cx="10086723" cy="236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建模含义：Chap10不是简单做一次回归，而是通过尺度统一、变量筛选和误差诊断，判断遥感特征在不同人口密度区间是否有效。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1379709" y="646747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8634" y="400050"/>
            <a:ext cx="201032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 · 非分层抽样结果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34" y="723900"/>
            <a:ext cx="10001000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不分层模型解释力高，但极端密度误差仍大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28634" y="1257300"/>
            <a:ext cx="9810505" cy="262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光谱、纹理和温度组合可以得到较高R²；但把所有密度区间放入同一个模型，会放大低密度和高密度块组的系统误差。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28634" y="2095500"/>
            <a:ext cx="2509775" cy="13811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8634" y="2128838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33647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28634" y="3471863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33397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7704" y="2276473"/>
            <a:ext cx="207163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最佳模型解释力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47704" y="2562225"/>
            <a:ext cx="2071636" cy="342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6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R² = 0.83</a:t>
            </a:r>
            <a:endParaRPr lang="en-US" sz="2565" dirty="0"/>
          </a:p>
        </p:txBody>
      </p:sp>
      <p:sp>
        <p:nvSpPr>
          <p:cNvPr id="13" name="Text 11"/>
          <p:cNvSpPr/>
          <p:nvPr/>
        </p:nvSpPr>
        <p:spPr>
          <a:xfrm>
            <a:off x="847704" y="3018681"/>
            <a:ext cx="2071636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模型3：光谱 + 纹理 + 温度组合。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3347954" y="2095500"/>
            <a:ext cx="2509775" cy="13811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347954" y="2128838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852966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347954" y="3471863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352716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567023" y="2276473"/>
            <a:ext cx="207163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总体相对误差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567023" y="2562225"/>
            <a:ext cx="2071636" cy="342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6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&gt;123%</a:t>
            </a:r>
            <a:endParaRPr lang="en-US" sz="2565" dirty="0"/>
          </a:p>
        </p:txBody>
      </p:sp>
      <p:sp>
        <p:nvSpPr>
          <p:cNvPr id="21" name="Text 19"/>
          <p:cNvSpPr/>
          <p:nvPr/>
        </p:nvSpPr>
        <p:spPr>
          <a:xfrm>
            <a:off x="3567023" y="3018681"/>
            <a:ext cx="2071636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块组层面误差仍然很高。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067273" y="2095500"/>
            <a:ext cx="2509775" cy="13811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67273" y="2128838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572286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67273" y="3471863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072036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86343" y="2276473"/>
            <a:ext cx="207163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总体绝对误差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6286343" y="2562225"/>
            <a:ext cx="2071636" cy="342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6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&gt;439</a:t>
            </a:r>
            <a:endParaRPr lang="en-US" sz="2565" dirty="0"/>
          </a:p>
        </p:txBody>
      </p:sp>
      <p:sp>
        <p:nvSpPr>
          <p:cNvPr id="29" name="Text 27"/>
          <p:cNvSpPr/>
          <p:nvPr/>
        </p:nvSpPr>
        <p:spPr>
          <a:xfrm>
            <a:off x="6286343" y="3018681"/>
            <a:ext cx="2071636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单位：人/km²；平均密度约1470。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8786593" y="2095500"/>
            <a:ext cx="2509775" cy="13811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786593" y="2128838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291605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786593" y="3471863"/>
            <a:ext cx="250977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791355" y="2095500"/>
            <a:ext cx="0" cy="13811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005662" y="2276473"/>
            <a:ext cx="2071636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总人口估算误差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9005662" y="2562225"/>
            <a:ext cx="2071636" cy="3421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65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8.2%</a:t>
            </a:r>
            <a:endParaRPr lang="en-US" sz="2565" dirty="0"/>
          </a:p>
        </p:txBody>
      </p:sp>
      <p:sp>
        <p:nvSpPr>
          <p:cNvPr id="37" name="Text 35"/>
          <p:cNvSpPr/>
          <p:nvPr/>
        </p:nvSpPr>
        <p:spPr>
          <a:xfrm>
            <a:off x="9005662" y="3018681"/>
            <a:ext cx="2071636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非分层模型估算789,756人。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628634" y="3905250"/>
            <a:ext cx="6953076" cy="20193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3427" y="4171950"/>
            <a:ext cx="634349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残差图揭示的问题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933427" y="4514850"/>
            <a:ext cx="6343491" cy="5072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F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极低密度块组往往被高估；高人口密度区域被明显低估。误差来源不是单纯模型强弱，而是城市功能与人口垂直分布没有被光学遥感直接捕捉。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019849" y="3905250"/>
            <a:ext cx="3543211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257969" y="4143375"/>
            <a:ext cx="3066973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典型偏差来源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257969" y="4438650"/>
            <a:ext cx="3266993" cy="436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低密度商业/工业区：有建成地表但人口少。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8275730" y="4898738"/>
            <a:ext cx="2817594" cy="218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中心高层住宅：人口垂直分布强。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8269152" y="5379839"/>
            <a:ext cx="3255081" cy="436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混合功能区：大学、住宅、服务业共存。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11379709" y="63722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6733" y="400050"/>
            <a:ext cx="18483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 · 分层抽样结果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001000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按人口密度分层后，总人口估算更稳健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66733" y="1257300"/>
            <a:ext cx="9620009" cy="262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分层不是为了让模型更复杂，而是承认低、中、高密度区的地表—人口关系不同，需要分别估算后再汇总。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66733" y="2143125"/>
            <a:ext cx="4952876" cy="3429000"/>
          </a:xfrm>
          <a:prstGeom prst="rect">
            <a:avLst/>
          </a:prstGeom>
          <a:solidFill>
            <a:srgbClr val="F7FAFC"/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04852" y="2381250"/>
            <a:ext cx="4476638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总人口相对误差对比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4852" y="2676525"/>
            <a:ext cx="4476638" cy="1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单位：%；越低越好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904852" y="2857500"/>
          <a:ext cx="4457589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095848" y="2143125"/>
            <a:ext cx="5429114" cy="34290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343491" y="2390775"/>
            <a:ext cx="4933827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分层后模型表现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343491" y="2690812"/>
            <a:ext cx="4933827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6348254" y="2686050"/>
            <a:ext cx="0" cy="2312194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353016" y="2822673"/>
            <a:ext cx="1641384" cy="3039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人口密度类别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7994401" y="2822673"/>
            <a:ext cx="1492262" cy="3039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模型表现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9486663" y="2822673"/>
            <a:ext cx="1790655" cy="3039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6353016" y="3126581"/>
            <a:ext cx="1641384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低密度</a:t>
            </a:r>
            <a:endParaRPr lang="en-US" sz="1125" dirty="0"/>
          </a:p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&lt;400 人/km²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994401" y="3126581"/>
            <a:ext cx="1492262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最高R²≈0.13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9486663" y="3126581"/>
            <a:ext cx="1790655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工业、商业、森林/农业等低人口区光谱差异大。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6353016" y="3750469"/>
            <a:ext cx="1641384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中密度</a:t>
            </a:r>
            <a:endParaRPr lang="en-US" sz="1125" dirty="0"/>
          </a:p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401–3000 人/km²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7994401" y="3750469"/>
            <a:ext cx="1492262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R²可达0.86–0.87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9486663" y="3750469"/>
            <a:ext cx="1790655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植被、光谱、纹理和温度组合较有效。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353016" y="4374356"/>
            <a:ext cx="1641384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高密度</a:t>
            </a:r>
            <a:endParaRPr lang="en-US" sz="1125" dirty="0"/>
          </a:p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&gt;3000 人/km²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7994401" y="4374356"/>
            <a:ext cx="1492262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最高R²≈0.18；温度模型RE≈11.4%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9486663" y="4374356"/>
            <a:ext cx="1790655" cy="623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高层住宅的垂直人口难由光学影像捕捉。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666733" y="5470624"/>
            <a:ext cx="10858229" cy="815876"/>
          </a:xfrm>
          <a:prstGeom prst="rect">
            <a:avLst/>
          </a:prstGeom>
          <a:solidFill>
            <a:srgbClr val="DF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700070" y="5470624"/>
            <a:ext cx="0" cy="815876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942951" y="5642074"/>
            <a:ext cx="10372466" cy="4729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600" b="1" dirty="0">
              <a:solidFill>
                <a:srgbClr val="0B2A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分层方案估算总人口832,792人，相对误差3.2%；相比非分层方案8.2%的误差，说明按人口密度分层是提升遥感人口估算的重要策略。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379709" y="641032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8634" y="400050"/>
            <a:ext cx="145728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文献推荐与研究进展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8634" y="723900"/>
            <a:ext cx="9905752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1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研究前沿正在从传统回归走向多源融合与深度学习</a:t>
            </a:r>
            <a:endParaRPr lang="en-US" sz="2710" dirty="0"/>
          </a:p>
        </p:txBody>
      </p:sp>
      <p:sp>
        <p:nvSpPr>
          <p:cNvPr id="5" name="Text 3"/>
          <p:cNvSpPr/>
          <p:nvPr/>
        </p:nvSpPr>
        <p:spPr>
          <a:xfrm>
            <a:off x="628634" y="1257300"/>
            <a:ext cx="9905752" cy="262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作业中的文献线索可以分成三类：Chap3城市LULC分类、Chap10人口空间化，以及支撑这些方法的基础文献。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28634" y="2095501"/>
            <a:ext cx="3505112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8634" y="2133600"/>
            <a:ext cx="350511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128984" y="2095500"/>
            <a:ext cx="0" cy="3762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28634" y="5853112"/>
            <a:ext cx="350511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33397" y="2095500"/>
            <a:ext cx="0" cy="3762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7704" y="2400300"/>
            <a:ext cx="1267835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3 · 城市LULC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47704" y="2638425"/>
            <a:ext cx="3066973" cy="2742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高分影像 + 多源地理数据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7704" y="2912714"/>
            <a:ext cx="3190896" cy="18744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Multi-E2E：端到端城市土地利用制图，体现高分影像与多源地理数据融合。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Sentinel-2 + POI prompt：构建全球10m城市土地利用数据集。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多时相城市LULC：从静态分类扩展到年度变化检测。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43291" y="2095501"/>
            <a:ext cx="3505112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343291" y="2133600"/>
            <a:ext cx="350511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843641" y="2095500"/>
            <a:ext cx="0" cy="3762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343291" y="5853112"/>
            <a:ext cx="350511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348054" y="2095500"/>
            <a:ext cx="0" cy="3762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562361" y="2400300"/>
            <a:ext cx="1282866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 10 · 人口估算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562361" y="2638425"/>
            <a:ext cx="3066973" cy="2742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遥感 + 社会感知 + 夜间灯光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62361" y="2912715"/>
            <a:ext cx="3066973" cy="1759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高分辨率人口制图：处理遥感与统计人口的空间尺度不匹配。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LGANet：利用局部—全局注意力网络估算人口。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夜间灯光：对低/高人口极端区有补充价值。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57949" y="2095501"/>
            <a:ext cx="3505112" cy="350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057949" y="2133600"/>
            <a:ext cx="3505112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558299" y="2095500"/>
            <a:ext cx="0" cy="3762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057949" y="5853112"/>
            <a:ext cx="3505112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62711" y="2095500"/>
            <a:ext cx="0" cy="3762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77018" y="2400300"/>
            <a:ext cx="647684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基础文献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277018" y="2638425"/>
            <a:ext cx="3066973" cy="2742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连接课本方法与前沿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77018" y="2912715"/>
            <a:ext cx="3290804" cy="19125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Lu &amp; Weng：Landsat ETM+、</a:t>
            </a:r>
            <a:endParaRPr lang="en-US" sz="160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600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不透水面与城市分类基础研究</a:t>
            </a: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Huete SAVI：植被指数方法基础，支撑Chap10变量构建。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WorldPop / 随机森林人口制图：遥感与辅助数据结合的人口空间化框架。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8634" y="5812972"/>
            <a:ext cx="10934427" cy="55245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7229" y="5951637"/>
            <a:ext cx="8408132" cy="231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FF5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共同趋势：数据源更多、空间分辨率更高、模型更复杂；但核心仍是“把遥感观测与GIS/社会经济语义对齐”。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379709" y="642937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6733" y="438150"/>
            <a:ext cx="9715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心得与下一步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6733" y="781050"/>
            <a:ext cx="10001000" cy="3780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6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多源融合是遥感与GIS综合应用的主线</a:t>
            </a:r>
            <a:endParaRPr lang="en-US" sz="2565" dirty="0"/>
          </a:p>
        </p:txBody>
      </p:sp>
      <p:sp>
        <p:nvSpPr>
          <p:cNvPr id="5" name="Text 3"/>
          <p:cNvSpPr/>
          <p:nvPr/>
        </p:nvSpPr>
        <p:spPr>
          <a:xfrm>
            <a:off x="666733" y="1352550"/>
            <a:ext cx="9620009" cy="524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CFE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遥感提供连续空间观测，GIS提供边界、属性和社会经济语义；AI可以帮助整理材料，但最终判断仍要回到可验证数据与人工核验。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66733" y="2133600"/>
            <a:ext cx="2049610" cy="2571750"/>
          </a:xfrm>
          <a:prstGeom prst="rect">
            <a:avLst/>
          </a:prstGeom>
          <a:solidFill>
            <a:srgbClr val="12384B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7704" y="2333625"/>
            <a:ext cx="1687669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704" y="2772519"/>
            <a:ext cx="1687669" cy="2323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多源人口空间化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9135" y="3146352"/>
            <a:ext cx="2021034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结合Sentinel-2、</a:t>
            </a:r>
            <a:endParaRPr lang="en-US" sz="1125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夜间灯光、POI、道路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endParaRPr lang="en-US" sz="1125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建筑轮廓和统计人口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2868739" y="2133600"/>
            <a:ext cx="2049759" cy="2571750"/>
          </a:xfrm>
          <a:prstGeom prst="rect">
            <a:avLst/>
          </a:prstGeom>
          <a:solidFill>
            <a:srgbClr val="12384B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049710" y="2333625"/>
            <a:ext cx="1687818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49710" y="2772519"/>
            <a:ext cx="1687818" cy="2323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LULC自动更新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49714" y="3146352"/>
            <a:ext cx="1992609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利用多时相影像、OSM路网</a:t>
            </a:r>
            <a:endParaRPr lang="en-US" sz="1125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和迁移学习生成年度变化图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070894" y="2133600"/>
            <a:ext cx="2049759" cy="2571750"/>
          </a:xfrm>
          <a:prstGeom prst="rect">
            <a:avLst/>
          </a:prstGeom>
          <a:solidFill>
            <a:srgbClr val="12384B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251864" y="2333625"/>
            <a:ext cx="1687818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1864" y="2772519"/>
            <a:ext cx="1687818" cy="2323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可解释功能区识别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1869" y="3146352"/>
            <a:ext cx="1840214" cy="4057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引入SHAP或注意力可视化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1125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解释变量贡献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7273049" y="2133600"/>
            <a:ext cx="2049759" cy="2571750"/>
          </a:xfrm>
          <a:prstGeom prst="rect">
            <a:avLst/>
          </a:prstGeom>
          <a:solidFill>
            <a:srgbClr val="12384B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454019" y="2333625"/>
            <a:ext cx="1687818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4019" y="2772519"/>
            <a:ext cx="1687818" cy="2323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不确定性表达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4025" y="3146352"/>
            <a:ext cx="1992609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用空间交叉验证、误差传播</a:t>
            </a:r>
            <a:endParaRPr lang="en-US" sz="1125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或贝叶斯模型给出置信区间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475203" y="2133600"/>
            <a:ext cx="2049610" cy="2571750"/>
          </a:xfrm>
          <a:prstGeom prst="rect">
            <a:avLst/>
          </a:prstGeom>
          <a:solidFill>
            <a:srgbClr val="12384B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656174" y="2333625"/>
            <a:ext cx="1687669" cy="324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56174" y="2772519"/>
            <a:ext cx="1687669" cy="2323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中国城市本地化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27604" y="3146352"/>
            <a:ext cx="2049609" cy="6085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结合统计年鉴、社区边界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endParaRPr lang="en-US" sz="1125" dirty="0">
              <a:solidFill>
                <a:srgbClr val="D7F8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125" dirty="0" err="1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建筑物数据和高分影像</a:t>
            </a:r>
            <a:r>
              <a:rPr lang="en-US" sz="1125" dirty="0">
                <a:solidFill>
                  <a:srgbClr val="D7F8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666733" y="5048250"/>
            <a:ext cx="10858229" cy="112395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38259" y="5410200"/>
            <a:ext cx="1885903" cy="7655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 err="1">
                <a:solidFill>
                  <a:srgbClr val="0B2A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最终三点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6186333" y="5048250"/>
            <a:ext cx="0" cy="1127522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733707" y="5295900"/>
            <a:ext cx="2238319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Chap3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3733707" y="5534025"/>
            <a:ext cx="2238319" cy="3940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城市LULC分类要用GIS语义弥补光谱混淆。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8853266" y="5048250"/>
            <a:ext cx="0" cy="1127522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5E4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00640" y="5295900"/>
            <a:ext cx="2238319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Chap10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6400640" y="5534025"/>
            <a:ext cx="2238319" cy="3940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人口估算要先做尺度匹配，再按密度差异处理模型。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067573" y="5295900"/>
            <a:ext cx="2247844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AI学习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9067573" y="5534025"/>
            <a:ext cx="2247844" cy="3940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AI适合提效，但术语、文献、图表和PPT质量必须人工审核。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1379709" y="6391275"/>
            <a:ext cx="14525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FC8C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4112</Words>
  <Application>WPS 演示</Application>
  <PresentationFormat>宽屏</PresentationFormat>
  <Paragraphs>494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</dc:creator>
  <cp:lastModifiedBy>许愿</cp:lastModifiedBy>
  <cp:revision>6</cp:revision>
  <dcterms:created xsi:type="dcterms:W3CDTF">2023-08-09T12:44:00Z</dcterms:created>
  <dcterms:modified xsi:type="dcterms:W3CDTF">2026-07-31T12:51:19Z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347A80F39DF94D4BB6D10226396ECDC7_12</vt:lpwstr>
  </property>
</Properties>
</file>