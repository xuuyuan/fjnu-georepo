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embeddedFontLst>
    <p:embeddedFont>
      <p:font typeface="Calibri" panose="020F0502020204030204"/>
      <p:regular r:id="rId28"/>
      <p:bold r:id="rId29"/>
      <p:italic r:id="rId30"/>
      <p:boldItalic r:id="rId31"/>
    </p:embeddedFont>
    <p:embeddedFont>
      <p:font typeface="锐字太空奇遇像素简 常规" panose="02010604000000000000" charset="-122"/>
      <p:bold r:id="rId32"/>
    </p:embeddedFont>
    <p:embeddedFont>
      <p:font typeface="黑体" panose="02010609060101010101" charset="-122"/>
      <p:regular r:id="rId33"/>
      <p:bold r:id="rId34"/>
    </p:embeddedFont>
    <p:embeddedFont>
      <p:font typeface="微软雅黑" panose="020B0503020204020204" charset="-122"/>
      <p:regular r:id="rId35"/>
      <p:bold r:id="rId36"/>
    </p:embeddedFont>
  </p:embeddedFontLst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000000"/>
          </p15:clr>
        </p15:guide>
        <p15:guide id="2" pos="2905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6C"/>
    <a:srgbClr val="FFD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83"/>
        <p:guide pos="290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80.xml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3" name="Google Shape;353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1" name="Google Shape;391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4" name="Google Shape;414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6" name="Google Shape;446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1" name="Google Shape;471;p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0" name="Google Shape;490;p2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" name="图片 0" descr="FJNU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93375" y="69850"/>
            <a:ext cx="1519555" cy="88392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image" Target="../media/image4.png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jpe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image" Target="../media/image14.png"/><Relationship Id="rId5" Type="http://schemas.openxmlformats.org/officeDocument/2006/relationships/tags" Target="../tags/tag19.xml"/><Relationship Id="rId4" Type="http://schemas.openxmlformats.org/officeDocument/2006/relationships/image" Target="../media/image13.png"/><Relationship Id="rId3" Type="http://schemas.openxmlformats.org/officeDocument/2006/relationships/tags" Target="../tags/tag18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20.png"/><Relationship Id="rId23" Type="http://schemas.openxmlformats.org/officeDocument/2006/relationships/tags" Target="../tags/tag31.xml"/><Relationship Id="rId22" Type="http://schemas.openxmlformats.org/officeDocument/2006/relationships/image" Target="../media/image19.png"/><Relationship Id="rId21" Type="http://schemas.openxmlformats.org/officeDocument/2006/relationships/tags" Target="../tags/tag30.xml"/><Relationship Id="rId20" Type="http://schemas.openxmlformats.org/officeDocument/2006/relationships/image" Target="../media/image18.png"/><Relationship Id="rId2" Type="http://schemas.openxmlformats.org/officeDocument/2006/relationships/image" Target="../media/image12.png"/><Relationship Id="rId19" Type="http://schemas.openxmlformats.org/officeDocument/2006/relationships/tags" Target="../tags/tag29.xml"/><Relationship Id="rId18" Type="http://schemas.openxmlformats.org/officeDocument/2006/relationships/image" Target="../media/image17.png"/><Relationship Id="rId17" Type="http://schemas.openxmlformats.org/officeDocument/2006/relationships/tags" Target="../tags/tag28.xml"/><Relationship Id="rId16" Type="http://schemas.openxmlformats.org/officeDocument/2006/relationships/image" Target="../media/image16.png"/><Relationship Id="rId15" Type="http://schemas.openxmlformats.org/officeDocument/2006/relationships/tags" Target="../tags/tag27.xml"/><Relationship Id="rId14" Type="http://schemas.openxmlformats.org/officeDocument/2006/relationships/image" Target="../media/image15.png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image" Target="../media/image23.png"/><Relationship Id="rId5" Type="http://schemas.openxmlformats.org/officeDocument/2006/relationships/tags" Target="../tags/tag34.xml"/><Relationship Id="rId4" Type="http://schemas.openxmlformats.org/officeDocument/2006/relationships/image" Target="../media/image22.png"/><Relationship Id="rId3" Type="http://schemas.openxmlformats.org/officeDocument/2006/relationships/tags" Target="../tags/tag33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7.png"/><Relationship Id="rId2" Type="http://schemas.openxmlformats.org/officeDocument/2006/relationships/image" Target="../media/image21.png"/><Relationship Id="rId19" Type="http://schemas.openxmlformats.org/officeDocument/2006/relationships/tags" Target="../tags/tag44.xml"/><Relationship Id="rId18" Type="http://schemas.openxmlformats.org/officeDocument/2006/relationships/image" Target="../media/image26.png"/><Relationship Id="rId17" Type="http://schemas.openxmlformats.org/officeDocument/2006/relationships/tags" Target="../tags/tag43.xml"/><Relationship Id="rId16" Type="http://schemas.openxmlformats.org/officeDocument/2006/relationships/image" Target="../media/image25.png"/><Relationship Id="rId15" Type="http://schemas.openxmlformats.org/officeDocument/2006/relationships/tags" Target="../tags/tag42.xml"/><Relationship Id="rId14" Type="http://schemas.openxmlformats.org/officeDocument/2006/relationships/image" Target="../media/image24.png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image" Target="../media/image14.png"/><Relationship Id="rId6" Type="http://schemas.openxmlformats.org/officeDocument/2006/relationships/tags" Target="../tags/tag47.xml"/><Relationship Id="rId5" Type="http://schemas.openxmlformats.org/officeDocument/2006/relationships/image" Target="../media/image13.png"/><Relationship Id="rId4" Type="http://schemas.openxmlformats.org/officeDocument/2006/relationships/tags" Target="../tags/tag46.xml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9.png"/><Relationship Id="rId22" Type="http://schemas.openxmlformats.org/officeDocument/2006/relationships/tags" Target="../tags/tag58.xml"/><Relationship Id="rId21" Type="http://schemas.openxmlformats.org/officeDocument/2006/relationships/image" Target="../media/image48.png"/><Relationship Id="rId20" Type="http://schemas.openxmlformats.org/officeDocument/2006/relationships/tags" Target="../tags/tag57.xml"/><Relationship Id="rId2" Type="http://schemas.openxmlformats.org/officeDocument/2006/relationships/tags" Target="../tags/tag45.xml"/><Relationship Id="rId19" Type="http://schemas.openxmlformats.org/officeDocument/2006/relationships/image" Target="../media/image47.png"/><Relationship Id="rId18" Type="http://schemas.openxmlformats.org/officeDocument/2006/relationships/tags" Target="../tags/tag56.xml"/><Relationship Id="rId17" Type="http://schemas.openxmlformats.org/officeDocument/2006/relationships/image" Target="../media/image46.png"/><Relationship Id="rId16" Type="http://schemas.openxmlformats.org/officeDocument/2006/relationships/tags" Target="../tags/tag55.xml"/><Relationship Id="rId15" Type="http://schemas.openxmlformats.org/officeDocument/2006/relationships/image" Target="../media/image45.png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2.jpe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4.jpeg"/><Relationship Id="rId7" Type="http://schemas.openxmlformats.org/officeDocument/2006/relationships/image" Target="../media/image53.jpe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image" Target="../media/image50.png"/><Relationship Id="rId10" Type="http://schemas.openxmlformats.org/officeDocument/2006/relationships/notesSlide" Target="../notesSlides/notesSlide10.xml"/><Relationship Id="rId1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7.jpeg"/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tags" Target="../tags/tag64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Relationship Id="rId3" Type="http://schemas.openxmlformats.org/officeDocument/2006/relationships/image" Target="../media/image58.jpeg"/><Relationship Id="rId2" Type="http://schemas.openxmlformats.org/officeDocument/2006/relationships/image" Target="../media/image55.png"/><Relationship Id="rId1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tags" Target="../tags/tag66.xml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5.png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37.png"/><Relationship Id="rId17" Type="http://schemas.openxmlformats.org/officeDocument/2006/relationships/notesSlide" Target="../notesSlides/notesSlide18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55.png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55.png"/><Relationship Id="rId1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52450" y="1676400"/>
            <a:ext cx="530542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676400"/>
            <a:ext cx="530542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52450" y="4229100"/>
            <a:ext cx="530542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4229100"/>
            <a:ext cx="530542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目录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4"/>
          <p:cNvSpPr txBox="1"/>
          <p:nvPr>
            <p:custDataLst>
              <p:tags r:id="rId6"/>
            </p:custDataLst>
          </p:nvPr>
        </p:nvSpPr>
        <p:spPr>
          <a:xfrm>
            <a:off x="990600" y="2209800"/>
            <a:ext cx="465058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01 项目背景与系统设计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2" name="Google Shape;102;p14"/>
          <p:cNvSpPr txBox="1"/>
          <p:nvPr>
            <p:custDataLst>
              <p:tags r:id="rId7"/>
            </p:custDataLst>
          </p:nvPr>
        </p:nvSpPr>
        <p:spPr>
          <a:xfrm>
            <a:off x="990600" y="2771775"/>
            <a:ext cx="4429125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从线性里程到空间探索的视觉转换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3" name="Google Shape;103;p14"/>
          <p:cNvSpPr txBox="1"/>
          <p:nvPr>
            <p:custDataLst>
              <p:tags r:id="rId8"/>
            </p:custDataLst>
          </p:nvPr>
        </p:nvSpPr>
        <p:spPr>
          <a:xfrm>
            <a:off x="6772275" y="2209800"/>
            <a:ext cx="465058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02 核心算法与空间数据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4" name="Google Shape;104;p14"/>
          <p:cNvSpPr txBox="1"/>
          <p:nvPr>
            <p:custDataLst>
              <p:tags r:id="rId9"/>
            </p:custDataLst>
          </p:nvPr>
        </p:nvSpPr>
        <p:spPr>
          <a:xfrm>
            <a:off x="6772275" y="2771775"/>
            <a:ext cx="4429125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构建旗山校区的底图数据与缓冲点亮机制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5" name="Google Shape;105;p14"/>
          <p:cNvSpPr txBox="1"/>
          <p:nvPr>
            <p:custDataLst>
              <p:tags r:id="rId10"/>
            </p:custDataLst>
          </p:nvPr>
        </p:nvSpPr>
        <p:spPr>
          <a:xfrm>
            <a:off x="990600" y="4762500"/>
            <a:ext cx="465058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03 核心功能展示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6" name="Google Shape;106;p14"/>
          <p:cNvSpPr txBox="1"/>
          <p:nvPr>
            <p:custDataLst>
              <p:tags r:id="rId11"/>
            </p:custDataLst>
          </p:nvPr>
        </p:nvSpPr>
        <p:spPr>
          <a:xfrm>
            <a:off x="990600" y="5324475"/>
            <a:ext cx="4429125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轨迹追踪、地标问答与成就系统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7" name="Google Shape;107;p14"/>
          <p:cNvSpPr txBox="1"/>
          <p:nvPr>
            <p:custDataLst>
              <p:tags r:id="rId12"/>
            </p:custDataLst>
          </p:nvPr>
        </p:nvSpPr>
        <p:spPr>
          <a:xfrm>
            <a:off x="6772275" y="4762500"/>
            <a:ext cx="465058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04 工程实现与测试总结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8" name="Google Shape;108;p14"/>
          <p:cNvSpPr txBox="1"/>
          <p:nvPr>
            <p:custDataLst>
              <p:tags r:id="rId13"/>
            </p:custDataLst>
          </p:nvPr>
        </p:nvSpPr>
        <p:spPr>
          <a:xfrm>
            <a:off x="6772275" y="5324475"/>
            <a:ext cx="4429125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云端架构、自动化测试与项目反思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109" name="Google Shape;109;p14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877570" y="2276475"/>
            <a:ext cx="21399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659245" y="2276475"/>
            <a:ext cx="21399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877570" y="4829175"/>
            <a:ext cx="21399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6659245" y="4829175"/>
            <a:ext cx="21399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" y="76200"/>
            <a:ext cx="6019800" cy="67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6200"/>
            <a:ext cx="6019800" cy="67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47700" y="2181225"/>
            <a:ext cx="48006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47700" y="647700"/>
            <a:ext cx="50406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项目定位与目标</a:t>
            </a:r>
            <a:endParaRPr lang="en-US" sz="375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90600" y="3095625"/>
            <a:ext cx="478853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传统运动APP仅关注              ，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而我们聚焦于                     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990600" y="4177030"/>
            <a:ext cx="432054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i="0" u="none" strike="noStrike" cap="none">
                <a:solidFill>
                  <a:srgbClr val="002F6C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sym typeface="黑体" panose="02010609060101010101" charset="-122"/>
              </a:rPr>
              <a:t>系统级目标</a:t>
            </a:r>
            <a:endParaRPr lang="zh-CN" altLang="en-US" sz="2400" b="1" i="0" u="none" strike="noStrike" cap="none">
              <a:solidFill>
                <a:srgbClr val="002F6C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90600" y="4629150"/>
            <a:ext cx="411480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完成一个基于空间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GIS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算法的微信小程序游戏，为校园跑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提供更好方案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779950" y="3145155"/>
            <a:ext cx="1104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217420" y="3545205"/>
            <a:ext cx="1866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991870" y="2488565"/>
            <a:ext cx="2764790" cy="516255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70610" y="2544445"/>
            <a:ext cx="2607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D540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</a:rPr>
              <a:t>设计思路的革新</a:t>
            </a:r>
            <a:endParaRPr lang="zh-CN" altLang="en-US" sz="2400" b="1">
              <a:solidFill>
                <a:srgbClr val="FFD540"/>
              </a:solidFill>
              <a:latin typeface="锐字太空奇遇像素简 常规" panose="02010604000000000000" charset="-122"/>
              <a:ea typeface="锐字太空奇遇像素简 常规" panose="02010604000000000000" charset="-122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720" y="76200"/>
            <a:ext cx="3133725" cy="6823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52450" y="2462212"/>
            <a:ext cx="35052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4343400" y="2462212"/>
            <a:ext cx="35052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8134350" y="2462212"/>
            <a:ext cx="35052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用户需求与系统转化</a:t>
            </a:r>
            <a:r>
              <a:rPr lang="en-US" altLang="zh-CN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 // </a:t>
            </a: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目前已有项目的</a:t>
            </a: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痛点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16"/>
          <p:cNvSpPr txBox="1"/>
          <p:nvPr>
            <p:custDataLst>
              <p:tags r:id="rId7"/>
            </p:custDataLst>
          </p:nvPr>
        </p:nvSpPr>
        <p:spPr>
          <a:xfrm>
            <a:off x="1404937" y="3548062"/>
            <a:ext cx="18002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感知极其微弱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40" name="Google Shape;140;p16"/>
          <p:cNvSpPr txBox="1"/>
          <p:nvPr>
            <p:custDataLst>
              <p:tags r:id="rId8"/>
            </p:custDataLst>
          </p:nvPr>
        </p:nvSpPr>
        <p:spPr>
          <a:xfrm>
            <a:off x="895350" y="4081462"/>
            <a:ext cx="28194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将校园划分为         ，用百分比量化并点亮你的探索脚印，填补认知空白。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41" name="Google Shape;141;p16"/>
          <p:cNvSpPr txBox="1"/>
          <p:nvPr>
            <p:custDataLst>
              <p:tags r:id="rId9"/>
            </p:custDataLst>
          </p:nvPr>
        </p:nvSpPr>
        <p:spPr>
          <a:xfrm>
            <a:off x="5195887" y="3548062"/>
            <a:ext cx="18002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地标形同虚设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42" name="Google Shape;142;p16"/>
          <p:cNvSpPr txBox="1"/>
          <p:nvPr>
            <p:custDataLst>
              <p:tags r:id="rId10"/>
            </p:custDataLst>
          </p:nvPr>
        </p:nvSpPr>
        <p:spPr>
          <a:xfrm>
            <a:off x="4686300" y="4081462"/>
            <a:ext cx="28194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引入            ，接近即触发地标解锁与文化问答，强化地理记忆。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43" name="Google Shape;143;p16"/>
          <p:cNvSpPr txBox="1"/>
          <p:nvPr>
            <p:custDataLst>
              <p:tags r:id="rId11"/>
            </p:custDataLst>
          </p:nvPr>
        </p:nvSpPr>
        <p:spPr>
          <a:xfrm>
            <a:off x="8986837" y="3548062"/>
            <a:ext cx="18002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探索缺乏动力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44" name="Google Shape;144;p16"/>
          <p:cNvSpPr txBox="1"/>
          <p:nvPr>
            <p:custDataLst>
              <p:tags r:id="rId12"/>
            </p:custDataLst>
          </p:nvPr>
        </p:nvSpPr>
        <p:spPr>
          <a:xfrm>
            <a:off x="8477250" y="4081462"/>
            <a:ext cx="28194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构建包含图鉴、成就与全服排行的             ，数据云端同步，提供长期激励。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145" name="Google Shape;145;p16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1995805" y="2842895"/>
            <a:ext cx="49466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>
            <p:custDataLst>
              <p:tags r:id="rId15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>
            <a:off x="2117675" y="4081462"/>
            <a:ext cx="80873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>
            <a:off x="5786755" y="2842895"/>
            <a:ext cx="49466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>
            <p:custDataLst>
              <p:tags r:id="rId19"/>
            </p:custDataLst>
          </p:nvPr>
        </p:nvPicPr>
        <p:blipFill rotWithShape="1">
          <a:blip r:embed="rId20"/>
          <a:srcRect/>
          <a:stretch>
            <a:fillRect/>
          </a:stretch>
        </p:blipFill>
        <p:spPr>
          <a:xfrm>
            <a:off x="5176162" y="4081462"/>
            <a:ext cx="1052066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>
            <p:custDataLst>
              <p:tags r:id="rId21"/>
            </p:custDataLst>
          </p:nvPr>
        </p:nvPicPr>
        <p:blipFill rotWithShape="1">
          <a:blip r:embed="rId22"/>
          <a:srcRect/>
          <a:stretch>
            <a:fillRect/>
          </a:stretch>
        </p:blipFill>
        <p:spPr>
          <a:xfrm>
            <a:off x="9538970" y="284289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>
            <p:custDataLst>
              <p:tags r:id="rId23"/>
            </p:custDataLst>
          </p:nvPr>
        </p:nvPicPr>
        <p:blipFill rotWithShape="1">
          <a:blip r:embed="rId24"/>
          <a:srcRect/>
          <a:stretch>
            <a:fillRect/>
          </a:stretch>
        </p:blipFill>
        <p:spPr>
          <a:xfrm>
            <a:off x="8721546" y="4463732"/>
            <a:ext cx="1104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52450" y="1676400"/>
            <a:ext cx="353690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4327475" y="1676400"/>
            <a:ext cx="353690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8102500" y="1676400"/>
            <a:ext cx="3537049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系统总体架构</a:t>
            </a:r>
            <a:endParaRPr 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17"/>
          <p:cNvSpPr txBox="1"/>
          <p:nvPr>
            <p:custDataLst>
              <p:tags r:id="rId7"/>
            </p:custDataLst>
          </p:nvPr>
        </p:nvSpPr>
        <p:spPr>
          <a:xfrm>
            <a:off x="990600" y="2269807"/>
            <a:ext cx="279363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展示层 (小程序)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62" name="Google Shape;162;p17"/>
          <p:cNvSpPr txBox="1"/>
          <p:nvPr>
            <p:custDataLst>
              <p:tags r:id="rId8"/>
            </p:custDataLst>
          </p:nvPr>
        </p:nvSpPr>
        <p:spPr>
          <a:xfrm>
            <a:off x="990600" y="3468687"/>
            <a:ext cx="2660600" cy="14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负责页面渲染、地图图层交互与视图状态机管理。</a:t>
            </a:r>
            <a:endParaRPr lang="en-US" sz="20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63" name="Google Shape;163;p17"/>
          <p:cNvSpPr txBox="1"/>
          <p:nvPr>
            <p:custDataLst>
              <p:tags r:id="rId9"/>
            </p:custDataLst>
          </p:nvPr>
        </p:nvSpPr>
        <p:spPr>
          <a:xfrm>
            <a:off x="4765625" y="2250757"/>
            <a:ext cx="279363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计算层 (本地GIS)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64" name="Google Shape;164;p17"/>
          <p:cNvSpPr txBox="1"/>
          <p:nvPr>
            <p:custDataLst>
              <p:tags r:id="rId10"/>
            </p:custDataLst>
          </p:nvPr>
        </p:nvSpPr>
        <p:spPr>
          <a:xfrm>
            <a:off x="4765625" y="3449637"/>
            <a:ext cx="2660600" cy="14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使用</a:t>
            </a:r>
            <a:r>
              <a:rPr 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    。</a:t>
            </a:r>
            <a:r>
              <a:rPr lang="zh-CN" alt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本地高频</a:t>
            </a:r>
            <a:r>
              <a:rPr lang="en-US" altLang="zh-CN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GIS</a:t>
            </a:r>
            <a:r>
              <a:rPr lang="zh-CN" alt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运算，减少云端请求</a:t>
            </a:r>
            <a:endParaRPr lang="zh-CN" altLang="en-US" sz="20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65" name="Google Shape;165;p17"/>
          <p:cNvSpPr txBox="1"/>
          <p:nvPr>
            <p:custDataLst>
              <p:tags r:id="rId11"/>
            </p:custDataLst>
          </p:nvPr>
        </p:nvSpPr>
        <p:spPr>
          <a:xfrm>
            <a:off x="8540650" y="2074545"/>
            <a:ext cx="2793786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持久层 (微信云开发)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66" name="Google Shape;166;p17"/>
          <p:cNvSpPr txBox="1"/>
          <p:nvPr>
            <p:custDataLst>
              <p:tags r:id="rId12"/>
            </p:custDataLst>
          </p:nvPr>
        </p:nvSpPr>
        <p:spPr>
          <a:xfrm>
            <a:off x="8540650" y="3663950"/>
            <a:ext cx="2660749" cy="14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基于 Serverless NoSQL，保障探索进度</a:t>
            </a:r>
            <a:r>
              <a:rPr lang="zh-CN" alt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的</a:t>
            </a:r>
            <a:r>
              <a:rPr lang="zh-CN" alt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同步</a:t>
            </a:r>
            <a:endParaRPr lang="zh-CN" altLang="en-US" sz="20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167" name="Google Shape;167;p17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843280" y="2317115"/>
            <a:ext cx="307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>
            <p:custDataLst>
              <p:tags r:id="rId15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>
            <a:off x="4618355" y="2298065"/>
            <a:ext cx="307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>
            <a:off x="5432653" y="3596322"/>
            <a:ext cx="967829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>
            <p:custDataLst>
              <p:tags r:id="rId19"/>
            </p:custDataLst>
          </p:nvPr>
        </p:nvPicPr>
        <p:blipFill rotWithShape="1">
          <a:blip r:embed="rId20"/>
          <a:srcRect/>
          <a:stretch>
            <a:fillRect/>
          </a:stretch>
        </p:blipFill>
        <p:spPr>
          <a:xfrm>
            <a:off x="8393430" y="2122170"/>
            <a:ext cx="3079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2450" y="2563117"/>
            <a:ext cx="5305425" cy="28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994296" y="4239517"/>
            <a:ext cx="2421731" cy="5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2600176"/>
            <a:ext cx="530542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校园 </a:t>
            </a:r>
            <a:r>
              <a:rPr lang="en-US" altLang="zh-CN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GIS </a:t>
            </a: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空间数据资产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00100" y="3001267"/>
            <a:ext cx="4810125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微软雅黑" panose="020B0503020204020204" charset="-122"/>
                <a:sym typeface="微软雅黑" panose="020B0503020204020204" charset="-122"/>
              </a:rPr>
              <a:t>61957</a:t>
            </a:r>
            <a:endParaRPr lang="en-US" sz="750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6576695" y="2755751"/>
            <a:ext cx="545068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资产清点 STATUS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910070" y="3289151"/>
            <a:ext cx="48577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可探索实体 网格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6910070" y="3822551"/>
            <a:ext cx="48577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 建筑与        道路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910070" y="4355951"/>
            <a:ext cx="48577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POI互动地标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6915785" y="4889351"/>
            <a:ext cx="48577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    不可达区 (湖面/禁区)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40195" y="3327400"/>
            <a:ext cx="15684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910070" y="3289151"/>
            <a:ext cx="97854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40195" y="3860800"/>
            <a:ext cx="15684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910070" y="3822551"/>
            <a:ext cx="713779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01315" y="3822551"/>
            <a:ext cx="713779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40195" y="4394200"/>
            <a:ext cx="15684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910070" y="4355951"/>
            <a:ext cx="60781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40195" y="4927600"/>
            <a:ext cx="15684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910070" y="4889351"/>
            <a:ext cx="978544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2450" y="4324350"/>
            <a:ext cx="2660898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361134" y="2009775"/>
            <a:ext cx="2660898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69818" y="4324350"/>
            <a:ext cx="2660898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78503" y="2009775"/>
            <a:ext cx="2660898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数据预处理与 </a:t>
            </a:r>
            <a:r>
              <a:rPr lang="en-US" altLang="zh-CN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BuildMap </a:t>
            </a: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接入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52450" y="3952875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75951" y="4505325"/>
            <a:ext cx="241389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1. 数据源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733425" y="5038725"/>
            <a:ext cx="229894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获取高精度遥感影像与建筑规划图纸。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3484635" y="2190750"/>
            <a:ext cx="241389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2. 坐标采集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3542109" y="2724150"/>
            <a:ext cx="229894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手动标记校园轮廓，提取 JSON 属性表。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293320" y="4505325"/>
            <a:ext cx="241389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3. 空间配准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350793" y="5038725"/>
            <a:ext cx="229894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执行坐标系转换与噪点清洗，构建空间索引。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9102004" y="2190750"/>
            <a:ext cx="241389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4. 实体生成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9159478" y="2724150"/>
            <a:ext cx="229894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输出 183 个有效对象，支撑碰撞逻辑推导。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1740024" y="384810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4548708" y="384810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357392" y="384810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10166077" y="384810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2450" y="2395220"/>
            <a:ext cx="530542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500187"/>
            <a:ext cx="53054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552450" y="376237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核心算法</a:t>
            </a:r>
            <a:r>
              <a:rPr lang="en-US" altLang="zh-CN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 // </a:t>
            </a:r>
            <a:r>
              <a:rPr 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20M 缓冲容错算法</a:t>
            </a:r>
            <a:endParaRPr 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52450" y="1042987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736600" y="2662237"/>
            <a:ext cx="5450681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痛点与突破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736600" y="3195637"/>
            <a:ext cx="5191125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问题：直接相交要求太高，</a:t>
            </a:r>
            <a:r>
              <a:rPr lang="en-US" altLang="zh-CN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GPS</a:t>
            </a:r>
            <a:r>
              <a:rPr lang="zh-CN" alt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存在漂移</a:t>
            </a:r>
            <a:endParaRPr lang="zh-CN" alt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解法：手写轻量级</a:t>
            </a:r>
            <a:r>
              <a:rPr lang="en-US" altLang="zh-CN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JS</a:t>
            </a:r>
            <a:r>
              <a:rPr lang="zh-CN" alt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几何函数，废弃</a:t>
            </a:r>
            <a:r>
              <a:rPr lang="en-US" altLang="zh-CN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Turf.js</a:t>
            </a:r>
            <a:endParaRPr lang="en-US" altLang="zh-CN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234" name="Google Shape;234;p20" descr="C:/Users/一梦金。/Downloads/ChatGPT Image 2026年7月2日 01_32_40.pngChatGPT Image 2026年7月2日 01_32_40"/>
          <p:cNvPicPr preferRelativeResize="0"/>
          <p:nvPr/>
        </p:nvPicPr>
        <p:blipFill rotWithShape="1">
          <a:blip r:embed="rId3"/>
          <a:srcRect l="634" r="634"/>
          <a:stretch>
            <a:fillRect/>
          </a:stretch>
        </p:blipFill>
        <p:spPr>
          <a:xfrm>
            <a:off x="6391275" y="1557337"/>
            <a:ext cx="5191125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281822" y="3681412"/>
            <a:ext cx="153918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52450" y="2462212"/>
            <a:ext cx="35052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43400" y="2462212"/>
            <a:ext cx="35052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34350" y="2462212"/>
            <a:ext cx="35052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游戏化引擎</a:t>
            </a:r>
            <a:r>
              <a:rPr 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 // </a:t>
            </a:r>
            <a:r>
              <a:rPr lang="zh-CN" altLang="en-US" sz="3750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空间联动规则</a:t>
            </a:r>
            <a:endParaRPr 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1"/>
          <p:cNvSpPr txBox="1"/>
          <p:nvPr>
            <p:custDataLst>
              <p:tags r:id="rId8"/>
            </p:custDataLst>
          </p:nvPr>
        </p:nvSpPr>
        <p:spPr>
          <a:xfrm>
            <a:off x="1404784" y="3548062"/>
            <a:ext cx="1800381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POI发现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55" name="Google Shape;255;p21"/>
          <p:cNvSpPr txBox="1"/>
          <p:nvPr>
            <p:custDataLst>
              <p:tags r:id="rId9"/>
            </p:custDataLst>
          </p:nvPr>
        </p:nvSpPr>
        <p:spPr>
          <a:xfrm>
            <a:off x="895350" y="4081462"/>
            <a:ext cx="281940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新增点亮网格 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   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地标网格 → 触发解锁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56" name="Google Shape;256;p21"/>
          <p:cNvSpPr txBox="1"/>
          <p:nvPr>
            <p:custDataLst>
              <p:tags r:id="rId10"/>
            </p:custDataLst>
          </p:nvPr>
        </p:nvSpPr>
        <p:spPr>
          <a:xfrm>
            <a:off x="5195887" y="3548062"/>
            <a:ext cx="1800225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路线</a:t>
            </a: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完成</a:t>
            </a:r>
            <a:endParaRPr lang="zh-CN" alt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57" name="Google Shape;257;p21"/>
          <p:cNvSpPr txBox="1"/>
          <p:nvPr>
            <p:custDataLst>
              <p:tags r:id="rId11"/>
            </p:custDataLst>
          </p:nvPr>
        </p:nvSpPr>
        <p:spPr>
          <a:xfrm>
            <a:off x="4686300" y="4081462"/>
            <a:ext cx="281940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点亮网格覆盖 路线目标 → 达到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</a:t>
            </a:r>
            <a:endParaRPr lang="en-US" altLang="zh-CN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      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视为完成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58" name="Google Shape;258;p21"/>
          <p:cNvSpPr txBox="1"/>
          <p:nvPr>
            <p:custDataLst>
              <p:tags r:id="rId12"/>
            </p:custDataLst>
          </p:nvPr>
        </p:nvSpPr>
        <p:spPr>
          <a:xfrm>
            <a:off x="8986837" y="3548062"/>
            <a:ext cx="1800225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成就系统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59" name="Google Shape;259;p21"/>
          <p:cNvSpPr txBox="1"/>
          <p:nvPr>
            <p:custDataLst>
              <p:tags r:id="rId13"/>
            </p:custDataLst>
          </p:nvPr>
        </p:nvSpPr>
        <p:spPr>
          <a:xfrm>
            <a:off x="8477250" y="4081462"/>
            <a:ext cx="28194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网格总数+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POI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数+路线数 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→ 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后台配置判定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260" name="Google Shape;260;p21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2046605" y="2842895"/>
            <a:ext cx="51625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2119630" y="4081462"/>
            <a:ext cx="914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5837555" y="2842895"/>
            <a:ext cx="51625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>
            <p:custDataLst>
              <p:tags r:id="rId20"/>
            </p:custDataLst>
          </p:nvPr>
        </p:nvPicPr>
        <p:blipFill rotWithShape="1">
          <a:blip r:embed="rId21"/>
          <a:srcRect/>
          <a:stretch>
            <a:fillRect/>
          </a:stretch>
        </p:blipFill>
        <p:spPr>
          <a:xfrm>
            <a:off x="5367020" y="4477067"/>
            <a:ext cx="914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>
            <p:custDataLst>
              <p:tags r:id="rId22"/>
            </p:custDataLst>
          </p:nvPr>
        </p:nvPicPr>
        <p:blipFill rotWithShape="1">
          <a:blip r:embed="rId23"/>
          <a:srcRect/>
          <a:stretch>
            <a:fillRect/>
          </a:stretch>
        </p:blipFill>
        <p:spPr>
          <a:xfrm>
            <a:off x="9628505" y="2842895"/>
            <a:ext cx="51625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" y="76200"/>
            <a:ext cx="6019800" cy="67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6200"/>
            <a:ext cx="6019800" cy="67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47700" y="2447925"/>
            <a:ext cx="48006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647700" y="647700"/>
            <a:ext cx="504063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核心</a:t>
            </a: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体验 (1)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地图探索与轨迹追踪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990600" y="2790825"/>
            <a:ext cx="432054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底图认知</a:t>
            </a:r>
            <a:endParaRPr lang="zh-CN" alt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990600" y="3200400"/>
            <a:ext cx="411480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仅渲染基础图层+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   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已探索网格，保障性能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990600" y="4065270"/>
            <a:ext cx="432054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实时</a:t>
            </a: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追踪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990600" y="4455795"/>
            <a:ext cx="41148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监听定位点，绘制轨迹，实时计算覆盖率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476500" y="3200400"/>
            <a:ext cx="914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77;p22"/>
          <p:cNvSpPr txBox="1"/>
          <p:nvPr/>
        </p:nvSpPr>
        <p:spPr>
          <a:xfrm>
            <a:off x="990600" y="4996180"/>
            <a:ext cx="432054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容错兜底</a:t>
            </a:r>
            <a:endParaRPr lang="zh-CN" alt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" name="Google Shape;278;p22"/>
          <p:cNvSpPr txBox="1"/>
          <p:nvPr/>
        </p:nvSpPr>
        <p:spPr>
          <a:xfrm>
            <a:off x="990600" y="5386705"/>
            <a:ext cx="41148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弱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GPS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时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发出提示，中断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后依赖本地缓存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325" y="76200"/>
            <a:ext cx="3126105" cy="68052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核心流 (2)：地标问答与探索结算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72" name="Google Shape;272;p22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47700" y="1933575"/>
            <a:ext cx="48006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>
            <p:custDataLst>
              <p:tags r:id="rId3"/>
            </p:custDataLst>
          </p:nvPr>
        </p:nvSpPr>
        <p:spPr>
          <a:xfrm>
            <a:off x="990600" y="2249805"/>
            <a:ext cx="432054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文化</a:t>
            </a:r>
            <a:r>
              <a:rPr lang="zh-CN" altLang="en-US" sz="32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导览</a:t>
            </a:r>
            <a:endParaRPr lang="zh-CN" altLang="en-US" sz="32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78" name="Google Shape;278;p22"/>
          <p:cNvSpPr txBox="1"/>
          <p:nvPr>
            <p:custDataLst>
              <p:tags r:id="rId4"/>
            </p:custDataLst>
          </p:nvPr>
        </p:nvSpPr>
        <p:spPr>
          <a:xfrm>
            <a:off x="990600" y="2783205"/>
            <a:ext cx="41148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到达关键节点需完成校园知识问答</a:t>
            </a:r>
            <a:endParaRPr lang="zh-CN" altLang="en-US" sz="20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Google Shape;277;p22"/>
          <p:cNvSpPr txBox="1"/>
          <p:nvPr>
            <p:custDataLst>
              <p:tags r:id="rId5"/>
            </p:custDataLst>
          </p:nvPr>
        </p:nvSpPr>
        <p:spPr>
          <a:xfrm>
            <a:off x="990600" y="3601085"/>
            <a:ext cx="432054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单次闭环</a:t>
            </a:r>
            <a:endParaRPr lang="zh-CN" altLang="en-US" sz="32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" name="Google Shape;278;p22"/>
          <p:cNvSpPr txBox="1"/>
          <p:nvPr>
            <p:custDataLst>
              <p:tags r:id="rId6"/>
            </p:custDataLst>
          </p:nvPr>
        </p:nvSpPr>
        <p:spPr>
          <a:xfrm>
            <a:off x="990600" y="4086860"/>
            <a:ext cx="41148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点击结束 → 生成距离、时长、网格、成就 → 一键云端同步</a:t>
            </a:r>
            <a:endParaRPr lang="zh-CN" altLang="en-US" sz="20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7"/>
          <a:srcRect t="5603" b="27271"/>
          <a:stretch>
            <a:fillRect/>
          </a:stretch>
        </p:blipFill>
        <p:spPr>
          <a:xfrm>
            <a:off x="5544820" y="1295400"/>
            <a:ext cx="3362325" cy="49142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rcRect t="4924" b="2881"/>
          <a:stretch>
            <a:fillRect/>
          </a:stretch>
        </p:blipFill>
        <p:spPr>
          <a:xfrm>
            <a:off x="9043670" y="1395730"/>
            <a:ext cx="2595880" cy="52108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4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7254240" y="1896745"/>
            <a:ext cx="4385310" cy="362013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游戏化 (1)：校园空间图鉴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1632" b="18686"/>
          <a:stretch>
            <a:fillRect/>
          </a:stretch>
        </p:blipFill>
        <p:spPr>
          <a:xfrm>
            <a:off x="552450" y="1396365"/>
            <a:ext cx="3525520" cy="534987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1716" b="7120"/>
          <a:stretch>
            <a:fillRect/>
          </a:stretch>
        </p:blipFill>
        <p:spPr>
          <a:xfrm>
            <a:off x="4077970" y="1472565"/>
            <a:ext cx="2983230" cy="52736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00620" y="2258060"/>
            <a:ext cx="346075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SzTx/>
            </a:pPr>
            <a:r>
              <a:rPr lang="zh-CN" altLang="en-US" sz="32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知识沉淀</a:t>
            </a:r>
            <a:endParaRPr lang="zh-CN" altLang="en-US" sz="32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60000"/>
              </a:lnSpc>
              <a:buSzTx/>
            </a:pPr>
            <a:r>
              <a:rPr lang="zh-CN" altLang="en-US" sz="20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展示38个地标简介与解锁状态</a:t>
            </a:r>
            <a:endParaRPr lang="zh-CN" altLang="en-US" sz="20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SzTx/>
            </a:pPr>
            <a:r>
              <a:rPr lang="zh-CN" altLang="en-US" sz="32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引导探索</a:t>
            </a:r>
            <a:endParaRPr lang="zh-CN" altLang="en-US" sz="32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60000"/>
              </a:lnSpc>
              <a:buSzTx/>
            </a:pPr>
            <a:r>
              <a:rPr lang="zh-CN" altLang="en-US" sz="20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路线指引用户完成主题探索，驱动走向未知空间</a:t>
            </a:r>
            <a:endParaRPr lang="zh-CN" altLang="en-US" sz="20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游戏化 (2)：成就中心与全服排行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09" name="Google Shape;309;p24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4366260" y="1849120"/>
            <a:ext cx="4385310" cy="362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612640" y="2210435"/>
            <a:ext cx="3460750" cy="3353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SzTx/>
            </a:pPr>
            <a:r>
              <a:rPr lang="zh-CN" altLang="en-US" sz="32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长期激励</a:t>
            </a:r>
            <a:endParaRPr lang="zh-CN" altLang="en-US" sz="20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60000"/>
              </a:lnSpc>
              <a:buSzTx/>
            </a:pPr>
            <a:r>
              <a:rPr lang="zh-CN" altLang="en-US" sz="20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积分等级系统，可视化收集进度</a:t>
            </a:r>
            <a:endParaRPr lang="zh-CN" altLang="en-US" sz="20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SzTx/>
            </a:pPr>
            <a:r>
              <a:rPr lang="zh-CN" altLang="en-US" sz="32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云端比拼</a:t>
            </a:r>
            <a:endParaRPr lang="zh-CN" altLang="en-US" sz="32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60000"/>
              </a:lnSpc>
              <a:buSzTx/>
            </a:pPr>
            <a:r>
              <a:rPr lang="zh-CN" altLang="en-US" sz="20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聚合数据，展示网格/地标/成就排行</a:t>
            </a:r>
            <a:endParaRPr lang="zh-CN" altLang="en-US" sz="20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SzTx/>
            </a:pPr>
            <a:endParaRPr lang="zh-CN" altLang="en-US" sz="20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11760" b="8099"/>
          <a:stretch>
            <a:fillRect/>
          </a:stretch>
        </p:blipFill>
        <p:spPr>
          <a:xfrm>
            <a:off x="106680" y="1737995"/>
            <a:ext cx="2191385" cy="3825875"/>
          </a:xfrm>
          <a:prstGeom prst="rect">
            <a:avLst/>
          </a:prstGeom>
          <a:ln>
            <a:solidFill>
              <a:srgbClr val="FFD540"/>
            </a:solidFill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12246" b="29997"/>
          <a:stretch>
            <a:fillRect/>
          </a:stretch>
        </p:blipFill>
        <p:spPr>
          <a:xfrm>
            <a:off x="8751570" y="1636395"/>
            <a:ext cx="3216910" cy="404558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12481" b="3350"/>
          <a:stretch>
            <a:fillRect/>
          </a:stretch>
        </p:blipFill>
        <p:spPr>
          <a:xfrm>
            <a:off x="2218690" y="1737995"/>
            <a:ext cx="214757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/>
        </p:nvSpPr>
        <p:spPr>
          <a:xfrm>
            <a:off x="552450" y="552450"/>
            <a:ext cx="1163955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 云端架构与持久化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935" y="1374775"/>
            <a:ext cx="8958580" cy="49949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工程化结构与测试验收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417955"/>
            <a:ext cx="2548890" cy="5227955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805" y="1981200"/>
            <a:ext cx="5280025" cy="150368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805" y="3857943"/>
            <a:ext cx="5486400" cy="2011045"/>
          </a:xfrm>
          <a:prstGeom prst="rect">
            <a:avLst/>
          </a:prstGeom>
        </p:spPr>
      </p:pic>
      <p:pic>
        <p:nvPicPr>
          <p:cNvPr id="309" name="Google Shape;309;p24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3183890" y="1618615"/>
            <a:ext cx="3352800" cy="49676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3436620" y="1777365"/>
            <a:ext cx="2349500" cy="523875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460750" y="3429000"/>
            <a:ext cx="2349500" cy="523875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460750" y="5031740"/>
            <a:ext cx="2349500" cy="523875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30270" y="1785620"/>
            <a:ext cx="2646680" cy="419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SzTx/>
            </a:pPr>
            <a:r>
              <a:rPr lang="zh-CN" altLang="en-US" sz="2800" b="1">
                <a:solidFill>
                  <a:srgbClr val="FFD540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</a:rPr>
              <a:t>高内聚低耦合</a:t>
            </a:r>
            <a:endParaRPr lang="zh-CN" altLang="en-US" sz="2800" b="1">
              <a:solidFill>
                <a:srgbClr val="FFD540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</a:endParaRPr>
          </a:p>
          <a:p>
            <a:pPr algn="l">
              <a:lnSpc>
                <a:spcPct val="160000"/>
              </a:lnSpc>
              <a:buSzTx/>
            </a:pPr>
            <a:r>
              <a:rPr lang="en-US" altLang="zh-CN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Pages、Services、Spatial、Cloud</a:t>
            </a:r>
            <a:r>
              <a:rPr lang="zh-CN" altLang="en-US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四层严格解耦</a:t>
            </a:r>
            <a:endParaRPr lang="zh-CN" altLang="en-US" sz="16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SzTx/>
            </a:pPr>
            <a:r>
              <a:rPr lang="zh-CN" altLang="en-US" sz="2800" b="1">
                <a:solidFill>
                  <a:srgbClr val="FFD540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</a:rPr>
              <a:t>自动化测试</a:t>
            </a:r>
            <a:endParaRPr lang="zh-CN" altLang="en-US" sz="2800" b="1">
              <a:solidFill>
                <a:srgbClr val="FFD540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</a:endParaRPr>
          </a:p>
          <a:p>
            <a:pPr algn="l">
              <a:lnSpc>
                <a:spcPct val="160000"/>
              </a:lnSpc>
              <a:buSzTx/>
            </a:pPr>
            <a:r>
              <a:rPr lang="en-US" altLang="zh-CN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npm test 100%</a:t>
            </a:r>
            <a:r>
              <a:rPr lang="zh-CN" altLang="en-US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覆盖，包含</a:t>
            </a:r>
            <a:r>
              <a:rPr lang="en-US" altLang="zh-CN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BuildMap、GIS</a:t>
            </a:r>
            <a:r>
              <a:rPr lang="zh-CN" altLang="en-US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坐标、缓冲逻辑、排行幂等</a:t>
            </a:r>
            <a:endParaRPr lang="zh-CN" altLang="en-US" sz="16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SzTx/>
            </a:pPr>
            <a:r>
              <a:rPr lang="zh-CN" altLang="en-US" sz="2800" b="1">
                <a:solidFill>
                  <a:srgbClr val="FFD540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+mn-ea"/>
              </a:rPr>
              <a:t>真机验收</a:t>
            </a:r>
            <a:endParaRPr lang="zh-CN" altLang="en-US" sz="2800" b="1">
              <a:solidFill>
                <a:srgbClr val="FFD540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</a:endParaRPr>
          </a:p>
          <a:p>
            <a:pPr algn="l">
              <a:lnSpc>
                <a:spcPct val="160000"/>
              </a:lnSpc>
              <a:buSzTx/>
            </a:pPr>
            <a:r>
              <a:rPr lang="zh-CN" altLang="en-US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后台定位、弱网切换、20</a:t>
            </a:r>
            <a:r>
              <a:rPr lang="en-US" altLang="zh-CN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</a:t>
            </a:r>
            <a:r>
              <a:rPr lang="zh-CN" altLang="en-US" sz="1600" b="1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半径触发，旗山校区通过</a:t>
            </a:r>
            <a:endParaRPr lang="zh-CN" altLang="en-US" sz="16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buSzTx/>
            </a:pPr>
            <a:endParaRPr lang="zh-CN" altLang="en-US" sz="2000" b="1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2450" y="2387203"/>
            <a:ext cx="11087100" cy="320754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8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项目核心成果清单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1466850" y="2634615"/>
            <a:ext cx="9734550" cy="220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完整旗山校区空间数据底座（5</a:t>
            </a:r>
            <a:r>
              <a:rPr lang="en-US" altLang="zh-CN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m</a:t>
            </a:r>
            <a:r>
              <a:rPr lang="zh-CN" altLang="en-US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网格、</a:t>
            </a:r>
            <a:r>
              <a:rPr lang="en-US" altLang="zh-CN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POI、</a:t>
            </a:r>
            <a:r>
              <a:rPr lang="zh-CN" altLang="en-US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不可达区）</a:t>
            </a:r>
            <a:endParaRPr lang="zh-CN" altLang="en-US" sz="2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全链路闭环微信小程序+</a:t>
            </a:r>
            <a:r>
              <a:rPr lang="en-US" altLang="zh-CN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Serverless</a:t>
            </a:r>
            <a:r>
              <a:rPr lang="zh-CN" altLang="en-US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云端后端</a:t>
            </a:r>
            <a:endParaRPr lang="zh-CN" altLang="en-US" sz="2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完善软工产物：用户手册、逻辑手册、测试报告、</a:t>
            </a:r>
            <a:r>
              <a:rPr lang="en-US" altLang="zh-CN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API</a:t>
            </a:r>
            <a:r>
              <a:rPr lang="zh-CN" altLang="en-US" sz="2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声明</a:t>
            </a:r>
            <a:endParaRPr lang="zh-CN" altLang="en-US" sz="2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385" name="Google Shape;385;p2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0600" y="2988945"/>
            <a:ext cx="30988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85;p2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0600" y="3870325"/>
            <a:ext cx="30988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5;p2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0600" y="4751705"/>
            <a:ext cx="309880" cy="35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核心创新点总结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 descr="core_innovations_rad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8295" y="1346835"/>
            <a:ext cx="6455410" cy="45764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2450" y="1292225"/>
            <a:ext cx="5305425" cy="508127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0"/>
          <p:cNvSpPr txBox="1"/>
          <p:nvPr/>
        </p:nvSpPr>
        <p:spPr>
          <a:xfrm>
            <a:off x="552450" y="43180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团队协作与 </a:t>
            </a:r>
            <a:r>
              <a:rPr lang="en-US" altLang="zh-CN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GitHub </a:t>
            </a: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贡献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552450" y="109855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847725" y="1587500"/>
            <a:ext cx="495061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代码主阵地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847725" y="1961515"/>
            <a:ext cx="47148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部署于 Xuuyuan/StarRunning 仓库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847725" y="2460625"/>
            <a:ext cx="4714875" cy="381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847725" y="2603500"/>
            <a:ext cx="4950618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分工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1960245" y="3114675"/>
            <a:ext cx="43815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：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云端后端与算法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27" name="Google Shape;427;p30"/>
          <p:cNvSpPr txBox="1"/>
          <p:nvPr/>
        </p:nvSpPr>
        <p:spPr>
          <a:xfrm>
            <a:off x="1960245" y="3648075"/>
            <a:ext cx="43815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：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GIS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数据与验收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28" name="Google Shape;428;p30"/>
          <p:cNvSpPr txBox="1"/>
          <p:nvPr/>
        </p:nvSpPr>
        <p:spPr>
          <a:xfrm>
            <a:off x="1960245" y="4181475"/>
            <a:ext cx="43815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：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前端与</a:t>
            </a:r>
            <a:r>
              <a:rPr lang="en-US" altLang="zh-CN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UI</a:t>
            </a:r>
            <a:endParaRPr lang="en-US" altLang="zh-CN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1960245" y="4714875"/>
            <a:ext cx="43815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：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策划统筹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30" name="Google Shape;430;p30"/>
          <p:cNvSpPr txBox="1"/>
          <p:nvPr/>
        </p:nvSpPr>
        <p:spPr>
          <a:xfrm>
            <a:off x="1960245" y="5248275"/>
            <a:ext cx="43815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：校园文案</a:t>
            </a:r>
            <a:endParaRPr 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31" name="Google Shape;431;p30"/>
          <p:cNvSpPr txBox="1"/>
          <p:nvPr/>
        </p:nvSpPr>
        <p:spPr>
          <a:xfrm>
            <a:off x="1960245" y="5781675"/>
            <a:ext cx="43815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：</a:t>
            </a:r>
            <a:r>
              <a:rPr lang="zh-CN" altLang="en-US" sz="15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版本控制</a:t>
            </a:r>
            <a:endParaRPr lang="zh-CN" altLang="en-US" sz="15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433" name="Google Shape;433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81100" y="3136900"/>
            <a:ext cx="723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1100" y="3670300"/>
            <a:ext cx="723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81100" y="4203700"/>
            <a:ext cx="533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81100" y="4737100"/>
            <a:ext cx="723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81100" y="5270500"/>
            <a:ext cx="723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181100" y="5803900"/>
            <a:ext cx="723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1" descr="Snipaste_2026-06-27_21-15-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2020" y="1507173"/>
            <a:ext cx="5943600" cy="44710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49;p31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7002780" y="2983230"/>
            <a:ext cx="995045" cy="66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449;p31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9812020" y="1555750"/>
            <a:ext cx="995045" cy="66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49;p31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4194175" y="1593850"/>
            <a:ext cx="995045" cy="66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1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1400810" y="2983230"/>
            <a:ext cx="995045" cy="66421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1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项目演进与反思感悟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54" name="Google Shape;454;p31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5" name="Google Shape;455;p31"/>
          <p:cNvSpPr/>
          <p:nvPr>
            <p:custDataLst>
              <p:tags r:id="rId6"/>
            </p:custDataLst>
          </p:nvPr>
        </p:nvSpPr>
        <p:spPr>
          <a:xfrm>
            <a:off x="552450" y="2611755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" name="Google Shape;456;p31"/>
          <p:cNvSpPr txBox="1"/>
          <p:nvPr>
            <p:custDataLst>
              <p:tags r:id="rId7"/>
            </p:custDataLst>
          </p:nvPr>
        </p:nvSpPr>
        <p:spPr>
          <a:xfrm>
            <a:off x="675951" y="3164205"/>
            <a:ext cx="2413895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需求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58" name="Google Shape;458;p31"/>
          <p:cNvSpPr txBox="1"/>
          <p:nvPr>
            <p:custDataLst>
              <p:tags r:id="rId8"/>
            </p:custDataLst>
          </p:nvPr>
        </p:nvSpPr>
        <p:spPr>
          <a:xfrm>
            <a:off x="3484635" y="1753235"/>
            <a:ext cx="2413895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设计</a:t>
            </a:r>
            <a:endParaRPr lang="zh-CN" alt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60" name="Google Shape;460;p31"/>
          <p:cNvSpPr txBox="1"/>
          <p:nvPr>
            <p:custDataLst>
              <p:tags r:id="rId9"/>
            </p:custDataLst>
          </p:nvPr>
        </p:nvSpPr>
        <p:spPr>
          <a:xfrm>
            <a:off x="6293320" y="3164205"/>
            <a:ext cx="2413895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联调</a:t>
            </a:r>
            <a:endParaRPr lang="zh-CN" alt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62" name="Google Shape;462;p31"/>
          <p:cNvSpPr txBox="1"/>
          <p:nvPr>
            <p:custDataLst>
              <p:tags r:id="rId10"/>
            </p:custDataLst>
          </p:nvPr>
        </p:nvSpPr>
        <p:spPr>
          <a:xfrm>
            <a:off x="9102004" y="1753235"/>
            <a:ext cx="2413895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测试</a:t>
            </a:r>
            <a:endParaRPr lang="zh-CN" alt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65" name="Google Shape;465;p31"/>
          <p:cNvSpPr/>
          <p:nvPr>
            <p:custDataLst>
              <p:tags r:id="rId11"/>
            </p:custDataLst>
          </p:nvPr>
        </p:nvSpPr>
        <p:spPr>
          <a:xfrm>
            <a:off x="1740024" y="250698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6" name="Google Shape;466;p31"/>
          <p:cNvSpPr/>
          <p:nvPr>
            <p:custDataLst>
              <p:tags r:id="rId12"/>
            </p:custDataLst>
          </p:nvPr>
        </p:nvSpPr>
        <p:spPr>
          <a:xfrm>
            <a:off x="4548708" y="250698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" name="Google Shape;467;p31"/>
          <p:cNvSpPr/>
          <p:nvPr>
            <p:custDataLst>
              <p:tags r:id="rId13"/>
            </p:custDataLst>
          </p:nvPr>
        </p:nvSpPr>
        <p:spPr>
          <a:xfrm>
            <a:off x="7357392" y="250698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" name="Google Shape;468;p31"/>
          <p:cNvSpPr/>
          <p:nvPr>
            <p:custDataLst>
              <p:tags r:id="rId14"/>
            </p:custDataLst>
          </p:nvPr>
        </p:nvSpPr>
        <p:spPr>
          <a:xfrm>
            <a:off x="10166077" y="2506980"/>
            <a:ext cx="285750" cy="285750"/>
          </a:xfrm>
          <a:prstGeom prst="rect">
            <a:avLst/>
          </a:prstGeom>
          <a:solidFill>
            <a:srgbClr val="FED141"/>
          </a:solidFill>
          <a:ln w="57150" cap="flat" cmpd="sng">
            <a:solidFill>
              <a:srgbClr val="002F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75" name="Google Shape;475;p32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614045" y="3837940"/>
            <a:ext cx="10963910" cy="24390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52500" y="4095115"/>
            <a:ext cx="10207625" cy="1799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002F6C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</a:rPr>
              <a:t>反思感悟</a:t>
            </a:r>
            <a:endParaRPr lang="zh-CN" altLang="en-US"/>
          </a:p>
          <a:p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技术折中：理想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vs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现实，最终敲定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网格+20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缓冲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边界收敛：砍掉复杂社交等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伪需求，专注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最简闭环稳定运行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2450" y="1676400"/>
            <a:ext cx="5305425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676400"/>
            <a:ext cx="5305425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 txBox="1"/>
          <p:nvPr/>
        </p:nvSpPr>
        <p:spPr>
          <a:xfrm>
            <a:off x="552450" y="552450"/>
            <a:ext cx="116395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遗憾功能与后续迭代蓝图</a:t>
            </a:r>
            <a:endParaRPr lang="zh-CN" alt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552450" y="1219200"/>
            <a:ext cx="11087100" cy="76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" name="Google Shape;478;p32"/>
          <p:cNvSpPr txBox="1"/>
          <p:nvPr/>
        </p:nvSpPr>
        <p:spPr>
          <a:xfrm>
            <a:off x="1308100" y="2265680"/>
            <a:ext cx="4650581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已知的遗憾</a:t>
            </a:r>
            <a:endParaRPr 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79" name="Google Shape;479;p32"/>
          <p:cNvSpPr txBox="1"/>
          <p:nvPr/>
        </p:nvSpPr>
        <p:spPr>
          <a:xfrm>
            <a:off x="990600" y="3036570"/>
            <a:ext cx="4429125" cy="132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当前所有规则依赖前端代码配置文件，极度缺乏一套可视化、可供运营人员操作的 Web 后台管理面。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80" name="Google Shape;480;p32"/>
          <p:cNvSpPr txBox="1"/>
          <p:nvPr/>
        </p:nvSpPr>
        <p:spPr>
          <a:xfrm>
            <a:off x="990600" y="4662805"/>
            <a:ext cx="4429125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仅支持用户自身数据的累加计算，缺乏对整个</a:t>
            </a:r>
            <a:r>
              <a:rPr lang="zh-CN" alt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学生</a:t>
            </a: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群体运动数据的统计展现。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81" name="Google Shape;481;p32"/>
          <p:cNvSpPr txBox="1"/>
          <p:nvPr/>
        </p:nvSpPr>
        <p:spPr>
          <a:xfrm>
            <a:off x="7089775" y="2227580"/>
            <a:ext cx="4650581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迭代</a:t>
            </a:r>
            <a:r>
              <a:rPr lang="zh-CN" altLang="en-US" sz="2250" b="0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的最终形态</a:t>
            </a:r>
            <a:endParaRPr lang="zh-CN" altLang="en-US" sz="2250" b="0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82" name="Google Shape;482;p32"/>
          <p:cNvSpPr txBox="1"/>
          <p:nvPr/>
        </p:nvSpPr>
        <p:spPr>
          <a:xfrm>
            <a:off x="6772275" y="3030855"/>
            <a:ext cx="4429125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重构为配置中心模式，实现所有 POI、成就逻辑、活动路线从云端               。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83" name="Google Shape;483;p32"/>
          <p:cNvSpPr txBox="1"/>
          <p:nvPr/>
        </p:nvSpPr>
        <p:spPr>
          <a:xfrm>
            <a:off x="6772275" y="4662805"/>
            <a:ext cx="4429125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引入大数据分析，从单一数值排行榜</a:t>
            </a:r>
            <a:r>
              <a:rPr lang="zh-CN" alt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优化</a:t>
            </a: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至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                       ，指引后勤规划。</a:t>
            </a:r>
            <a:endParaRPr lang="en-US" sz="18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484" name="Google Shape;484;p3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90600" y="2276475"/>
            <a:ext cx="3175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2238375"/>
            <a:ext cx="3175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29395" y="3466465"/>
            <a:ext cx="1592580" cy="421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772275" y="5149850"/>
            <a:ext cx="2628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3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661219" y="762000"/>
            <a:ext cx="8869560" cy="533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63354" y="2475230"/>
            <a:ext cx="5665142" cy="100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308919" y="4829026"/>
            <a:ext cx="757416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3"/>
          <p:cNvSpPr txBox="1"/>
          <p:nvPr/>
        </p:nvSpPr>
        <p:spPr>
          <a:xfrm>
            <a:off x="2119565" y="1409700"/>
            <a:ext cx="7952868" cy="57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黑体" panose="02010609060101010101" charset="-122"/>
                <a:sym typeface="黑体" panose="02010609060101010101" charset="-122"/>
              </a:rPr>
              <a:t>MISSION CLEARED !</a:t>
            </a:r>
            <a:endParaRPr lang="en-US" sz="37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97" name="Google Shape;497;p33"/>
          <p:cNvSpPr txBox="1"/>
          <p:nvPr/>
        </p:nvSpPr>
        <p:spPr>
          <a:xfrm>
            <a:off x="2308919" y="3825150"/>
            <a:ext cx="757416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F6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感谢倾听</a:t>
            </a:r>
            <a:endParaRPr lang="en-US" sz="2100" b="1" i="0" u="none" strike="noStrike" cap="none">
              <a:solidFill>
                <a:srgbClr val="002F6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98" name="Google Shape;498;p33"/>
          <p:cNvSpPr txBox="1"/>
          <p:nvPr/>
        </p:nvSpPr>
        <p:spPr>
          <a:xfrm>
            <a:off x="3511004" y="2722880"/>
            <a:ext cx="516984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525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"真实环境的误差不是Bug，而是GIS算法的舞台。"</a:t>
            </a:r>
            <a:endParaRPr lang="en-US" sz="1800" b="1" i="0" u="none" strike="noStrike" cap="none">
              <a:solidFill>
                <a:srgbClr val="E5252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499" name="Google Shape;499;p3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823845" y="4958715"/>
            <a:ext cx="340995" cy="36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2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3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4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5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6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7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8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9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0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1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2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3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4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5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6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17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18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19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0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1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2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3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4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5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6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7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8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29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30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31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32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33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34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35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36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37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38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39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40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41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42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43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44.xml><?xml version="1.0" encoding="utf-8"?>
<p:tagLst xmlns:p="http://schemas.openxmlformats.org/presentationml/2006/main">
  <p:tag name="KSO_WM_DIAGRAM_VIRTUALLY_FRAME" val="{&quot;height&quot;:364.5,&quot;left&quot;:43.5,&quot;top&quot;:132,&quot;width&quot;:872.9999212598425}"/>
</p:tagLst>
</file>

<file path=ppt/tags/tag45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46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47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48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49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0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1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2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3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4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5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6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7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8.xml><?xml version="1.0" encoding="utf-8"?>
<p:tagLst xmlns:p="http://schemas.openxmlformats.org/presentationml/2006/main">
  <p:tag name="KSO_WM_DIAGRAM_VIRTUALLY_FRAME" val="{&quot;height&quot;:240.75,&quot;left&quot;:43.5,&quot;top&quot;:193.87496062992125,&quot;width&quot;:873}"/>
</p:tagLst>
</file>

<file path=ppt/tags/tag59.xml><?xml version="1.0" encoding="utf-8"?>
<p:tagLst xmlns:p="http://schemas.openxmlformats.org/presentationml/2006/main">
  <p:tag name="KSO_WM_DIAGRAM_VIRTUALLY_FRAME" val="{&quot;height&quot;:322.5,&quot;left&quot;:51,&quot;top&quot;:152.25,&quot;width&quot;:378}"/>
</p:tagLst>
</file>

<file path=ppt/tags/tag60.xml><?xml version="1.0" encoding="utf-8"?>
<p:tagLst xmlns:p="http://schemas.openxmlformats.org/presentationml/2006/main">
  <p:tag name="KSO_WM_DIAGRAM_VIRTUALLY_FRAME" val="{&quot;height&quot;:322.5,&quot;left&quot;:51,&quot;top&quot;:152.25,&quot;width&quot;:378}"/>
</p:tagLst>
</file>

<file path=ppt/tags/tag61.xml><?xml version="1.0" encoding="utf-8"?>
<p:tagLst xmlns:p="http://schemas.openxmlformats.org/presentationml/2006/main">
  <p:tag name="KSO_WM_DIAGRAM_VIRTUALLY_FRAME" val="{&quot;height&quot;:322.5,&quot;left&quot;:51,&quot;top&quot;:152.25,&quot;width&quot;:378}"/>
</p:tagLst>
</file>

<file path=ppt/tags/tag62.xml><?xml version="1.0" encoding="utf-8"?>
<p:tagLst xmlns:p="http://schemas.openxmlformats.org/presentationml/2006/main">
  <p:tag name="KSO_WM_DIAGRAM_VIRTUALLY_FRAME" val="{&quot;height&quot;:322.5,&quot;left&quot;:51,&quot;top&quot;:152.25,&quot;width&quot;:378}"/>
</p:tagLst>
</file>

<file path=ppt/tags/tag63.xml><?xml version="1.0" encoding="utf-8"?>
<p:tagLst xmlns:p="http://schemas.openxmlformats.org/presentationml/2006/main">
  <p:tag name="KSO_WM_DIAGRAM_VIRTUALLY_FRAME" val="{&quot;height&quot;:322.5,&quot;left&quot;:51,&quot;top&quot;:152.25,&quot;width&quot;:378}"/>
</p:tagLst>
</file>

<file path=ppt/tags/tag64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65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66.xml><?xml version="1.0" encoding="utf-8"?>
<p:tagLst xmlns:p="http://schemas.openxmlformats.org/presentationml/2006/main">
  <p:tag name="KSO_WM_DIAGRAM_VIRTUALLY_FRAME" val="{&quot;height&quot;:364.5,&quot;left&quot;:43.5,&quot;top&quot;:132,&quot;width&quot;:873}"/>
</p:tagLst>
</file>

<file path=ppt/tags/tag67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68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69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0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1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2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3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4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5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6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7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8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79.xml><?xml version="1.0" encoding="utf-8"?>
<p:tagLst xmlns:p="http://schemas.openxmlformats.org/presentationml/2006/main">
  <p:tag name="KSO_WM_DIAGRAM_VIRTUALLY_FRAME" val="{&quot;height&quot;:363,&quot;left&quot;:43.5,&quot;top&quot;:131.25,&quot;width&quot;:873}"/>
</p:tagLst>
</file>

<file path=ppt/tags/tag80.xml><?xml version="1.0" encoding="utf-8"?>
<p:tagLst xmlns:p="http://schemas.openxmlformats.org/presentationml/2006/main">
  <p:tag name="resource_record_key" val="{&quot;10&quot;:[2029017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1808</Words>
  <Application>WPS 演示</Application>
  <PresentationFormat/>
  <Paragraphs>230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Calibri</vt:lpstr>
      <vt:lpstr>锐字太空奇遇像素简 常规</vt:lpstr>
      <vt:lpstr>黑体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许愿</cp:lastModifiedBy>
  <cp:revision>5</cp:revision>
  <dcterms:created xsi:type="dcterms:W3CDTF">2026-07-01T16:53:00Z</dcterms:created>
  <dcterms:modified xsi:type="dcterms:W3CDTF">2026-08-20T09:35:02Z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76BEECD5C9574044A95FE700A8326236_12</vt:lpwstr>
  </property>
</Properties>
</file>