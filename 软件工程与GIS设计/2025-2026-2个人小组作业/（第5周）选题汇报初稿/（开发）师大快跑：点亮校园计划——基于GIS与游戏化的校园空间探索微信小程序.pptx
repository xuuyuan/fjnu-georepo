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1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2" r:id="rId3"/>
    <p:sldMasterId id="2147483656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79" r:id="rId14"/>
    <p:sldId id="282" r:id="rId15"/>
    <p:sldId id="267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747775"/>
          </p15:clr>
        </p15:guide>
        <p15:guide id="2" pos="2703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9D"/>
    <a:srgbClr val="4FD1C5"/>
    <a:srgbClr val="F9F871"/>
    <a:srgbClr val="1B246B"/>
    <a:srgbClr val="F2C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9"/>
        <p:guide pos="270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gs" Target="tags/tag205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FJNU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6690" y="134620"/>
            <a:ext cx="1687195" cy="981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名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idx="13"/>
          </p:nvPr>
        </p:nvSpPr>
        <p:spPr>
          <a:xfrm>
            <a:off x="1656080" y="2483485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4" hasCustomPrompt="1"/>
          </p:nvPr>
        </p:nvSpPr>
        <p:spPr>
          <a:xfrm>
            <a:off x="1654810" y="3171825"/>
            <a:ext cx="688975" cy="228600"/>
          </a:xfrm>
          <a:prstGeom prst="rect">
            <a:avLst/>
          </a:prstGeom>
        </p:spPr>
        <p:txBody>
          <a:bodyPr/>
          <a:lstStyle>
            <a:lvl1pPr algn="dist">
              <a:defRPr sz="9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23" name="图片占位符 22"/>
          <p:cNvSpPr>
            <a:spLocks noGrp="1"/>
          </p:cNvSpPr>
          <p:nvPr>
            <p:ph type="pic" idx="15"/>
          </p:nvPr>
        </p:nvSpPr>
        <p:spPr>
          <a:xfrm>
            <a:off x="2885440" y="2483485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" hasCustomPrompt="1"/>
          </p:nvPr>
        </p:nvSpPr>
        <p:spPr>
          <a:xfrm>
            <a:off x="2884170" y="3171825"/>
            <a:ext cx="688975" cy="228600"/>
          </a:xfrm>
          <a:prstGeom prst="rect">
            <a:avLst/>
          </a:prstGeom>
        </p:spPr>
        <p:txBody>
          <a:bodyPr/>
          <a:lstStyle>
            <a:lvl1pPr algn="dist">
              <a:defRPr sz="9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7"/>
          </p:nvPr>
        </p:nvSpPr>
        <p:spPr>
          <a:xfrm>
            <a:off x="4115435" y="2483485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8" hasCustomPrompt="1"/>
          </p:nvPr>
        </p:nvSpPr>
        <p:spPr>
          <a:xfrm>
            <a:off x="4114165" y="3171825"/>
            <a:ext cx="688975" cy="228600"/>
          </a:xfrm>
          <a:prstGeom prst="rect">
            <a:avLst/>
          </a:prstGeom>
        </p:spPr>
        <p:txBody>
          <a:bodyPr/>
          <a:lstStyle>
            <a:lvl1pPr algn="dist">
              <a:defRPr sz="9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27" name="图片占位符 26"/>
          <p:cNvSpPr>
            <a:spLocks noGrp="1"/>
          </p:cNvSpPr>
          <p:nvPr>
            <p:ph type="pic" idx="19"/>
          </p:nvPr>
        </p:nvSpPr>
        <p:spPr>
          <a:xfrm>
            <a:off x="5415915" y="2483485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idx="20" hasCustomPrompt="1"/>
          </p:nvPr>
        </p:nvSpPr>
        <p:spPr>
          <a:xfrm>
            <a:off x="5414645" y="3171825"/>
            <a:ext cx="688975" cy="228600"/>
          </a:xfrm>
          <a:prstGeom prst="rect">
            <a:avLst/>
          </a:prstGeom>
        </p:spPr>
        <p:txBody>
          <a:bodyPr/>
          <a:lstStyle>
            <a:lvl1pPr algn="dist">
              <a:defRPr sz="9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21"/>
          </p:nvPr>
        </p:nvSpPr>
        <p:spPr>
          <a:xfrm>
            <a:off x="6447790" y="2483485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22" hasCustomPrompt="1"/>
          </p:nvPr>
        </p:nvSpPr>
        <p:spPr>
          <a:xfrm>
            <a:off x="6446520" y="3171825"/>
            <a:ext cx="688975" cy="228600"/>
          </a:xfrm>
          <a:prstGeom prst="rect">
            <a:avLst/>
          </a:prstGeom>
        </p:spPr>
        <p:txBody>
          <a:bodyPr/>
          <a:lstStyle>
            <a:lvl1pPr algn="dist">
              <a:defRPr sz="9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31" name="图片占位符 30"/>
          <p:cNvSpPr>
            <a:spLocks noGrp="1"/>
          </p:cNvSpPr>
          <p:nvPr>
            <p:ph type="pic" idx="23"/>
          </p:nvPr>
        </p:nvSpPr>
        <p:spPr>
          <a:xfrm>
            <a:off x="7560945" y="2483485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32" name="文本占位符 31"/>
          <p:cNvSpPr>
            <a:spLocks noGrp="1"/>
          </p:cNvSpPr>
          <p:nvPr>
            <p:ph type="body" idx="24" hasCustomPrompt="1"/>
          </p:nvPr>
        </p:nvSpPr>
        <p:spPr>
          <a:xfrm>
            <a:off x="7559675" y="3171825"/>
            <a:ext cx="688975" cy="228600"/>
          </a:xfrm>
          <a:prstGeom prst="rect">
            <a:avLst/>
          </a:prstGeom>
        </p:spPr>
        <p:txBody>
          <a:bodyPr/>
          <a:lstStyle>
            <a:lvl1pPr algn="dist">
              <a:defRPr sz="9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FJNU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6690" y="134620"/>
            <a:ext cx="1687195" cy="981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368025" y="758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7872025" y="758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2633625" y="758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FJNU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6690" y="134620"/>
            <a:ext cx="1687195" cy="981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368025" y="758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7872025" y="758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12633625" y="758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14.png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20.png"/><Relationship Id="rId22" Type="http://schemas.openxmlformats.org/officeDocument/2006/relationships/tags" Target="../tags/tag19.xml"/><Relationship Id="rId21" Type="http://schemas.openxmlformats.org/officeDocument/2006/relationships/image" Target="../media/image1.png"/><Relationship Id="rId20" Type="http://schemas.openxmlformats.org/officeDocument/2006/relationships/tags" Target="../tags/tag18.xml"/><Relationship Id="rId2" Type="http://schemas.openxmlformats.org/officeDocument/2006/relationships/tags" Target="../tags/tag8.xml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image" Target="../media/image17.svg"/><Relationship Id="rId13" Type="http://schemas.openxmlformats.org/officeDocument/2006/relationships/image" Target="../media/image16.png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26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1.xml"/><Relationship Id="rId30" Type="http://schemas.openxmlformats.org/officeDocument/2006/relationships/image" Target="../media/image42.jpeg"/><Relationship Id="rId3" Type="http://schemas.openxmlformats.org/officeDocument/2006/relationships/tags" Target="../tags/tag22.xml"/><Relationship Id="rId29" Type="http://schemas.openxmlformats.org/officeDocument/2006/relationships/image" Target="../media/image41.png"/><Relationship Id="rId28" Type="http://schemas.openxmlformats.org/officeDocument/2006/relationships/tags" Target="../tags/tag37.xml"/><Relationship Id="rId27" Type="http://schemas.openxmlformats.org/officeDocument/2006/relationships/image" Target="../media/image40.png"/><Relationship Id="rId26" Type="http://schemas.openxmlformats.org/officeDocument/2006/relationships/image" Target="../media/image39.png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image" Target="../media/image32.svg"/><Relationship Id="rId22" Type="http://schemas.openxmlformats.org/officeDocument/2006/relationships/image" Target="../media/image31.png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21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image" Target="../media/image38.svg"/><Relationship Id="rId16" Type="http://schemas.openxmlformats.org/officeDocument/2006/relationships/image" Target="../media/image37.png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image" Target="../media/image36.svg"/><Relationship Id="rId10" Type="http://schemas.openxmlformats.org/officeDocument/2006/relationships/image" Target="../media/image35.png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1" Type="http://schemas.openxmlformats.org/officeDocument/2006/relationships/notesSlide" Target="../notesSlides/notesSlide6.xml"/><Relationship Id="rId50" Type="http://schemas.openxmlformats.org/officeDocument/2006/relationships/slideLayout" Target="../slideLayouts/slideLayout1.xml"/><Relationship Id="rId5" Type="http://schemas.openxmlformats.org/officeDocument/2006/relationships/image" Target="../media/image44.svg"/><Relationship Id="rId49" Type="http://schemas.openxmlformats.org/officeDocument/2006/relationships/tags" Target="../tags/tag72.xml"/><Relationship Id="rId48" Type="http://schemas.openxmlformats.org/officeDocument/2006/relationships/tags" Target="../tags/tag71.xml"/><Relationship Id="rId47" Type="http://schemas.openxmlformats.org/officeDocument/2006/relationships/image" Target="../media/image56.svg"/><Relationship Id="rId46" Type="http://schemas.openxmlformats.org/officeDocument/2006/relationships/image" Target="../media/image55.png"/><Relationship Id="rId45" Type="http://schemas.openxmlformats.org/officeDocument/2006/relationships/tags" Target="../tags/tag70.xml"/><Relationship Id="rId44" Type="http://schemas.openxmlformats.org/officeDocument/2006/relationships/tags" Target="../tags/tag69.xml"/><Relationship Id="rId43" Type="http://schemas.openxmlformats.org/officeDocument/2006/relationships/tags" Target="../tags/tag68.xml"/><Relationship Id="rId42" Type="http://schemas.openxmlformats.org/officeDocument/2006/relationships/tags" Target="../tags/tag67.xml"/><Relationship Id="rId41" Type="http://schemas.openxmlformats.org/officeDocument/2006/relationships/tags" Target="../tags/tag66.xml"/><Relationship Id="rId40" Type="http://schemas.openxmlformats.org/officeDocument/2006/relationships/image" Target="../media/image54.svg"/><Relationship Id="rId4" Type="http://schemas.openxmlformats.org/officeDocument/2006/relationships/image" Target="../media/image43.png"/><Relationship Id="rId39" Type="http://schemas.openxmlformats.org/officeDocument/2006/relationships/image" Target="../media/image53.png"/><Relationship Id="rId38" Type="http://schemas.openxmlformats.org/officeDocument/2006/relationships/tags" Target="../tags/tag65.xml"/><Relationship Id="rId37" Type="http://schemas.openxmlformats.org/officeDocument/2006/relationships/tags" Target="../tags/tag64.xml"/><Relationship Id="rId36" Type="http://schemas.openxmlformats.org/officeDocument/2006/relationships/tags" Target="../tags/tag63.xml"/><Relationship Id="rId35" Type="http://schemas.openxmlformats.org/officeDocument/2006/relationships/tags" Target="../tags/tag62.xml"/><Relationship Id="rId34" Type="http://schemas.openxmlformats.org/officeDocument/2006/relationships/tags" Target="../tags/tag61.xml"/><Relationship Id="rId33" Type="http://schemas.openxmlformats.org/officeDocument/2006/relationships/image" Target="../media/image52.svg"/><Relationship Id="rId32" Type="http://schemas.openxmlformats.org/officeDocument/2006/relationships/image" Target="../media/image51.png"/><Relationship Id="rId31" Type="http://schemas.openxmlformats.org/officeDocument/2006/relationships/tags" Target="../tags/tag60.xml"/><Relationship Id="rId30" Type="http://schemas.openxmlformats.org/officeDocument/2006/relationships/tags" Target="../tags/tag59.xml"/><Relationship Id="rId3" Type="http://schemas.openxmlformats.org/officeDocument/2006/relationships/tags" Target="../tags/tag40.xml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tags" Target="../tags/tag56.xml"/><Relationship Id="rId26" Type="http://schemas.openxmlformats.org/officeDocument/2006/relationships/image" Target="../media/image50.svg"/><Relationship Id="rId25" Type="http://schemas.openxmlformats.org/officeDocument/2006/relationships/image" Target="../media/image49.png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9.xml"/><Relationship Id="rId19" Type="http://schemas.openxmlformats.org/officeDocument/2006/relationships/image" Target="../media/image48.svg"/><Relationship Id="rId18" Type="http://schemas.openxmlformats.org/officeDocument/2006/relationships/image" Target="../media/image47.png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tags" Target="../tags/tag45.xml"/><Relationship Id="rId1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3" Type="http://schemas.openxmlformats.org/officeDocument/2006/relationships/notesSlide" Target="../notesSlides/notesSlide7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64.svg"/><Relationship Id="rId40" Type="http://schemas.openxmlformats.org/officeDocument/2006/relationships/image" Target="../media/image63.png"/><Relationship Id="rId4" Type="http://schemas.openxmlformats.org/officeDocument/2006/relationships/tags" Target="../tags/tag76.xml"/><Relationship Id="rId39" Type="http://schemas.openxmlformats.org/officeDocument/2006/relationships/tags" Target="../tags/tag105.xml"/><Relationship Id="rId38" Type="http://schemas.openxmlformats.org/officeDocument/2006/relationships/tags" Target="../tags/tag104.xml"/><Relationship Id="rId37" Type="http://schemas.openxmlformats.org/officeDocument/2006/relationships/tags" Target="../tags/tag103.xml"/><Relationship Id="rId36" Type="http://schemas.openxmlformats.org/officeDocument/2006/relationships/tags" Target="../tags/tag102.xml"/><Relationship Id="rId35" Type="http://schemas.openxmlformats.org/officeDocument/2006/relationships/tags" Target="../tags/tag101.xml"/><Relationship Id="rId34" Type="http://schemas.openxmlformats.org/officeDocument/2006/relationships/tags" Target="../tags/tag100.xml"/><Relationship Id="rId33" Type="http://schemas.openxmlformats.org/officeDocument/2006/relationships/tags" Target="../tags/tag99.xml"/><Relationship Id="rId32" Type="http://schemas.openxmlformats.org/officeDocument/2006/relationships/tags" Target="../tags/tag98.xml"/><Relationship Id="rId31" Type="http://schemas.openxmlformats.org/officeDocument/2006/relationships/tags" Target="../tags/tag97.xml"/><Relationship Id="rId30" Type="http://schemas.openxmlformats.org/officeDocument/2006/relationships/tags" Target="../tags/tag96.xml"/><Relationship Id="rId3" Type="http://schemas.openxmlformats.org/officeDocument/2006/relationships/tags" Target="../tags/tag75.xml"/><Relationship Id="rId29" Type="http://schemas.openxmlformats.org/officeDocument/2006/relationships/image" Target="../media/image62.svg"/><Relationship Id="rId28" Type="http://schemas.openxmlformats.org/officeDocument/2006/relationships/image" Target="../media/image61.png"/><Relationship Id="rId27" Type="http://schemas.openxmlformats.org/officeDocument/2006/relationships/tags" Target="../tags/tag95.xml"/><Relationship Id="rId26" Type="http://schemas.openxmlformats.org/officeDocument/2006/relationships/image" Target="../media/image60.svg"/><Relationship Id="rId25" Type="http://schemas.openxmlformats.org/officeDocument/2006/relationships/image" Target="../media/image59.png"/><Relationship Id="rId24" Type="http://schemas.openxmlformats.org/officeDocument/2006/relationships/tags" Target="../tags/tag94.xml"/><Relationship Id="rId23" Type="http://schemas.openxmlformats.org/officeDocument/2006/relationships/image" Target="../media/image58.svg"/><Relationship Id="rId22" Type="http://schemas.openxmlformats.org/officeDocument/2006/relationships/image" Target="../media/image57.png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4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25.xml"/><Relationship Id="rId2" Type="http://schemas.openxmlformats.org/officeDocument/2006/relationships/tags" Target="../tags/tag107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image" Target="../media/image67.png"/><Relationship Id="rId7" Type="http://schemas.openxmlformats.org/officeDocument/2006/relationships/tags" Target="../tags/tag147.xml"/><Relationship Id="rId6" Type="http://schemas.openxmlformats.org/officeDocument/2006/relationships/image" Target="../media/image66.jpeg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65.jpeg"/><Relationship Id="rId2" Type="http://schemas.openxmlformats.org/officeDocument/2006/relationships/tags" Target="../tags/tag144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49.xml"/><Relationship Id="rId1" Type="http://schemas.openxmlformats.org/officeDocument/2006/relationships/tags" Target="../tags/tag14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image" Target="../media/image69.svg"/><Relationship Id="rId6" Type="http://schemas.openxmlformats.org/officeDocument/2006/relationships/image" Target="../media/image68.png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2" Type="http://schemas.openxmlformats.org/officeDocument/2006/relationships/notesSlide" Target="../notesSlides/notesSlide11.xml"/><Relationship Id="rId31" Type="http://schemas.openxmlformats.org/officeDocument/2006/relationships/slideLayout" Target="../slideLayouts/slideLayout1.xml"/><Relationship Id="rId30" Type="http://schemas.openxmlformats.org/officeDocument/2006/relationships/image" Target="../media/image75.svg"/><Relationship Id="rId3" Type="http://schemas.openxmlformats.org/officeDocument/2006/relationships/tags" Target="../tags/tag152.xml"/><Relationship Id="rId29" Type="http://schemas.openxmlformats.org/officeDocument/2006/relationships/image" Target="../media/image74.png"/><Relationship Id="rId28" Type="http://schemas.openxmlformats.org/officeDocument/2006/relationships/tags" Target="../tags/tag167.xml"/><Relationship Id="rId27" Type="http://schemas.openxmlformats.org/officeDocument/2006/relationships/image" Target="../media/image73.svg"/><Relationship Id="rId26" Type="http://schemas.openxmlformats.org/officeDocument/2006/relationships/image" Target="../media/image72.png"/><Relationship Id="rId25" Type="http://schemas.openxmlformats.org/officeDocument/2006/relationships/tags" Target="../tags/tag166.xml"/><Relationship Id="rId24" Type="http://schemas.openxmlformats.org/officeDocument/2006/relationships/tags" Target="../tags/tag165.xml"/><Relationship Id="rId23" Type="http://schemas.openxmlformats.org/officeDocument/2006/relationships/tags" Target="../tags/tag164.xml"/><Relationship Id="rId22" Type="http://schemas.openxmlformats.org/officeDocument/2006/relationships/image" Target="../media/image71.svg"/><Relationship Id="rId21" Type="http://schemas.openxmlformats.org/officeDocument/2006/relationships/image" Target="../media/image70.png"/><Relationship Id="rId20" Type="http://schemas.openxmlformats.org/officeDocument/2006/relationships/tags" Target="../tags/tag163.xml"/><Relationship Id="rId2" Type="http://schemas.openxmlformats.org/officeDocument/2006/relationships/tags" Target="../tags/tag151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image" Target="../media/image38.svg"/><Relationship Id="rId16" Type="http://schemas.openxmlformats.org/officeDocument/2006/relationships/image" Target="../media/image37.png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image" Target="../media/image36.svg"/><Relationship Id="rId11" Type="http://schemas.openxmlformats.org/officeDocument/2006/relationships/image" Target="../media/image35.png"/><Relationship Id="rId10" Type="http://schemas.openxmlformats.org/officeDocument/2006/relationships/tags" Target="../tags/tag157.xml"/><Relationship Id="rId1" Type="http://schemas.openxmlformats.org/officeDocument/2006/relationships/tags" Target="../tags/tag15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7" Type="http://schemas.openxmlformats.org/officeDocument/2006/relationships/notesSlide" Target="../notesSlides/notesSlide12.xml"/><Relationship Id="rId46" Type="http://schemas.openxmlformats.org/officeDocument/2006/relationships/slideLayout" Target="../slideLayouts/slideLayout1.xml"/><Relationship Id="rId45" Type="http://schemas.openxmlformats.org/officeDocument/2006/relationships/image" Target="../media/image83.svg"/><Relationship Id="rId44" Type="http://schemas.openxmlformats.org/officeDocument/2006/relationships/image" Target="../media/image82.png"/><Relationship Id="rId43" Type="http://schemas.openxmlformats.org/officeDocument/2006/relationships/tags" Target="../tags/tag204.xml"/><Relationship Id="rId42" Type="http://schemas.openxmlformats.org/officeDocument/2006/relationships/image" Target="../media/image81.svg"/><Relationship Id="rId41" Type="http://schemas.openxmlformats.org/officeDocument/2006/relationships/image" Target="../media/image80.png"/><Relationship Id="rId40" Type="http://schemas.openxmlformats.org/officeDocument/2006/relationships/tags" Target="../tags/tag203.xml"/><Relationship Id="rId4" Type="http://schemas.openxmlformats.org/officeDocument/2006/relationships/tags" Target="../tags/tag171.xml"/><Relationship Id="rId39" Type="http://schemas.openxmlformats.org/officeDocument/2006/relationships/image" Target="../media/image79.svg"/><Relationship Id="rId38" Type="http://schemas.openxmlformats.org/officeDocument/2006/relationships/image" Target="../media/image78.png"/><Relationship Id="rId37" Type="http://schemas.openxmlformats.org/officeDocument/2006/relationships/tags" Target="../tags/tag202.xml"/><Relationship Id="rId36" Type="http://schemas.openxmlformats.org/officeDocument/2006/relationships/image" Target="../media/image77.svg"/><Relationship Id="rId35" Type="http://schemas.openxmlformats.org/officeDocument/2006/relationships/image" Target="../media/image76.png"/><Relationship Id="rId34" Type="http://schemas.openxmlformats.org/officeDocument/2006/relationships/tags" Target="../tags/tag201.xml"/><Relationship Id="rId33" Type="http://schemas.openxmlformats.org/officeDocument/2006/relationships/tags" Target="../tags/tag200.xml"/><Relationship Id="rId32" Type="http://schemas.openxmlformats.org/officeDocument/2006/relationships/tags" Target="../tags/tag199.xml"/><Relationship Id="rId31" Type="http://schemas.openxmlformats.org/officeDocument/2006/relationships/tags" Target="../tags/tag198.xml"/><Relationship Id="rId30" Type="http://schemas.openxmlformats.org/officeDocument/2006/relationships/tags" Target="../tags/tag197.xml"/><Relationship Id="rId3" Type="http://schemas.openxmlformats.org/officeDocument/2006/relationships/tags" Target="../tags/tag170.xml"/><Relationship Id="rId29" Type="http://schemas.openxmlformats.org/officeDocument/2006/relationships/tags" Target="../tags/tag196.xml"/><Relationship Id="rId28" Type="http://schemas.openxmlformats.org/officeDocument/2006/relationships/tags" Target="../tags/tag195.xml"/><Relationship Id="rId27" Type="http://schemas.openxmlformats.org/officeDocument/2006/relationships/tags" Target="../tags/tag194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69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tags" Target="../tags/tag16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2" Type="http://schemas.openxmlformats.org/officeDocument/2006/relationships/notesSlide" Target="../notesSlides/notesSlide13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93.jpeg"/><Relationship Id="rId2" Type="http://schemas.openxmlformats.org/officeDocument/2006/relationships/image" Target="../media/image11.svg"/><Relationship Id="rId19" Type="http://schemas.openxmlformats.org/officeDocument/2006/relationships/image" Target="../media/image92.jpeg"/><Relationship Id="rId18" Type="http://schemas.openxmlformats.org/officeDocument/2006/relationships/image" Target="../media/image91.jpeg"/><Relationship Id="rId17" Type="http://schemas.openxmlformats.org/officeDocument/2006/relationships/image" Target="../media/image90.jpeg"/><Relationship Id="rId16" Type="http://schemas.openxmlformats.org/officeDocument/2006/relationships/image" Target="../media/image89.jpeg"/><Relationship Id="rId15" Type="http://schemas.openxmlformats.org/officeDocument/2006/relationships/image" Target="../media/image88.jpeg"/><Relationship Id="rId14" Type="http://schemas.openxmlformats.org/officeDocument/2006/relationships/image" Target="../media/image87.svg"/><Relationship Id="rId13" Type="http://schemas.openxmlformats.org/officeDocument/2006/relationships/image" Target="../media/image86.png"/><Relationship Id="rId12" Type="http://schemas.openxmlformats.org/officeDocument/2006/relationships/image" Target="../media/image73.svg"/><Relationship Id="rId11" Type="http://schemas.openxmlformats.org/officeDocument/2006/relationships/image" Target="../media/image72.png"/><Relationship Id="rId10" Type="http://schemas.openxmlformats.org/officeDocument/2006/relationships/image" Target="../media/image69.sv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7.svg"/><Relationship Id="rId1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1.svg"/><Relationship Id="rId1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9">
                <a:alpha val="100000"/>
              </a:srgbClr>
            </a:gs>
            <a:gs pos="100000">
              <a:srgbClr val="00A99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F9F871">
              <a:alpha val="10000"/>
            </a:srgbClr>
          </a:solidFill>
          <a:ln cap="flat" cmpd="sng">
            <a:solidFill>
              <a:srgbClr val="E0DE4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00A99D">
              <a:alpha val="20000"/>
            </a:srgbClr>
          </a:solidFill>
          <a:ln cap="flat" cmpd="sng">
            <a:solidFill>
              <a:srgbClr val="008F8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143000"/>
            <a:ext cx="1016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524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A99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师大快跑：点亮校园计划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159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 GIS 与游戏化的校园空间探索微信小程序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2660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9F87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21000" y="2984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302000" y="29464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课程名称：软件工程与设计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1000" y="3429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302000" y="33909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团队名称：万特动慢无限公司队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1000" y="3873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02000" y="38354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成员姓名：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1000" y="4318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302000" y="42799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1000" y="4762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302000" y="47244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日期：2026年4月3日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20116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项目简介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508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65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574800" y="1651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项目名称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师大快跑：点亮校园计划</a:t>
            </a:r>
            <a:endParaRPr lang="en-US" sz="1800" b="1" i="0" u="none" strike="noStrike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762000" y="26035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2844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1574800" y="2730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项目类型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校园空间探索类微信小程序</a:t>
            </a:r>
            <a:endParaRPr lang="en-US" sz="1800" b="1" i="0" u="none" strike="noStrike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762000" y="3810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051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1574800" y="3937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技术关键词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GIS · LBS · 空间分析 · 游戏化设计</a:t>
            </a:r>
            <a:endParaRPr lang="en-US" sz="1600" b="1" i="0" u="none" strike="noStrike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762000" y="50165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1574800" y="5143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运动与探索结合，超越单纯记录</a:t>
            </a:r>
            <a:endParaRPr lang="en-US" sz="1600" b="1" i="0" u="none" strike="noStrike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731000" y="1524000"/>
            <a:ext cx="4699000" cy="4318000"/>
          </a:xfrm>
          <a:prstGeom prst="roundRect">
            <a:avLst>
              <a:gd name="adj" fmla="val 5882"/>
            </a:avLst>
          </a:prstGeom>
          <a:solidFill>
            <a:srgbClr val="00A99D">
              <a:alpha val="8000"/>
            </a:srgbClr>
          </a:solidFill>
          <a:ln w="12700" cap="flat" cmpd="sng">
            <a:solidFill>
              <a:srgbClr val="00A99D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85000" y="4064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LOGO</a:t>
            </a: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设计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0" y="4572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通过游戏化机制，激发学生探索热情，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构建沉浸式校园生活新体验。</a:t>
            </a:r>
            <a:endParaRPr lang="en-US" sz="1400" b="0" i="0" u="none" strike="noStrik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 descr="FJNUGO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95795" y="1651000"/>
            <a:ext cx="4180205" cy="2431415"/>
          </a:xfrm>
          <a:prstGeom prst="rect">
            <a:avLst/>
          </a:prstGeom>
        </p:spPr>
      </p:pic>
      <p:sp>
        <p:nvSpPr>
          <p:cNvPr id="234" name="PA_文本框 6"/>
          <p:cNvSpPr txBox="1"/>
          <p:nvPr>
            <p:custDataLst>
              <p:tags r:id="rId22"/>
            </p:custDataLst>
          </p:nvPr>
        </p:nvSpPr>
        <p:spPr>
          <a:xfrm>
            <a:off x="5950744" y="2789558"/>
            <a:ext cx="6270308" cy="258571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 vert="horz" wrap="squar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R="0" lvl="0" indent="0" fontAlgn="auto">
              <a:lnSpc>
                <a:spcPts val="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-1200" normalizeH="0" baseline="0">
                <a:ln>
                  <a:noFill/>
                </a:ln>
                <a:blipFill dpi="0" rotWithShape="1">
                  <a:blip r:embed="rId23"/>
                  <a:srcRect/>
                  <a:stretch>
                    <a:fillRect/>
                  </a:stretch>
                </a:blip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__________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ppt_h/1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0" presetClass="entr" presetSubtype="0" fill="hold" grpId="0" nodeType="withEffect">
                                  <p:stCondLst>
                                    <p:cond delay="27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*sin(rand(360))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*sin(rand(360))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</p:cBhvr>
                                      <p:from x="100000" y="100000"/>
                                      <p:to x="300000" y="300000"/>
                                    </p:animScale>
                                    <p:animEffect transition="out" filter="fade">
                                      <p:cBhvr>
                                        <p:cTn id="13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选题背景与问题提出</a:t>
            </a:r>
            <a:endParaRPr lang="en-US" sz="3600" b="1" i="0" u="none" strike="noStrike">
              <a:solidFill>
                <a:srgbClr val="00A99D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316992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762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2860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当前痛点</a:t>
            </a:r>
            <a:endParaRPr lang="en-US" sz="2000" b="1" i="0" u="none" strike="noStrike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F9F87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43000" y="2984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00A99D"/>
                </a:solidFill>
                <a:latin typeface="华文中宋" panose="02010600040101010101" charset="-122"/>
                <a:ea typeface="华文中宋" panose="02010600040101010101" charset="-122"/>
              </a:rPr>
              <a:t>工具化属性重</a:t>
            </a:r>
            <a:endParaRPr lang="zh-CN" altLang="en-US" sz="2800" b="1">
              <a:solidFill>
                <a:srgbClr val="00A99D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F9F87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143000" y="374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buSzTx/>
              <a:defRPr/>
            </a:pPr>
            <a:r>
              <a:rPr lang="zh-CN" altLang="en-US" sz="2800" b="1">
                <a:solidFill>
                  <a:srgbClr val="00A99D"/>
                </a:solidFill>
                <a:latin typeface="华文中宋" panose="02010600040101010101" charset="-122"/>
                <a:ea typeface="华文中宋" panose="02010600040101010101" charset="-122"/>
              </a:rPr>
              <a:t>空间利用率低</a:t>
            </a:r>
            <a:endParaRPr lang="zh-CN" altLang="en-US" sz="2800" b="1">
              <a:solidFill>
                <a:srgbClr val="00A99D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4572000" cy="635000"/>
          </a:xfrm>
          <a:prstGeom prst="roundRect">
            <a:avLst>
              <a:gd name="adj" fmla="val 10000"/>
            </a:avLst>
          </a:prstGeom>
          <a:solidFill>
            <a:srgbClr val="F9F87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143000" y="4508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buSzTx/>
              <a:defRPr/>
            </a:pPr>
            <a:r>
              <a:rPr lang="zh-CN" altLang="en-US" sz="2800" b="1">
                <a:solidFill>
                  <a:srgbClr val="00A99D"/>
                </a:solidFill>
                <a:latin typeface="华文中宋" panose="02010600040101010101" charset="-122"/>
                <a:ea typeface="华文中宋" panose="02010600040101010101" charset="-122"/>
              </a:rPr>
              <a:t>参与动力不足</a:t>
            </a:r>
            <a:endParaRPr lang="zh-CN" altLang="en-US" sz="2800" b="1">
              <a:solidFill>
                <a:srgbClr val="00A99D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2032000"/>
            <a:ext cx="5080000" cy="316992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2032000"/>
            <a:ext cx="5080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349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2860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解决方案</a:t>
            </a:r>
            <a:endParaRPr lang="en-US" sz="2000" b="1" i="0" u="none" strike="noStrike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04000" y="2921000"/>
            <a:ext cx="4572000" cy="825500"/>
          </a:xfrm>
          <a:prstGeom prst="roundRect">
            <a:avLst>
              <a:gd name="adj" fmla="val 7692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31496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75500" y="2984500"/>
            <a:ext cx="387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B246B"/>
                </a:solidFill>
                <a:latin typeface="华文中宋" panose="02010600040101010101" charset="-122"/>
                <a:ea typeface="华文中宋" panose="02010600040101010101" charset="-122"/>
                <a:sym typeface="Noto Sans SC" panose="020B0200000000000000" charset="-122"/>
              </a:rPr>
              <a:t>轨迹空间化</a:t>
            </a:r>
            <a:endParaRPr lang="zh-CN" altLang="en-US" sz="2800" b="1" i="0" u="none" strike="noStrike">
              <a:solidFill>
                <a:srgbClr val="1B246B"/>
              </a:solidFill>
              <a:latin typeface="华文中宋" panose="02010600040101010101" charset="-122"/>
              <a:ea typeface="华文中宋" panose="02010600040101010101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604000" y="3873500"/>
            <a:ext cx="4572000" cy="825500"/>
          </a:xfrm>
          <a:prstGeom prst="roundRect">
            <a:avLst>
              <a:gd name="adj" fmla="val 7692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41021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75500" y="3937000"/>
            <a:ext cx="3873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buSzTx/>
              <a:defRPr/>
            </a:pPr>
            <a:r>
              <a:rPr lang="zh-CN" altLang="en-US" sz="2800" b="1" i="0" u="none" strike="noStrike">
                <a:solidFill>
                  <a:srgbClr val="1B246B"/>
                </a:solidFill>
                <a:latin typeface="华文中宋" panose="02010600040101010101" charset="-122"/>
                <a:ea typeface="华文中宋" panose="02010600040101010101" charset="-122"/>
                <a:sym typeface="Noto Sans SC" panose="020B0200000000000000" charset="-122"/>
              </a:rPr>
              <a:t>地图</a:t>
            </a:r>
            <a:r>
              <a:rPr lang="zh-CN" altLang="en-US" sz="2800" b="1" i="0" u="none" strike="noStrike">
                <a:solidFill>
                  <a:srgbClr val="1B246B"/>
                </a:solidFill>
                <a:latin typeface="华文中宋" panose="02010600040101010101" charset="-122"/>
                <a:ea typeface="华文中宋" panose="02010600040101010101" charset="-122"/>
                <a:sym typeface="Noto Sans SC" panose="020B0200000000000000" charset="-122"/>
              </a:rPr>
              <a:t>游戏化</a:t>
            </a:r>
            <a:endParaRPr lang="zh-CN" altLang="en-US" sz="2800" b="1" i="0" u="none" strike="noStrike">
              <a:solidFill>
                <a:srgbClr val="1B246B"/>
              </a:solidFill>
              <a:latin typeface="华文中宋" panose="02010600040101010101" charset="-122"/>
              <a:ea typeface="华文中宋" panose="02010600040101010101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A99D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我们力求</a:t>
            </a:r>
            <a:r>
              <a:rPr lang="zh-CN" altLang="en-US" sz="280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：</a:t>
            </a:r>
            <a:r>
              <a:rPr lang="en-US" sz="280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从</a:t>
            </a:r>
            <a:r>
              <a:rPr lang="zh-CN" altLang="en-US" sz="2800" b="1" i="0" u="none" strike="noStrike">
                <a:solidFill>
                  <a:srgbClr val="F9F8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任务驱动</a:t>
            </a:r>
            <a:r>
              <a:rPr lang="en-US" sz="2800" i="0" u="none" strike="noStrike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转向</a:t>
            </a:r>
            <a:r>
              <a:rPr lang="zh-CN" altLang="en-US" sz="2800" b="1" i="0" u="none" strike="noStrike">
                <a:solidFill>
                  <a:srgbClr val="F9F8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快乐驱动</a:t>
            </a:r>
            <a:endParaRPr lang="zh-CN" altLang="en-US" sz="2800" b="1" i="0" u="none" strike="noStrike">
              <a:solidFill>
                <a:srgbClr val="F9F8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项目目标与最终设想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5765800"/>
            <a:ext cx="5080000" cy="81788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4000" y="6019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60198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核心体验：动态点亮地图</a:t>
            </a:r>
            <a:endParaRPr lang="en-US" sz="18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1397000"/>
            <a:ext cx="5080000" cy="3810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0A99D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604000" y="165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用户场景概念：点亮校园</a:t>
            </a:r>
            <a:endParaRPr 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858000" y="2159000"/>
            <a:ext cx="4064000" cy="2032000"/>
          </a:xfrm>
          <a:prstGeom prst="roundRect">
            <a:avLst>
              <a:gd name="adj" fmla="val 6250"/>
            </a:avLst>
          </a:prstGeom>
          <a:solidFill>
            <a:srgbClr val="EB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0" y="2286000"/>
            <a:ext cx="1270000" cy="1016000"/>
          </a:xfrm>
          <a:prstGeom prst="roundRect">
            <a:avLst>
              <a:gd name="adj" fmla="val 12500"/>
            </a:avLst>
          </a:prstGeom>
          <a:solidFill>
            <a:srgbClr val="F9F871">
              <a:alpha val="60000"/>
            </a:srgbClr>
          </a:solidFill>
          <a:ln w="12700" cap="flat" cmpd="sng">
            <a:solidFill>
              <a:srgbClr val="F9F87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82000" y="2286000"/>
            <a:ext cx="1270000" cy="1016000"/>
          </a:xfrm>
          <a:prstGeom prst="roundRect">
            <a:avLst>
              <a:gd name="adj" fmla="val 12500"/>
            </a:avLst>
          </a:prstGeom>
          <a:solidFill>
            <a:srgbClr val="F9F871">
              <a:alpha val="60000"/>
            </a:srgbClr>
          </a:solidFill>
          <a:ln w="12700" cap="flat" cmpd="sng">
            <a:solidFill>
              <a:srgbClr val="F9F87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525000" y="2286000"/>
            <a:ext cx="1270000" cy="1016000"/>
          </a:xfrm>
          <a:prstGeom prst="roundRect">
            <a:avLst>
              <a:gd name="adj" fmla="val 12500"/>
            </a:avLst>
          </a:prstGeom>
          <a:solidFill>
            <a:srgbClr val="C8C8C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985000" y="3429000"/>
            <a:ext cx="3810000" cy="635000"/>
          </a:xfrm>
          <a:prstGeom prst="roundRect">
            <a:avLst>
              <a:gd name="adj" fmla="val 20000"/>
            </a:avLst>
          </a:prstGeom>
          <a:solidFill>
            <a:srgbClr val="C8C8C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0" y="2540000"/>
            <a:ext cx="406400" cy="406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0" y="2540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858000" y="431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绿色区域：已探索 / 灰色区域：待探索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红点：当前位置 / 图标：任务触发点</a:t>
            </a:r>
            <a:endParaRPr lang="en-US" sz="1400" b="0" i="0" u="none" strike="noStrike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5461000"/>
            <a:ext cx="508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A99D">
                  <a:alpha val="100000"/>
                </a:srgbClr>
              </a:gs>
              <a:gs pos="100000">
                <a:srgbClr val="F9F87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62000" y="1397000"/>
            <a:ext cx="6096000" cy="2033270"/>
            <a:chOff x="1200" y="2200"/>
            <a:chExt cx="9600" cy="1800"/>
          </a:xfrm>
        </p:grpSpPr>
        <p:sp>
          <p:nvSpPr>
            <p:cNvPr id="3" name="AutoShape 3"/>
            <p:cNvSpPr/>
            <p:nvPr/>
          </p:nvSpPr>
          <p:spPr>
            <a:xfrm>
              <a:off x="1200" y="2200"/>
              <a:ext cx="8000" cy="180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00" y="2600"/>
              <a:ext cx="640" cy="386"/>
            </a:xfrm>
            <a:prstGeom prst="rect">
              <a:avLst/>
            </a:prstGeom>
          </p:spPr>
        </p:pic>
        <p:sp>
          <p:nvSpPr>
            <p:cNvPr id="5" name="AutoShape 5"/>
            <p:cNvSpPr/>
            <p:nvPr/>
          </p:nvSpPr>
          <p:spPr>
            <a:xfrm>
              <a:off x="2500" y="2400"/>
              <a:ext cx="64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MVP</a:t>
              </a:r>
              <a:endParaRPr 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4400" y="2650"/>
              <a:ext cx="64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地图主页加载</a:t>
              </a:r>
              <a:endParaRPr lang="zh-CN" altLang="en-US" sz="18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实时</a:t>
              </a:r>
              <a:r>
                <a:rPr lang="en-US" altLang="zh-CN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 LBS </a:t>
              </a: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定位</a:t>
              </a:r>
              <a:endParaRPr lang="zh-CN" altLang="en-US" sz="18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轨迹记录与基础点亮</a:t>
              </a:r>
              <a:endParaRPr lang="zh-CN" altLang="en-US" sz="18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30" name="AutoShape 29"/>
            <p:cNvSpPr/>
            <p:nvPr/>
          </p:nvSpPr>
          <p:spPr>
            <a:xfrm rot="5400000">
              <a:off x="3502" y="3026"/>
              <a:ext cx="1428" cy="12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A99D">
                    <a:alpha val="100000"/>
                  </a:srgbClr>
                </a:gs>
                <a:gs pos="100000">
                  <a:srgbClr val="F9F871">
                    <a:alpha val="10000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62000" y="3621336"/>
            <a:ext cx="6186170" cy="1933575"/>
            <a:chOff x="1130" y="4349"/>
            <a:chExt cx="9742" cy="1800"/>
          </a:xfrm>
        </p:grpSpPr>
        <p:sp>
          <p:nvSpPr>
            <p:cNvPr id="7" name="AutoShape 7"/>
            <p:cNvSpPr/>
            <p:nvPr/>
          </p:nvSpPr>
          <p:spPr>
            <a:xfrm>
              <a:off x="1130" y="4349"/>
              <a:ext cx="8000" cy="180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AutoShape 9"/>
            <p:cNvSpPr/>
            <p:nvPr/>
          </p:nvSpPr>
          <p:spPr>
            <a:xfrm>
              <a:off x="2500" y="4500"/>
              <a:ext cx="64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1" i="0" u="none" strike="noStrike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延展模块</a:t>
              </a:r>
              <a:endParaRPr lang="zh-CN" altLang="en-US" sz="1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1" name="AutoShape 29"/>
            <p:cNvSpPr/>
            <p:nvPr/>
          </p:nvSpPr>
          <p:spPr>
            <a:xfrm rot="5400000">
              <a:off x="3502" y="5126"/>
              <a:ext cx="1428" cy="12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A99D">
                    <a:alpha val="100000"/>
                  </a:srgbClr>
                </a:gs>
                <a:gs pos="100000">
                  <a:srgbClr val="F9F871">
                    <a:alpha val="10000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AutoShape 6"/>
            <p:cNvSpPr/>
            <p:nvPr/>
          </p:nvSpPr>
          <p:spPr>
            <a:xfrm>
              <a:off x="4472" y="4349"/>
              <a:ext cx="6400" cy="170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地标打卡</a:t>
              </a:r>
              <a:endParaRPr lang="zh-CN" altLang="en-US" sz="18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知识卡片</a:t>
              </a:r>
              <a:endParaRPr lang="zh-CN" altLang="en-US" sz="18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排行榜与</a:t>
              </a:r>
              <a:r>
                <a:rPr lang="zh-CN" altLang="en-US" sz="18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热力图</a:t>
              </a:r>
              <a:endParaRPr lang="zh-CN" altLang="en-US" sz="18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pic>
          <p:nvPicPr>
            <p:cNvPr id="35" name="Picture 16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00" y="4660"/>
              <a:ext cx="640" cy="420"/>
            </a:xfrm>
            <a:prstGeom prst="rect">
              <a:avLst/>
            </a:prstGeom>
          </p:spPr>
        </p:pic>
      </p:grpSp>
      <p:sp>
        <p:nvSpPr>
          <p:cNvPr id="47" name="圆角右箭头 46"/>
          <p:cNvSpPr/>
          <p:nvPr/>
        </p:nvSpPr>
        <p:spPr>
          <a:xfrm rot="10800000" flipH="1">
            <a:off x="3054350" y="5650865"/>
            <a:ext cx="3048000" cy="932180"/>
          </a:xfrm>
          <a:prstGeom prst="bentArrow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本项目的核心创意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1778000"/>
            <a:ext cx="609600" cy="6096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778000" y="177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里程导向</a:t>
            </a:r>
            <a:r>
              <a:rPr lang="en-US" altLang="zh-CN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-&gt; </a:t>
            </a: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空间探索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223000" y="152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477000" y="1778000"/>
            <a:ext cx="609600" cy="6096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1905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7239000" y="177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静态底图</a:t>
            </a:r>
            <a:r>
              <a:rPr lang="en-US" altLang="zh-CN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-&gt; </a:t>
            </a: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动态交互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762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1016000" y="4318000"/>
            <a:ext cx="609600" cy="6096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3000" y="4445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1778000" y="431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后台引擎</a:t>
            </a:r>
            <a:r>
              <a:rPr lang="en-US" altLang="zh-CN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-&gt; </a:t>
            </a: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玩法驱动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9"/>
            </p:custDataLst>
          </p:nvPr>
        </p:nvSpPr>
        <p:spPr>
          <a:xfrm>
            <a:off x="6223000" y="4064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20"/>
            </p:custDataLst>
          </p:nvPr>
        </p:nvSpPr>
        <p:spPr>
          <a:xfrm>
            <a:off x="6477000" y="4318000"/>
            <a:ext cx="609600" cy="6096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04000" y="4445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4"/>
            </p:custDataLst>
          </p:nvPr>
        </p:nvSpPr>
        <p:spPr>
          <a:xfrm>
            <a:off x="7239000" y="4318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单调运动</a:t>
            </a:r>
            <a:r>
              <a:rPr lang="en-US" altLang="zh-CN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 -&gt; </a:t>
            </a: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文化巡游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图片 23" descr="旅行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003425" y="2260600"/>
            <a:ext cx="2724150" cy="147256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43470" y="2260600"/>
            <a:ext cx="2863215" cy="1459230"/>
          </a:xfrm>
          <a:prstGeom prst="rect">
            <a:avLst/>
          </a:prstGeom>
        </p:spPr>
      </p:pic>
      <p:pic>
        <p:nvPicPr>
          <p:cNvPr id="26" name="图片 25" descr="庆祝胜利的团队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2225040" y="4699000"/>
            <a:ext cx="2280920" cy="159194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30"/>
          <a:srcRect t="15764" b="16517"/>
          <a:stretch>
            <a:fillRect/>
          </a:stretch>
        </p:blipFill>
        <p:spPr>
          <a:xfrm>
            <a:off x="7443470" y="4836795"/>
            <a:ext cx="2917825" cy="1316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381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本项目涉及的核心地理原理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8" name="组合 37"/>
          <p:cNvGrpSpPr/>
          <p:nvPr>
            <p:custDataLst>
              <p:tags r:id="rId1"/>
            </p:custDataLst>
          </p:nvPr>
        </p:nvGrpSpPr>
        <p:grpSpPr>
          <a:xfrm>
            <a:off x="762000" y="2984500"/>
            <a:ext cx="3378200" cy="1397000"/>
            <a:chOff x="1200" y="2200"/>
            <a:chExt cx="5320" cy="2200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1200" y="22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5" name="Picture 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0" y="2500"/>
              <a:ext cx="480" cy="480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>
              <p:custDataLst>
                <p:tags r:id="rId6"/>
              </p:custDataLst>
            </p:nvPr>
          </p:nvSpPr>
          <p:spPr>
            <a:xfrm>
              <a:off x="2100" y="24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位置与空间分布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7" name="AutoShape 7"/>
            <p:cNvSpPr/>
            <p:nvPr>
              <p:custDataLst>
                <p:tags r:id="rId7"/>
              </p:custDataLst>
            </p:nvPr>
          </p:nvSpPr>
          <p:spPr>
            <a:xfrm>
              <a:off x="1500" y="31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用户在校园中的移动本质是空间位置的变化与重分布，是所有空间分析的基础。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8"/>
            </p:custDataLst>
          </p:nvPr>
        </p:nvGrpSpPr>
        <p:grpSpPr>
          <a:xfrm>
            <a:off x="4394200" y="1397000"/>
            <a:ext cx="3378200" cy="1397000"/>
            <a:chOff x="12640" y="2200"/>
            <a:chExt cx="5320" cy="2200"/>
          </a:xfrm>
        </p:grpSpPr>
        <p:sp>
          <p:nvSpPr>
            <p:cNvPr id="12" name="AutoShape 12"/>
            <p:cNvSpPr/>
            <p:nvPr>
              <p:custDataLst>
                <p:tags r:id="rId9"/>
              </p:custDataLst>
            </p:nvPr>
          </p:nvSpPr>
          <p:spPr>
            <a:xfrm>
              <a:off x="12640" y="22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3" name="Picture 1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940" y="2500"/>
              <a:ext cx="480" cy="480"/>
            </a:xfrm>
            <a:prstGeom prst="rect">
              <a:avLst/>
            </a:prstGeom>
          </p:spPr>
        </p:pic>
        <p:sp>
          <p:nvSpPr>
            <p:cNvPr id="14" name="AutoShape 14"/>
            <p:cNvSpPr/>
            <p:nvPr>
              <p:custDataLst>
                <p:tags r:id="rId13"/>
              </p:custDataLst>
            </p:nvPr>
          </p:nvSpPr>
          <p:spPr>
            <a:xfrm>
              <a:off x="13540" y="24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空间邻近关系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" name="AutoShape 15"/>
            <p:cNvSpPr/>
            <p:nvPr>
              <p:custDataLst>
                <p:tags r:id="rId14"/>
              </p:custDataLst>
            </p:nvPr>
          </p:nvSpPr>
          <p:spPr>
            <a:xfrm>
              <a:off x="12940" y="31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判断用户是否接近地标或任务点，从而精准触发相应的交互事件。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5"/>
            </p:custDataLst>
          </p:nvPr>
        </p:nvGrpSpPr>
        <p:grpSpPr>
          <a:xfrm>
            <a:off x="4394200" y="2984500"/>
            <a:ext cx="3378200" cy="1397000"/>
            <a:chOff x="1200" y="4700"/>
            <a:chExt cx="5320" cy="2200"/>
          </a:xfrm>
        </p:grpSpPr>
        <p:sp>
          <p:nvSpPr>
            <p:cNvPr id="16" name="AutoShape 16"/>
            <p:cNvSpPr/>
            <p:nvPr>
              <p:custDataLst>
                <p:tags r:id="rId16"/>
              </p:custDataLst>
            </p:nvPr>
          </p:nvSpPr>
          <p:spPr>
            <a:xfrm>
              <a:off x="1200" y="47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7" name="Picture 1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500" y="5000"/>
              <a:ext cx="480" cy="480"/>
            </a:xfrm>
            <a:prstGeom prst="rect">
              <a:avLst/>
            </a:prstGeom>
          </p:spPr>
        </p:pic>
        <p:sp>
          <p:nvSpPr>
            <p:cNvPr id="18" name="AutoShape 18"/>
            <p:cNvSpPr/>
            <p:nvPr>
              <p:custDataLst>
                <p:tags r:id="rId20"/>
              </p:custDataLst>
            </p:nvPr>
          </p:nvSpPr>
          <p:spPr>
            <a:xfrm>
              <a:off x="2100" y="49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空间包含与相交关系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9" name="AutoShape 19"/>
            <p:cNvSpPr/>
            <p:nvPr>
              <p:custDataLst>
                <p:tags r:id="rId21"/>
              </p:custDataLst>
            </p:nvPr>
          </p:nvSpPr>
          <p:spPr>
            <a:xfrm>
              <a:off x="1500" y="56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判断用户是否进入区域或轨迹是否经过道路，是实现“点亮”逻辑的核心。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22"/>
            </p:custDataLst>
          </p:nvPr>
        </p:nvGrpSpPr>
        <p:grpSpPr>
          <a:xfrm>
            <a:off x="4394200" y="4572000"/>
            <a:ext cx="3378200" cy="1397000"/>
            <a:chOff x="6920" y="4700"/>
            <a:chExt cx="5320" cy="2200"/>
          </a:xfrm>
        </p:grpSpPr>
        <p:sp>
          <p:nvSpPr>
            <p:cNvPr id="20" name="AutoShape 20"/>
            <p:cNvSpPr/>
            <p:nvPr>
              <p:custDataLst>
                <p:tags r:id="rId23"/>
              </p:custDataLst>
            </p:nvPr>
          </p:nvSpPr>
          <p:spPr>
            <a:xfrm>
              <a:off x="6920" y="47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1" name="Picture 21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220" y="5000"/>
              <a:ext cx="480" cy="480"/>
            </a:xfrm>
            <a:prstGeom prst="rect">
              <a:avLst/>
            </a:prstGeom>
          </p:spPr>
        </p:pic>
        <p:sp>
          <p:nvSpPr>
            <p:cNvPr id="22" name="AutoShape 22"/>
            <p:cNvSpPr/>
            <p:nvPr>
              <p:custDataLst>
                <p:tags r:id="rId27"/>
              </p:custDataLst>
            </p:nvPr>
          </p:nvSpPr>
          <p:spPr>
            <a:xfrm>
              <a:off x="7820" y="49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缓冲区原理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3" name="AutoShape 23"/>
            <p:cNvSpPr/>
            <p:nvPr>
              <p:custDataLst>
                <p:tags r:id="rId28"/>
              </p:custDataLst>
            </p:nvPr>
          </p:nvSpPr>
          <p:spPr>
            <a:xfrm>
              <a:off x="7220" y="56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设置容差范围解决GPS微小波动，确保任务触发判定的准确性和稳定性。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29"/>
            </p:custDataLst>
          </p:nvPr>
        </p:nvGrpSpPr>
        <p:grpSpPr>
          <a:xfrm>
            <a:off x="8026400" y="1397000"/>
            <a:ext cx="3378200" cy="1397000"/>
            <a:chOff x="12640" y="4700"/>
            <a:chExt cx="5320" cy="2200"/>
          </a:xfrm>
        </p:grpSpPr>
        <p:sp>
          <p:nvSpPr>
            <p:cNvPr id="24" name="AutoShape 24"/>
            <p:cNvSpPr/>
            <p:nvPr>
              <p:custDataLst>
                <p:tags r:id="rId30"/>
              </p:custDataLst>
            </p:nvPr>
          </p:nvSpPr>
          <p:spPr>
            <a:xfrm>
              <a:off x="12640" y="47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5" name="Picture 25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2940" y="5000"/>
              <a:ext cx="480" cy="480"/>
            </a:xfrm>
            <a:prstGeom prst="rect">
              <a:avLst/>
            </a:prstGeom>
          </p:spPr>
        </p:pic>
        <p:sp>
          <p:nvSpPr>
            <p:cNvPr id="26" name="AutoShape 26"/>
            <p:cNvSpPr/>
            <p:nvPr>
              <p:custDataLst>
                <p:tags r:id="rId34"/>
              </p:custDataLst>
            </p:nvPr>
          </p:nvSpPr>
          <p:spPr>
            <a:xfrm>
              <a:off x="13540" y="49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空间覆盖与区域统计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7" name="AutoShape 27"/>
            <p:cNvSpPr/>
            <p:nvPr>
              <p:custDataLst>
                <p:tags r:id="rId35"/>
              </p:custDataLst>
            </p:nvPr>
          </p:nvSpPr>
          <p:spPr>
            <a:xfrm>
              <a:off x="12940" y="56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计算已探索区域占比，直观表达探索进度和完成度，量化用户体验。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36"/>
            </p:custDataLst>
          </p:nvPr>
        </p:nvGrpSpPr>
        <p:grpSpPr>
          <a:xfrm>
            <a:off x="8026400" y="2984500"/>
            <a:ext cx="3378200" cy="1397000"/>
            <a:chOff x="1200" y="7200"/>
            <a:chExt cx="5320" cy="2200"/>
          </a:xfrm>
        </p:grpSpPr>
        <p:sp>
          <p:nvSpPr>
            <p:cNvPr id="28" name="AutoShape 28"/>
            <p:cNvSpPr/>
            <p:nvPr>
              <p:custDataLst>
                <p:tags r:id="rId37"/>
              </p:custDataLst>
            </p:nvPr>
          </p:nvSpPr>
          <p:spPr>
            <a:xfrm>
              <a:off x="1200" y="72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9" name="Picture 29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500" y="7500"/>
              <a:ext cx="480" cy="480"/>
            </a:xfrm>
            <a:prstGeom prst="rect">
              <a:avLst/>
            </a:prstGeom>
          </p:spPr>
        </p:pic>
        <p:sp>
          <p:nvSpPr>
            <p:cNvPr id="30" name="AutoShape 30"/>
            <p:cNvSpPr/>
            <p:nvPr>
              <p:custDataLst>
                <p:tags r:id="rId41"/>
              </p:custDataLst>
            </p:nvPr>
          </p:nvSpPr>
          <p:spPr>
            <a:xfrm>
              <a:off x="2100" y="74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热点分布与群体行为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1" name="AutoShape 31"/>
            <p:cNvSpPr/>
            <p:nvPr>
              <p:custDataLst>
                <p:tags r:id="rId42"/>
              </p:custDataLst>
            </p:nvPr>
          </p:nvSpPr>
          <p:spPr>
            <a:xfrm>
              <a:off x="1500" y="81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基于多用户轨迹统计高活跃区域和高频路线，形成热力图，辅助活动策划。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43"/>
            </p:custDataLst>
          </p:nvPr>
        </p:nvGrpSpPr>
        <p:grpSpPr>
          <a:xfrm>
            <a:off x="762000" y="1397000"/>
            <a:ext cx="3378200" cy="1397000"/>
            <a:chOff x="6920" y="2200"/>
            <a:chExt cx="5320" cy="2200"/>
          </a:xfrm>
        </p:grpSpPr>
        <p:sp>
          <p:nvSpPr>
            <p:cNvPr id="8" name="AutoShape 8"/>
            <p:cNvSpPr/>
            <p:nvPr>
              <p:custDataLst>
                <p:tags r:id="rId44"/>
              </p:custDataLst>
            </p:nvPr>
          </p:nvSpPr>
          <p:spPr>
            <a:xfrm>
              <a:off x="6920" y="2200"/>
              <a:ext cx="5320" cy="22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27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9" name="Picture 9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7220" y="2500"/>
              <a:ext cx="480" cy="480"/>
            </a:xfrm>
            <a:prstGeom prst="rect">
              <a:avLst/>
            </a:prstGeom>
          </p:spPr>
        </p:pic>
        <p:sp>
          <p:nvSpPr>
            <p:cNvPr id="40" name="AutoShape 10"/>
            <p:cNvSpPr/>
            <p:nvPr>
              <p:custDataLst>
                <p:tags r:id="rId48"/>
              </p:custDataLst>
            </p:nvPr>
          </p:nvSpPr>
          <p:spPr>
            <a:xfrm>
              <a:off x="7820" y="2440"/>
              <a:ext cx="4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329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点、线、面的空间表达</a:t>
              </a:r>
              <a:endPara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1" name="AutoShape 11"/>
            <p:cNvSpPr/>
            <p:nvPr>
              <p:custDataLst>
                <p:tags r:id="rId49"/>
              </p:custDataLst>
            </p:nvPr>
          </p:nvSpPr>
          <p:spPr>
            <a:xfrm>
              <a:off x="7220" y="3100"/>
              <a:ext cx="4720" cy="11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46A7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定位是“点”，轨迹是“线”，建筑区域是“面”，共同构成项目的空间数据基础。</a:t>
              </a:r>
              <a:endParaRPr lang="en-US" sz="1200" b="0" i="0" u="none" strike="noStrike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sp>
        <p:nvSpPr>
          <p:cNvPr id="50" name="燕尾形 49"/>
          <p:cNvSpPr/>
          <p:nvPr/>
        </p:nvSpPr>
        <p:spPr>
          <a:xfrm rot="5400000">
            <a:off x="2093595" y="2470150"/>
            <a:ext cx="538480" cy="806450"/>
          </a:xfrm>
          <a:prstGeom prst="chevron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A99D"/>
              </a:gs>
            </a:gsLst>
            <a:lin ang="0" scaled="0"/>
          </a:gra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51" name="燕尾形 50"/>
          <p:cNvSpPr/>
          <p:nvPr/>
        </p:nvSpPr>
        <p:spPr>
          <a:xfrm rot="5400000">
            <a:off x="9461500" y="2518410"/>
            <a:ext cx="508635" cy="806450"/>
          </a:xfrm>
          <a:prstGeom prst="chevron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A99D"/>
              </a:gs>
            </a:gsLst>
            <a:lin ang="0" scaled="0"/>
          </a:gra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燕尾形 51"/>
          <p:cNvSpPr/>
          <p:nvPr/>
        </p:nvSpPr>
        <p:spPr>
          <a:xfrm rot="5400000">
            <a:off x="5744210" y="2466975"/>
            <a:ext cx="538480" cy="806450"/>
          </a:xfrm>
          <a:prstGeom prst="chevron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A99D"/>
              </a:gs>
            </a:gsLst>
            <a:lin ang="0" scaled="0"/>
          </a:gra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燕尾形 52"/>
          <p:cNvSpPr/>
          <p:nvPr/>
        </p:nvSpPr>
        <p:spPr>
          <a:xfrm rot="5400000">
            <a:off x="5744210" y="4120515"/>
            <a:ext cx="538480" cy="806450"/>
          </a:xfrm>
          <a:prstGeom prst="chevron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A99D"/>
              </a:gs>
            </a:gsLst>
            <a:lin ang="0" scaled="0"/>
          </a:gradFill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AutoShape 19"/>
          <p:cNvSpPr/>
          <p:nvPr/>
        </p:nvSpPr>
        <p:spPr>
          <a:xfrm rot="18720000">
            <a:off x="-6898640" y="520700"/>
            <a:ext cx="13614400" cy="397256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562610" y="645795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GIS 在本项目中的具体作用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"/>
            </p:custDataLst>
          </p:nvPr>
        </p:nvCxnSpPr>
        <p:spPr>
          <a:xfrm>
            <a:off x="9129247" y="2202351"/>
            <a:ext cx="474322" cy="0"/>
          </a:xfrm>
          <a:prstGeom prst="line">
            <a:avLst/>
          </a:prstGeom>
          <a:noFill/>
          <a:ln w="12700" cap="flat" cmpd="sng" algn="ctr">
            <a:solidFill>
              <a:srgbClr val="84CC9E"/>
            </a:solidFill>
            <a:prstDash val="solid"/>
            <a:miter lim="800000"/>
            <a:headEnd type="oval"/>
          </a:ln>
          <a:effectLst/>
        </p:spPr>
      </p:cxnSp>
      <p:cxnSp>
        <p:nvCxnSpPr>
          <p:cNvPr id="70" name="直接连接符 69"/>
          <p:cNvCxnSpPr/>
          <p:nvPr>
            <p:custDataLst>
              <p:tags r:id="rId2"/>
            </p:custDataLst>
          </p:nvPr>
        </p:nvCxnSpPr>
        <p:spPr>
          <a:xfrm>
            <a:off x="7970709" y="3235746"/>
            <a:ext cx="944823" cy="0"/>
          </a:xfrm>
          <a:prstGeom prst="line">
            <a:avLst/>
          </a:prstGeom>
          <a:noFill/>
          <a:ln w="12700" cap="flat" cmpd="sng" algn="ctr">
            <a:solidFill>
              <a:srgbClr val="58B77D"/>
            </a:solidFill>
            <a:prstDash val="solid"/>
            <a:miter lim="800000"/>
            <a:headEnd type="oval"/>
          </a:ln>
          <a:effectLst/>
        </p:spPr>
      </p:cxnSp>
      <p:cxnSp>
        <p:nvCxnSpPr>
          <p:cNvPr id="71" name="直接连接符 70"/>
          <p:cNvCxnSpPr/>
          <p:nvPr>
            <p:custDataLst>
              <p:tags r:id="rId3"/>
            </p:custDataLst>
          </p:nvPr>
        </p:nvCxnSpPr>
        <p:spPr>
          <a:xfrm>
            <a:off x="6795486" y="4498847"/>
            <a:ext cx="944823" cy="0"/>
          </a:xfrm>
          <a:prstGeom prst="line">
            <a:avLst/>
          </a:prstGeom>
          <a:noFill/>
          <a:ln w="12700" cap="flat" cmpd="sng" algn="ctr">
            <a:solidFill>
              <a:srgbClr val="84CC9E"/>
            </a:solidFill>
            <a:prstDash val="solid"/>
            <a:miter lim="800000"/>
            <a:headEnd type="oval"/>
          </a:ln>
          <a:effectLst/>
        </p:spPr>
      </p:cxnSp>
      <p:cxnSp>
        <p:nvCxnSpPr>
          <p:cNvPr id="72" name="直接连接符 71"/>
          <p:cNvCxnSpPr/>
          <p:nvPr>
            <p:custDataLst>
              <p:tags r:id="rId4"/>
            </p:custDataLst>
          </p:nvPr>
        </p:nvCxnSpPr>
        <p:spPr>
          <a:xfrm>
            <a:off x="5597458" y="5531131"/>
            <a:ext cx="944823" cy="0"/>
          </a:xfrm>
          <a:prstGeom prst="line">
            <a:avLst/>
          </a:prstGeom>
          <a:noFill/>
          <a:ln w="12700" cap="flat" cmpd="sng" algn="ctr">
            <a:solidFill>
              <a:srgbClr val="58B77D"/>
            </a:solidFill>
            <a:prstDash val="solid"/>
            <a:miter lim="800000"/>
            <a:headEnd type="oval"/>
          </a:ln>
          <a:effectLst/>
        </p:spPr>
      </p:cxn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4549601" y="4126202"/>
            <a:ext cx="2177205" cy="12612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indent="0" algn="l">
              <a:lnSpc>
                <a:spcPct val="108000"/>
              </a:lnSpc>
              <a:defRPr/>
            </a:pPr>
            <a:r>
              <a:rPr lang="en-US" sz="1200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将用户的定位点和轨迹数据，转化为“经过、进入、接近、覆盖”等可被程序识别和处理的空间事件。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3588510" y="4122865"/>
            <a:ext cx="689672" cy="5066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t"/>
          <a:p>
            <a:pPr algn="r" defTabSz="9144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84CC9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动态</a:t>
            </a:r>
            <a:r>
              <a:rPr lang="zh-CN" altLang="en-US" sz="2400" b="1" kern="0" dirty="0">
                <a:solidFill>
                  <a:srgbClr val="84CC9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输入</a:t>
            </a:r>
            <a:endParaRPr lang="zh-CN" altLang="en-US" sz="2400" b="1" kern="0" dirty="0">
              <a:solidFill>
                <a:srgbClr val="84CC9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7"/>
            </p:custDataLst>
          </p:nvPr>
        </p:nvSpPr>
        <p:spPr>
          <a:xfrm>
            <a:off x="4341588" y="4191832"/>
            <a:ext cx="58177" cy="433153"/>
          </a:xfrm>
          <a:prstGeom prst="rect">
            <a:avLst/>
          </a:prstGeom>
          <a:gradFill>
            <a:gsLst>
              <a:gs pos="100000">
                <a:srgbClr val="84CC9E">
                  <a:lumMod val="40000"/>
                  <a:lumOff val="60000"/>
                  <a:alpha val="100000"/>
                </a:srgbClr>
              </a:gs>
              <a:gs pos="0">
                <a:srgbClr val="84CC9E">
                  <a:lumMod val="85000"/>
                  <a:lumOff val="15000"/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8"/>
            </p:custDataLst>
          </p:nvPr>
        </p:nvSpPr>
        <p:spPr>
          <a:xfrm>
            <a:off x="3363811" y="5404320"/>
            <a:ext cx="2177205" cy="12612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Tx/>
              <a:defRPr/>
            </a:pPr>
            <a:r>
              <a:rPr lang="en-US" sz="1200" kern="0" spc="0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整合道路、建筑、POI、绿地等数据，精确描述和构建数字化的校园空间结构，为所有空间分析提供基础。</a:t>
            </a:r>
            <a:endParaRPr lang="en-US" sz="1200" kern="0" spc="0">
              <a:solidFill>
                <a:srgbClr val="646A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1" name="矩形 40"/>
          <p:cNvSpPr/>
          <p:nvPr>
            <p:custDataLst>
              <p:tags r:id="rId9"/>
            </p:custDataLst>
          </p:nvPr>
        </p:nvSpPr>
        <p:spPr>
          <a:xfrm>
            <a:off x="1671955" y="5397500"/>
            <a:ext cx="1399540" cy="50673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t"/>
          <a:p>
            <a:pPr algn="r" defTabSz="91440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58B77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底层基础</a:t>
            </a:r>
            <a:endParaRPr lang="en-US" altLang="zh-CN" sz="2400" b="1" kern="0" spc="0" dirty="0">
              <a:solidFill>
                <a:srgbClr val="58B77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  <a:p>
            <a:pPr algn="r" defTabSz="914400">
              <a:spcBef>
                <a:spcPct val="0"/>
              </a:spcBef>
              <a:spcAft>
                <a:spcPct val="0"/>
              </a:spcAft>
            </a:pPr>
            <a:endParaRPr lang="en-US" altLang="zh-CN" sz="2400" b="1" kern="0" dirty="0">
              <a:solidFill>
                <a:srgbClr val="58B77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44" name="矩形 43"/>
          <p:cNvSpPr/>
          <p:nvPr>
            <p:custDataLst>
              <p:tags r:id="rId10"/>
            </p:custDataLst>
          </p:nvPr>
        </p:nvSpPr>
        <p:spPr>
          <a:xfrm>
            <a:off x="3149122" y="5466613"/>
            <a:ext cx="58177" cy="433153"/>
          </a:xfrm>
          <a:prstGeom prst="rect">
            <a:avLst/>
          </a:prstGeom>
          <a:gradFill>
            <a:gsLst>
              <a:gs pos="100000">
                <a:srgbClr val="58B77D">
                  <a:lumMod val="40000"/>
                  <a:lumOff val="60000"/>
                  <a:alpha val="100000"/>
                </a:srgbClr>
              </a:gs>
              <a:gs pos="0">
                <a:srgbClr val="58B77D">
                  <a:lumMod val="85000"/>
                  <a:lumOff val="15000"/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5731499" y="2851421"/>
            <a:ext cx="2177205" cy="12612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indent="0" algn="l">
              <a:lnSpc>
                <a:spcPct val="108000"/>
              </a:lnSpc>
              <a:defRPr/>
            </a:pPr>
            <a:r>
              <a:rPr lang="en-US" sz="1200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地图点亮、任务触发、地标解锁、热力统计等所有游戏化反馈，其背后的逻辑判断都依赖于GIS的空间分析能力。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2" name="矩形 41"/>
          <p:cNvSpPr/>
          <p:nvPr>
            <p:custDataLst>
              <p:tags r:id="rId12"/>
            </p:custDataLst>
          </p:nvPr>
        </p:nvSpPr>
        <p:spPr>
          <a:xfrm>
            <a:off x="5520704" y="2915939"/>
            <a:ext cx="58177" cy="433153"/>
          </a:xfrm>
          <a:prstGeom prst="rect">
            <a:avLst/>
          </a:prstGeom>
          <a:gradFill>
            <a:gsLst>
              <a:gs pos="100000">
                <a:srgbClr val="58B77D">
                  <a:lumMod val="40000"/>
                  <a:lumOff val="60000"/>
                  <a:alpha val="100000"/>
                </a:srgbClr>
              </a:gs>
              <a:gs pos="0">
                <a:srgbClr val="58B77D">
                  <a:lumMod val="85000"/>
                  <a:lumOff val="15000"/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4750385" y="2843078"/>
            <a:ext cx="689672" cy="5066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t"/>
          <a:p>
            <a:pPr algn="r" defTabSz="9144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58B77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业务逻辑</a:t>
            </a:r>
            <a:endParaRPr lang="zh-CN" altLang="en-US" sz="2400" b="1" kern="0" dirty="0">
              <a:solidFill>
                <a:srgbClr val="58B77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34" name="任意多边形: 形状 24"/>
          <p:cNvSpPr/>
          <p:nvPr>
            <p:custDataLst>
              <p:tags r:id="rId14"/>
            </p:custDataLst>
          </p:nvPr>
        </p:nvSpPr>
        <p:spPr>
          <a:xfrm>
            <a:off x="6287131" y="5046692"/>
            <a:ext cx="1896037" cy="997253"/>
          </a:xfrm>
          <a:custGeom>
            <a:avLst/>
            <a:gdLst>
              <a:gd name="connsiteX0" fmla="*/ 1334340 w 2668680"/>
              <a:gd name="connsiteY0" fmla="*/ 1534736 h 1534735"/>
              <a:gd name="connsiteX1" fmla="*/ 0 w 2668680"/>
              <a:gd name="connsiteY1" fmla="*/ 757593 h 1534735"/>
              <a:gd name="connsiteX2" fmla="*/ 1334340 w 2668680"/>
              <a:gd name="connsiteY2" fmla="*/ 0 h 1534735"/>
              <a:gd name="connsiteX3" fmla="*/ 2668681 w 2668680"/>
              <a:gd name="connsiteY3" fmla="*/ 76248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680" h="1534735">
                <a:moveTo>
                  <a:pt x="1334340" y="1534736"/>
                </a:moveTo>
                <a:lnTo>
                  <a:pt x="0" y="757593"/>
                </a:lnTo>
                <a:lnTo>
                  <a:pt x="1334340" y="0"/>
                </a:lnTo>
                <a:lnTo>
                  <a:pt x="2668681" y="762480"/>
                </a:lnTo>
                <a:close/>
              </a:path>
            </a:pathLst>
          </a:custGeom>
          <a:gradFill>
            <a:gsLst>
              <a:gs pos="100000">
                <a:srgbClr val="58B77D">
                  <a:lumMod val="60000"/>
                  <a:lumOff val="40000"/>
                  <a:alpha val="100000"/>
                </a:srgbClr>
              </a:gs>
              <a:gs pos="35000">
                <a:srgbClr val="58B77D">
                  <a:lumMod val="85000"/>
                  <a:lumOff val="15000"/>
                  <a:alpha val="100000"/>
                </a:srgb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5" name="任意多边形: 形状 25"/>
          <p:cNvSpPr/>
          <p:nvPr>
            <p:custDataLst>
              <p:tags r:id="rId15"/>
            </p:custDataLst>
          </p:nvPr>
        </p:nvSpPr>
        <p:spPr>
          <a:xfrm>
            <a:off x="6650321" y="5236352"/>
            <a:ext cx="1169107" cy="618255"/>
          </a:xfrm>
          <a:custGeom>
            <a:avLst/>
            <a:gdLst>
              <a:gd name="connsiteX0" fmla="*/ 826020 w 1645523"/>
              <a:gd name="connsiteY0" fmla="*/ 951471 h 951471"/>
              <a:gd name="connsiteX1" fmla="*/ 0 w 1645523"/>
              <a:gd name="connsiteY1" fmla="*/ 457814 h 951471"/>
              <a:gd name="connsiteX2" fmla="*/ 817874 w 1645523"/>
              <a:gd name="connsiteY2" fmla="*/ 0 h 951471"/>
              <a:gd name="connsiteX3" fmla="*/ 1645523 w 1645523"/>
              <a:gd name="connsiteY3" fmla="*/ 469219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1">
                <a:moveTo>
                  <a:pt x="826020" y="951471"/>
                </a:moveTo>
                <a:lnTo>
                  <a:pt x="0" y="457814"/>
                </a:lnTo>
                <a:lnTo>
                  <a:pt x="817874" y="0"/>
                </a:lnTo>
                <a:lnTo>
                  <a:pt x="1645523" y="469219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36" name="任意多边形: 形状 26"/>
          <p:cNvSpPr/>
          <p:nvPr>
            <p:custDataLst>
              <p:tags r:id="rId16"/>
            </p:custDataLst>
          </p:nvPr>
        </p:nvSpPr>
        <p:spPr>
          <a:xfrm>
            <a:off x="7234874" y="4015521"/>
            <a:ext cx="1894878" cy="997253"/>
          </a:xfrm>
          <a:custGeom>
            <a:avLst/>
            <a:gdLst>
              <a:gd name="connsiteX0" fmla="*/ 1334340 w 2667051"/>
              <a:gd name="connsiteY0" fmla="*/ 1534736 h 1534735"/>
              <a:gd name="connsiteX1" fmla="*/ 0 w 2667051"/>
              <a:gd name="connsiteY1" fmla="*/ 757592 h 1534735"/>
              <a:gd name="connsiteX2" fmla="*/ 1334340 w 2667051"/>
              <a:gd name="connsiteY2" fmla="*/ 0 h 1534735"/>
              <a:gd name="connsiteX3" fmla="*/ 2667052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4340" y="1534736"/>
                </a:moveTo>
                <a:lnTo>
                  <a:pt x="0" y="757592"/>
                </a:lnTo>
                <a:lnTo>
                  <a:pt x="1334340" y="0"/>
                </a:lnTo>
                <a:lnTo>
                  <a:pt x="2667052" y="764110"/>
                </a:lnTo>
                <a:close/>
              </a:path>
            </a:pathLst>
          </a:custGeom>
          <a:gradFill>
            <a:gsLst>
              <a:gs pos="100000">
                <a:srgbClr val="84CC9E">
                  <a:lumMod val="60000"/>
                  <a:lumOff val="40000"/>
                  <a:alpha val="100000"/>
                </a:srgbClr>
              </a:gs>
              <a:gs pos="35000">
                <a:srgbClr val="84CC9E">
                  <a:lumMod val="85000"/>
                  <a:lumOff val="15000"/>
                  <a:alpha val="100000"/>
                </a:srgb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8" name="任意多边形: 形状 27"/>
          <p:cNvSpPr/>
          <p:nvPr>
            <p:custDataLst>
              <p:tags r:id="rId17"/>
            </p:custDataLst>
          </p:nvPr>
        </p:nvSpPr>
        <p:spPr>
          <a:xfrm>
            <a:off x="7598620" y="4205181"/>
            <a:ext cx="1169107" cy="618254"/>
          </a:xfrm>
          <a:custGeom>
            <a:avLst/>
            <a:gdLst>
              <a:gd name="connsiteX0" fmla="*/ 826020 w 1645523"/>
              <a:gd name="connsiteY0" fmla="*/ 951471 h 951470"/>
              <a:gd name="connsiteX1" fmla="*/ 0 w 1645523"/>
              <a:gd name="connsiteY1" fmla="*/ 459443 h 951470"/>
              <a:gd name="connsiteX2" fmla="*/ 817874 w 1645523"/>
              <a:gd name="connsiteY2" fmla="*/ 0 h 951470"/>
              <a:gd name="connsiteX3" fmla="*/ 1645523 w 1645523"/>
              <a:gd name="connsiteY3" fmla="*/ 470848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9" name="任意多边形: 形状 28"/>
          <p:cNvSpPr/>
          <p:nvPr>
            <p:custDataLst>
              <p:tags r:id="rId18"/>
            </p:custDataLst>
          </p:nvPr>
        </p:nvSpPr>
        <p:spPr>
          <a:xfrm>
            <a:off x="8183173" y="2984350"/>
            <a:ext cx="1894878" cy="997253"/>
          </a:xfrm>
          <a:custGeom>
            <a:avLst/>
            <a:gdLst>
              <a:gd name="connsiteX0" fmla="*/ 1332711 w 2667051"/>
              <a:gd name="connsiteY0" fmla="*/ 1534736 h 1534735"/>
              <a:gd name="connsiteX1" fmla="*/ 0 w 2667051"/>
              <a:gd name="connsiteY1" fmla="*/ 759222 h 1534735"/>
              <a:gd name="connsiteX2" fmla="*/ 1332711 w 2667051"/>
              <a:gd name="connsiteY2" fmla="*/ 0 h 1534735"/>
              <a:gd name="connsiteX3" fmla="*/ 2667051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gradFill>
            <a:gsLst>
              <a:gs pos="100000">
                <a:srgbClr val="58B77D">
                  <a:lumMod val="60000"/>
                  <a:lumOff val="40000"/>
                  <a:alpha val="100000"/>
                </a:srgbClr>
              </a:gs>
              <a:gs pos="35000">
                <a:srgbClr val="58B77D">
                  <a:lumMod val="85000"/>
                  <a:lumOff val="15000"/>
                  <a:alpha val="100000"/>
                </a:srgb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4" name="任意多边形: 形状 29"/>
          <p:cNvSpPr/>
          <p:nvPr>
            <p:custDataLst>
              <p:tags r:id="rId19"/>
            </p:custDataLst>
          </p:nvPr>
        </p:nvSpPr>
        <p:spPr>
          <a:xfrm>
            <a:off x="8545251" y="3174009"/>
            <a:ext cx="1170265" cy="618255"/>
          </a:xfrm>
          <a:custGeom>
            <a:avLst/>
            <a:gdLst>
              <a:gd name="connsiteX0" fmla="*/ 827649 w 1647152"/>
              <a:gd name="connsiteY0" fmla="*/ 951471 h 951471"/>
              <a:gd name="connsiteX1" fmla="*/ 0 w 1647152"/>
              <a:gd name="connsiteY1" fmla="*/ 459443 h 951471"/>
              <a:gd name="connsiteX2" fmla="*/ 819503 w 1647152"/>
              <a:gd name="connsiteY2" fmla="*/ 0 h 951471"/>
              <a:gd name="connsiteX3" fmla="*/ 1647153 w 1647152"/>
              <a:gd name="connsiteY3" fmla="*/ 470848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56" name="任意多边形: 形状 30"/>
          <p:cNvSpPr/>
          <p:nvPr>
            <p:custDataLst>
              <p:tags r:id="rId20"/>
            </p:custDataLst>
          </p:nvPr>
        </p:nvSpPr>
        <p:spPr>
          <a:xfrm>
            <a:off x="7234874" y="4507746"/>
            <a:ext cx="948018" cy="1034307"/>
          </a:xfrm>
          <a:custGeom>
            <a:avLst/>
            <a:gdLst>
              <a:gd name="connsiteX0" fmla="*/ 0 w 1334340"/>
              <a:gd name="connsiteY0" fmla="*/ 0 h 1591759"/>
              <a:gd name="connsiteX1" fmla="*/ 0 w 1334340"/>
              <a:gd name="connsiteY1" fmla="*/ 829279 h 1591759"/>
              <a:gd name="connsiteX2" fmla="*/ 1334340 w 1334340"/>
              <a:gd name="connsiteY2" fmla="*/ 1591759 h 1591759"/>
              <a:gd name="connsiteX3" fmla="*/ 1334340 w 1334340"/>
              <a:gd name="connsiteY3" fmla="*/ 777144 h 159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000000">
              <a:lumMod val="25000"/>
              <a:lumOff val="75000"/>
              <a:alpha val="25000"/>
            </a:srgb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pic>
        <p:nvPicPr>
          <p:cNvPr id="57" name="图片 12" descr="地图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7061414" y="5340358"/>
            <a:ext cx="346710" cy="346851"/>
          </a:xfrm>
          <a:prstGeom prst="rect">
            <a:avLst/>
          </a:prstGeom>
        </p:spPr>
      </p:pic>
      <p:pic>
        <p:nvPicPr>
          <p:cNvPr id="58" name="图片 19" descr="定位标志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012515" y="4309187"/>
            <a:ext cx="340360" cy="340544"/>
          </a:xfrm>
          <a:prstGeom prst="rect">
            <a:avLst/>
          </a:prstGeom>
        </p:spPr>
      </p:pic>
      <p:pic>
        <p:nvPicPr>
          <p:cNvPr id="59" name="图片 5" descr="逻辑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8956899" y="3278017"/>
            <a:ext cx="346710" cy="346851"/>
          </a:xfrm>
          <a:prstGeom prst="rect">
            <a:avLst/>
          </a:prstGeom>
        </p:spPr>
      </p:pic>
      <p:sp>
        <p:nvSpPr>
          <p:cNvPr id="60" name="任意多边形: 形状 31"/>
          <p:cNvSpPr/>
          <p:nvPr>
            <p:custDataLst>
              <p:tags r:id="rId30"/>
            </p:custDataLst>
          </p:nvPr>
        </p:nvSpPr>
        <p:spPr>
          <a:xfrm>
            <a:off x="8183173" y="3477687"/>
            <a:ext cx="946860" cy="1034307"/>
          </a:xfrm>
          <a:custGeom>
            <a:avLst/>
            <a:gdLst>
              <a:gd name="connsiteX0" fmla="*/ 0 w 1332711"/>
              <a:gd name="connsiteY0" fmla="*/ 0 h 1591758"/>
              <a:gd name="connsiteX1" fmla="*/ 0 w 1332711"/>
              <a:gd name="connsiteY1" fmla="*/ 827650 h 1591758"/>
              <a:gd name="connsiteX2" fmla="*/ 1332711 w 1332711"/>
              <a:gd name="connsiteY2" fmla="*/ 1591759 h 1591758"/>
              <a:gd name="connsiteX3" fmla="*/ 1332711 w 1332711"/>
              <a:gd name="connsiteY3" fmla="*/ 775514 h 159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000000">
              <a:lumMod val="25000"/>
              <a:lumOff val="75000"/>
              <a:alpha val="25000"/>
            </a:srgb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1" name="任意多边形: 形状 47"/>
          <p:cNvSpPr/>
          <p:nvPr>
            <p:custDataLst>
              <p:tags r:id="rId31"/>
            </p:custDataLst>
          </p:nvPr>
        </p:nvSpPr>
        <p:spPr>
          <a:xfrm>
            <a:off x="9129247" y="1954847"/>
            <a:ext cx="1894878" cy="997253"/>
          </a:xfrm>
          <a:custGeom>
            <a:avLst/>
            <a:gdLst>
              <a:gd name="connsiteX0" fmla="*/ 1332711 w 2667051"/>
              <a:gd name="connsiteY0" fmla="*/ 1534736 h 1534735"/>
              <a:gd name="connsiteX1" fmla="*/ 0 w 2667051"/>
              <a:gd name="connsiteY1" fmla="*/ 759222 h 1534735"/>
              <a:gd name="connsiteX2" fmla="*/ 1332711 w 2667051"/>
              <a:gd name="connsiteY2" fmla="*/ 0 h 1534735"/>
              <a:gd name="connsiteX3" fmla="*/ 2667051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gradFill>
            <a:gsLst>
              <a:gs pos="100000">
                <a:srgbClr val="84CC9E">
                  <a:lumMod val="60000"/>
                  <a:lumOff val="40000"/>
                  <a:alpha val="100000"/>
                </a:srgbClr>
              </a:gs>
              <a:gs pos="35000">
                <a:srgbClr val="84CC9E">
                  <a:lumMod val="85000"/>
                  <a:lumOff val="15000"/>
                  <a:alpha val="100000"/>
                </a:srgb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2" name="任意多边形: 形状 48"/>
          <p:cNvSpPr/>
          <p:nvPr>
            <p:custDataLst>
              <p:tags r:id="rId32"/>
            </p:custDataLst>
          </p:nvPr>
        </p:nvSpPr>
        <p:spPr>
          <a:xfrm>
            <a:off x="9491325" y="2144507"/>
            <a:ext cx="1170265" cy="618255"/>
          </a:xfrm>
          <a:custGeom>
            <a:avLst/>
            <a:gdLst>
              <a:gd name="connsiteX0" fmla="*/ 827649 w 1647152"/>
              <a:gd name="connsiteY0" fmla="*/ 951471 h 951471"/>
              <a:gd name="connsiteX1" fmla="*/ 0 w 1647152"/>
              <a:gd name="connsiteY1" fmla="*/ 459443 h 951471"/>
              <a:gd name="connsiteX2" fmla="*/ 819503 w 1647152"/>
              <a:gd name="connsiteY2" fmla="*/ 0 h 951471"/>
              <a:gd name="connsiteX3" fmla="*/ 1647153 w 1647152"/>
              <a:gd name="connsiteY3" fmla="*/ 470848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3" name="任意多边形: 形状 49"/>
          <p:cNvSpPr/>
          <p:nvPr>
            <p:custDataLst>
              <p:tags r:id="rId33"/>
            </p:custDataLst>
          </p:nvPr>
        </p:nvSpPr>
        <p:spPr>
          <a:xfrm>
            <a:off x="9129247" y="2448185"/>
            <a:ext cx="946860" cy="1034307"/>
          </a:xfrm>
          <a:custGeom>
            <a:avLst/>
            <a:gdLst>
              <a:gd name="connsiteX0" fmla="*/ 0 w 1332711"/>
              <a:gd name="connsiteY0" fmla="*/ 0 h 1591758"/>
              <a:gd name="connsiteX1" fmla="*/ 0 w 1332711"/>
              <a:gd name="connsiteY1" fmla="*/ 827650 h 1591758"/>
              <a:gd name="connsiteX2" fmla="*/ 1332711 w 1332711"/>
              <a:gd name="connsiteY2" fmla="*/ 1591759 h 1591758"/>
              <a:gd name="connsiteX3" fmla="*/ 1332711 w 1332711"/>
              <a:gd name="connsiteY3" fmla="*/ 775514 h 159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000000">
              <a:lumMod val="25000"/>
              <a:lumOff val="75000"/>
              <a:alpha val="25000"/>
            </a:srgb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4" name="任意多边形: 形状 54"/>
          <p:cNvSpPr/>
          <p:nvPr>
            <p:custDataLst>
              <p:tags r:id="rId34"/>
            </p:custDataLst>
          </p:nvPr>
        </p:nvSpPr>
        <p:spPr>
          <a:xfrm>
            <a:off x="7234874" y="2448185"/>
            <a:ext cx="3790917" cy="3726997"/>
          </a:xfrm>
          <a:custGeom>
            <a:avLst/>
            <a:gdLst>
              <a:gd name="connsiteX0" fmla="*/ 1362480 w 1362480"/>
              <a:gd name="connsiteY0" fmla="*/ 0 h 1660183"/>
              <a:gd name="connsiteX1" fmla="*/ 1362480 w 1362480"/>
              <a:gd name="connsiteY1" fmla="*/ 177660 h 1660183"/>
              <a:gd name="connsiteX2" fmla="*/ 163757 w 1362480"/>
              <a:gd name="connsiteY2" fmla="*/ 804785 h 1660183"/>
              <a:gd name="connsiteX3" fmla="*/ 163757 w 1362480"/>
              <a:gd name="connsiteY3" fmla="*/ 1573125 h 1660183"/>
              <a:gd name="connsiteX4" fmla="*/ 0 w 1362480"/>
              <a:gd name="connsiteY4" fmla="*/ 1660183 h 1660183"/>
              <a:gd name="connsiteX5" fmla="*/ 0 w 1362480"/>
              <a:gd name="connsiteY5" fmla="*/ 1480414 h 1660183"/>
              <a:gd name="connsiteX6" fmla="*/ 2711 w 1362480"/>
              <a:gd name="connsiteY6" fmla="*/ 1478980 h 1660183"/>
              <a:gd name="connsiteX7" fmla="*/ 2711 w 1362480"/>
              <a:gd name="connsiteY7" fmla="*/ 719751 h 1660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16" h="6701">
                <a:moveTo>
                  <a:pt x="6816" y="0"/>
                </a:moveTo>
                <a:lnTo>
                  <a:pt x="6816" y="223"/>
                </a:lnTo>
                <a:lnTo>
                  <a:pt x="5313" y="1009"/>
                </a:lnTo>
                <a:lnTo>
                  <a:pt x="5313" y="1972"/>
                </a:lnTo>
                <a:lnTo>
                  <a:pt x="5111" y="2079"/>
                </a:lnTo>
                <a:lnTo>
                  <a:pt x="5111" y="2079"/>
                </a:lnTo>
                <a:lnTo>
                  <a:pt x="3609" y="2866"/>
                </a:lnTo>
                <a:lnTo>
                  <a:pt x="3609" y="3829"/>
                </a:lnTo>
                <a:lnTo>
                  <a:pt x="1919" y="4727"/>
                </a:lnTo>
                <a:lnTo>
                  <a:pt x="1919" y="5681"/>
                </a:lnTo>
                <a:lnTo>
                  <a:pt x="0" y="6701"/>
                </a:lnTo>
                <a:lnTo>
                  <a:pt x="0" y="6465"/>
                </a:lnTo>
                <a:lnTo>
                  <a:pt x="1704" y="5563"/>
                </a:lnTo>
                <a:lnTo>
                  <a:pt x="1704" y="4611"/>
                </a:lnTo>
                <a:lnTo>
                  <a:pt x="3407" y="3711"/>
                </a:lnTo>
                <a:lnTo>
                  <a:pt x="3407" y="2759"/>
                </a:lnTo>
                <a:lnTo>
                  <a:pt x="5108" y="1859"/>
                </a:lnTo>
                <a:lnTo>
                  <a:pt x="5108" y="1856"/>
                </a:lnTo>
                <a:lnTo>
                  <a:pt x="5111" y="1854"/>
                </a:lnTo>
                <a:lnTo>
                  <a:pt x="5111" y="902"/>
                </a:lnTo>
                <a:lnTo>
                  <a:pt x="6816" y="0"/>
                </a:lnTo>
                <a:close/>
              </a:path>
            </a:pathLst>
          </a:custGeom>
          <a:solidFill>
            <a:srgbClr val="000000">
              <a:lumMod val="35000"/>
              <a:lumOff val="65000"/>
              <a:alpha val="35000"/>
            </a:srgbClr>
          </a:solidFill>
          <a:ln w="16291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5" name="任意多边形: 形状 55"/>
          <p:cNvSpPr/>
          <p:nvPr>
            <p:custDataLst>
              <p:tags r:id="rId35"/>
            </p:custDataLst>
          </p:nvPr>
        </p:nvSpPr>
        <p:spPr>
          <a:xfrm>
            <a:off x="6287131" y="5537249"/>
            <a:ext cx="948018" cy="636251"/>
          </a:xfrm>
          <a:custGeom>
            <a:avLst/>
            <a:gdLst>
              <a:gd name="connsiteX0" fmla="*/ 1334340 w 1334340"/>
              <a:gd name="connsiteY0" fmla="*/ 777143 h 979167"/>
              <a:gd name="connsiteX1" fmla="*/ 0 w 1334340"/>
              <a:gd name="connsiteY1" fmla="*/ 0 h 979167"/>
              <a:gd name="connsiteX2" fmla="*/ 0 w 1334340"/>
              <a:gd name="connsiteY2" fmla="*/ 215058 h 979167"/>
              <a:gd name="connsiteX3" fmla="*/ 1334340 w 1334340"/>
              <a:gd name="connsiteY3" fmla="*/ 979168 h 97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000000">
              <a:lumMod val="25000"/>
              <a:lumOff val="75000"/>
              <a:alpha val="25000"/>
            </a:srgbClr>
          </a:solidFill>
          <a:ln w="162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6"/>
            </p:custDataLst>
          </p:nvPr>
        </p:nvSpPr>
        <p:spPr>
          <a:xfrm>
            <a:off x="6903386" y="1571634"/>
            <a:ext cx="2177205" cy="12612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indent="0" algn="l">
              <a:lnSpc>
                <a:spcPct val="108000"/>
              </a:lnSpc>
              <a:defRPr/>
            </a:pPr>
            <a:r>
              <a:rPr lang="en-US" sz="1200">
                <a:solidFill>
                  <a:srgbClr val="646A7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探索进度、热点路线、空间覆盖比例等分析结果，最终都以直观的地图可视化方式呈现给用户。</a:t>
            </a:r>
            <a:endParaRPr lang="zh-CN" altLang="en-US" sz="1200" kern="0" spc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67" name="矩形 66"/>
          <p:cNvSpPr/>
          <p:nvPr>
            <p:custDataLst>
              <p:tags r:id="rId37"/>
            </p:custDataLst>
          </p:nvPr>
        </p:nvSpPr>
        <p:spPr>
          <a:xfrm>
            <a:off x="6693148" y="1635595"/>
            <a:ext cx="58177" cy="433153"/>
          </a:xfrm>
          <a:prstGeom prst="rect">
            <a:avLst/>
          </a:prstGeom>
          <a:gradFill>
            <a:gsLst>
              <a:gs pos="100000">
                <a:srgbClr val="84CC9E">
                  <a:lumMod val="40000"/>
                  <a:lumOff val="60000"/>
                  <a:alpha val="100000"/>
                </a:srgbClr>
              </a:gs>
              <a:gs pos="0">
                <a:srgbClr val="84CC9E">
                  <a:lumMod val="85000"/>
                  <a:lumOff val="15000"/>
                  <a:alpha val="100000"/>
                </a:srgb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8" name="矩形 67"/>
          <p:cNvSpPr/>
          <p:nvPr>
            <p:custDataLst>
              <p:tags r:id="rId38"/>
            </p:custDataLst>
          </p:nvPr>
        </p:nvSpPr>
        <p:spPr>
          <a:xfrm>
            <a:off x="5922271" y="1562735"/>
            <a:ext cx="689672" cy="50668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t"/>
          <a:p>
            <a:pPr algn="r" defTabSz="91440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84CC9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表层</a:t>
            </a:r>
            <a:r>
              <a:rPr lang="zh-CN" altLang="en-US" sz="2400" b="1" kern="0" dirty="0">
                <a:solidFill>
                  <a:srgbClr val="84CC9E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呈现</a:t>
            </a:r>
            <a:endParaRPr lang="zh-CN" altLang="en-US" sz="2400" b="1" kern="0" dirty="0">
              <a:solidFill>
                <a:srgbClr val="84CC9E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pic>
        <p:nvPicPr>
          <p:cNvPr id="69" name="图片 23" descr="显示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>
            <a:fillRect/>
          </a:stretch>
        </p:blipFill>
        <p:spPr>
          <a:xfrm>
            <a:off x="9902974" y="2248584"/>
            <a:ext cx="346710" cy="346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核心空间分析思路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: 圆角 2"/>
          <p:cNvSpPr/>
          <p:nvPr>
            <p:custDataLst>
              <p:tags r:id="rId1"/>
            </p:custDataLst>
          </p:nvPr>
        </p:nvSpPr>
        <p:spPr>
          <a:xfrm>
            <a:off x="1031875" y="1849755"/>
            <a:ext cx="4679950" cy="89979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2700000" algn="tl" rotWithShape="0">
              <a:srgbClr val="38B2AC">
                <a:alpha val="1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3" name="矩形: 圆角 6"/>
          <p:cNvSpPr/>
          <p:nvPr>
            <p:custDataLst>
              <p:tags r:id="rId2"/>
            </p:custDataLst>
          </p:nvPr>
        </p:nvSpPr>
        <p:spPr>
          <a:xfrm>
            <a:off x="1031875" y="2882900"/>
            <a:ext cx="4679950" cy="89979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2700000" algn="tl" rotWithShape="0">
              <a:srgbClr val="F6AD55">
                <a:alpha val="1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4" name="矩形: 圆角 10"/>
          <p:cNvSpPr/>
          <p:nvPr>
            <p:custDataLst>
              <p:tags r:id="rId3"/>
            </p:custDataLst>
          </p:nvPr>
        </p:nvSpPr>
        <p:spPr>
          <a:xfrm>
            <a:off x="1031875" y="3915410"/>
            <a:ext cx="4679950" cy="89979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2700000" algn="tl" rotWithShape="0">
              <a:srgbClr val="38B2AC">
                <a:alpha val="1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5" name="矩形: 圆角 14"/>
          <p:cNvSpPr/>
          <p:nvPr>
            <p:custDataLst>
              <p:tags r:id="rId4"/>
            </p:custDataLst>
          </p:nvPr>
        </p:nvSpPr>
        <p:spPr>
          <a:xfrm>
            <a:off x="1031875" y="4948555"/>
            <a:ext cx="4679950" cy="89979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2700000" algn="tl" rotWithShape="0">
              <a:srgbClr val="F6AD55">
                <a:alpha val="1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6" name="文本框 85"/>
          <p:cNvSpPr txBox="1"/>
          <p:nvPr>
            <p:custDataLst>
              <p:tags r:id="rId5"/>
            </p:custDataLst>
          </p:nvPr>
        </p:nvSpPr>
        <p:spPr>
          <a:xfrm>
            <a:off x="2008505" y="2003425"/>
            <a:ext cx="3286760" cy="593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100" dirty="0">
                <a:solidFill>
                  <a:srgbClr val="000000"/>
                </a:solidFill>
                <a:sym typeface="+mn-ea"/>
              </a:rPr>
              <a:t>轨迹与空间叠加</a:t>
            </a:r>
            <a:r>
              <a:rPr lang="en-US" altLang="zh-CN" sz="2100" dirty="0">
                <a:solidFill>
                  <a:srgbClr val="000000"/>
                </a:solidFill>
                <a:sym typeface="+mn-ea"/>
              </a:rPr>
              <a:t>Overlay</a:t>
            </a:r>
            <a:endParaRPr lang="en-US" altLang="zh-CN" sz="2100" dirty="0">
              <a:solidFill>
                <a:srgbClr val="000000"/>
              </a:solidFill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6"/>
            </p:custDataLst>
          </p:nvPr>
        </p:nvSpPr>
        <p:spPr>
          <a:xfrm>
            <a:off x="1385570" y="1940560"/>
            <a:ext cx="575310" cy="5930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18000">
                      <a:srgbClr val="38B2AC">
                        <a:alpha val="100000"/>
                      </a:srgbClr>
                    </a:gs>
                    <a:gs pos="100000">
                      <a:srgbClr val="38B2AC">
                        <a:lumMod val="60000"/>
                        <a:lumOff val="40000"/>
                        <a:alpha val="100000"/>
                      </a:srgbClr>
                    </a:gs>
                  </a:gsLst>
                  <a:lin ang="13500000" scaled="0"/>
                </a:gradFill>
                <a:sym typeface="+mn-ea"/>
              </a:rPr>
              <a:t>01</a:t>
            </a:r>
            <a:endParaRPr lang="en-US" altLang="zh-CN" sz="3000" b="1" dirty="0">
              <a:gradFill>
                <a:gsLst>
                  <a:gs pos="18000">
                    <a:srgbClr val="38B2AC">
                      <a:alpha val="100000"/>
                    </a:srgbClr>
                  </a:gs>
                  <a:gs pos="100000">
                    <a:srgbClr val="38B2AC">
                      <a:lumMod val="60000"/>
                      <a:lumOff val="40000"/>
                      <a:alpha val="100000"/>
                    </a:srgbClr>
                  </a:gs>
                </a:gsLst>
                <a:lin ang="13500000" scaled="0"/>
              </a:gradFill>
              <a:sym typeface="+mn-ea"/>
            </a:endParaRPr>
          </a:p>
        </p:txBody>
      </p:sp>
      <p:sp>
        <p:nvSpPr>
          <p:cNvPr id="91" name="文本框 90"/>
          <p:cNvSpPr txBox="1"/>
          <p:nvPr>
            <p:custDataLst>
              <p:tags r:id="rId7"/>
            </p:custDataLst>
          </p:nvPr>
        </p:nvSpPr>
        <p:spPr>
          <a:xfrm>
            <a:off x="2008505" y="3036570"/>
            <a:ext cx="3286760" cy="593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100" dirty="0">
                <a:solidFill>
                  <a:srgbClr val="000000"/>
                </a:solidFill>
                <a:sym typeface="+mn-ea"/>
              </a:rPr>
              <a:t>缓冲区与邻近判定</a:t>
            </a:r>
            <a:r>
              <a:rPr lang="en-US" altLang="zh-CN" sz="2100" dirty="0">
                <a:solidFill>
                  <a:srgbClr val="000000"/>
                </a:solidFill>
                <a:sym typeface="+mn-ea"/>
              </a:rPr>
              <a:t>Buffer</a:t>
            </a:r>
            <a:endParaRPr lang="en-US" altLang="zh-CN" sz="2100" dirty="0">
              <a:solidFill>
                <a:srgbClr val="000000"/>
              </a:solidFill>
              <a:sym typeface="+mn-ea"/>
            </a:endParaRPr>
          </a:p>
        </p:txBody>
      </p:sp>
      <p:sp>
        <p:nvSpPr>
          <p:cNvPr id="92" name="文本框 91"/>
          <p:cNvSpPr txBox="1"/>
          <p:nvPr>
            <p:custDataLst>
              <p:tags r:id="rId8"/>
            </p:custDataLst>
          </p:nvPr>
        </p:nvSpPr>
        <p:spPr>
          <a:xfrm>
            <a:off x="1385570" y="2973705"/>
            <a:ext cx="575310" cy="5930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18000">
                      <a:srgbClr val="F6AD55">
                        <a:alpha val="100000"/>
                      </a:srgbClr>
                    </a:gs>
                    <a:gs pos="100000">
                      <a:srgbClr val="F6AD55">
                        <a:lumMod val="60000"/>
                        <a:lumOff val="40000"/>
                        <a:alpha val="100000"/>
                      </a:srgbClr>
                    </a:gs>
                  </a:gsLst>
                  <a:lin ang="13500000" scaled="0"/>
                </a:gradFill>
                <a:sym typeface="+mn-ea"/>
              </a:rPr>
              <a:t>02</a:t>
            </a:r>
            <a:endParaRPr lang="en-US" altLang="zh-CN" sz="3000" b="1" dirty="0">
              <a:gradFill>
                <a:gsLst>
                  <a:gs pos="18000">
                    <a:srgbClr val="F6AD55">
                      <a:alpha val="100000"/>
                    </a:srgbClr>
                  </a:gs>
                  <a:gs pos="100000">
                    <a:srgbClr val="F6AD55">
                      <a:lumMod val="60000"/>
                      <a:lumOff val="40000"/>
                      <a:alpha val="100000"/>
                    </a:srgbClr>
                  </a:gs>
                </a:gsLst>
                <a:lin ang="13500000" scaled="0"/>
              </a:gradFill>
              <a:sym typeface="+mn-ea"/>
            </a:endParaRPr>
          </a:p>
        </p:txBody>
      </p:sp>
      <p:sp>
        <p:nvSpPr>
          <p:cNvPr id="96" name="文本框 95"/>
          <p:cNvSpPr txBox="1"/>
          <p:nvPr>
            <p:custDataLst>
              <p:tags r:id="rId9"/>
            </p:custDataLst>
          </p:nvPr>
        </p:nvSpPr>
        <p:spPr>
          <a:xfrm>
            <a:off x="2008505" y="4069080"/>
            <a:ext cx="3286760" cy="593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100" dirty="0">
                <a:solidFill>
                  <a:srgbClr val="000000"/>
                </a:solidFill>
                <a:sym typeface="+mn-ea"/>
              </a:rPr>
              <a:t>空间网格覆盖率</a:t>
            </a:r>
            <a:endParaRPr lang="zh-CN" altLang="en-US" sz="2100" dirty="0">
              <a:solidFill>
                <a:srgbClr val="000000"/>
              </a:solidFill>
              <a:sym typeface="+mn-ea"/>
            </a:endParaRPr>
          </a:p>
        </p:txBody>
      </p:sp>
      <p:sp>
        <p:nvSpPr>
          <p:cNvPr id="100" name="文本框 99"/>
          <p:cNvSpPr txBox="1"/>
          <p:nvPr>
            <p:custDataLst>
              <p:tags r:id="rId10"/>
            </p:custDataLst>
          </p:nvPr>
        </p:nvSpPr>
        <p:spPr>
          <a:xfrm>
            <a:off x="1385570" y="4006215"/>
            <a:ext cx="575310" cy="5930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18000">
                      <a:srgbClr val="38B2AC">
                        <a:alpha val="100000"/>
                      </a:srgbClr>
                    </a:gs>
                    <a:gs pos="100000">
                      <a:srgbClr val="38B2AC">
                        <a:lumMod val="60000"/>
                        <a:lumOff val="40000"/>
                        <a:alpha val="100000"/>
                      </a:srgbClr>
                    </a:gs>
                  </a:gsLst>
                  <a:lin ang="13500000" scaled="0"/>
                </a:gradFill>
                <a:sym typeface="+mn-ea"/>
              </a:rPr>
              <a:t>03</a:t>
            </a:r>
            <a:endParaRPr lang="en-US" altLang="zh-CN" sz="3000" b="1" dirty="0">
              <a:gradFill>
                <a:gsLst>
                  <a:gs pos="18000">
                    <a:srgbClr val="38B2AC">
                      <a:alpha val="100000"/>
                    </a:srgbClr>
                  </a:gs>
                  <a:gs pos="100000">
                    <a:srgbClr val="38B2AC">
                      <a:lumMod val="60000"/>
                      <a:lumOff val="40000"/>
                      <a:alpha val="100000"/>
                    </a:srgbClr>
                  </a:gs>
                </a:gsLst>
                <a:lin ang="13500000" scaled="0"/>
              </a:gradFill>
              <a:sym typeface="+mn-ea"/>
            </a:endParaRPr>
          </a:p>
        </p:txBody>
      </p:sp>
      <p:sp>
        <p:nvSpPr>
          <p:cNvPr id="104" name="文本框 103"/>
          <p:cNvSpPr txBox="1"/>
          <p:nvPr>
            <p:custDataLst>
              <p:tags r:id="rId11"/>
            </p:custDataLst>
          </p:nvPr>
        </p:nvSpPr>
        <p:spPr>
          <a:xfrm>
            <a:off x="2008505" y="5102225"/>
            <a:ext cx="3286760" cy="5930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100" dirty="0">
                <a:solidFill>
                  <a:srgbClr val="000000"/>
                </a:solidFill>
                <a:sym typeface="+mn-ea"/>
              </a:rPr>
              <a:t>核密度分析</a:t>
            </a:r>
            <a:endParaRPr lang="zh-CN" altLang="en-US" sz="2100" dirty="0">
              <a:solidFill>
                <a:srgbClr val="000000"/>
              </a:solidFill>
              <a:sym typeface="+mn-ea"/>
            </a:endParaRPr>
          </a:p>
        </p:txBody>
      </p:sp>
      <p:sp>
        <p:nvSpPr>
          <p:cNvPr id="109" name="文本框 108"/>
          <p:cNvSpPr txBox="1"/>
          <p:nvPr>
            <p:custDataLst>
              <p:tags r:id="rId12"/>
            </p:custDataLst>
          </p:nvPr>
        </p:nvSpPr>
        <p:spPr>
          <a:xfrm>
            <a:off x="1385570" y="5039360"/>
            <a:ext cx="575310" cy="5930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000" b="1" dirty="0">
                <a:gradFill>
                  <a:gsLst>
                    <a:gs pos="18000">
                      <a:srgbClr val="F6AD55">
                        <a:alpha val="100000"/>
                      </a:srgbClr>
                    </a:gs>
                    <a:gs pos="100000">
                      <a:srgbClr val="F6AD55">
                        <a:lumMod val="60000"/>
                        <a:lumOff val="40000"/>
                        <a:alpha val="100000"/>
                      </a:srgbClr>
                    </a:gs>
                  </a:gsLst>
                  <a:lin ang="13500000" scaled="0"/>
                </a:gradFill>
                <a:sym typeface="+mn-ea"/>
              </a:rPr>
              <a:t>04</a:t>
            </a:r>
            <a:endParaRPr lang="en-US" altLang="zh-CN" sz="3000" b="1" dirty="0">
              <a:gradFill>
                <a:gsLst>
                  <a:gs pos="18000">
                    <a:srgbClr val="F6AD55">
                      <a:alpha val="100000"/>
                    </a:srgbClr>
                  </a:gs>
                  <a:gs pos="100000">
                    <a:srgbClr val="F6AD55">
                      <a:lumMod val="60000"/>
                      <a:lumOff val="40000"/>
                      <a:alpha val="100000"/>
                    </a:srgbClr>
                  </a:gs>
                </a:gsLst>
                <a:lin ang="13500000" scaled="0"/>
              </a:gradFill>
              <a:sym typeface="+mn-ea"/>
            </a:endParaRPr>
          </a:p>
        </p:txBody>
      </p:sp>
      <p:sp>
        <p:nvSpPr>
          <p:cNvPr id="198" name="圆角矩形 13"/>
          <p:cNvSpPr/>
          <p:nvPr>
            <p:custDataLst>
              <p:tags r:id="rId13"/>
            </p:custDataLst>
          </p:nvPr>
        </p:nvSpPr>
        <p:spPr>
          <a:xfrm>
            <a:off x="6995795" y="1553210"/>
            <a:ext cx="3775710" cy="102616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  <a:lumMod val="40000"/>
              <a:lumOff val="60000"/>
            </a:srgbClr>
          </a:solidFill>
          <a:ln w="9525"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tIns="129540" rIns="245110" bIns="179705" numCol="1" spcCol="0" rtlCol="0" fromWordArt="0" anchor="ctr" anchorCtr="0" forceAA="0" compatLnSpc="1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计算“已点亮地图区域”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9" name="圆角矩形 13"/>
          <p:cNvSpPr/>
          <p:nvPr>
            <p:custDataLst>
              <p:tags r:id="rId14"/>
            </p:custDataLst>
          </p:nvPr>
        </p:nvSpPr>
        <p:spPr>
          <a:xfrm>
            <a:off x="6999923" y="1551940"/>
            <a:ext cx="36195" cy="1027430"/>
          </a:xfrm>
          <a:prstGeom prst="roundRect">
            <a:avLst>
              <a:gd name="adj" fmla="val 0"/>
            </a:avLst>
          </a:prstGeom>
          <a:solidFill>
            <a:srgbClr val="4FD1C5"/>
          </a:solidFill>
          <a:ln w="9525">
            <a:solidFill>
              <a:srgbClr val="4FD1C5">
                <a:alpha val="50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rIns="288290" bIns="71755" numCol="1" spcCol="0" rtlCol="0" fromWordArt="0" anchor="ctr" anchorCtr="0" forceAA="0" compatLnSpc="1">
            <a:norm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endParaRPr lang="zh-CN" altLang="en-US" b="1" spc="300" dirty="0">
              <a:gradFill>
                <a:gsLst>
                  <a:gs pos="0">
                    <a:srgbClr val="4FD1C5">
                      <a:alpha val="100000"/>
                    </a:srgbClr>
                  </a:gs>
                  <a:gs pos="100000">
                    <a:srgbClr val="4FD1C5">
                      <a:lumMod val="60000"/>
                      <a:lumOff val="40000"/>
                      <a:alpha val="100000"/>
                    </a:srgbClr>
                  </a:gs>
                </a:gsLst>
                <a:lin ang="16140000" scaled="0"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00" name="圆角矩形 13"/>
          <p:cNvSpPr/>
          <p:nvPr>
            <p:custDataLst>
              <p:tags r:id="rId15"/>
            </p:custDataLst>
          </p:nvPr>
        </p:nvSpPr>
        <p:spPr>
          <a:xfrm>
            <a:off x="6997065" y="2701925"/>
            <a:ext cx="3774440" cy="1026160"/>
          </a:xfrm>
          <a:prstGeom prst="roundRect">
            <a:avLst>
              <a:gd name="adj" fmla="val 0"/>
            </a:avLst>
          </a:prstGeom>
          <a:solidFill>
            <a:srgbClr val="ED8936">
              <a:alpha val="15000"/>
              <a:lumMod val="40000"/>
              <a:lumOff val="60000"/>
            </a:srgbClr>
          </a:solidFill>
          <a:ln w="9525"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tIns="129540" rIns="245110" bIns="179705" numCol="1" spcCol="0" rtlCol="0" fromWordArt="0" anchor="ctr" anchorCtr="0" forceAA="0" compatLnSpc="1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解决GPS漂移并触发“地标打卡”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201" name="圆角矩形 13"/>
          <p:cNvSpPr/>
          <p:nvPr>
            <p:custDataLst>
              <p:tags r:id="rId16"/>
            </p:custDataLst>
          </p:nvPr>
        </p:nvSpPr>
        <p:spPr>
          <a:xfrm>
            <a:off x="6999923" y="2700655"/>
            <a:ext cx="36195" cy="1027430"/>
          </a:xfrm>
          <a:prstGeom prst="roundRect">
            <a:avLst>
              <a:gd name="adj" fmla="val 0"/>
            </a:avLst>
          </a:prstGeom>
          <a:solidFill>
            <a:srgbClr val="ED8936"/>
          </a:solidFill>
          <a:ln w="9525">
            <a:solidFill>
              <a:srgbClr val="ED8936">
                <a:alpha val="50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rIns="288290" bIns="71755" numCol="1" spcCol="0" rtlCol="0" fromWordArt="0" anchor="ctr" anchorCtr="0" forceAA="0" compatLnSpc="1">
            <a:norm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endParaRPr lang="zh-CN" altLang="en-US" b="1" spc="300" dirty="0">
              <a:gradFill>
                <a:gsLst>
                  <a:gs pos="0">
                    <a:srgbClr val="ED8936">
                      <a:alpha val="100000"/>
                    </a:srgbClr>
                  </a:gs>
                  <a:gs pos="100000">
                    <a:srgbClr val="ED8936">
                      <a:lumMod val="60000"/>
                      <a:lumOff val="40000"/>
                      <a:alpha val="100000"/>
                    </a:srgbClr>
                  </a:gs>
                </a:gsLst>
                <a:lin ang="16140000" scaled="0"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02" name="圆角矩形 13"/>
          <p:cNvSpPr/>
          <p:nvPr>
            <p:custDataLst>
              <p:tags r:id="rId17"/>
            </p:custDataLst>
          </p:nvPr>
        </p:nvSpPr>
        <p:spPr>
          <a:xfrm>
            <a:off x="6995795" y="3850640"/>
            <a:ext cx="3775710" cy="109982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  <a:lumMod val="40000"/>
              <a:lumOff val="60000"/>
            </a:srgbClr>
          </a:solidFill>
          <a:ln w="9525"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tIns="129540" rIns="245110" bIns="179705" numCol="1" spcCol="0" rtlCol="0" fromWordArt="0" anchor="ctr" anchorCtr="0" forceAA="0" compatLnSpc="1">
            <a:noAutofit/>
          </a:bodyPr>
          <a:p>
            <a:pPr lvl="0" indent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结算“个人探索进度百分比”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cs typeface="微软雅黑" panose="020B0503020204020204" charset="-122"/>
              <a:sym typeface="+mn-ea"/>
            </a:endParaRPr>
          </a:p>
        </p:txBody>
      </p:sp>
      <p:sp>
        <p:nvSpPr>
          <p:cNvPr id="203" name="圆角矩形 13"/>
          <p:cNvSpPr/>
          <p:nvPr>
            <p:custDataLst>
              <p:tags r:id="rId18"/>
            </p:custDataLst>
          </p:nvPr>
        </p:nvSpPr>
        <p:spPr>
          <a:xfrm>
            <a:off x="6999923" y="3849370"/>
            <a:ext cx="36195" cy="1101090"/>
          </a:xfrm>
          <a:prstGeom prst="roundRect">
            <a:avLst>
              <a:gd name="adj" fmla="val 0"/>
            </a:avLst>
          </a:prstGeom>
          <a:solidFill>
            <a:srgbClr val="4FD1C5"/>
          </a:solidFill>
          <a:ln w="9525">
            <a:solidFill>
              <a:srgbClr val="4FD1C5">
                <a:alpha val="50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rIns="288290" bIns="71755" numCol="1" spcCol="0" rtlCol="0" fromWordArt="0" anchor="ctr" anchorCtr="0" forceAA="0" compatLnSpc="1">
            <a:norm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endParaRPr lang="zh-CN" altLang="en-US" b="1" spc="300" dirty="0">
              <a:gradFill>
                <a:gsLst>
                  <a:gs pos="0">
                    <a:srgbClr val="4FD1C5">
                      <a:alpha val="100000"/>
                    </a:srgbClr>
                  </a:gs>
                  <a:gs pos="100000">
                    <a:srgbClr val="4FD1C5">
                      <a:lumMod val="60000"/>
                      <a:lumOff val="40000"/>
                      <a:alpha val="100000"/>
                    </a:srgbClr>
                  </a:gs>
                </a:gsLst>
                <a:lin ang="16140000" scaled="0"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04" name="圆角矩形 13"/>
          <p:cNvSpPr/>
          <p:nvPr>
            <p:custDataLst>
              <p:tags r:id="rId19"/>
            </p:custDataLst>
          </p:nvPr>
        </p:nvSpPr>
        <p:spPr>
          <a:xfrm>
            <a:off x="6996430" y="5071745"/>
            <a:ext cx="3774440" cy="1025525"/>
          </a:xfrm>
          <a:prstGeom prst="roundRect">
            <a:avLst>
              <a:gd name="adj" fmla="val 0"/>
            </a:avLst>
          </a:prstGeom>
          <a:solidFill>
            <a:srgbClr val="ED8936">
              <a:alpha val="15000"/>
              <a:lumMod val="40000"/>
              <a:lumOff val="60000"/>
            </a:srgbClr>
          </a:solidFill>
          <a:ln w="9525"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tIns="129540" rIns="245110" bIns="179705" numCol="1" spcCol="0" rtlCol="0" fromWordArt="0" anchor="ctr" anchorCtr="0" forceAA="0" compatLnSpc="1">
            <a:noAutofit/>
          </a:bodyPr>
          <a:p>
            <a:pPr lvl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生成“校园高频活跃热力图”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5" name="圆角矩形 13"/>
          <p:cNvSpPr/>
          <p:nvPr>
            <p:custDataLst>
              <p:tags r:id="rId20"/>
            </p:custDataLst>
          </p:nvPr>
        </p:nvSpPr>
        <p:spPr>
          <a:xfrm>
            <a:off x="6999923" y="5090160"/>
            <a:ext cx="36195" cy="1027430"/>
          </a:xfrm>
          <a:prstGeom prst="roundRect">
            <a:avLst>
              <a:gd name="adj" fmla="val 0"/>
            </a:avLst>
          </a:prstGeom>
          <a:solidFill>
            <a:srgbClr val="ED8936"/>
          </a:solidFill>
          <a:ln w="9525">
            <a:solidFill>
              <a:srgbClr val="ED8936">
                <a:alpha val="50000"/>
              </a:srgbClr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288290" rIns="288290" bIns="71755" numCol="1" spcCol="0" rtlCol="0" fromWordArt="0" anchor="ctr" anchorCtr="0" forceAA="0" compatLnSpc="1">
            <a:norm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endParaRPr lang="zh-CN" altLang="en-US" b="1" spc="300" dirty="0">
              <a:gradFill>
                <a:gsLst>
                  <a:gs pos="0">
                    <a:srgbClr val="ED8936">
                      <a:alpha val="100000"/>
                    </a:srgbClr>
                  </a:gs>
                  <a:gs pos="100000">
                    <a:srgbClr val="ED8936">
                      <a:lumMod val="60000"/>
                      <a:lumOff val="40000"/>
                      <a:alpha val="100000"/>
                    </a:srgbClr>
                  </a:gs>
                </a:gsLst>
                <a:lin ang="16140000" scaled="0"/>
              </a:gra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cxnSp>
        <p:nvCxnSpPr>
          <p:cNvPr id="207" name="曲线连接符 206"/>
          <p:cNvCxnSpPr>
            <a:stCxn id="82" idx="3"/>
            <a:endCxn id="199" idx="1"/>
          </p:cNvCxnSpPr>
          <p:nvPr/>
        </p:nvCxnSpPr>
        <p:spPr>
          <a:xfrm flipV="1">
            <a:off x="5711825" y="2065655"/>
            <a:ext cx="1288415" cy="234315"/>
          </a:xfrm>
          <a:prstGeom prst="curvedConnector3">
            <a:avLst>
              <a:gd name="adj1" fmla="val 50025"/>
            </a:avLst>
          </a:prstGeom>
          <a:ln w="31750">
            <a:gradFill>
              <a:gsLst>
                <a:gs pos="0">
                  <a:srgbClr val="FFC000"/>
                </a:gs>
                <a:gs pos="100000">
                  <a:srgbClr val="4FD1C5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曲线连接符 207"/>
          <p:cNvCxnSpPr>
            <a:stCxn id="85" idx="3"/>
            <a:endCxn id="205" idx="1"/>
          </p:cNvCxnSpPr>
          <p:nvPr/>
        </p:nvCxnSpPr>
        <p:spPr>
          <a:xfrm>
            <a:off x="5711825" y="5398770"/>
            <a:ext cx="1288415" cy="205105"/>
          </a:xfrm>
          <a:prstGeom prst="curvedConnector3">
            <a:avLst>
              <a:gd name="adj1" fmla="val 50025"/>
            </a:avLst>
          </a:prstGeom>
          <a:ln w="31750">
            <a:gradFill>
              <a:gsLst>
                <a:gs pos="0">
                  <a:srgbClr val="FFC000"/>
                </a:gs>
                <a:gs pos="100000">
                  <a:srgbClr val="4FD1C5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曲线连接符 208"/>
          <p:cNvCxnSpPr>
            <a:stCxn id="84" idx="3"/>
            <a:endCxn id="203" idx="1"/>
          </p:cNvCxnSpPr>
          <p:nvPr/>
        </p:nvCxnSpPr>
        <p:spPr>
          <a:xfrm>
            <a:off x="5711825" y="4365625"/>
            <a:ext cx="1288415" cy="34290"/>
          </a:xfrm>
          <a:prstGeom prst="curvedConnector3">
            <a:avLst>
              <a:gd name="adj1" fmla="val 50025"/>
            </a:avLst>
          </a:prstGeom>
          <a:ln w="31750">
            <a:gradFill>
              <a:gsLst>
                <a:gs pos="0">
                  <a:srgbClr val="FFC000"/>
                </a:gs>
                <a:gs pos="100000">
                  <a:srgbClr val="4FD1C5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曲线连接符 209"/>
          <p:cNvCxnSpPr>
            <a:stCxn id="83" idx="3"/>
            <a:endCxn id="201" idx="1"/>
          </p:cNvCxnSpPr>
          <p:nvPr/>
        </p:nvCxnSpPr>
        <p:spPr>
          <a:xfrm flipV="1">
            <a:off x="5711825" y="3214370"/>
            <a:ext cx="1288415" cy="118745"/>
          </a:xfrm>
          <a:prstGeom prst="curvedConnector3">
            <a:avLst>
              <a:gd name="adj1" fmla="val 50025"/>
            </a:avLst>
          </a:prstGeom>
          <a:ln w="31750">
            <a:gradFill>
              <a:gsLst>
                <a:gs pos="0">
                  <a:srgbClr val="FFC000"/>
                </a:gs>
                <a:gs pos="100000">
                  <a:srgbClr val="4FD1C5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1061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数据获取、空间数据组织与底图结合思路</a:t>
            </a:r>
            <a:endParaRPr lang="en-US" sz="32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8" name="五边形 177"/>
          <p:cNvSpPr/>
          <p:nvPr>
            <p:custDataLst>
              <p:tags r:id="rId1"/>
            </p:custDataLst>
          </p:nvPr>
        </p:nvSpPr>
        <p:spPr>
          <a:xfrm>
            <a:off x="-3236" y="3827256"/>
            <a:ext cx="12126339" cy="557717"/>
          </a:xfrm>
          <a:prstGeom prst="homePlate">
            <a:avLst/>
          </a:prstGeom>
          <a:solidFill>
            <a:srgbClr val="38B2AC"/>
          </a:solidFill>
          <a:ln w="19050">
            <a:gradFill>
              <a:gsLst>
                <a:gs pos="20000">
                  <a:srgbClr val="38B2AC">
                    <a:alpha val="0"/>
                  </a:srgbClr>
                </a:gs>
                <a:gs pos="90000">
                  <a:srgbClr val="38B2AC">
                    <a:alpha val="100000"/>
                  </a:srgbClr>
                </a:gs>
              </a:gsLst>
              <a:lin ang="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79" name="直接箭头连接符 178"/>
          <p:cNvCxnSpPr/>
          <p:nvPr>
            <p:custDataLst>
              <p:tags r:id="rId2"/>
            </p:custDataLst>
          </p:nvPr>
        </p:nvCxnSpPr>
        <p:spPr>
          <a:xfrm>
            <a:off x="-3236" y="4106030"/>
            <a:ext cx="11867528" cy="0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流程图: 延期 179"/>
          <p:cNvSpPr/>
          <p:nvPr>
            <p:custDataLst>
              <p:tags r:id="rId3"/>
            </p:custDataLst>
          </p:nvPr>
        </p:nvSpPr>
        <p:spPr>
          <a:xfrm>
            <a:off x="727567" y="1654810"/>
            <a:ext cx="533308" cy="570383"/>
          </a:xfrm>
          <a:prstGeom prst="flowChartDelay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FFFF"/>
                </a:solidFill>
                <a:effectLst>
                  <a:outerShdw blurRad="50800" dist="38100" dir="5400000" algn="t" rotWithShape="0">
                    <a:srgbClr val="38B2AC">
                      <a:alpha val="40000"/>
                      <a:lumMod val="7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01</a:t>
            </a:r>
            <a:endParaRPr lang="en-US" altLang="zh-CN" sz="2000" b="1">
              <a:solidFill>
                <a:srgbClr val="FFFFFF"/>
              </a:solidFill>
              <a:effectLst>
                <a:outerShdw blurRad="50800" dist="38100" dir="5400000" algn="t" rotWithShape="0">
                  <a:srgbClr val="38B2AC">
                    <a:alpha val="40000"/>
                    <a:lumMod val="7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81" name="矩形 180"/>
          <p:cNvSpPr/>
          <p:nvPr>
            <p:custDataLst>
              <p:tags r:id="rId4"/>
            </p:custDataLst>
          </p:nvPr>
        </p:nvSpPr>
        <p:spPr>
          <a:xfrm>
            <a:off x="876580" y="2359945"/>
            <a:ext cx="4357011" cy="11721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腾讯地图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API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（基础底图）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校园官网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导览图公开资料（业务数据源）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实地打点采集（补充校对）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2" name="矩形 181"/>
          <p:cNvSpPr/>
          <p:nvPr>
            <p:custDataLst>
              <p:tags r:id="rId5"/>
            </p:custDataLst>
          </p:nvPr>
        </p:nvSpPr>
        <p:spPr>
          <a:xfrm>
            <a:off x="1487603" y="1722542"/>
            <a:ext cx="3745990" cy="43277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38B2AC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数据源获取</a:t>
            </a:r>
            <a:endParaRPr lang="zh-CN" altLang="en-US" sz="2800" b="1">
              <a:solidFill>
                <a:srgbClr val="38B2AC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183" name="直接连接符 182"/>
          <p:cNvCxnSpPr/>
          <p:nvPr>
            <p:custDataLst>
              <p:tags r:id="rId6"/>
            </p:custDataLst>
          </p:nvPr>
        </p:nvCxnSpPr>
        <p:spPr>
          <a:xfrm flipH="1">
            <a:off x="721863" y="1655523"/>
            <a:ext cx="5704" cy="2679373"/>
          </a:xfrm>
          <a:prstGeom prst="line">
            <a:avLst/>
          </a:prstGeom>
          <a:ln w="25400">
            <a:gradFill>
              <a:gsLst>
                <a:gs pos="17000">
                  <a:srgbClr val="38B2AC">
                    <a:alpha val="0"/>
                  </a:srgbClr>
                </a:gs>
                <a:gs pos="61000">
                  <a:srgbClr val="38B2AC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椭圆 183"/>
          <p:cNvSpPr/>
          <p:nvPr>
            <p:custDataLst>
              <p:tags r:id="rId7"/>
            </p:custDataLst>
          </p:nvPr>
        </p:nvSpPr>
        <p:spPr>
          <a:xfrm>
            <a:off x="664112" y="4050418"/>
            <a:ext cx="104808" cy="106234"/>
          </a:xfrm>
          <a:prstGeom prst="ellipse">
            <a:avLst/>
          </a:prstGeom>
          <a:solidFill>
            <a:srgbClr val="38B2AC">
              <a:lumMod val="40000"/>
              <a:lumOff val="6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cxnSp>
        <p:nvCxnSpPr>
          <p:cNvPr id="185" name="直接连接符 184"/>
          <p:cNvCxnSpPr/>
          <p:nvPr>
            <p:custDataLst>
              <p:tags r:id="rId8"/>
            </p:custDataLst>
          </p:nvPr>
        </p:nvCxnSpPr>
        <p:spPr>
          <a:xfrm flipH="1" flipV="1">
            <a:off x="4059316" y="3859340"/>
            <a:ext cx="2139" cy="2679373"/>
          </a:xfrm>
          <a:prstGeom prst="line">
            <a:avLst/>
          </a:prstGeom>
          <a:ln w="25400">
            <a:gradFill>
              <a:gsLst>
                <a:gs pos="17000">
                  <a:srgbClr val="4299E1">
                    <a:alpha val="0"/>
                  </a:srgbClr>
                </a:gs>
                <a:gs pos="61000">
                  <a:srgbClr val="4299E1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椭圆 185"/>
          <p:cNvSpPr/>
          <p:nvPr>
            <p:custDataLst>
              <p:tags r:id="rId9"/>
            </p:custDataLst>
          </p:nvPr>
        </p:nvSpPr>
        <p:spPr>
          <a:xfrm>
            <a:off x="4011546" y="4050418"/>
            <a:ext cx="104808" cy="106234"/>
          </a:xfrm>
          <a:prstGeom prst="ellipse">
            <a:avLst/>
          </a:prstGeom>
          <a:solidFill>
            <a:srgbClr val="4299E1">
              <a:lumMod val="60000"/>
              <a:lumOff val="4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187" name="矩形 186"/>
          <p:cNvSpPr/>
          <p:nvPr>
            <p:custDataLst>
              <p:tags r:id="rId10"/>
            </p:custDataLst>
          </p:nvPr>
        </p:nvSpPr>
        <p:spPr>
          <a:xfrm>
            <a:off x="4225439" y="4680123"/>
            <a:ext cx="4357011" cy="117213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 defTabSz="457200">
              <a:lnSpc>
                <a:spcPct val="150000"/>
              </a:lnSpc>
              <a:buSzTx/>
              <a:buNone/>
            </a:pPr>
            <a:r>
              <a:rPr lang="zh-CN" altLang="en-US" sz="1800" b="1" kern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QGIS / ArcGIS Pro</a:t>
            </a:r>
            <a:endParaRPr lang="zh-CN" altLang="en-US" sz="1800" b="1" kern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indent="-285750" algn="l" defTabSz="4572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1400" kern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矢量化勾绘</a:t>
            </a:r>
            <a:endParaRPr lang="zh-CN" altLang="en-US" sz="1400" kern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indent="-285750" algn="l" defTabSz="4572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1400" kern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坐标系统一</a:t>
            </a:r>
            <a:endParaRPr lang="zh-CN" altLang="en-US" sz="1400" kern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285750" indent="-285750" algn="l" defTabSz="4572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1400" kern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属性关联</a:t>
            </a:r>
            <a:endParaRPr lang="zh-CN" altLang="en-US" sz="1400" kern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88" name="流程图: 延期 187"/>
          <p:cNvSpPr/>
          <p:nvPr>
            <p:custDataLst>
              <p:tags r:id="rId11"/>
            </p:custDataLst>
          </p:nvPr>
        </p:nvSpPr>
        <p:spPr>
          <a:xfrm>
            <a:off x="4074288" y="5969043"/>
            <a:ext cx="533308" cy="570383"/>
          </a:xfrm>
          <a:prstGeom prst="flowChartDelay">
            <a:avLst/>
          </a:prstGeom>
          <a:solidFill>
            <a:srgbClr val="4299E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2000" b="1">
                <a:solidFill>
                  <a:srgbClr val="FFFFFF"/>
                </a:solidFill>
                <a:effectLst>
                  <a:outerShdw blurRad="50800" dist="38100" dir="5400000" algn="t" rotWithShape="0">
                    <a:srgbClr val="38B2AC">
                      <a:alpha val="40000"/>
                      <a:lumMod val="7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02</a:t>
            </a:r>
            <a:endParaRPr lang="en-US" altLang="zh-CN" b="1" dirty="0">
              <a:solidFill>
                <a:srgbClr val="FFFFFF"/>
              </a:solidFill>
              <a:effectLst>
                <a:outerShdw blurRad="50800" dist="38100" dir="5400000" algn="t" rotWithShape="0">
                  <a:srgbClr val="4299E1">
                    <a:alpha val="40000"/>
                    <a:lumMod val="75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189" name="矩形 188"/>
          <p:cNvSpPr/>
          <p:nvPr>
            <p:custDataLst>
              <p:tags r:id="rId12"/>
            </p:custDataLst>
          </p:nvPr>
        </p:nvSpPr>
        <p:spPr>
          <a:xfrm>
            <a:off x="4835750" y="6038202"/>
            <a:ext cx="3746702" cy="43277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4299E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数据处理与矢量化</a:t>
            </a:r>
            <a:endParaRPr lang="zh-CN" altLang="en-US" sz="2800" b="1">
              <a:solidFill>
                <a:srgbClr val="4299E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90" name="流程图: 延期 189"/>
          <p:cNvSpPr/>
          <p:nvPr>
            <p:custDataLst>
              <p:tags r:id="rId13"/>
            </p:custDataLst>
          </p:nvPr>
        </p:nvSpPr>
        <p:spPr>
          <a:xfrm>
            <a:off x="7423862" y="1654810"/>
            <a:ext cx="533308" cy="570383"/>
          </a:xfrm>
          <a:prstGeom prst="flowChartDelay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SzTx/>
            </a:pPr>
            <a:r>
              <a:rPr lang="en-US" altLang="zh-CN" sz="2000" b="1">
                <a:solidFill>
                  <a:srgbClr val="FFFFFF"/>
                </a:solidFill>
                <a:effectLst>
                  <a:outerShdw blurRad="50800" dist="38100" dir="5400000" algn="t" rotWithShape="0">
                    <a:srgbClr val="38B2AC">
                      <a:alpha val="40000"/>
                      <a:lumMod val="75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03</a:t>
            </a:r>
            <a:endParaRPr lang="en-US" altLang="zh-CN" sz="2000" b="1">
              <a:solidFill>
                <a:srgbClr val="FFFFFF"/>
              </a:solidFill>
              <a:effectLst>
                <a:outerShdw blurRad="50800" dist="38100" dir="5400000" algn="t" rotWithShape="0">
                  <a:srgbClr val="38B2AC">
                    <a:alpha val="40000"/>
                    <a:lumMod val="75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91" name="矩形 190"/>
          <p:cNvSpPr/>
          <p:nvPr>
            <p:custDataLst>
              <p:tags r:id="rId14"/>
            </p:custDataLst>
          </p:nvPr>
        </p:nvSpPr>
        <p:spPr>
          <a:xfrm>
            <a:off x="7572875" y="2359945"/>
            <a:ext cx="4357011" cy="11721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以GeoJSON格式输出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点（POI/任务点）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线（道路/轨迹）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 defTabSz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面（建筑/操场/网格）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2" name="矩形 191"/>
          <p:cNvSpPr/>
          <p:nvPr>
            <p:custDataLst>
              <p:tags r:id="rId15"/>
            </p:custDataLst>
          </p:nvPr>
        </p:nvSpPr>
        <p:spPr>
          <a:xfrm>
            <a:off x="8183897" y="1722542"/>
            <a:ext cx="3746702" cy="43277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l">
              <a:buSzTx/>
            </a:pPr>
            <a:r>
              <a:rPr lang="zh-CN" altLang="en-US" sz="2800" b="1">
                <a:solidFill>
                  <a:srgbClr val="38B2AC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数据格式与分层输出</a:t>
            </a:r>
            <a:endParaRPr lang="zh-CN" altLang="en-US" sz="2800" b="1">
              <a:solidFill>
                <a:srgbClr val="38B2AC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cxnSp>
        <p:nvCxnSpPr>
          <p:cNvPr id="193" name="直接连接符 192"/>
          <p:cNvCxnSpPr/>
          <p:nvPr>
            <p:custDataLst>
              <p:tags r:id="rId16"/>
            </p:custDataLst>
          </p:nvPr>
        </p:nvCxnSpPr>
        <p:spPr>
          <a:xfrm flipH="1">
            <a:off x="7418158" y="1655523"/>
            <a:ext cx="5704" cy="2679373"/>
          </a:xfrm>
          <a:prstGeom prst="line">
            <a:avLst/>
          </a:prstGeom>
          <a:ln w="25400">
            <a:gradFill>
              <a:gsLst>
                <a:gs pos="17000">
                  <a:srgbClr val="38B2AC">
                    <a:alpha val="0"/>
                  </a:srgbClr>
                </a:gs>
                <a:gs pos="61000">
                  <a:srgbClr val="38B2AC">
                    <a:alpha val="100000"/>
                  </a:srgbClr>
                </a:gs>
              </a:gsLst>
              <a:lin ang="162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椭圆 193"/>
          <p:cNvSpPr/>
          <p:nvPr>
            <p:custDataLst>
              <p:tags r:id="rId17"/>
            </p:custDataLst>
          </p:nvPr>
        </p:nvSpPr>
        <p:spPr>
          <a:xfrm>
            <a:off x="7359694" y="4050418"/>
            <a:ext cx="104808" cy="106234"/>
          </a:xfrm>
          <a:prstGeom prst="ellipse">
            <a:avLst/>
          </a:prstGeom>
          <a:solidFill>
            <a:srgbClr val="38B2AC">
              <a:lumMod val="60000"/>
              <a:lumOff val="40000"/>
            </a:srgb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024880" y="2244725"/>
            <a:ext cx="2152650" cy="1871345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>
            <p:custDataLst>
              <p:tags r:id="rId1"/>
            </p:custDataLst>
          </p:nvPr>
        </p:nvSpPr>
        <p:spPr>
          <a:xfrm>
            <a:off x="1201420" y="1645285"/>
            <a:ext cx="4624070" cy="4521200"/>
          </a:xfrm>
          <a:prstGeom prst="roundRect">
            <a:avLst>
              <a:gd name="adj" fmla="val 5743"/>
            </a:avLst>
          </a:prstGeom>
          <a:solidFill>
            <a:srgbClr val="00A99D">
              <a:alpha val="2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页面效果参考与界面风格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3" r="33"/>
          <a:stretch>
            <a:fillRect/>
          </a:stretch>
        </p:blipFill>
        <p:spPr>
          <a:xfrm>
            <a:off x="1435100" y="1778000"/>
            <a:ext cx="2071365" cy="3686327"/>
          </a:xfrm>
          <a:prstGeom prst="roundRect">
            <a:avLst>
              <a:gd name="adj" fmla="val 847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1435100" y="5639867"/>
            <a:ext cx="2071365" cy="5266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Pikmin Bloom 视觉参考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56" r="56"/>
          <a:stretch>
            <a:fillRect/>
          </a:stretch>
        </p:blipFill>
        <p:spPr>
          <a:xfrm>
            <a:off x="3857544" y="1778000"/>
            <a:ext cx="1702732" cy="3686327"/>
          </a:xfrm>
          <a:prstGeom prst="roundRect">
            <a:avLst>
              <a:gd name="adj" fmla="val 1030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6"/>
          <p:cNvSpPr/>
          <p:nvPr>
            <p:custDataLst>
              <p:tags r:id="rId7"/>
            </p:custDataLst>
          </p:nvPr>
        </p:nvSpPr>
        <p:spPr>
          <a:xfrm>
            <a:off x="3857544" y="5639867"/>
            <a:ext cx="1702732" cy="5266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Pokémon GO 交互参考</a:t>
            </a:r>
            <a:endParaRPr 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592820" y="1645285"/>
            <a:ext cx="2516505" cy="4521200"/>
          </a:xfrm>
          <a:prstGeom prst="roundRect">
            <a:avLst>
              <a:gd name="adj" fmla="val 5743"/>
            </a:avLst>
          </a:prstGeom>
          <a:solidFill>
            <a:srgbClr val="00A99D">
              <a:alpha val="2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dcb499e3a2fc98b8d23af3c3704e3b2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4295" y="1711960"/>
            <a:ext cx="1766570" cy="3818890"/>
          </a:xfrm>
          <a:prstGeom prst="roundRect">
            <a:avLst>
              <a:gd name="adj" fmla="val 10309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9" name="AutoShape 6"/>
          <p:cNvSpPr/>
          <p:nvPr>
            <p:custDataLst>
              <p:tags r:id="rId9"/>
            </p:custDataLst>
          </p:nvPr>
        </p:nvSpPr>
        <p:spPr>
          <a:xfrm>
            <a:off x="8964214" y="5589067"/>
            <a:ext cx="1702732" cy="5266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我们的项目</a:t>
            </a:r>
            <a:r>
              <a:rPr lang="zh-CN" altLang="en-US" sz="1200" b="0" i="0" u="none" strike="noStrike">
                <a:solidFill>
                  <a:srgbClr val="6464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草图</a:t>
            </a:r>
            <a:endParaRPr lang="zh-CN" altLang="en-US" sz="1200" b="0" i="0" u="none" strike="noStrike">
              <a:solidFill>
                <a:srgbClr val="6464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0" name="虚尾箭头 29"/>
          <p:cNvSpPr/>
          <p:nvPr/>
        </p:nvSpPr>
        <p:spPr>
          <a:xfrm>
            <a:off x="6111875" y="4243070"/>
            <a:ext cx="2301240" cy="1154430"/>
          </a:xfrm>
          <a:prstGeom prst="stripedRightArrow">
            <a:avLst/>
          </a:prstGeom>
          <a:solidFill>
            <a:srgbClr val="00A99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039485" y="2277110"/>
            <a:ext cx="219202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我们借鉴了其</a:t>
            </a:r>
            <a:r>
              <a:rPr lang="en-US" altLang="zh-CN" sz="1600" b="1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LBS</a:t>
            </a:r>
            <a:r>
              <a:rPr lang="zh-CN" altLang="en-US" sz="1600" b="1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位置触发逻辑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600" b="1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空间留痕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的可视化反馈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剔除了复杂的角色养成，专注于</a:t>
            </a:r>
            <a:r>
              <a:rPr lang="en-US" altLang="zh-CN" sz="1600" b="1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校园地理实体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的交互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10"/>
            </p:custDataLst>
          </p:nvPr>
        </p:nvSpPr>
        <p:spPr>
          <a:xfrm>
            <a:off x="631825" y="1334135"/>
            <a:ext cx="5097145" cy="1346835"/>
          </a:xfrm>
          <a:prstGeom prst="roundRect">
            <a:avLst>
              <a:gd name="adj" fmla="val 5743"/>
            </a:avLst>
          </a:prstGeom>
          <a:solidFill>
            <a:srgbClr val="00A99D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35"/>
          <p:cNvSpPr/>
          <p:nvPr>
            <p:custDataLst>
              <p:tags r:id="rId1"/>
            </p:custDataLst>
          </p:nvPr>
        </p:nvSpPr>
        <p:spPr>
          <a:xfrm>
            <a:off x="6349365" y="2679700"/>
            <a:ext cx="5097145" cy="1960880"/>
          </a:xfrm>
          <a:prstGeom prst="roundRect">
            <a:avLst>
              <a:gd name="adj" fmla="val 5743"/>
            </a:avLst>
          </a:prstGeom>
          <a:solidFill>
            <a:srgbClr val="00A99D">
              <a:alpha val="2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>
            <p:custDataLst>
              <p:tags r:id="rId2"/>
            </p:custDataLst>
          </p:nvPr>
        </p:nvSpPr>
        <p:spPr>
          <a:xfrm>
            <a:off x="631825" y="3485515"/>
            <a:ext cx="5097145" cy="1960880"/>
          </a:xfrm>
          <a:prstGeom prst="roundRect">
            <a:avLst>
              <a:gd name="adj" fmla="val 5743"/>
            </a:avLst>
          </a:prstGeom>
          <a:solidFill>
            <a:srgbClr val="00A99D">
              <a:alpha val="2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>
            <p:custDataLst>
              <p:tags r:id="rId3"/>
            </p:custDataLst>
          </p:nvPr>
        </p:nvSpPr>
        <p:spPr>
          <a:xfrm>
            <a:off x="631825" y="1645285"/>
            <a:ext cx="5097145" cy="1346835"/>
          </a:xfrm>
          <a:prstGeom prst="roundRect">
            <a:avLst>
              <a:gd name="adj" fmla="val 5743"/>
            </a:avLst>
          </a:prstGeom>
          <a:solidFill>
            <a:srgbClr val="00A99D">
              <a:alpha val="26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技术方案与开发工具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4"/>
            </p:custDataLst>
          </p:nvPr>
        </p:nvSpPr>
        <p:spPr>
          <a:xfrm>
            <a:off x="762000" y="19177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108200"/>
            <a:ext cx="381000" cy="381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8"/>
            </p:custDataLst>
          </p:nvPr>
        </p:nvSpPr>
        <p:spPr>
          <a:xfrm>
            <a:off x="1460500" y="19812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前端交互层</a:t>
            </a: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微信小程序框架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altLang="zh-CN" sz="12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Canvas 2D </a:t>
            </a:r>
            <a:r>
              <a:rPr lang="zh-CN" altLang="en-US" sz="12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渲染</a:t>
            </a:r>
            <a:endParaRPr lang="zh-CN" altLang="en-US" sz="1200" b="0" i="0" u="none" strike="noStrike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9"/>
            </p:custDataLst>
          </p:nvPr>
        </p:nvSpPr>
        <p:spPr>
          <a:xfrm>
            <a:off x="762000" y="362712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2500" y="3817620"/>
            <a:ext cx="381000" cy="3810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13"/>
            </p:custDataLst>
          </p:nvPr>
        </p:nvSpPr>
        <p:spPr>
          <a:xfrm>
            <a:off x="1460500" y="369062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地图服务层</a:t>
            </a: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腾讯地图 API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提供基础地图、定位能力、图层管理与POI检索</a:t>
            </a:r>
            <a:endParaRPr lang="en-US" sz="1200" b="0" i="0" u="none" strike="noStrike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4"/>
            </p:custDataLst>
          </p:nvPr>
        </p:nvSpPr>
        <p:spPr>
          <a:xfrm>
            <a:off x="762000" y="451612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500" y="470662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8"/>
            </p:custDataLst>
          </p:nvPr>
        </p:nvSpPr>
        <p:spPr>
          <a:xfrm>
            <a:off x="1460500" y="457962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空间计算层</a:t>
            </a: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Turf.js / GeoJSON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前端轻量化空间分析计算，路径规划与几何运算</a:t>
            </a:r>
            <a:endParaRPr lang="en-US" sz="1200" b="0" i="0" u="none" strike="noStrike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9"/>
            </p:custDataLst>
          </p:nvPr>
        </p:nvSpPr>
        <p:spPr>
          <a:xfrm>
            <a:off x="6485255" y="280162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75755" y="299212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23"/>
            </p:custDataLst>
          </p:nvPr>
        </p:nvSpPr>
        <p:spPr>
          <a:xfrm>
            <a:off x="7183755" y="286512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数据预处理</a:t>
            </a: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QGIS / ArcGIS Pro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校园空间数据矢量化、清洗与拓扑关系构建</a:t>
            </a:r>
            <a:endParaRPr lang="en-US" sz="1200" b="0" i="0" u="none" strike="noStrike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24"/>
            </p:custDataLst>
          </p:nvPr>
        </p:nvSpPr>
        <p:spPr>
          <a:xfrm>
            <a:off x="6485255" y="369062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75755" y="388112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8"/>
            </p:custDataLst>
          </p:nvPr>
        </p:nvSpPr>
        <p:spPr>
          <a:xfrm>
            <a:off x="7183755" y="375412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后端服务层</a:t>
            </a: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| 微信云开发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999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云数据库存储结构化数据，云函数处理业务逻辑</a:t>
            </a:r>
            <a:endParaRPr lang="en-US" sz="1200" b="0" i="0" u="none" strike="noStrike">
              <a:solidFill>
                <a:srgbClr val="9999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3429000" y="5727065"/>
            <a:ext cx="5334000" cy="508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556000" y="5828665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3937000" y="572706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开发协作工具：</a:t>
            </a:r>
            <a:r>
              <a:rPr lang="en-US" sz="14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VS Code · Git · 微信开发者工具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91795" y="1490345"/>
            <a:ext cx="458470" cy="45847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91795" y="3289300"/>
            <a:ext cx="458470" cy="45847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6111875" y="2406650"/>
            <a:ext cx="458470" cy="458470"/>
          </a:xfrm>
          <a:prstGeom prst="ellipse">
            <a:avLst/>
          </a:prstGeom>
          <a:solidFill>
            <a:srgbClr val="4FD1C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3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40" name="肘形连接符 39"/>
          <p:cNvCxnSpPr>
            <a:stCxn id="34" idx="2"/>
            <a:endCxn id="35" idx="0"/>
          </p:cNvCxnSpPr>
          <p:nvPr/>
        </p:nvCxnSpPr>
        <p:spPr>
          <a:xfrm rot="5400000" flipV="1">
            <a:off x="2934335" y="3238500"/>
            <a:ext cx="493395" cy="3175"/>
          </a:xfrm>
          <a:prstGeom prst="bentConnector2">
            <a:avLst/>
          </a:prstGeom>
          <a:ln w="31750" cap="rnd">
            <a:solidFill>
              <a:schemeClr val="accent6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35" idx="3"/>
            <a:endCxn id="36" idx="1"/>
          </p:cNvCxnSpPr>
          <p:nvPr/>
        </p:nvCxnSpPr>
        <p:spPr>
          <a:xfrm flipV="1">
            <a:off x="5728970" y="3660140"/>
            <a:ext cx="620395" cy="805815"/>
          </a:xfrm>
          <a:prstGeom prst="bentConnector3">
            <a:avLst>
              <a:gd name="adj1" fmla="val 50051"/>
            </a:avLst>
          </a:prstGeom>
          <a:ln w="31750" cap="rnd">
            <a:solidFill>
              <a:schemeClr val="accent6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项目可行性的现实基础</a:t>
            </a:r>
            <a:endParaRPr lang="en-US" sz="32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1"/>
            </p:custDataLst>
          </p:nvPr>
        </p:nvSpPr>
        <p:spPr>
          <a:xfrm>
            <a:off x="4238626" y="3524568"/>
            <a:ext cx="711835" cy="608965"/>
          </a:xfrm>
          <a:custGeom>
            <a:avLst/>
            <a:gdLst>
              <a:gd name="connsiteX0" fmla="*/ 0 w 1083"/>
              <a:gd name="connsiteY0" fmla="*/ 0 h 926"/>
              <a:gd name="connsiteX1" fmla="*/ 1083 w 1083"/>
              <a:gd name="connsiteY1" fmla="*/ 76 h 926"/>
              <a:gd name="connsiteX2" fmla="*/ 1077 w 1083"/>
              <a:gd name="connsiteY2" fmla="*/ 470 h 926"/>
              <a:gd name="connsiteX3" fmla="*/ 4 w 1083"/>
              <a:gd name="connsiteY3" fmla="*/ 926 h 926"/>
              <a:gd name="connsiteX4" fmla="*/ 0 w 1083"/>
              <a:gd name="connsiteY4" fmla="*/ 0 h 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" h="926">
                <a:moveTo>
                  <a:pt x="0" y="0"/>
                </a:moveTo>
                <a:lnTo>
                  <a:pt x="1083" y="76"/>
                </a:lnTo>
                <a:lnTo>
                  <a:pt x="1077" y="470"/>
                </a:lnTo>
                <a:lnTo>
                  <a:pt x="4" y="92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6CFC9">
                  <a:alpha val="0"/>
                </a:srgbClr>
              </a:gs>
              <a:gs pos="100000">
                <a:srgbClr val="36CFC9">
                  <a:alpha val="35000"/>
                </a:srgbClr>
              </a:gs>
            </a:gsLst>
            <a:lin ang="10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7" name="任意多边形 76"/>
          <p:cNvSpPr/>
          <p:nvPr>
            <p:custDataLst>
              <p:tags r:id="rId2"/>
            </p:custDataLst>
          </p:nvPr>
        </p:nvSpPr>
        <p:spPr>
          <a:xfrm>
            <a:off x="5556886" y="2206308"/>
            <a:ext cx="408305" cy="1778000"/>
          </a:xfrm>
          <a:custGeom>
            <a:avLst/>
            <a:gdLst>
              <a:gd name="connsiteX0" fmla="*/ 0 w 621"/>
              <a:gd name="connsiteY0" fmla="*/ 1288 h 2705"/>
              <a:gd name="connsiteX1" fmla="*/ 616 w 621"/>
              <a:gd name="connsiteY1" fmla="*/ 0 h 2705"/>
              <a:gd name="connsiteX2" fmla="*/ 621 w 621"/>
              <a:gd name="connsiteY2" fmla="*/ 2705 h 2705"/>
              <a:gd name="connsiteX3" fmla="*/ 4 w 621"/>
              <a:gd name="connsiteY3" fmla="*/ 1933 h 2705"/>
              <a:gd name="connsiteX4" fmla="*/ 0 w 621"/>
              <a:gd name="connsiteY4" fmla="*/ 1288 h 2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2705">
                <a:moveTo>
                  <a:pt x="0" y="1288"/>
                </a:moveTo>
                <a:lnTo>
                  <a:pt x="616" y="0"/>
                </a:lnTo>
                <a:lnTo>
                  <a:pt x="621" y="2705"/>
                </a:lnTo>
                <a:lnTo>
                  <a:pt x="4" y="1933"/>
                </a:lnTo>
                <a:lnTo>
                  <a:pt x="0" y="1288"/>
                </a:lnTo>
                <a:close/>
              </a:path>
            </a:pathLst>
          </a:custGeom>
          <a:gradFill>
            <a:gsLst>
              <a:gs pos="85000">
                <a:srgbClr val="F7BA1E">
                  <a:alpha val="0"/>
                </a:srgbClr>
              </a:gs>
              <a:gs pos="11000">
                <a:srgbClr val="F7BA1E">
                  <a:alpha val="4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8" name="任意多边形 77"/>
          <p:cNvSpPr/>
          <p:nvPr>
            <p:custDataLst>
              <p:tags r:id="rId3"/>
            </p:custDataLst>
          </p:nvPr>
        </p:nvSpPr>
        <p:spPr>
          <a:xfrm>
            <a:off x="6812281" y="4231323"/>
            <a:ext cx="3603625" cy="487680"/>
          </a:xfrm>
          <a:custGeom>
            <a:avLst/>
            <a:gdLst>
              <a:gd name="connsiteX0" fmla="*/ 0 w 5482"/>
              <a:gd name="connsiteY0" fmla="*/ 13 h 742"/>
              <a:gd name="connsiteX1" fmla="*/ 1871 w 5482"/>
              <a:gd name="connsiteY1" fmla="*/ 0 h 742"/>
              <a:gd name="connsiteX2" fmla="*/ 5463 w 5482"/>
              <a:gd name="connsiteY2" fmla="*/ 667 h 742"/>
              <a:gd name="connsiteX3" fmla="*/ 5482 w 5482"/>
              <a:gd name="connsiteY3" fmla="*/ 742 h 742"/>
              <a:gd name="connsiteX4" fmla="*/ 911 w 5482"/>
              <a:gd name="connsiteY4" fmla="*/ 690 h 742"/>
              <a:gd name="connsiteX5" fmla="*/ 0 w 5482"/>
              <a:gd name="connsiteY5" fmla="*/ 13 h 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2" h="742">
                <a:moveTo>
                  <a:pt x="0" y="13"/>
                </a:moveTo>
                <a:lnTo>
                  <a:pt x="1871" y="0"/>
                </a:lnTo>
                <a:lnTo>
                  <a:pt x="5463" y="667"/>
                </a:lnTo>
                <a:lnTo>
                  <a:pt x="5482" y="742"/>
                </a:lnTo>
                <a:lnTo>
                  <a:pt x="911" y="690"/>
                </a:lnTo>
                <a:lnTo>
                  <a:pt x="0" y="13"/>
                </a:lnTo>
                <a:close/>
              </a:path>
            </a:pathLst>
          </a:custGeom>
          <a:gradFill>
            <a:gsLst>
              <a:gs pos="12000">
                <a:srgbClr val="F7BA1E">
                  <a:alpha val="50000"/>
                </a:srgbClr>
              </a:gs>
              <a:gs pos="100000">
                <a:srgbClr val="F7BA1E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9" name="任意多边形 78"/>
          <p:cNvSpPr/>
          <p:nvPr>
            <p:custDataLst>
              <p:tags r:id="rId4"/>
            </p:custDataLst>
          </p:nvPr>
        </p:nvSpPr>
        <p:spPr>
          <a:xfrm>
            <a:off x="6757036" y="4201478"/>
            <a:ext cx="657860" cy="2132965"/>
          </a:xfrm>
          <a:custGeom>
            <a:avLst/>
            <a:gdLst>
              <a:gd name="connsiteX0" fmla="*/ 20 w 1001"/>
              <a:gd name="connsiteY0" fmla="*/ 0 h 3245"/>
              <a:gd name="connsiteX1" fmla="*/ 999 w 1001"/>
              <a:gd name="connsiteY1" fmla="*/ 732 h 3245"/>
              <a:gd name="connsiteX2" fmla="*/ 1001 w 1001"/>
              <a:gd name="connsiteY2" fmla="*/ 3245 h 3245"/>
              <a:gd name="connsiteX3" fmla="*/ 0 w 1001"/>
              <a:gd name="connsiteY3" fmla="*/ 1120 h 3245"/>
              <a:gd name="connsiteX4" fmla="*/ 20 w 1001"/>
              <a:gd name="connsiteY4" fmla="*/ 0 h 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1" h="3245">
                <a:moveTo>
                  <a:pt x="20" y="0"/>
                </a:moveTo>
                <a:lnTo>
                  <a:pt x="999" y="732"/>
                </a:lnTo>
                <a:lnTo>
                  <a:pt x="1001" y="3245"/>
                </a:lnTo>
                <a:lnTo>
                  <a:pt x="0" y="1120"/>
                </a:lnTo>
                <a:lnTo>
                  <a:pt x="20" y="0"/>
                </a:lnTo>
                <a:close/>
              </a:path>
            </a:pathLst>
          </a:custGeom>
          <a:gradFill>
            <a:gsLst>
              <a:gs pos="17000">
                <a:srgbClr val="F7BA1E">
                  <a:alpha val="0"/>
                </a:srgbClr>
              </a:gs>
              <a:gs pos="100000">
                <a:srgbClr val="F7BA1E">
                  <a:alpha val="40000"/>
                </a:srgb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0" name="圆角矩形 79"/>
          <p:cNvSpPr/>
          <p:nvPr>
            <p:custDataLst>
              <p:tags r:id="rId5"/>
            </p:custDataLst>
          </p:nvPr>
        </p:nvSpPr>
        <p:spPr>
          <a:xfrm>
            <a:off x="7409181" y="4672013"/>
            <a:ext cx="3014345" cy="1678940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F7BA1E">
                  <a:lumMod val="10000"/>
                  <a:lumOff val="90000"/>
                  <a:alpha val="100000"/>
                </a:srgbClr>
              </a:gs>
              <a:gs pos="49000">
                <a:srgbClr val="F7BA1E">
                  <a:lumMod val="40000"/>
                  <a:lumOff val="60000"/>
                  <a:alpha val="100000"/>
                </a:srgbClr>
              </a:gs>
              <a:gs pos="100000">
                <a:srgbClr val="F7BA1E">
                  <a:lumMod val="50000"/>
                  <a:lumOff val="50000"/>
                  <a:alpha val="100000"/>
                </a:srgbClr>
              </a:gs>
            </a:gsLst>
            <a:lin ang="24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1" name="标题"/>
          <p:cNvSpPr txBox="1"/>
          <p:nvPr>
            <p:custDataLst>
              <p:tags r:id="rId6"/>
            </p:custDataLst>
          </p:nvPr>
        </p:nvSpPr>
        <p:spPr>
          <a:xfrm>
            <a:off x="7681596" y="4955223"/>
            <a:ext cx="2519045" cy="596265"/>
          </a:xfrm>
          <a:prstGeom prst="rect">
            <a:avLst/>
          </a:prstGeom>
          <a:noFill/>
        </p:spPr>
        <p:txBody>
          <a:bodyPr wrap="square" lIns="90170" tIns="46990" rIns="90170" bIns="46990" rtlCol="0" anchor="b">
            <a:noAutofit/>
          </a:bodyPr>
          <a:p>
            <a:pPr algn="ctr"/>
            <a:r>
              <a:rPr lang="zh-CN" altLang="en-US" sz="2800" b="1" spc="300" dirty="0">
                <a:solidFill>
                  <a:srgbClr val="F7BA1E">
                    <a:lumMod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团队可行</a:t>
            </a:r>
            <a:endParaRPr lang="zh-CN" altLang="en-US" sz="2800" b="1" spc="300" dirty="0">
              <a:solidFill>
                <a:srgbClr val="F7BA1E">
                  <a:lumMod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82" name="圆角矩形 81"/>
          <p:cNvSpPr/>
          <p:nvPr>
            <p:custDataLst>
              <p:tags r:id="rId7"/>
            </p:custDataLst>
          </p:nvPr>
        </p:nvSpPr>
        <p:spPr>
          <a:xfrm>
            <a:off x="4937761" y="5181918"/>
            <a:ext cx="1822450" cy="890905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36CFC9">
                  <a:lumMod val="40000"/>
                  <a:lumOff val="60000"/>
                  <a:alpha val="37000"/>
                </a:srgbClr>
              </a:gs>
              <a:gs pos="73000">
                <a:srgbClr val="36CFC9">
                  <a:lumMod val="92000"/>
                  <a:lumOff val="8000"/>
                  <a:alpha val="55000"/>
                </a:srgbClr>
              </a:gs>
            </a:gsLst>
            <a:lin ang="25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3" name="任意多边形 82"/>
          <p:cNvSpPr/>
          <p:nvPr>
            <p:custDataLst>
              <p:tags r:id="rId8"/>
            </p:custDataLst>
          </p:nvPr>
        </p:nvSpPr>
        <p:spPr>
          <a:xfrm flipH="1">
            <a:off x="4937761" y="4729163"/>
            <a:ext cx="1811655" cy="459740"/>
          </a:xfrm>
          <a:custGeom>
            <a:avLst/>
            <a:gdLst>
              <a:gd name="connsiteX0" fmla="*/ 382 w 2756"/>
              <a:gd name="connsiteY0" fmla="*/ 0 h 699"/>
              <a:gd name="connsiteX1" fmla="*/ 2339 w 2756"/>
              <a:gd name="connsiteY1" fmla="*/ 3 h 699"/>
              <a:gd name="connsiteX2" fmla="*/ 2756 w 2756"/>
              <a:gd name="connsiteY2" fmla="*/ 697 h 699"/>
              <a:gd name="connsiteX3" fmla="*/ 0 w 2756"/>
              <a:gd name="connsiteY3" fmla="*/ 699 h 699"/>
              <a:gd name="connsiteX4" fmla="*/ 382 w 2756"/>
              <a:gd name="connsiteY4" fmla="*/ 0 h 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6" h="699">
                <a:moveTo>
                  <a:pt x="382" y="0"/>
                </a:moveTo>
                <a:lnTo>
                  <a:pt x="2339" y="3"/>
                </a:lnTo>
                <a:lnTo>
                  <a:pt x="2756" y="697"/>
                </a:lnTo>
                <a:lnTo>
                  <a:pt x="0" y="699"/>
                </a:lnTo>
                <a:lnTo>
                  <a:pt x="382" y="0"/>
                </a:lnTo>
                <a:close/>
              </a:path>
            </a:pathLst>
          </a:custGeom>
          <a:gradFill>
            <a:gsLst>
              <a:gs pos="68000">
                <a:srgbClr val="36CFC9">
                  <a:alpha val="25000"/>
                </a:srgbClr>
              </a:gs>
              <a:gs pos="0">
                <a:srgbClr val="36CFC9">
                  <a:alpha val="0"/>
                </a:srgb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4" name="圆角矩形 83"/>
          <p:cNvSpPr/>
          <p:nvPr>
            <p:custDataLst>
              <p:tags r:id="rId9"/>
            </p:custDataLst>
          </p:nvPr>
        </p:nvSpPr>
        <p:spPr>
          <a:xfrm>
            <a:off x="5946776" y="1493838"/>
            <a:ext cx="692150" cy="549910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36CFC9">
                  <a:lumMod val="40000"/>
                  <a:lumOff val="60000"/>
                  <a:alpha val="40000"/>
                </a:srgbClr>
              </a:gs>
              <a:gs pos="73000">
                <a:srgbClr val="36CFC9">
                  <a:lumMod val="40000"/>
                  <a:lumOff val="60000"/>
                  <a:alpha val="3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5" name="任意多边形 84"/>
          <p:cNvSpPr/>
          <p:nvPr>
            <p:custDataLst>
              <p:tags r:id="rId10"/>
            </p:custDataLst>
          </p:nvPr>
        </p:nvSpPr>
        <p:spPr>
          <a:xfrm flipH="1">
            <a:off x="4228466" y="4104958"/>
            <a:ext cx="785495" cy="2202815"/>
          </a:xfrm>
          <a:custGeom>
            <a:avLst/>
            <a:gdLst>
              <a:gd name="connsiteX0" fmla="*/ 0 w 1120"/>
              <a:gd name="connsiteY0" fmla="*/ 0 h 3141"/>
              <a:gd name="connsiteX1" fmla="*/ 1120 w 1120"/>
              <a:gd name="connsiteY1" fmla="*/ 840 h 3141"/>
              <a:gd name="connsiteX2" fmla="*/ 1108 w 1120"/>
              <a:gd name="connsiteY2" fmla="*/ 3141 h 3141"/>
              <a:gd name="connsiteX3" fmla="*/ 0 w 1120"/>
              <a:gd name="connsiteY3" fmla="*/ 720 h 3141"/>
              <a:gd name="connsiteX4" fmla="*/ 0 w 1120"/>
              <a:gd name="connsiteY4" fmla="*/ 0 h 3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" h="3141">
                <a:moveTo>
                  <a:pt x="0" y="0"/>
                </a:moveTo>
                <a:lnTo>
                  <a:pt x="1120" y="840"/>
                </a:lnTo>
                <a:lnTo>
                  <a:pt x="1108" y="3141"/>
                </a:lnTo>
                <a:lnTo>
                  <a:pt x="0" y="72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6CFC9">
                  <a:alpha val="0"/>
                </a:srgbClr>
              </a:gs>
              <a:gs pos="100000">
                <a:srgbClr val="36CFC9">
                  <a:alpha val="55000"/>
                </a:srgbClr>
              </a:gs>
            </a:gsLst>
            <a:lin ang="3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6" name="任意多边形 85"/>
          <p:cNvSpPr/>
          <p:nvPr>
            <p:custDataLst>
              <p:tags r:id="rId11"/>
            </p:custDataLst>
          </p:nvPr>
        </p:nvSpPr>
        <p:spPr>
          <a:xfrm flipH="1">
            <a:off x="1219200" y="4090988"/>
            <a:ext cx="3808730" cy="612775"/>
          </a:xfrm>
          <a:custGeom>
            <a:avLst/>
            <a:gdLst>
              <a:gd name="connsiteX0" fmla="*/ 0 w 5431"/>
              <a:gd name="connsiteY0" fmla="*/ 10 h 874"/>
              <a:gd name="connsiteX1" fmla="*/ 1670 w 5431"/>
              <a:gd name="connsiteY1" fmla="*/ 0 h 874"/>
              <a:gd name="connsiteX2" fmla="*/ 5431 w 5431"/>
              <a:gd name="connsiteY2" fmla="*/ 874 h 874"/>
              <a:gd name="connsiteX3" fmla="*/ 1140 w 5431"/>
              <a:gd name="connsiteY3" fmla="*/ 870 h 874"/>
              <a:gd name="connsiteX4" fmla="*/ 0 w 5431"/>
              <a:gd name="connsiteY4" fmla="*/ 10 h 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1" h="874">
                <a:moveTo>
                  <a:pt x="0" y="10"/>
                </a:moveTo>
                <a:lnTo>
                  <a:pt x="1670" y="0"/>
                </a:lnTo>
                <a:lnTo>
                  <a:pt x="5431" y="874"/>
                </a:lnTo>
                <a:lnTo>
                  <a:pt x="1140" y="870"/>
                </a:lnTo>
                <a:lnTo>
                  <a:pt x="0" y="10"/>
                </a:lnTo>
                <a:close/>
              </a:path>
            </a:pathLst>
          </a:custGeom>
          <a:gradFill>
            <a:gsLst>
              <a:gs pos="0">
                <a:srgbClr val="36CFC9">
                  <a:alpha val="55000"/>
                </a:srgbClr>
              </a:gs>
              <a:gs pos="100000">
                <a:srgbClr val="36CFC9">
                  <a:alpha val="0"/>
                </a:srgbClr>
              </a:gs>
            </a:gsLst>
            <a:lin ang="161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7" name="圆角矩形 86"/>
          <p:cNvSpPr/>
          <p:nvPr>
            <p:custDataLst>
              <p:tags r:id="rId12"/>
            </p:custDataLst>
          </p:nvPr>
        </p:nvSpPr>
        <p:spPr>
          <a:xfrm flipH="1">
            <a:off x="1216025" y="4697413"/>
            <a:ext cx="3022600" cy="1640840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36CFC9">
                  <a:lumMod val="25000"/>
                  <a:lumOff val="75000"/>
                  <a:alpha val="100000"/>
                </a:srgbClr>
              </a:gs>
              <a:gs pos="34000">
                <a:srgbClr val="36CFC9">
                  <a:lumMod val="65000"/>
                  <a:lumOff val="35000"/>
                  <a:alpha val="100000"/>
                </a:srgbClr>
              </a:gs>
              <a:gs pos="69000">
                <a:srgbClr val="36CFC9">
                  <a:lumMod val="80000"/>
                  <a:lumOff val="20000"/>
                  <a:alpha val="100000"/>
                </a:srgbClr>
              </a:gs>
              <a:gs pos="100000">
                <a:srgbClr val="36CFC9">
                  <a:lumMod val="96000"/>
                  <a:lumOff val="4000"/>
                  <a:alpha val="100000"/>
                </a:srgbClr>
              </a:gs>
            </a:gsLst>
            <a:lin ang="92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88" name="标题"/>
          <p:cNvSpPr txBox="1"/>
          <p:nvPr>
            <p:custDataLst>
              <p:tags r:id="rId13"/>
            </p:custDataLst>
          </p:nvPr>
        </p:nvSpPr>
        <p:spPr>
          <a:xfrm>
            <a:off x="1395095" y="4994593"/>
            <a:ext cx="2668270" cy="558800"/>
          </a:xfrm>
          <a:prstGeom prst="rect">
            <a:avLst/>
          </a:prstGeom>
          <a:noFill/>
        </p:spPr>
        <p:txBody>
          <a:bodyPr wrap="square" lIns="90170" tIns="46990" rIns="90170" bIns="46990" rtlCol="0" anchor="b">
            <a:noAutofit/>
          </a:bodyPr>
          <a:p>
            <a:pPr algn="ctr">
              <a:buSzTx/>
            </a:pPr>
            <a:r>
              <a:rPr lang="zh-CN" altLang="en-US" sz="2800" b="1" spc="3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数据可行</a:t>
            </a:r>
            <a:endParaRPr lang="zh-CN" altLang="en-US" sz="2800" b="1" spc="3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89" name="标题"/>
          <p:cNvSpPr txBox="1"/>
          <p:nvPr>
            <p:custDataLst>
              <p:tags r:id="rId14"/>
            </p:custDataLst>
          </p:nvPr>
        </p:nvSpPr>
        <p:spPr>
          <a:xfrm>
            <a:off x="1389380" y="5620068"/>
            <a:ext cx="2665730" cy="481965"/>
          </a:xfrm>
          <a:prstGeom prst="rect">
            <a:avLst/>
          </a:prstGeom>
          <a:noFill/>
        </p:spPr>
        <p:txBody>
          <a:bodyPr wrap="square" lIns="90170" tIns="46990" rIns="90170" bIns="36195" rtlCol="0" anchor="t" anchorCtr="0">
            <a:noAutofit/>
          </a:bodyPr>
          <a:p>
            <a:pPr algn="ctr"/>
            <a:r>
              <a:rPr lang="en-US" altLang="en-US" sz="1800" spc="300" dirty="0">
                <a:solidFill>
                  <a:srgbClr val="FCFCFC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API + </a:t>
            </a:r>
            <a:r>
              <a:rPr lang="zh-CN" altLang="en-US" sz="1800" spc="300" dirty="0">
                <a:solidFill>
                  <a:srgbClr val="FCFCFC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公开资料</a:t>
            </a:r>
            <a:r>
              <a:rPr lang="en-US" altLang="zh-CN" sz="1800" spc="300" dirty="0">
                <a:solidFill>
                  <a:srgbClr val="FCFCFC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+ </a:t>
            </a:r>
            <a:r>
              <a:rPr lang="zh-CN" altLang="en-US" sz="1800" spc="300" dirty="0">
                <a:solidFill>
                  <a:srgbClr val="FCFCFC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实地打点</a:t>
            </a:r>
            <a:endParaRPr lang="zh-CN" altLang="en-US" sz="1800" spc="300" dirty="0">
              <a:solidFill>
                <a:srgbClr val="FCFCFC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0" name="任意多边形 89"/>
          <p:cNvSpPr/>
          <p:nvPr>
            <p:custDataLst>
              <p:tags r:id="rId15"/>
            </p:custDataLst>
          </p:nvPr>
        </p:nvSpPr>
        <p:spPr>
          <a:xfrm>
            <a:off x="4143376" y="1505903"/>
            <a:ext cx="882015" cy="1826260"/>
          </a:xfrm>
          <a:custGeom>
            <a:avLst/>
            <a:gdLst>
              <a:gd name="connsiteX0" fmla="*/ 0 w 1342"/>
              <a:gd name="connsiteY0" fmla="*/ 0 h 2778"/>
              <a:gd name="connsiteX1" fmla="*/ 1326 w 1342"/>
              <a:gd name="connsiteY1" fmla="*/ 1538 h 2778"/>
              <a:gd name="connsiteX2" fmla="*/ 1342 w 1342"/>
              <a:gd name="connsiteY2" fmla="*/ 2778 h 2778"/>
              <a:gd name="connsiteX3" fmla="*/ 16 w 1342"/>
              <a:gd name="connsiteY3" fmla="*/ 2480 h 2778"/>
              <a:gd name="connsiteX4" fmla="*/ 0 w 1342"/>
              <a:gd name="connsiteY4" fmla="*/ 0 h 2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2" h="2778">
                <a:moveTo>
                  <a:pt x="0" y="0"/>
                </a:moveTo>
                <a:lnTo>
                  <a:pt x="1326" y="1538"/>
                </a:lnTo>
                <a:lnTo>
                  <a:pt x="1342" y="2778"/>
                </a:lnTo>
                <a:lnTo>
                  <a:pt x="16" y="24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6CFC9">
                  <a:lumMod val="40000"/>
                  <a:lumOff val="60000"/>
                  <a:alpha val="0"/>
                </a:srgbClr>
              </a:gs>
              <a:gs pos="100000">
                <a:srgbClr val="36CFC9">
                  <a:alpha val="50000"/>
                </a:srgbClr>
              </a:gs>
            </a:gsLst>
            <a:lin ang="104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1" name="任意多边形 90"/>
          <p:cNvSpPr/>
          <p:nvPr>
            <p:custDataLst>
              <p:tags r:id="rId16"/>
            </p:custDataLst>
          </p:nvPr>
        </p:nvSpPr>
        <p:spPr>
          <a:xfrm>
            <a:off x="879475" y="3117533"/>
            <a:ext cx="4175760" cy="243840"/>
          </a:xfrm>
          <a:custGeom>
            <a:avLst/>
            <a:gdLst>
              <a:gd name="connsiteX0" fmla="*/ 0 w 6352"/>
              <a:gd name="connsiteY0" fmla="*/ 0 h 371"/>
              <a:gd name="connsiteX1" fmla="*/ 4993 w 6352"/>
              <a:gd name="connsiteY1" fmla="*/ 11 h 371"/>
              <a:gd name="connsiteX2" fmla="*/ 6352 w 6352"/>
              <a:gd name="connsiteY2" fmla="*/ 333 h 371"/>
              <a:gd name="connsiteX3" fmla="*/ 2137 w 6352"/>
              <a:gd name="connsiteY3" fmla="*/ 371 h 371"/>
              <a:gd name="connsiteX4" fmla="*/ 0 w 6352"/>
              <a:gd name="connsiteY4" fmla="*/ 0 h 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2" h="371">
                <a:moveTo>
                  <a:pt x="0" y="0"/>
                </a:moveTo>
                <a:lnTo>
                  <a:pt x="4993" y="11"/>
                </a:lnTo>
                <a:lnTo>
                  <a:pt x="6352" y="333"/>
                </a:lnTo>
                <a:lnTo>
                  <a:pt x="2137" y="37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36CFC9">
                  <a:alpha val="60000"/>
                </a:srgbClr>
              </a:gs>
              <a:gs pos="100000">
                <a:srgbClr val="36CFC9">
                  <a:alpha val="0"/>
                </a:srgb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2" name="圆角矩形 91"/>
          <p:cNvSpPr/>
          <p:nvPr>
            <p:custDataLst>
              <p:tags r:id="rId17"/>
            </p:custDataLst>
          </p:nvPr>
        </p:nvSpPr>
        <p:spPr>
          <a:xfrm>
            <a:off x="879475" y="1509713"/>
            <a:ext cx="3282950" cy="1621155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36CFC9">
                  <a:lumMod val="10000"/>
                  <a:lumOff val="90000"/>
                  <a:alpha val="100000"/>
                </a:srgbClr>
              </a:gs>
              <a:gs pos="83000">
                <a:srgbClr val="36CFC9">
                  <a:lumMod val="40000"/>
                  <a:lumOff val="60000"/>
                  <a:alpha val="100000"/>
                </a:srgbClr>
              </a:gs>
              <a:gs pos="100000">
                <a:srgbClr val="36CFC9">
                  <a:lumMod val="50000"/>
                  <a:lumOff val="50000"/>
                  <a:alpha val="100000"/>
                </a:srgbClr>
              </a:gs>
            </a:gsLst>
            <a:lin ang="24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3" name="标题"/>
          <p:cNvSpPr txBox="1"/>
          <p:nvPr>
            <p:custDataLst>
              <p:tags r:id="rId18"/>
            </p:custDataLst>
          </p:nvPr>
        </p:nvSpPr>
        <p:spPr>
          <a:xfrm>
            <a:off x="1191260" y="1693228"/>
            <a:ext cx="2642235" cy="654050"/>
          </a:xfrm>
          <a:prstGeom prst="rect">
            <a:avLst/>
          </a:prstGeom>
          <a:noFill/>
        </p:spPr>
        <p:txBody>
          <a:bodyPr wrap="square" lIns="90170" tIns="46990" rIns="90170" bIns="46990" rtlCol="0" anchor="b">
            <a:noAutofit/>
          </a:bodyPr>
          <a:p>
            <a:pPr algn="ctr"/>
            <a:r>
              <a:rPr lang="zh-CN" altLang="en-US" sz="2800" b="1" spc="300" dirty="0">
                <a:solidFill>
                  <a:srgbClr val="36CFC9">
                    <a:lumMod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环境可行</a:t>
            </a:r>
            <a:endParaRPr lang="zh-CN" altLang="en-US" sz="2800" b="1" spc="300" dirty="0">
              <a:solidFill>
                <a:srgbClr val="36CFC9">
                  <a:lumMod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94" name="标题"/>
          <p:cNvSpPr txBox="1"/>
          <p:nvPr>
            <p:custDataLst>
              <p:tags r:id="rId19"/>
            </p:custDataLst>
          </p:nvPr>
        </p:nvSpPr>
        <p:spPr>
          <a:xfrm>
            <a:off x="1191260" y="2400618"/>
            <a:ext cx="2642235" cy="516255"/>
          </a:xfrm>
          <a:prstGeom prst="rect">
            <a:avLst/>
          </a:prstGeom>
          <a:noFill/>
        </p:spPr>
        <p:txBody>
          <a:bodyPr wrap="square" lIns="90170" tIns="0" rIns="90170" bIns="71755" rtlCol="0" anchor="t" anchorCtr="0">
            <a:noAutofit/>
          </a:bodyPr>
          <a:p>
            <a:pPr algn="ctr"/>
            <a:r>
              <a:rPr lang="zh-CN" altLang="en-US" sz="1800" spc="300" dirty="0">
                <a:solidFill>
                  <a:srgbClr val="36CFC9">
                    <a:lumMod val="5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+mn-ea"/>
              </a:rPr>
              <a:t>校园边界清晰，场景可控</a:t>
            </a:r>
            <a:endParaRPr lang="zh-CN" altLang="en-US" sz="1800" spc="300" dirty="0">
              <a:solidFill>
                <a:srgbClr val="36CFC9">
                  <a:lumMod val="50000"/>
                </a:srgbClr>
              </a:solidFill>
              <a:uFillTx/>
              <a:latin typeface="黑体" panose="02010609060101010101" charset="-122"/>
              <a:ea typeface="黑体" panose="02010609060101010101" charset="-122"/>
              <a:cs typeface="+mn-ea"/>
            </a:endParaRPr>
          </a:p>
        </p:txBody>
      </p:sp>
      <p:sp>
        <p:nvSpPr>
          <p:cNvPr id="97" name="圆角矩形 96"/>
          <p:cNvSpPr/>
          <p:nvPr>
            <p:custDataLst>
              <p:tags r:id="rId20"/>
            </p:custDataLst>
          </p:nvPr>
        </p:nvSpPr>
        <p:spPr>
          <a:xfrm>
            <a:off x="3291841" y="3521393"/>
            <a:ext cx="949960" cy="615950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36CFC9">
                  <a:lumMod val="40000"/>
                  <a:lumOff val="60000"/>
                  <a:alpha val="37000"/>
                </a:srgbClr>
              </a:gs>
              <a:gs pos="73000">
                <a:srgbClr val="36CFC9">
                  <a:lumMod val="79000"/>
                  <a:lumOff val="21000"/>
                  <a:alpha val="50000"/>
                </a:srgbClr>
              </a:gs>
            </a:gsLst>
            <a:lin ang="25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5" name="任意多边形 94"/>
          <p:cNvSpPr/>
          <p:nvPr>
            <p:custDataLst>
              <p:tags r:id="rId21"/>
            </p:custDataLst>
          </p:nvPr>
        </p:nvSpPr>
        <p:spPr>
          <a:xfrm flipH="1">
            <a:off x="9036051" y="1629728"/>
            <a:ext cx="810895" cy="1177290"/>
          </a:xfrm>
          <a:custGeom>
            <a:avLst/>
            <a:gdLst>
              <a:gd name="connsiteX0" fmla="*/ 3 w 1234"/>
              <a:gd name="connsiteY0" fmla="*/ 0 h 1791"/>
              <a:gd name="connsiteX1" fmla="*/ 1234 w 1234"/>
              <a:gd name="connsiteY1" fmla="*/ 973 h 1791"/>
              <a:gd name="connsiteX2" fmla="*/ 1204 w 1234"/>
              <a:gd name="connsiteY2" fmla="*/ 1791 h 1791"/>
              <a:gd name="connsiteX3" fmla="*/ 0 w 1234"/>
              <a:gd name="connsiteY3" fmla="*/ 1585 h 1791"/>
              <a:gd name="connsiteX4" fmla="*/ 4 w 1234"/>
              <a:gd name="connsiteY4" fmla="*/ 13 h 1791"/>
              <a:gd name="connsiteX5" fmla="*/ 3 w 1234"/>
              <a:gd name="connsiteY5" fmla="*/ 0 h 1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4" h="1791">
                <a:moveTo>
                  <a:pt x="3" y="0"/>
                </a:moveTo>
                <a:lnTo>
                  <a:pt x="1234" y="973"/>
                </a:lnTo>
                <a:lnTo>
                  <a:pt x="1204" y="1791"/>
                </a:lnTo>
                <a:lnTo>
                  <a:pt x="0" y="1585"/>
                </a:lnTo>
                <a:lnTo>
                  <a:pt x="4" y="13"/>
                </a:lnTo>
                <a:lnTo>
                  <a:pt x="3" y="0"/>
                </a:lnTo>
                <a:close/>
              </a:path>
            </a:pathLst>
          </a:custGeom>
          <a:gradFill>
            <a:gsLst>
              <a:gs pos="0">
                <a:srgbClr val="36CFC9">
                  <a:alpha val="0"/>
                </a:srgbClr>
              </a:gs>
              <a:gs pos="100000">
                <a:srgbClr val="36CFC9">
                  <a:alpha val="30000"/>
                </a:srgbClr>
              </a:gs>
            </a:gsLst>
            <a:lin ang="105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6" name="圆角矩形 95"/>
          <p:cNvSpPr/>
          <p:nvPr>
            <p:custDataLst>
              <p:tags r:id="rId22"/>
            </p:custDataLst>
          </p:nvPr>
        </p:nvSpPr>
        <p:spPr>
          <a:xfrm>
            <a:off x="9845675" y="1629728"/>
            <a:ext cx="1450975" cy="1042035"/>
          </a:xfrm>
          <a:prstGeom prst="roundRect">
            <a:avLst>
              <a:gd name="adj" fmla="val 1418"/>
            </a:avLst>
          </a:prstGeom>
          <a:gradFill>
            <a:gsLst>
              <a:gs pos="0">
                <a:srgbClr val="36CFC9">
                  <a:lumMod val="40000"/>
                  <a:lumOff val="60000"/>
                  <a:alpha val="37000"/>
                </a:srgbClr>
              </a:gs>
              <a:gs pos="73000">
                <a:srgbClr val="36CFC9">
                  <a:lumMod val="60000"/>
                  <a:lumOff val="40000"/>
                  <a:alpha val="50000"/>
                </a:srgbClr>
              </a:gs>
            </a:gsLst>
            <a:lin ang="258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98" name="圆角矩形 97"/>
          <p:cNvSpPr/>
          <p:nvPr>
            <p:custDataLst>
              <p:tags r:id="rId23"/>
            </p:custDataLst>
          </p:nvPr>
        </p:nvSpPr>
        <p:spPr>
          <a:xfrm>
            <a:off x="9279256" y="4118293"/>
            <a:ext cx="448310" cy="197485"/>
          </a:xfrm>
          <a:prstGeom prst="roundRect">
            <a:avLst>
              <a:gd name="adj" fmla="val 2443"/>
            </a:avLst>
          </a:prstGeom>
          <a:solidFill>
            <a:srgbClr val="36CFC9">
              <a:alpha val="15000"/>
              <a:lumMod val="40000"/>
              <a:lumOff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99" name="圆角矩形 98"/>
          <p:cNvSpPr/>
          <p:nvPr>
            <p:custDataLst>
              <p:tags r:id="rId24"/>
            </p:custDataLst>
          </p:nvPr>
        </p:nvSpPr>
        <p:spPr>
          <a:xfrm>
            <a:off x="10388600" y="4315778"/>
            <a:ext cx="382270" cy="167640"/>
          </a:xfrm>
          <a:prstGeom prst="roundRect">
            <a:avLst>
              <a:gd name="adj" fmla="val 2443"/>
            </a:avLst>
          </a:prstGeom>
          <a:solidFill>
            <a:srgbClr val="36CFC9">
              <a:alpha val="15000"/>
              <a:lumMod val="40000"/>
              <a:lumOff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0" name="圆角矩形 99"/>
          <p:cNvSpPr/>
          <p:nvPr>
            <p:custDataLst>
              <p:tags r:id="rId25"/>
            </p:custDataLst>
          </p:nvPr>
        </p:nvSpPr>
        <p:spPr>
          <a:xfrm>
            <a:off x="5946776" y="2201863"/>
            <a:ext cx="3425190" cy="1786255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F7BA1E">
                  <a:lumMod val="25000"/>
                  <a:lumOff val="75000"/>
                  <a:alpha val="100000"/>
                </a:srgbClr>
              </a:gs>
              <a:gs pos="44000">
                <a:srgbClr val="F7BA1E">
                  <a:alpha val="100000"/>
                </a:srgbClr>
              </a:gs>
              <a:gs pos="79000">
                <a:srgbClr val="F7BA1E">
                  <a:alpha val="100000"/>
                </a:srgbClr>
              </a:gs>
              <a:gs pos="100000">
                <a:srgbClr val="F7BA1E">
                  <a:lumMod val="81000"/>
                  <a:alpha val="10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01" name="圆角矩形 100"/>
          <p:cNvSpPr/>
          <p:nvPr>
            <p:custDataLst>
              <p:tags r:id="rId26"/>
            </p:custDataLst>
          </p:nvPr>
        </p:nvSpPr>
        <p:spPr>
          <a:xfrm>
            <a:off x="4951731" y="1626553"/>
            <a:ext cx="535940" cy="339090"/>
          </a:xfrm>
          <a:prstGeom prst="roundRect">
            <a:avLst>
              <a:gd name="adj" fmla="val 2443"/>
            </a:avLst>
          </a:prstGeom>
          <a:solidFill>
            <a:srgbClr val="36CFC9">
              <a:alpha val="15000"/>
              <a:lumMod val="40000"/>
              <a:lumOff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102" name="圆角矩形 101"/>
          <p:cNvSpPr/>
          <p:nvPr>
            <p:custDataLst>
              <p:tags r:id="rId27"/>
            </p:custDataLst>
          </p:nvPr>
        </p:nvSpPr>
        <p:spPr>
          <a:xfrm>
            <a:off x="7737476" y="1728153"/>
            <a:ext cx="748030" cy="268605"/>
          </a:xfrm>
          <a:prstGeom prst="roundRect">
            <a:avLst>
              <a:gd name="adj" fmla="val 2443"/>
            </a:avLst>
          </a:prstGeom>
          <a:solidFill>
            <a:srgbClr val="36CFC9">
              <a:alpha val="15000"/>
              <a:lumMod val="40000"/>
              <a:lumOff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103" name="标题"/>
          <p:cNvSpPr txBox="1"/>
          <p:nvPr>
            <p:custDataLst>
              <p:tags r:id="rId28"/>
            </p:custDataLst>
          </p:nvPr>
        </p:nvSpPr>
        <p:spPr>
          <a:xfrm>
            <a:off x="6294756" y="2441258"/>
            <a:ext cx="2753360" cy="665480"/>
          </a:xfrm>
          <a:prstGeom prst="rect">
            <a:avLst/>
          </a:prstGeom>
          <a:noFill/>
        </p:spPr>
        <p:txBody>
          <a:bodyPr wrap="square" lIns="90170" tIns="46990" rIns="90170" bIns="46990" rtlCol="0" anchor="b">
            <a:noAutofit/>
          </a:bodyPr>
          <a:p>
            <a:pPr algn="ctr">
              <a:buSzTx/>
            </a:pPr>
            <a:r>
              <a:rPr lang="zh-CN" altLang="en-US" sz="2800" b="1" spc="300" dirty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技术可行</a:t>
            </a:r>
            <a:endParaRPr lang="zh-CN" altLang="en-US" sz="2800" b="1" spc="300" dirty="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104" name="标题"/>
          <p:cNvSpPr txBox="1"/>
          <p:nvPr>
            <p:custDataLst>
              <p:tags r:id="rId29"/>
            </p:custDataLst>
          </p:nvPr>
        </p:nvSpPr>
        <p:spPr>
          <a:xfrm>
            <a:off x="6294756" y="3177858"/>
            <a:ext cx="2753360" cy="539115"/>
          </a:xfrm>
          <a:prstGeom prst="rect">
            <a:avLst/>
          </a:prstGeom>
          <a:noFill/>
        </p:spPr>
        <p:txBody>
          <a:bodyPr wrap="square" lIns="90170" tIns="46990" rIns="90170" bIns="71755" rtlCol="0" anchor="t" anchorCtr="0">
            <a:noAutofit/>
          </a:bodyPr>
          <a:p>
            <a:pPr algn="ctr"/>
            <a:r>
              <a:rPr lang="zh-CN" altLang="en-US" sz="1800" spc="300" dirty="0">
                <a:solidFill>
                  <a:srgbClr val="FEFEFE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小程序开发</a:t>
            </a:r>
            <a:r>
              <a:rPr lang="en-US" altLang="zh-CN" sz="1800" spc="300" dirty="0">
                <a:solidFill>
                  <a:srgbClr val="FEFEFE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lang="en-US" altLang="zh-CN" sz="1800" spc="300" dirty="0">
              <a:solidFill>
                <a:srgbClr val="FEFEFE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en-US" altLang="zh-CN" sz="1800" spc="300" dirty="0">
                <a:solidFill>
                  <a:srgbClr val="FEFEFE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GIS</a:t>
            </a:r>
            <a:r>
              <a:rPr lang="zh-CN" altLang="en-US" sz="1800" spc="300" dirty="0">
                <a:solidFill>
                  <a:srgbClr val="FEFEFE"/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分析库</a:t>
            </a:r>
            <a:endParaRPr lang="zh-CN" altLang="en-US" sz="1800" spc="300" dirty="0">
              <a:solidFill>
                <a:srgbClr val="FEFEFE"/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5" name="圆角矩形 104"/>
          <p:cNvSpPr/>
          <p:nvPr>
            <p:custDataLst>
              <p:tags r:id="rId30"/>
            </p:custDataLst>
          </p:nvPr>
        </p:nvSpPr>
        <p:spPr>
          <a:xfrm>
            <a:off x="9898381" y="3228023"/>
            <a:ext cx="692150" cy="549910"/>
          </a:xfrm>
          <a:prstGeom prst="roundRect">
            <a:avLst>
              <a:gd name="adj" fmla="val 2443"/>
            </a:avLst>
          </a:prstGeom>
          <a:gradFill>
            <a:gsLst>
              <a:gs pos="0">
                <a:srgbClr val="36CFC9">
                  <a:lumMod val="40000"/>
                  <a:lumOff val="60000"/>
                  <a:alpha val="37000"/>
                </a:srgbClr>
              </a:gs>
              <a:gs pos="73000">
                <a:srgbClr val="36CFC9">
                  <a:lumMod val="60000"/>
                  <a:lumOff val="40000"/>
                  <a:alpha val="44000"/>
                </a:srgbClr>
              </a:gs>
            </a:gsLst>
            <a:lin ang="25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06" name="圆角矩形 105"/>
          <p:cNvSpPr/>
          <p:nvPr>
            <p:custDataLst>
              <p:tags r:id="rId31"/>
            </p:custDataLst>
          </p:nvPr>
        </p:nvSpPr>
        <p:spPr>
          <a:xfrm>
            <a:off x="1078865" y="3865563"/>
            <a:ext cx="889635" cy="563245"/>
          </a:xfrm>
          <a:prstGeom prst="roundRect">
            <a:avLst>
              <a:gd name="adj" fmla="val 2443"/>
            </a:avLst>
          </a:prstGeom>
          <a:solidFill>
            <a:srgbClr val="36CFC9">
              <a:alpha val="20000"/>
              <a:lumMod val="40000"/>
              <a:lumOff val="6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lt1"/>
              </a:solidFill>
            </a:endParaRPr>
          </a:p>
        </p:txBody>
      </p:sp>
      <p:sp>
        <p:nvSpPr>
          <p:cNvPr id="107" name="任意多边形 106"/>
          <p:cNvSpPr/>
          <p:nvPr>
            <p:custDataLst>
              <p:tags r:id="rId32"/>
            </p:custDataLst>
          </p:nvPr>
        </p:nvSpPr>
        <p:spPr>
          <a:xfrm>
            <a:off x="9020811" y="2671763"/>
            <a:ext cx="2275840" cy="133350"/>
          </a:xfrm>
          <a:custGeom>
            <a:avLst/>
            <a:gdLst>
              <a:gd name="connsiteX0" fmla="*/ 1267 w 3462"/>
              <a:gd name="connsiteY0" fmla="*/ 0 h 203"/>
              <a:gd name="connsiteX1" fmla="*/ 3462 w 3462"/>
              <a:gd name="connsiteY1" fmla="*/ 0 h 203"/>
              <a:gd name="connsiteX2" fmla="*/ 2533 w 3462"/>
              <a:gd name="connsiteY2" fmla="*/ 170 h 203"/>
              <a:gd name="connsiteX3" fmla="*/ 0 w 3462"/>
              <a:gd name="connsiteY3" fmla="*/ 203 h 203"/>
              <a:gd name="connsiteX4" fmla="*/ 1267 w 3462"/>
              <a:gd name="connsiteY4" fmla="*/ 0 h 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2" h="203">
                <a:moveTo>
                  <a:pt x="1267" y="0"/>
                </a:moveTo>
                <a:lnTo>
                  <a:pt x="3462" y="0"/>
                </a:lnTo>
                <a:lnTo>
                  <a:pt x="2533" y="170"/>
                </a:lnTo>
                <a:lnTo>
                  <a:pt x="0" y="203"/>
                </a:lnTo>
                <a:lnTo>
                  <a:pt x="1267" y="0"/>
                </a:lnTo>
                <a:close/>
              </a:path>
            </a:pathLst>
          </a:custGeom>
          <a:gradFill>
            <a:gsLst>
              <a:gs pos="0">
                <a:srgbClr val="36CFC9">
                  <a:lumMod val="59000"/>
                  <a:lumOff val="41000"/>
                  <a:alpha val="0"/>
                </a:srgbClr>
              </a:gs>
              <a:gs pos="100000">
                <a:srgbClr val="36CFC9">
                  <a:alpha val="3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08" name="标题"/>
          <p:cNvSpPr txBox="1"/>
          <p:nvPr>
            <p:custDataLst>
              <p:tags r:id="rId33"/>
            </p:custDataLst>
          </p:nvPr>
        </p:nvSpPr>
        <p:spPr>
          <a:xfrm>
            <a:off x="7682231" y="5566728"/>
            <a:ext cx="2518410" cy="551815"/>
          </a:xfrm>
          <a:prstGeom prst="rect">
            <a:avLst/>
          </a:prstGeom>
          <a:noFill/>
        </p:spPr>
        <p:txBody>
          <a:bodyPr wrap="square" lIns="107950" tIns="36195" rIns="90170" bIns="71755" rtlCol="0" anchor="t" anchorCtr="0">
            <a:noAutofit/>
          </a:bodyPr>
          <a:p>
            <a:pPr algn="ctr"/>
            <a:r>
              <a:rPr lang="zh-CN" altLang="en-US" sz="1800" spc="300" dirty="0">
                <a:solidFill>
                  <a:srgbClr val="F7BA1E">
                    <a:lumMod val="5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成员兼具软件与</a:t>
            </a:r>
            <a:r>
              <a:rPr lang="en-US" altLang="zh-CN" sz="1800" spc="300" dirty="0">
                <a:solidFill>
                  <a:srgbClr val="F7BA1E">
                    <a:lumMod val="5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GIS</a:t>
            </a:r>
            <a:r>
              <a:rPr lang="zh-CN" altLang="en-US" sz="1800" spc="300" dirty="0">
                <a:solidFill>
                  <a:srgbClr val="F7BA1E">
                    <a:lumMod val="50000"/>
                  </a:srgbClr>
                </a:solidFill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交叉背景</a:t>
            </a:r>
            <a:endParaRPr lang="zh-CN" altLang="en-US" sz="1800" spc="300" dirty="0">
              <a:solidFill>
                <a:srgbClr val="F7BA1E">
                  <a:lumMod val="50000"/>
                </a:srgbClr>
              </a:solidFill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9" name="图片 108" descr="图片2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610226" y="5397183"/>
            <a:ext cx="492125" cy="429260"/>
          </a:xfrm>
          <a:prstGeom prst="rect">
            <a:avLst/>
          </a:prstGeom>
        </p:spPr>
      </p:pic>
      <p:pic>
        <p:nvPicPr>
          <p:cNvPr id="110" name="图片 109" descr="代码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10360025" y="1917700"/>
            <a:ext cx="439420" cy="439420"/>
          </a:xfrm>
          <a:prstGeom prst="rect">
            <a:avLst/>
          </a:prstGeom>
        </p:spPr>
      </p:pic>
      <p:pic>
        <p:nvPicPr>
          <p:cNvPr id="111" name="图片 110" descr="地图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3562985" y="3625215"/>
            <a:ext cx="398780" cy="398145"/>
          </a:xfrm>
          <a:prstGeom prst="rect">
            <a:avLst/>
          </a:prstGeom>
        </p:spPr>
      </p:pic>
      <p:pic>
        <p:nvPicPr>
          <p:cNvPr id="112" name="图片 111" descr="数据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>
            <a:fillRect/>
          </a:stretch>
        </p:blipFill>
        <p:spPr>
          <a:xfrm>
            <a:off x="10082530" y="3323590"/>
            <a:ext cx="340995" cy="340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402336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项目计划与分工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前期：已启动</a:t>
            </a:r>
            <a:endParaRPr lang="en-US" sz="18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需求分析与确认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marL="165100" indent="-1651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校园空间数据整理与矢量化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65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中期：核心开发</a:t>
            </a:r>
            <a:endParaRPr lang="en-US" sz="18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699000" y="2032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小程序原型与地图定位开发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marL="165100" indent="-1651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基础空间分析逻辑实现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A99D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651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1600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后期：优化答辩</a:t>
            </a:r>
            <a:endParaRPr lang="en-US" sz="18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82000" y="2032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25000"/>
              </a:lnSpc>
              <a:buClr>
                <a:srgbClr val="555555"/>
              </a:buClr>
              <a:buChar char="•"/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界面优化与交互设计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marL="165100" indent="-165100" algn="l">
              <a:lnSpc>
                <a:spcPct val="125000"/>
              </a:lnSpc>
              <a:buClr>
                <a:srgbClr val="555555"/>
              </a:buClr>
              <a:buChar char="•"/>
            </a:pPr>
            <a:r>
              <a:rPr lang="en-US" sz="13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核心功能测试与汇报答辩</a:t>
            </a:r>
            <a:endParaRPr lang="en-US" sz="13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3810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00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3962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GIS数据组</a:t>
            </a:r>
            <a:endParaRPr lang="en-US" sz="16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619500" y="3810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3500" y="4000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318000" y="3962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前端开发组</a:t>
            </a:r>
            <a:endParaRPr lang="en-US" sz="16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3810000"/>
            <a:ext cx="260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31000" y="40005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75500" y="39624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后端与逻辑组</a:t>
            </a:r>
            <a:endParaRPr lang="en-US" sz="16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334500" y="3810000"/>
            <a:ext cx="2095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88500" y="40005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033000" y="39624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文档设计组</a:t>
            </a:r>
            <a:endParaRPr lang="en-US" sz="16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4" name="燕尾形 1413"/>
          <p:cNvSpPr/>
          <p:nvPr/>
        </p:nvSpPr>
        <p:spPr>
          <a:xfrm>
            <a:off x="3979545" y="1926590"/>
            <a:ext cx="540385" cy="813435"/>
          </a:xfrm>
          <a:prstGeom prst="chevron">
            <a:avLst/>
          </a:prstGeom>
          <a:solidFill>
            <a:srgbClr val="4FD1C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5" name="燕尾形 1414"/>
          <p:cNvSpPr/>
          <p:nvPr/>
        </p:nvSpPr>
        <p:spPr>
          <a:xfrm>
            <a:off x="7672070" y="1926590"/>
            <a:ext cx="540385" cy="813435"/>
          </a:xfrm>
          <a:prstGeom prst="chevron">
            <a:avLst/>
          </a:prstGeom>
          <a:solidFill>
            <a:srgbClr val="4FD1C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23" name="图片占位符 16" descr="副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1190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24" name="文本占位符 7"/>
          <p:cNvSpPr>
            <a:spLocks noGrp="1"/>
          </p:cNvSpPr>
          <p:nvPr/>
        </p:nvSpPr>
        <p:spPr>
          <a:xfrm>
            <a:off x="951992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altLang="zh-CN"/>
              <a:t> </a:t>
            </a:r>
            <a:r>
              <a:rPr lang="zh-CN" altLang="en-US"/>
              <a:t>傅晨熠</a:t>
            </a:r>
            <a:endParaRPr lang="zh-CN" altLang="en-US"/>
          </a:p>
        </p:txBody>
      </p:sp>
      <p:pic>
        <p:nvPicPr>
          <p:cNvPr id="1425" name="图片占位符 20" descr="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87660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26" name="文本占位符 15"/>
          <p:cNvSpPr>
            <a:spLocks noGrp="1"/>
          </p:cNvSpPr>
          <p:nvPr/>
        </p:nvSpPr>
        <p:spPr>
          <a:xfrm>
            <a:off x="1048639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刘祥昊</a:t>
            </a:r>
            <a:endParaRPr lang="zh-CN" altLang="en-US"/>
          </a:p>
        </p:txBody>
      </p:sp>
      <p:pic>
        <p:nvPicPr>
          <p:cNvPr id="1427" name="图片占位符 17" descr="兰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9505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28" name="文本占位符 9"/>
          <p:cNvSpPr>
            <a:spLocks noGrp="1"/>
          </p:cNvSpPr>
          <p:nvPr/>
        </p:nvSpPr>
        <p:spPr>
          <a:xfrm>
            <a:off x="1118235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兰丞纬</a:t>
            </a:r>
            <a:endParaRPr lang="zh-CN" altLang="en-US"/>
          </a:p>
        </p:txBody>
      </p:sp>
      <p:pic>
        <p:nvPicPr>
          <p:cNvPr id="1429" name="图片占位符 19" descr="y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05930" y="4495800"/>
            <a:ext cx="68707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30" name="文本占位符 13"/>
          <p:cNvSpPr>
            <a:spLocks noGrp="1"/>
          </p:cNvSpPr>
          <p:nvPr/>
        </p:nvSpPr>
        <p:spPr>
          <a:xfrm>
            <a:off x="680466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杨鸿涛</a:t>
            </a:r>
            <a:endParaRPr lang="zh-CN" altLang="en-US"/>
          </a:p>
        </p:txBody>
      </p:sp>
      <p:pic>
        <p:nvPicPr>
          <p:cNvPr id="1431" name="图片占位符 3" descr="l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7998460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32" name="文本占位符 5"/>
          <p:cNvSpPr>
            <a:spLocks noGrp="1"/>
          </p:cNvSpPr>
          <p:nvPr/>
        </p:nvSpPr>
        <p:spPr>
          <a:xfrm>
            <a:off x="799719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李岩煌</a:t>
            </a:r>
            <a:endParaRPr lang="zh-CN" altLang="en-US"/>
          </a:p>
        </p:txBody>
      </p:sp>
      <p:pic>
        <p:nvPicPr>
          <p:cNvPr id="1433" name="图片占位符 18" descr="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79545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34" name="文本占位符 11"/>
          <p:cNvSpPr>
            <a:spLocks noGrp="1"/>
          </p:cNvSpPr>
          <p:nvPr/>
        </p:nvSpPr>
        <p:spPr>
          <a:xfrm>
            <a:off x="3978275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郭畅</a:t>
            </a:r>
            <a:endParaRPr lang="zh-CN" altLang="en-US"/>
          </a:p>
        </p:txBody>
      </p:sp>
      <p:pic>
        <p:nvPicPr>
          <p:cNvPr id="1435" name="图片占位符 20" descr="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7000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36" name="文本占位符 15"/>
          <p:cNvSpPr>
            <a:spLocks noGrp="1"/>
          </p:cNvSpPr>
          <p:nvPr/>
        </p:nvSpPr>
        <p:spPr>
          <a:xfrm>
            <a:off x="520573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刘祥昊</a:t>
            </a:r>
            <a:endParaRPr lang="zh-CN" altLang="en-US"/>
          </a:p>
        </p:txBody>
      </p:sp>
      <p:pic>
        <p:nvPicPr>
          <p:cNvPr id="1437" name="图片占位符 18" descr="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259330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38" name="文本占位符 11"/>
          <p:cNvSpPr>
            <a:spLocks noGrp="1"/>
          </p:cNvSpPr>
          <p:nvPr/>
        </p:nvSpPr>
        <p:spPr>
          <a:xfrm>
            <a:off x="225806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郭畅</a:t>
            </a:r>
            <a:endParaRPr lang="zh-CN" altLang="en-US"/>
          </a:p>
        </p:txBody>
      </p:sp>
      <p:pic>
        <p:nvPicPr>
          <p:cNvPr id="1439" name="图片占位符 16" descr="副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11500" y="16002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40" name="文本占位符 7"/>
          <p:cNvSpPr>
            <a:spLocks noGrp="1"/>
          </p:cNvSpPr>
          <p:nvPr/>
        </p:nvSpPr>
        <p:spPr>
          <a:xfrm>
            <a:off x="3110230" y="22885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altLang="zh-CN"/>
              <a:t> </a:t>
            </a:r>
            <a:r>
              <a:rPr lang="zh-CN" altLang="en-US"/>
              <a:t>傅晨熠</a:t>
            </a:r>
            <a:endParaRPr lang="zh-CN" altLang="en-US"/>
          </a:p>
        </p:txBody>
      </p:sp>
      <p:pic>
        <p:nvPicPr>
          <p:cNvPr id="1441" name="图片占位符 16" descr="副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87660" y="16510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42" name="文本占位符 7"/>
          <p:cNvSpPr>
            <a:spLocks noGrp="1"/>
          </p:cNvSpPr>
          <p:nvPr/>
        </p:nvSpPr>
        <p:spPr>
          <a:xfrm>
            <a:off x="10486390" y="23393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altLang="zh-CN"/>
              <a:t> </a:t>
            </a:r>
            <a:r>
              <a:rPr lang="zh-CN" altLang="en-US"/>
              <a:t>傅晨熠</a:t>
            </a:r>
            <a:endParaRPr lang="zh-CN" altLang="en-US"/>
          </a:p>
        </p:txBody>
      </p:sp>
      <p:pic>
        <p:nvPicPr>
          <p:cNvPr id="1443" name="图片占位符 20" descr="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87660" y="44958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44" name="文本占位符 15"/>
          <p:cNvSpPr>
            <a:spLocks noGrp="1"/>
          </p:cNvSpPr>
          <p:nvPr/>
        </p:nvSpPr>
        <p:spPr>
          <a:xfrm>
            <a:off x="10486390" y="51841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刘祥昊</a:t>
            </a:r>
            <a:endParaRPr lang="zh-CN" altLang="en-US"/>
          </a:p>
        </p:txBody>
      </p:sp>
      <p:pic>
        <p:nvPicPr>
          <p:cNvPr id="1445" name="图片占位符 20" descr="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0390" y="1651000"/>
            <a:ext cx="688340" cy="688340"/>
          </a:xfrm>
          <a:prstGeom prst="rect">
            <a:avLst/>
          </a:prstGeom>
          <a:ln w="19050">
            <a:solidFill>
              <a:srgbClr val="00A99D"/>
            </a:solidFill>
            <a:prstDash val="lgDashDot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46" name="文本占位符 15"/>
          <p:cNvSpPr>
            <a:spLocks noGrp="1"/>
          </p:cNvSpPr>
          <p:nvPr/>
        </p:nvSpPr>
        <p:spPr>
          <a:xfrm>
            <a:off x="6929120" y="2339340"/>
            <a:ext cx="688975" cy="2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di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900" b="1" i="0" u="none" strike="noStrike" cap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zh-CN" altLang="en-US"/>
              <a:t>刘祥昊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651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12900"/>
            <a:ext cx="14331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3429000" y="5231130"/>
            <a:ext cx="5334000" cy="508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4291965" y="523113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用脚步丈量校园，用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GIS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点亮真实的空间边界。</a:t>
            </a:r>
            <a:endParaRPr lang="en-US"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320800" y="2145665"/>
            <a:ext cx="4274820" cy="288417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线性里程记录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” 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</a:rPr>
              <a:t>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面状空间探索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GIS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算法前置，作为游戏化交互的核心引擎。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将校园实体建筑与校史文化作为场景触发器。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18"/>
          <p:cNvSpPr/>
          <p:nvPr/>
        </p:nvSpPr>
        <p:spPr>
          <a:xfrm>
            <a:off x="6665595" y="2145665"/>
            <a:ext cx="4126865" cy="288417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buSzTx/>
              <a:defRPr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 1：基础原型闭环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SzTx/>
              <a:defRPr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SzTx/>
              <a:defRPr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 2：校园文化知识库接入与复杂任务系统。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SzTx/>
              <a:defRPr/>
            </a:pP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SzTx/>
              <a:defRPr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Step 3：群体时空行为分析与校园空间规划辅助。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6"/>
          <p:cNvSpPr/>
          <p:nvPr/>
        </p:nvSpPr>
        <p:spPr>
          <a:xfrm>
            <a:off x="2741930" y="2205355"/>
            <a:ext cx="14331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dist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6"/>
          <p:cNvSpPr/>
          <p:nvPr/>
        </p:nvSpPr>
        <p:spPr>
          <a:xfrm>
            <a:off x="8012430" y="2205355"/>
            <a:ext cx="14331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dist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演进路线</a:t>
            </a:r>
            <a:endParaRPr lang="zh-CN" altLang="en-US" sz="20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AI协作说明</a:t>
            </a:r>
            <a:endParaRPr lang="en-US" sz="36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9F8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778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714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内容构思与逻辑梳理 (ChatGPT/Gemini)</a:t>
            </a:r>
            <a:endParaRPr lang="en-US" sz="18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52500" y="2413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提问：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提出“GIS+游戏化校园小程序”构想，请求梳理背景、创意及技术路线。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采纳与改进：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整合AI关于痛点分析与GIS应用的建议，深化技术方案，确保逻辑严谨。</a:t>
            </a:r>
            <a:endParaRPr lang="en-US" sz="14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080000" cy="635000"/>
          </a:xfrm>
          <a:prstGeom prst="roundRect">
            <a:avLst>
              <a:gd name="adj" fmla="val 20000"/>
            </a:avLst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778000"/>
            <a:ext cx="381000" cy="381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1714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PPT制作与视觉优化 (豆包)</a:t>
            </a:r>
            <a:endParaRPr lang="en-US" sz="18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540500" y="2413000"/>
            <a:ext cx="4699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Bef>
                <a:spcPts val="500"/>
              </a:spcBef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提问：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基于详细内容，要求生成15-17页、融合科技感与校园感的正式答辩PPT。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采纳与改进：</a:t>
            </a:r>
            <a:r>
              <a:rPr lang="en-US" sz="1400" b="0" i="0" u="none" strike="noStrike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采纳整体结构与布局方案，进行内容微调、素材补充及局部视觉优化。</a:t>
            </a:r>
            <a:endParaRPr lang="en-US" sz="1400" b="0" i="0" u="none" strike="noStrike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A99D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016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48895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协作价值总结</a:t>
            </a:r>
            <a:endParaRPr lang="en-US" sz="18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905000" y="52705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通过与AI的深度协作，我们不仅显著提升了工作效率，更获得了开阔的思路与专业建议。AI已成为团队中不可或缺的高效协作伙伴。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64000" y="50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感谢聆听 敬请指正</a:t>
            </a:r>
            <a:endParaRPr lang="en-US" sz="3600" b="1" i="0" u="none" strike="noStrike">
              <a:solidFill>
                <a:srgbClr val="1F23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78500" y="1270000"/>
            <a:ext cx="635000" cy="508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感谢各位老师的聆听，恳请各位老师批评指正！</a:t>
            </a:r>
            <a:endParaRPr lang="en-US" sz="20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191000" y="2413000"/>
            <a:ext cx="3810000" cy="1524000"/>
          </a:xfrm>
          <a:prstGeom prst="roundRect">
            <a:avLst>
              <a:gd name="adj" fmla="val 16666"/>
            </a:avLst>
          </a:prstGeom>
          <a:solidFill>
            <a:srgbClr val="00A99D">
              <a:alpha val="8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2603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191000" y="330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A99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2400" b="1" i="0" u="none" strike="noStrike">
              <a:solidFill>
                <a:srgbClr val="00A99D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" y="4318000"/>
            <a:ext cx="109728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AI协作详细说明：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本次PPT制作过程中，我们邀请了“人工智能”作为团队的虚拟成员，共同完成了本次开题报告的优化工作。具体协作内容包括：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 提问AI：我们向AI提出了明确的需求，要求其基于原始开题报告框架，生成一套15-17页的正式答辩版PPT，主题为《师大快跑：点亮校园计划——基于GIS与游戏化的校园空间探索微信小程序》。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核心问题：要求AI保留原有框架，优化内容逻辑，强化GIS相关的地理原理表达，弱化模板化的“保障说明”，并补充数据获取与开发路径的内容，整体风格需符合正式答辩、科技感、校园感和轻游戏化的要求。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采纳与改进：我们采纳了AI关于PPT整体结构、内容逻辑优化以及视觉风格的建议，特别是在GIS原理阐述、数据流程梳理和功能规划方面的专业建议。在此基础上，团队成员进行了内容的精细化调整、数据的核实与补充，并最终完成了答辩PPT的定稿。</a:t>
            </a:r>
            <a:endParaRPr lang="en-US" sz="11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8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9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0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1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2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3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4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5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6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7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8.xml><?xml version="1.0" encoding="utf-8"?>
<p:tagLst xmlns:p="http://schemas.openxmlformats.org/presentationml/2006/main">
  <p:tag name="KSO_WM_DIAGRAM_VIRTUALLY_FRAME" val="{&quot;height&quot;:410,&quot;left&quot;:60,&quot;top&quot;:120,&quot;width&quot;:440}"/>
</p:tagLst>
</file>

<file path=ppt/tags/tag19.xml><?xml version="1.0" encoding="utf-8"?>
<p:tagLst xmlns:p="http://schemas.openxmlformats.org/presentationml/2006/main">
  <p:tag name="RESOURCEID" val="636440342935487115"/>
  <p:tag name="SCENEID" val="Unkown"/>
  <p:tag name="SCENELINKIDS" val="2|3"/>
  <p:tag name="ANIMSTRING" val="06845e1e48f104eaaa8e41c400262d67"/>
  <p:tag name="SCENESHAPETYPE" val="SceneShape"/>
  <p:tag name="SCENESHAPESUBTYPE" val="SceneSimpleShape"/>
  <p:tag name="SCENECOLOR-TEXT" val="Color_Theme"/>
  <p:tag name="SCENECOLOR-TEXT-VALUE" val="2"/>
  <p:tag name="KSO_WM_UNIT_HIGHLIGHT" val="0"/>
  <p:tag name="KSO_WM_UNIT_COMPATIBLE" val="0"/>
  <p:tag name="KSO_WM_UNIT_DIAGRAM_ISNUMVISUAL" val="0"/>
  <p:tag name="KSO_WM_UNIT_DIAGRAM_ISREFERUNIT" val="0"/>
  <p:tag name="KSO_WM_UNIT_SUBTYPE" val="f"/>
  <p:tag name="KSO_WM_UNIT_ID" val="mixed20200373_1*i*2"/>
  <p:tag name="KSO_WM_TEMPLATE_CATEGORY" val="mixed"/>
  <p:tag name="KSO_WM_TEMPLATE_INDEX" val="20200373"/>
  <p:tag name="KSO_WM_UNIT_LAYERLEVEL" val="1"/>
  <p:tag name="KSO_WM_TAG_VERSION" val="1.0"/>
  <p:tag name="KSO_WM_BEAUTIFY_FLAG" val="#wm#"/>
  <p:tag name="KSO_WM_UNIT_TYPE" val="i"/>
  <p:tag name="KSO_WM_UNIT_INDEX" val="2"/>
  <p:tag name="PA" val="v5.2.3"/>
  <p:tag name="KSO_WM_DECORATE_TAGETSHAPES_IDS" val="24"/>
</p:tagLst>
</file>

<file path=ppt/tags/tag20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6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7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8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29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0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1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2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3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4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5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36.xml><?xml version="1.0" encoding="utf-8"?>
<p:tagLst xmlns:p="http://schemas.openxmlformats.org/presentationml/2006/main">
  <p:tag name="KSO_DOCER_RESOURCE_TRACE_INFO" val="{&quot;id&quot;:&quot;221081562&quot;,&quot;origin&quot;:0,&quot;type&quot;:&quot;pictures&quot;,&quot;user&quot;:&quot;326296085&quot;}"/>
</p:tagLst>
</file>

<file path=ppt/tags/tag37.xml><?xml version="1.0" encoding="utf-8"?>
<p:tagLst xmlns:p="http://schemas.openxmlformats.org/presentationml/2006/main">
  <p:tag name="KSO_DOCER_RESOURCE_TRACE_INFO" val="{&quot;id&quot;:&quot;220773123&quot;,&quot;origin&quot;:0,&quot;type&quot;:&quot;pictures&quot;,&quot;user&quot;:&quot;326296085&quot;}"/>
</p:tagLst>
</file>

<file path=ppt/tags/tag38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39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0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1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2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3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4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5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6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7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8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49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0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1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2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3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4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5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6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7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8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59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0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1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2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3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4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5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6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7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8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69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70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71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72.xml><?xml version="1.0" encoding="utf-8"?>
<p:tagLst xmlns:p="http://schemas.openxmlformats.org/presentationml/2006/main">
  <p:tag name="KSO_WM_DIAGRAM_VIRTUALLY_FRAME" val="{&quot;height&quot;:370,&quot;left&quot;:60,&quot;top&quot;:110,&quot;width&quot;:838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4_1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3_1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2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1_1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f*1_2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DIAGRAM_GROUP_CODE" val="m1-1"/>
  <p:tag name="KSO_WM_UNIT_TYPE" val="m_h_f"/>
  <p:tag name="KSO_WM_UNIT_INDEX" val="1_2_1"/>
  <p:tag name="KSO_WM_DIAGRAM_VERSION" val="3"/>
  <p:tag name="KSO_WM_DIAGRAM_COLOR_TRICK" val="1"/>
  <p:tag name="KSO_WM_DIAGRAM_COLOR_TEXT_CAN_REMOVE" val="n"/>
  <p:tag name="KSO_WM_UNIT_VALUE" val="80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2_3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SUBTYPE" val="nb"/>
  <p:tag name="KSO_WM_UNIT_TYPE" val="m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2_2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f*1_1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VALUE" val="80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内容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1_3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SUBTYPE" val="nb"/>
  <p:tag name="KSO_WM_UNIT_TYPE" val="m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1_2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f*1_3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DIAGRAM_GROUP_CODE" val="m1-1"/>
  <p:tag name="KSO_WM_UNIT_TYPE" val="m_h_f"/>
  <p:tag name="KSO_WM_UNIT_INDEX" val="1_3_1"/>
  <p:tag name="KSO_WM_DIAGRAM_VERSION" val="3"/>
  <p:tag name="KSO_WM_DIAGRAM_COLOR_TRICK" val="1"/>
  <p:tag name="KSO_WM_DIAGRAM_COLOR_TEXT_CAN_REMOVE" val="n"/>
  <p:tag name="KSO_WM_UNIT_VALUE" val="80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内容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3_2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3_3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SUBTYPE" val="nb"/>
  <p:tag name="KSO_WM_UNIT_TYPE" val="m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1_5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1_5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1_4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2_5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2_5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2_4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3_5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3_5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3_4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2_6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2_6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x*1_1_1"/>
  <p:tag name="KSO_WM_TEMPLATE_CATEGORY" val="diagram"/>
  <p:tag name="KSO_WM_TEMPLATE_INDEX" val="20234406"/>
  <p:tag name="KSO_WM_UNIT_LAYERLEVEL" val="1_1_1"/>
  <p:tag name="KSO_WM_TAG_VERSION" val="3.0"/>
  <p:tag name="KSO_WM_UNIT_VALUE" val="101*114"/>
  <p:tag name="KSO_WM_DIAGRAM_GROUP_CODE" val="m1-1"/>
  <p:tag name="KSO_WM_UNIT_TYPE" val="m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376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x*1_2_1"/>
  <p:tag name="KSO_WM_TEMPLATE_CATEGORY" val="diagram"/>
  <p:tag name="KSO_WM_TEMPLATE_INDEX" val="20234406"/>
  <p:tag name="KSO_WM_UNIT_LAYERLEVEL" val="1_1_1"/>
  <p:tag name="KSO_WM_TAG_VERSION" val="3.0"/>
  <p:tag name="KSO_WM_UNIT_VALUE" val="105*102"/>
  <p:tag name="KSO_WM_DIAGRAM_GROUP_CODE" val="m1-1"/>
  <p:tag name="KSO_WM_UNIT_TYPE" val="m_h_x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376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x*1_3_1"/>
  <p:tag name="KSO_WM_TEMPLATE_CATEGORY" val="diagram"/>
  <p:tag name="KSO_WM_TEMPLATE_INDEX" val="20234406"/>
  <p:tag name="KSO_WM_UNIT_LAYERLEVEL" val="1_1_1"/>
  <p:tag name="KSO_WM_TAG_VERSION" val="3.0"/>
  <p:tag name="KSO_WM_UNIT_VALUE" val="85*114"/>
  <p:tag name="KSO_WM_DIAGRAM_GROUP_CODE" val="m1-1"/>
  <p:tag name="KSO_WM_UNIT_TYPE" val="m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376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3_6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3_6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4_5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4_5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4_4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4_4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4_6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4_6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i*1_1"/>
  <p:tag name="KSO_WM_TEMPLATE_CATEGORY" val="diagram"/>
  <p:tag name="KSO_WM_TEMPLATE_INDEX" val="20234406"/>
  <p:tag name="KSO_WM_UNIT_LAYERLEVEL" val="1_1"/>
  <p:tag name="KSO_WM_TAG_VERSION" val="3.0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.6499999761581421,&quot;colorType&quot;:1,&quot;foreColorIndex&quot;:13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5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1_6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1_6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f*1_4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VALUE" val="80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4_2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i*1_4_3"/>
  <p:tag name="KSO_WM_TEMPLATE_CATEGORY" val="diagram"/>
  <p:tag name="KSO_WM_TEMPLATE_INDEX" val="20234406"/>
  <p:tag name="KSO_WM_UNIT_LAYERLEVEL" val="1_1_1"/>
  <p:tag name="KSO_WM_TAG_VERSION" val="3.0"/>
  <p:tag name="KSO_WM_DIAGRAM_GROUP_CODE" val="m1-1"/>
  <p:tag name="KSO_WM_UNIT_SUBTYPE" val="nb"/>
  <p:tag name="KSO_WM_UNIT_TYPE" val="m_h_i"/>
  <p:tag name="KSO_WM_UNIT_INDEX" val="1_4_3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2*m_h_x*1_4_1"/>
  <p:tag name="KSO_WM_TEMPLATE_CATEGORY" val="diagram"/>
  <p:tag name="KSO_WM_TEMPLATE_INDEX" val="20234406"/>
  <p:tag name="KSO_WM_UNIT_LAYERLEVEL" val="1_1_1"/>
  <p:tag name="KSO_WM_TAG_VERSION" val="3.0"/>
  <p:tag name="KSO_WM_UNIT_VALUE" val="109*100"/>
  <p:tag name="KSO_WM_DIAGRAM_GROUP_CODE" val="m1-1"/>
  <p:tag name="KSO_WM_UNIT_TYPE" val="m_h_x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01.7999999999997,&quot;left&quot;:131.65,&quot;top&quot;:123.05,&quot;width&quot;:764.0389763779527}"/>
  <p:tag name="KSO_WM_DIAGRAM_COLOR_MATCH_VALUE" val="{&quot;shape&quot;:{&quot;fill&quot;:{&quot;solid&quot;:{&quot;brightness&quot;:0,&quot;colorType&quot;:2,&quot;rgb&quot;:&quot;#376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theme_color_indexes&quot;:[6,7,6,7,6,7],&quot;theme_colors&quot;:[&quot;#000000&quot;,&quot;#ffffff&quot;,&quot;#205032&quot;,&quot;#f5f9f7&quot;,&quot;#3a9d5b&quot;,&quot;#58b77d&quot;,&quot;#84cc9e&quot;,&quot;#aed9be&quot;,&quot;#d4ebdf&quot;,&quot;#ebf5ef&quot;,&quot;#1a6634&quot;,&quot;#0f401f&quot;]}"/>
</p:tagLst>
</file>

<file path=ppt/tags/tag106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4971_3*l_h_i*1_1_2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07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971_3*l_h_i*1_2_2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08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4971_3*l_h_i*1_3_2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09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4971_3*l_h_i*1_4_2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0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971_3*l_h_f*1_1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目录项标题"/>
  <p:tag name="KSO_WM_UNIT_TEXT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1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4971_3*l_h_i*1_1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000000715255737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2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971_3*l_h_f*1_2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目录项标题"/>
  <p:tag name="KSO_WM_UNIT_TEXT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3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4971_3*l_h_i*1_2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000000715255737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4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971_3*l_h_f*1_3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目录项标题"/>
  <p:tag name="KSO_WM_UNIT_TEXT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5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4971_3*l_h_i*1_3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000000715255737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6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4971_3*l_h_f*1_4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目录项标题"/>
  <p:tag name="KSO_WM_UNIT_TEXT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7.xml><?xml version="1.0" encoding="utf-8"?>
<p:tagLst xmlns:p="http://schemas.openxmlformats.org/presentationml/2006/main">
  <p:tag name="KSO_WM_DIAGRAM_VIRTUALLY_FRAME" val="{&quot;height&quot;:340,&quot;left&quot;:53.4,&quot;top&quot;:133,&quot;width&quot;:396.3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4971_3*l_h_i*1_4_1"/>
  <p:tag name="KSO_WM_TEMPLATE_CATEGORY" val="diagram"/>
  <p:tag name="KSO_WM_TEMPLATE_INDEX" val="20234971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8000000715255737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f6ad55&quot;,&quot;#e53e3e&quot;,&quot;#805ad5&quot;,&quot;#2c5282&quot;,&quot;#48bb78&quot;,&quot;#3182ce&quot;,&quot;#553c9a&quot;]}"/>
</p:tagLst>
</file>

<file path=ppt/tags/tag11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40492696_3*l_h_f*1_1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30"/>
  <p:tag name="KSO_WM_DIAGRAM_GROUP_CODE" val="l1-1"/>
  <p:tag name="KSO_WM_UNIT_PRESET_TEXT" val="单击此处添加正文，文字是您思想的提炼，请简意的阐述您的观点。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40492696_3*l_h_i*1_1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.4000000059604645,&quot;colorType&quot;:1,&quot;foreColorIndex&quot;:10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0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40492696_3*l_h_f*1_2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30"/>
  <p:tag name="KSO_WM_DIAGRAM_GROUP_CODE" val="l1-1"/>
  <p:tag name="KSO_WM_UNIT_PRESET_TEXT" val="单击此处添加正文，文字是您思想的提炼，请言简意赅阐述内容。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40492696_3*l_h_i*1_2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.4000000059604645,&quot;colorType&quot;:1,&quot;foreColorIndex&quot;:10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40492696_3*l_h_f*1_3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正文，文字是您思想的提炼，请简意的阐述您的观点。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40492696_3*l_h_i*1_3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.4000000059604645,&quot;colorType&quot;:1,&quot;foreColorIndex&quot;:10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4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40492696_3*l_h_f*1_4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PRESET_TEXT" val="单击此处添加正文，文字是您思想的提炼，请言简意赅阐述内容。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40492696_3*l_h_i*1_4_1"/>
  <p:tag name="KSO_WM_TEMPLATE_CATEGORY" val="diagram"/>
  <p:tag name="KSO_WM_TEMPLATE_INDEX" val="4049269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DIAGRAM_MAX_ITEMCNT" val="4"/>
  <p:tag name="KSO_WM_DIAGRAM_MIN_ITEMCNT" val="2"/>
  <p:tag name="KSO_WM_DIAGRAM_VIRTUALLY_FRAME" val="{&quot;height&quot;:359.5,&quot;left&quot;:522.8250061035156,&quot;top&quot;:122.15,&quot;width&quot;:297.4749938964843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10,&quot;pos&quot;:0,&quot;transparency&quot;:0},{&quot;brightness&quot;:0.4000000059604645,&quot;colorType&quot;:1,&quot;foreColorIndex&quot;:10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,&quot;theme_colors&quot;:[&quot;#000000&quot;,&quot;#ffffff&quot;,&quot;#2d3748&quot;,&quot;#f8fafc&quot;,&quot;#4fd1c5&quot;,&quot;#ed8936&quot;,&quot;#38b2ac&quot;,&quot;#dd6b20&quot;,&quot;#4299e1&quot;,&quot;#f6ad55&quot;,&quot;#3182ce&quot;,&quot;#7b42bc&quot;]}"/>
</p:tagLst>
</file>

<file path=ppt/tags/tag1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0941_2*m_i*1_1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1,&quot;foreColorIndex&quot;:5,&quot;pos&quot;:0.20000000298023224,&quot;transparency&quot;:1},{&quot;brightness&quot;:0,&quot;colorType&quot;:1,&quot;foreColorIndex&quot;:5,&quot;pos&quot;:0.899999976158142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30941_2*m_i*1_2"/>
  <p:tag name="KSO_WM_TEMPLATE_CATEGORY" val="diagram"/>
  <p:tag name="KSO_WM_TEMPLATE_INDEX" val="20230941"/>
  <p:tag name="KSO_WM_UNIT_LAYERLEVEL" val="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30941_2*m_h_i*1_1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0941_2*m_h_f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41_2*m_h_a*1_1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230941_2*m_h_i*1_1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30941_2*m_h_i*1_1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230941_2*m_h_i*1_2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30941_2*m_h_i*1_2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2_1"/>
  <p:tag name="KSO_WM_UNIT_ID" val="diagram20230941_2*m_h_f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根据需要可酌情增减文字，以便观者准确地理解您传达的思想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2_1"/>
  <p:tag name="KSO_WM_UNIT_ID" val="diagram20230941_2*m_h_i*1_2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41_2*m_h_a*1_2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3_1"/>
  <p:tag name="KSO_WM_UNIT_ID" val="diagram20230941_2*m_h_i*1_3_1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3_1"/>
  <p:tag name="KSO_WM_UNIT_ID" val="diagram20230941_2*m_h_f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文字是您思想的提炼，请尽量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41_2*m_h_a*1_3_1"/>
  <p:tag name="KSO_WM_TEMPLATE_CATEGORY" val="diagram"/>
  <p:tag name="KSO_WM_TEMPLATE_INDEX" val="2023094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m1-1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230941_2*m_h_i*1_3_3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7000000178813934,&quot;transparency&quot;:1},{&quot;brightness&quot;:0,&quot;colorType&quot;:1,&quot;foreColorIndex&quot;:5,&quot;pos&quot;:0.6100000143051147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4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30941_2*m_h_i*1_3_2"/>
  <p:tag name="KSO_WM_TEMPLATE_CATEGORY" val="diagram"/>
  <p:tag name="KSO_WM_TEMPLATE_INDEX" val="20230941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99.0500061035156,&quot;left&quot;:-0.25480527427735067,&quot;top&quot;:130.29999694824218,&quot;width&quot;:954.8298446443562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.4"/>
  <p:tag name="KSO_WM_DIAGRAM_USE_COLOR_VALUE" val="{&quot;color_scheme&quot;:1,&quot;color_type&quot;:1,&quot;theme_color_indexes&quot;:[5,6,5,6,5,6],&quot;theme_colors&quot;:[&quot;#000000&quot;,&quot;#ffffff&quot;,&quot;#2d3748&quot;,&quot;#f8fafc&quot;,&quot;#38b2ac&quot;,&quot;#4299e1&quot;,&quot;#ed8936&quot;,&quot;#dd6b20&quot;,&quot;#805ad5&quot;,&quot;#d53f8c&quot;,&quot;#3182ce&quot;,&quot;#553c9a&quot;]}"/>
</p:tagLst>
</file>

<file path=ppt/tags/tag143.xml><?xml version="1.0" encoding="utf-8"?>
<p:tagLst xmlns:p="http://schemas.openxmlformats.org/presentationml/2006/main">
  <p:tag name="KSO_WM_DIAGRAM_VIRTUALLY_FRAME" val="{&quot;height&quot;:356.00000000000017,&quot;left&quot;:60,&quot;top&quot;:129.55,&quot;width&quot;:398.7}"/>
</p:tagLst>
</file>

<file path=ppt/tags/tag144.xml><?xml version="1.0" encoding="utf-8"?>
<p:tagLst xmlns:p="http://schemas.openxmlformats.org/presentationml/2006/main">
  <p:tag name="KSO_WM_DIAGRAM_VIRTUALLY_FRAME" val="{&quot;height&quot;:356.00000000000017,&quot;left&quot;:60,&quot;top&quot;:129.55,&quot;width&quot;:398.7}"/>
</p:tagLst>
</file>

<file path=ppt/tags/tag145.xml><?xml version="1.0" encoding="utf-8"?>
<p:tagLst xmlns:p="http://schemas.openxmlformats.org/presentationml/2006/main">
  <p:tag name="KSO_WM_DIAGRAM_VIRTUALLY_FRAME" val="{&quot;height&quot;:356.00000000000017,&quot;left&quot;:60,&quot;top&quot;:129.55,&quot;width&quot;:398.7}"/>
</p:tagLst>
</file>

<file path=ppt/tags/tag146.xml><?xml version="1.0" encoding="utf-8"?>
<p:tagLst xmlns:p="http://schemas.openxmlformats.org/presentationml/2006/main">
  <p:tag name="KSO_WM_DIAGRAM_VIRTUALLY_FRAME" val="{&quot;height&quot;:356.00000000000017,&quot;left&quot;:60,&quot;top&quot;:129.55,&quot;width&quot;:398.7}"/>
</p:tagLst>
</file>

<file path=ppt/tags/tag147.xml><?xml version="1.0" encoding="utf-8"?>
<p:tagLst xmlns:p="http://schemas.openxmlformats.org/presentationml/2006/main">
  <p:tag name="KSO_WM_DIAGRAM_VIRTUALLY_FRAME" val="{&quot;height&quot;:356.00000000000017,&quot;left&quot;:60,&quot;top&quot;:129.55,&quot;width&quot;:398.7}"/>
</p:tagLst>
</file>

<file path=ppt/tags/tag148.xml><?xml version="1.0" encoding="utf-8"?>
<p:tagLst xmlns:p="http://schemas.openxmlformats.org/presentationml/2006/main">
  <p:tag name="KSO_WM_DIAGRAM_VIRTUALLY_FRAME" val="{&quot;height&quot;:345.5500000000002,&quot;left&quot;:60,&quot;top&quot;:140,&quot;width&quot;:342.15}"/>
</p:tagLst>
</file>

<file path=ppt/tags/tag149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0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1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2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3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4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5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6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7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8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59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0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1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2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3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4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5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6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7.xml><?xml version="1.0" encoding="utf-8"?>
<p:tagLst xmlns:p="http://schemas.openxmlformats.org/presentationml/2006/main">
  <p:tag name="KSO_WM_DIAGRAM_VIRTUALLY_FRAME" val="{&quot;height&quot;:340.45,&quot;left&quot;:49.75,&quot;top&quot;:129.55,&quot;width&quot;:851.55}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1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2_2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2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.8500000238418579,&quot;transparency&quot;:1},{&quot;brightness&quot;:0,&quot;colorType&quot;:1,&quot;foreColorIndex&quot;:5,&quot;pos&quot;:0.10999999940395355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4_2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4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.11999999731779099,&quot;transparency&quot;:0.5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4_3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4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.17000000178813934,&quot;transparency&quot;:1},{&quot;brightness&quot;:0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4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4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.6000000238418579,&quot;colorType&quot;:1,&quot;foreColorIndex&quot;:5,&quot;pos&quot;:0.49000000953674316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5233_3*l_h_a*1_4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智能图形项标题内容"/>
  <p:tag name="KSO_WM_UNIT_TEXT_FILL_FORE_SCHEMECOLOR_INDEX" val="1"/>
  <p:tag name="KSO_WM_UNIT_TEXT_FILL_TYPE" val="1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2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6000000238418579,&quot;colorType&quot;:1,&quot;foreColorIndex&quot;:5,&quot;pos&quot;:0,&quot;transparency&quot;:0.6299999952316284},{&quot;brightness&quot;:0.07999999821186066,&quot;colorType&quot;:1,&quot;foreColorIndex&quot;:5,&quot;pos&quot;:0.7300000190734863,&quot;transparency&quot;:0.4499999880790710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3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.6800000071525574,&quot;transparency&quot;:0.75},{&quot;brightness&quot;:0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4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6000000238418579,&quot;colorType&quot;:1,&quot;foreColorIndex&quot;:5,&quot;pos&quot;:0,&quot;transparency&quot;:0.6000000238418579},{&quot;brightness&quot;:0.6000000238418579,&quot;colorType&quot;:1,&quot;foreColorIndex&quot;:5,&quot;pos&quot;:0.7300000190734863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3_2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3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44999998807907104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3_3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3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,&quot;transparency&quot;:0.44999998807907104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3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75,&quot;colorType&quot;:1,&quot;foreColorIndex&quot;:5,&quot;pos&quot;:0,&quot;transparency&quot;:0},{&quot;brightness&quot;:0.3499999940395355,&quot;colorType&quot;:1,&quot;foreColorIndex&quot;:5,&quot;pos&quot;:0.3400000035762787,&quot;transparency&quot;:0},{&quot;brightness&quot;:0.20000000298023224,&quot;colorType&quot;:1,&quot;foreColorIndex&quot;:5,&quot;pos&quot;:0.6899999976158142,&quot;transparency&quot;:0},{&quot;brightness&quot;:0.03999999910593033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233_3*l_h_a*1_3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cfcfc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智能图形项标题内容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233_3*l_h_f*1_3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SUBTYPE" val="a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cfcfc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&#10;单击此处添加正文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1_2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1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6000000238418579,&quot;colorType&quot;:1,&quot;foreColorIndex&quot;:5,&quot;pos&quot;:0,&quot;transparency&quot;:1},{&quot;brightness&quot;:0,&quot;colorType&quot;:1,&quot;foreColorIndex&quot;:5,&quot;pos&quot;:1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1_3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1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,&quot;transparency&quot;:0.4000000059604645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1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8999999761581421,&quot;colorType&quot;:1,&quot;foreColorIndex&quot;:5,&quot;pos&quot;:0,&quot;transparency&quot;:0},{&quot;brightness&quot;:0.6000000238418579,&quot;colorType&quot;:1,&quot;foreColorIndex&quot;:5,&quot;pos&quot;:0.8299999833106995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233_3*l_h_a*1_1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智能图形项标题内容"/>
  <p:tag name="KSO_WM_UNIT_TEXT_FILL_FORE_SCHEMECOLOR_INDEX" val="1"/>
  <p:tag name="KSO_WM_UNIT_TEXT_FILL_TYPE" val="1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233_3*l_h_f*1_1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SUBTYPE" val="a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&#10;单击此处添加正文"/>
  <p:tag name="KSO_WM_UNIT_TEXT_FILL_FORE_SCHEMECOLOR_INDEX" val="1"/>
  <p:tag name="KSO_WM_UNIT_TEXT_FILL_TYPE" val="1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5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6000000238418579,&quot;colorType&quot;:1,&quot;foreColorIndex&quot;:5,&quot;pos&quot;:0,&quot;transparency&quot;:0.6299999952316284},{&quot;brightness&quot;:0.20999999344348907,&quot;colorType&quot;:1,&quot;foreColorIndex&quot;:5,&quot;pos&quot;:0.7300000190734863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6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6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7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7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6000000238418579,&quot;colorType&quot;:1,&quot;foreColorIndex&quot;:5,&quot;pos&quot;:0,&quot;transparency&quot;:0.6299999952316284},{&quot;brightness&quot;:0.4000000059604645,&quot;colorType&quot;:1,&quot;foreColorIndex&quot;:5,&quot;pos&quot;:0.7300000190734863,&quot;transparency&quot;:0.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8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8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9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9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h_i*1_2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TYPE" val="l_h_i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75,&quot;colorType&quot;:1,&quot;foreColorIndex&quot;:5,&quot;pos&quot;:0,&quot;transparency&quot;:0},{&quot;brightness&quot;:0,&quot;colorType&quot;:1,&quot;foreColorIndex&quot;:5,&quot;pos&quot;:0.4399999976158142,&quot;transparency&quot;:0},{&quot;brightness&quot;:0,&quot;colorType&quot;:1,&quot;foreColorIndex&quot;:5,&quot;pos&quot;:0.7900000214576721,&quot;transparency&quot;:0},{&quot;brightness&quot;:-0.189999997615814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10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1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11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1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233_3*l_h_a*1_2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efef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智能图形项标题内容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233_3*l_h_f*1_2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VALUE" val="32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efef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&#10;单击此处添加正文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12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1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6000000238418579,&quot;colorType&quot;:1,&quot;foreColorIndex&quot;:5,&quot;pos&quot;:0,&quot;transparency&quot;:0.6299999952316284},{&quot;brightness&quot;:0.4000000059604645,&quot;colorType&quot;:1,&quot;foreColorIndex&quot;:5,&quot;pos&quot;:0.7300000190734863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13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1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33_3*l_i*1_14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TYPE" val="l_i"/>
  <p:tag name="KSO_WM_UNIT_INDEX" val="1_1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gradient&quot;:[{&quot;brightness&quot;:0.4099999964237213,&quot;colorType&quot;:1,&quot;foreColorIndex&quot;:5,&quot;pos&quot;:0,&quot;transparency&quot;:1},{&quot;brightness&quot;:0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5233_3*l_h_f*1_4_1"/>
  <p:tag name="KSO_WM_TEMPLATE_CATEGORY" val="diagram"/>
  <p:tag name="KSO_WM_TEMPLATE_INDEX" val="20235233"/>
  <p:tag name="KSO_WM_UNIT_LAYERLEVEL" val="1_1_1"/>
  <p:tag name="KSO_WM_TAG_VERSION" val="3.0"/>
  <p:tag name="KSO_WM_BEAUTIFY_FLAG" val="#wm#"/>
  <p:tag name="KSO_WM_UNIT_SUBTYPE" val="a"/>
  <p:tag name="KSO_WM_UNIT_TEXT_LAYER_COUNT" val="1"/>
  <p:tag name="KSO_WM_DIAGRAM_GROUP_CODE" val="l1-1"/>
  <p:tag name="KSO_WM_DIAGRAM_VERSION" val="3"/>
  <p:tag name="KSO_WM_DIAGRAM_COLOR_TRICK" val="1"/>
  <p:tag name="KSO_WM_DIAGRAM_COLOR_TEXT_CAN_REMOVE" val="n"/>
  <p:tag name="KSO_WM_UNIT_TEXT_TYPE" val="1"/>
  <p:tag name="KSO_WM_DIAGRAM_MAX_ITEMCNT" val="4"/>
  <p:tag name="KSO_WM_DIAGRAM_MIN_ITEMCNT" val="2"/>
  <p:tag name="KSO_WM_DIAGRAM_VIRTUALLY_FRAME" val="{&quot;height&quot;:386.20001220703125,&quot;left&quot;:69.25,&quot;top&quot;:115.74999389648437,&quot;width&quot;:820.2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正文&#10;单击此处添加正文"/>
  <p:tag name="KSO_WM_UNIT_TEXT_FILL_FORE_SCHEMECOLOR_INDEX" val="1"/>
  <p:tag name="KSO_WM_UNIT_TEXT_FILL_TYPE" val="1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201.xml><?xml version="1.0" encoding="utf-8"?>
<p:tagLst xmlns:p="http://schemas.openxmlformats.org/presentationml/2006/main">
  <p:tag name="KSO_WM_DIAGRAM_VIRTUALLY_FRAME" val="{&quot;height&quot;:386.20001220703125,&quot;left&quot;:69.25,&quot;top&quot;:115.74999389648437,&quot;width&quot;:820.275}"/>
  <p:tag name="KSO_WM_UNIT_HIGHLIGHT" val="0"/>
  <p:tag name="KSO_WM_UNIT_COMPATIBLE" val="0"/>
  <p:tag name="KSO_WM_UNIT_DIAGRAM_ISNUMVISUAL" val="0"/>
  <p:tag name="KSO_WM_UNIT_DIAGRAM_ISREFERUNIT" val="0"/>
  <p:tag name="KSO_WM_UNIT_ID" val="diagram20235233_3*l_x*1_1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VALUE" val="115*132"/>
  <p:tag name="KSO_WM_UNIT_TYPE" val="l_x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202.xml><?xml version="1.0" encoding="utf-8"?>
<p:tagLst xmlns:p="http://schemas.openxmlformats.org/presentationml/2006/main">
  <p:tag name="KSO_WM_DIAGRAM_VIRTUALLY_FRAME" val="{&quot;height&quot;:386.20001220703125,&quot;left&quot;:69.25,&quot;top&quot;:115.74999389648437,&quot;width&quot;:820.275}"/>
  <p:tag name="KSO_WM_UNIT_HIGHLIGHT" val="0"/>
  <p:tag name="KSO_WM_UNIT_COMPATIBLE" val="0"/>
  <p:tag name="KSO_WM_UNIT_DIAGRAM_ISNUMVISUAL" val="0"/>
  <p:tag name="KSO_WM_UNIT_DIAGRAM_ISREFERUNIT" val="0"/>
  <p:tag name="KSO_WM_UNIT_ID" val="diagram20235233_3*l_x*1_2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VALUE" val="136*118"/>
  <p:tag name="KSO_WM_UNIT_TYPE" val="l_x"/>
  <p:tag name="KSO_WM_UNIT_INDEX" val="1_2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203.xml><?xml version="1.0" encoding="utf-8"?>
<p:tagLst xmlns:p="http://schemas.openxmlformats.org/presentationml/2006/main">
  <p:tag name="KSO_WM_DIAGRAM_VIRTUALLY_FRAME" val="{&quot;height&quot;:386.20001220703125,&quot;left&quot;:69.25,&quot;top&quot;:115.74999389648437,&quot;width&quot;:820.275}"/>
  <p:tag name="KSO_WM_UNIT_HIGHLIGHT" val="0"/>
  <p:tag name="KSO_WM_UNIT_COMPATIBLE" val="0"/>
  <p:tag name="KSO_WM_UNIT_DIAGRAM_ISNUMVISUAL" val="0"/>
  <p:tag name="KSO_WM_UNIT_DIAGRAM_ISREFERUNIT" val="0"/>
  <p:tag name="KSO_WM_UNIT_ID" val="diagram20235233_3*l_x*1_3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VALUE" val="76*75"/>
  <p:tag name="KSO_WM_UNIT_TYPE" val="l_x"/>
  <p:tag name="KSO_WM_UNIT_INDEX" val="1_3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204.xml><?xml version="1.0" encoding="utf-8"?>
<p:tagLst xmlns:p="http://schemas.openxmlformats.org/presentationml/2006/main">
  <p:tag name="KSO_WM_DIAGRAM_VIRTUALLY_FRAME" val="{&quot;height&quot;:386.20001220703125,&quot;left&quot;:69.25,&quot;top&quot;:115.74999389648437,&quot;width&quot;:820.275}"/>
  <p:tag name="KSO_WM_UNIT_HIGHLIGHT" val="0"/>
  <p:tag name="KSO_WM_UNIT_COMPATIBLE" val="0"/>
  <p:tag name="KSO_WM_UNIT_DIAGRAM_ISNUMVISUAL" val="0"/>
  <p:tag name="KSO_WM_UNIT_DIAGRAM_ISREFERUNIT" val="0"/>
  <p:tag name="KSO_WM_UNIT_ID" val="diagram20235233_3*l_x*1_4"/>
  <p:tag name="KSO_WM_TEMPLATE_CATEGORY" val="diagram"/>
  <p:tag name="KSO_WM_TEMPLATE_INDEX" val="20235233"/>
  <p:tag name="KSO_WM_UNIT_LAYERLEVEL" val="1_1"/>
  <p:tag name="KSO_WM_TAG_VERSION" val="3.0"/>
  <p:tag name="KSO_WM_BEAUTIFY_FLAG" val="#wm#"/>
  <p:tag name="KSO_WM_UNIT_VALUE" val="51*46"/>
  <p:tag name="KSO_WM_UNIT_TYPE" val="l_x"/>
  <p:tag name="KSO_WM_UNIT_INDEX" val="1_4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8,9,8,9,8,9],&quot;theme_colors&quot;:[&quot;#000000&quot;,&quot;#ffffff&quot;,&quot;#2d3748&quot;,&quot;#f9fafb&quot;,&quot;#00b42a&quot;,&quot;#ff7d00&quot;,&quot;#722ed1&quot;,&quot;#36cfc9&quot;,&quot;#f7ba1e&quot;,&quot;#f53f3f&quot;,&quot;#1890ff&quot;,&quot;#8e44ad&quot;]}"/>
</p:tagLst>
</file>

<file path=ppt/tags/tag205.xml><?xml version="1.0" encoding="utf-8"?>
<p:tagLst xmlns:p="http://schemas.openxmlformats.org/presentationml/2006/main">
  <p:tag name="resource_record_key" val="{&quot;10&quot;:[50038299,50040189,3471136,50023787,21602374,50063250],&quot;70&quot;:[3326190,3332402,3423840,3314157,3312387,3402706]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2623</Words>
  <Application>WPS 演示</Application>
  <PresentationFormat/>
  <Paragraphs>342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Noto Sans SC</vt:lpstr>
      <vt:lpstr>等线</vt:lpstr>
      <vt:lpstr>黑体</vt:lpstr>
      <vt:lpstr>华文中宋</vt:lpstr>
      <vt:lpstr>Arial Unicode MS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许愿</cp:lastModifiedBy>
  <cp:revision>4</cp:revision>
  <dcterms:created xsi:type="dcterms:W3CDTF">2026-04-02T08:41:00Z</dcterms:created>
  <dcterms:modified xsi:type="dcterms:W3CDTF">2026-08-20T09:39:47Z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0273988BA72B439B8F75920ACFEDD8B4_13</vt:lpwstr>
  </property>
  <property fmtid="{D5CDD505-2E9C-101B-9397-08002B2CF9AE}" pid="3" name="KSOProductBuildVer">
    <vt:lpwstr>2052-12.1.0.28043</vt:lpwstr>
  </property>
</Properties>
</file>