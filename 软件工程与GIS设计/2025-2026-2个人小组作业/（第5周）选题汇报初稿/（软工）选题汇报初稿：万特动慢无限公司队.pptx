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老师，大家好！我们是万特动慢无限公司，今天非常荣幸能在这里向各位汇报我们的毕业设计选题——《师大快跑：点亮校园计划》。我们的组员包括兰丞纬、郭畅、刘祥昊、李岩煌和杨洪涛，我是汇报人傅晨熠，我们的指导老师是林广发老师。这是一个基于GIS与游戏化设计的校园空间探索系统，旨在通过创新的方式激发同学们的运动热情，同时探索校园空间。接下来，我将从项目背景、创新点、技术方案等多个方面进行详细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首先介绍一下我们的项目基本信息和团队情况。我们的项目名为“师大快跑：点亮校园计划”，属于智慧校园应用开发范畴，核心技术方向是GIS、LBS和游戏化设计的结合。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我们的团队名为“GIS先锋小队”，成员由3到5名软件工程和GIS专业的同学组成，具备空间数据分析和小程序开发的能力。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我们的愿景是用GIS技术为校园运动体验带来全新的变革，让运动更有趣、更科学。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解释一下我们项目名称的含义。“师大”明确了我们的项目载体是福建师范大学旗山校区；“快跑”是我们选择的运动方式；“点亮”是我们的核心玩法，用户的运动轨迹会在地图上点亮相应区域；而“校园计划”则表明这是一个包含探索、任务、分析和激励的完整系统。我们的核心理念是从传统运动APP的“里程导向”转变为“空间覆盖导向”，本质上是将学生的运动行为转化为一场解锁校园地标的游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基于扎实的GIS理论基础。这里列出了几个核心概念及其在项目中的应用，例如利用LBS进行实时定位，通过地理围栏识别操场场景，运用地图匹配算法解决GPS漂移问题等。这些技术都有相关的学术文献作为支撑，确保了我们项目的专业性和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有四大创新点。首先是评价视角的创新，我们关注的是空间覆盖率而非单纯的里程数，并通过地图点亮的方式提供直观反馈。其次，我们将GIS技术作为游戏引擎，驱动打卡、推荐等玩法。第三，我们针对操场场景设计了专项方案，通过纯算法解决了GPS漂移的行业痛点。最后，我们将校史文化融入游戏过程，实现了文化与科技的融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开展需要一定的硬件和数据支持。硬件方面，用户只需自备智能手机，团队自有开发电脑，并可在校内借用测试设备。数据方面，我们需要校园底图、POI数据、跑道中心线等GIS核心数据，这些数据将通过官网获取、实地采集和人工标注等方式获得，并经过统一坐标系、拓扑检查等预处理流程后入库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我们选择了一套成熟且高效的技术架构。前端采用微信小程序，利用其Canvas 2D渲染和原生定位能力；后端使用微信云开发，无需管理服务器；地图服务集成腾讯地图API；空间分析则借助Turf.js库完成。这套技术栈轻量、高性能且易于推广，非常适合我们的项目需求。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我们从技术、时间和经济三个维度对项目进行了可行性分析。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首先是技术层面，我们评估了微信小程序、GPS定位、地图渲染等核心技术点。结论是核心技术均有成熟解决方案，且团队成员对大部分技术点掌握程度较高，仅有少量算法优化需要攻关，整体风险可控。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其次是时间层面，我们制定了详细的里程碑计划，从需求分析到最终交付共规划了16周。这个周期与毕设的时间安排高度吻合，只要严格执行计划，完全可以按时完成。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最后是经济层面，得益于微信生态的免费工具和云开发额度，以及校园数据的公开性，我们的开发和数据成本几乎为零。推广也主要依赖校内社群，成本极低。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综上所述，项目在技术、时间和经济上都具备极高的可行性。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项目初步计划和关键里程碑。我们将整个开发过程分为需求分析、数据准备、核心开发、算法优化、测试调优和最终完善六个阶段，总计16周。每个阶段都设定了明确的里程碑和验收标准，以确保项目能够按计划顺利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项目高效推进，我们进行了明确的团队分工。团队分为项目负责人、GIS数据组、前端开发组和后端与算法组，共6名成员，每个成员都有明确的职责和交付物。同时，我们建立了每日站会、周例会等协作机制，确保信息同步和问题及时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评分标准中35%的专业性要求，我们的项目从空间数据采集、数据库构建、空间查询、空间分析到可视化表达，完整覆盖了GIS的基本特征。我们的核心逻辑完全基于GIS空间操作与分析，确保了项目的专业性。例如，用户的运动轨迹会经过坐标转换、缓冲区生成、与底图叠加等一系列空间分析步骤，最终计算出点亮比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针对25%的新颖性评分，我们的项目在应用领域、应用模式和技术问题解决三个方面都进行了创新。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首先，在应用领域，我们引入了“空间覆盖率”这一新指标，将校园地图变为动态的游戏化探索界面，并通过空间关系自动触发任务，打破了传统APP的单一模式。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其次，在应用模式上，我们将运动从工具变为游戏，从个人延伸到群体，并融入了教育元素，极大地提升了用户粘性和社会价值。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最后，我们针对性地解决了操场GPS漂移等行业痛点，利用纯软件方案降低了成本，提高了数据准确性。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25%的可行性评分，我们识别了技术、数据、时间和设备等方面的潜在风险，并制定了相应的应对措施。同时，我们拥有指导老师的支持、可公开获取的校园数据、真实的测试环境和零开发成本等资源保障。我们还定义了最小可行产品，确保即使在时间紧张的情况下，也能交付核心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项目通过技术、体验和文化三方面的创新，旨在打造一种智慧校园的新型应用范式。我们预期的成果包括一个可运行的小程序、一个校园空间数据库、相关技术文档以及一篇学术论文。在项目上线后，我们的后续维护方向将侧重于持续的BUG修复与性能优化，积极收集用户反馈并进行功能迭代，同时确保多机型的适配与兼容性，并做好服务器与数据的安全维护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我的汇报到此结束，感谢各位老师的聆听与指导。接下来是问答环节，欢迎各位老师提问，我们将逐一解答。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根据老师的要求，我在此说明本次PPT制作过程中的AI协作情况。我们使用了豆包AI，向其提出了生成PPT的具体需求，包括内容、格式和页数限制。AI帮助我们完成了PPT的结构搭建、内容填充和视觉设计，并按照要求增加了本页说明。这次协作极大地提高了我们的制作效率，让我们能够更专注于内容本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10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26.svg"/><Relationship Id="rId17" Type="http://schemas.openxmlformats.org/officeDocument/2006/relationships/image" Target="../media/image25.png"/><Relationship Id="rId16" Type="http://schemas.openxmlformats.org/officeDocument/2006/relationships/image" Target="../media/image24.svg"/><Relationship Id="rId15" Type="http://schemas.openxmlformats.org/officeDocument/2006/relationships/image" Target="../media/image23.png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8.svg"/><Relationship Id="rId11" Type="http://schemas.openxmlformats.org/officeDocument/2006/relationships/image" Target="../media/image37.png"/><Relationship Id="rId10" Type="http://schemas.openxmlformats.org/officeDocument/2006/relationships/image" Target="../media/image36.svg"/><Relationship Id="rId1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0.svg"/><Relationship Id="rId11" Type="http://schemas.openxmlformats.org/officeDocument/2006/relationships/image" Target="../media/image49.png"/><Relationship Id="rId10" Type="http://schemas.openxmlformats.org/officeDocument/2006/relationships/image" Target="../media/image48.svg"/><Relationship Id="rId1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image" Target="../media/image58.svg"/><Relationship Id="rId21" Type="http://schemas.openxmlformats.org/officeDocument/2006/relationships/image" Target="../media/image57.png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56.svg"/><Relationship Id="rId15" Type="http://schemas.openxmlformats.org/officeDocument/2006/relationships/image" Target="../media/image55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54.sv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svg"/><Relationship Id="rId7" Type="http://schemas.openxmlformats.org/officeDocument/2006/relationships/image" Target="../media/image65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svg"/><Relationship Id="rId7" Type="http://schemas.openxmlformats.org/officeDocument/2006/relationships/image" Target="../media/image73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3" Type="http://schemas.openxmlformats.org/officeDocument/2006/relationships/image" Target="../media/image69.png"/><Relationship Id="rId2" Type="http://schemas.openxmlformats.org/officeDocument/2006/relationships/image" Target="../media/image68.svg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80.svg"/><Relationship Id="rId13" Type="http://schemas.openxmlformats.org/officeDocument/2006/relationships/image" Target="../media/image79.png"/><Relationship Id="rId12" Type="http://schemas.openxmlformats.org/officeDocument/2006/relationships/image" Target="../media/image78.svg"/><Relationship Id="rId11" Type="http://schemas.openxmlformats.org/officeDocument/2006/relationships/image" Target="../media/image77.png"/><Relationship Id="rId10" Type="http://schemas.openxmlformats.org/officeDocument/2006/relationships/image" Target="../media/image76.svg"/><Relationship Id="rId1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8.svg"/><Relationship Id="rId7" Type="http://schemas.openxmlformats.org/officeDocument/2006/relationships/image" Target="../media/image87.png"/><Relationship Id="rId6" Type="http://schemas.openxmlformats.org/officeDocument/2006/relationships/image" Target="../media/image86.svg"/><Relationship Id="rId5" Type="http://schemas.openxmlformats.org/officeDocument/2006/relationships/image" Target="../media/image85.png"/><Relationship Id="rId4" Type="http://schemas.openxmlformats.org/officeDocument/2006/relationships/image" Target="../media/image84.svg"/><Relationship Id="rId3" Type="http://schemas.openxmlformats.org/officeDocument/2006/relationships/image" Target="../media/image83.png"/><Relationship Id="rId2" Type="http://schemas.openxmlformats.org/officeDocument/2006/relationships/image" Target="../media/image82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0.svg"/><Relationship Id="rId7" Type="http://schemas.openxmlformats.org/officeDocument/2006/relationships/image" Target="../media/image69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92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9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image" Target="../media/image100.svg"/><Relationship Id="rId7" Type="http://schemas.openxmlformats.org/officeDocument/2006/relationships/image" Target="../media/image99.png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96.svg"/><Relationship Id="rId3" Type="http://schemas.openxmlformats.org/officeDocument/2006/relationships/image" Target="../media/image95.png"/><Relationship Id="rId2" Type="http://schemas.openxmlformats.org/officeDocument/2006/relationships/image" Target="../media/image94.sv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06.svg"/><Relationship Id="rId13" Type="http://schemas.openxmlformats.org/officeDocument/2006/relationships/image" Target="../media/image105.png"/><Relationship Id="rId12" Type="http://schemas.openxmlformats.org/officeDocument/2006/relationships/image" Target="../media/image104.svg"/><Relationship Id="rId11" Type="http://schemas.openxmlformats.org/officeDocument/2006/relationships/image" Target="../media/image103.png"/><Relationship Id="rId10" Type="http://schemas.openxmlformats.org/officeDocument/2006/relationships/image" Target="../media/image102.svg"/><Relationship Id="rId1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08.svg"/><Relationship Id="rId3" Type="http://schemas.openxmlformats.org/officeDocument/2006/relationships/image" Target="../media/image107.png"/><Relationship Id="rId2" Type="http://schemas.openxmlformats.org/officeDocument/2006/relationships/image" Target="../media/image14.sv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image" Target="../media/image116.svg"/><Relationship Id="rId7" Type="http://schemas.openxmlformats.org/officeDocument/2006/relationships/image" Target="../media/image115.png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112.sv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8.svg"/><Relationship Id="rId1" Type="http://schemas.openxmlformats.org/officeDocument/2006/relationships/image" Target="../media/image11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122.svg"/><Relationship Id="rId5" Type="http://schemas.openxmlformats.org/officeDocument/2006/relationships/image" Target="../media/image121.png"/><Relationship Id="rId4" Type="http://schemas.openxmlformats.org/officeDocument/2006/relationships/image" Target="../media/image120.svg"/><Relationship Id="rId3" Type="http://schemas.openxmlformats.org/officeDocument/2006/relationships/image" Target="../media/image119.png"/><Relationship Id="rId24" Type="http://schemas.openxmlformats.org/officeDocument/2006/relationships/notesSlide" Target="../notesSlides/notesSlide14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30.svg"/><Relationship Id="rId21" Type="http://schemas.openxmlformats.org/officeDocument/2006/relationships/image" Target="../media/image29.png"/><Relationship Id="rId20" Type="http://schemas.openxmlformats.org/officeDocument/2006/relationships/image" Target="../media/image132.svg"/><Relationship Id="rId2" Type="http://schemas.openxmlformats.org/officeDocument/2006/relationships/image" Target="../media/image82.svg"/><Relationship Id="rId19" Type="http://schemas.openxmlformats.org/officeDocument/2006/relationships/image" Target="../media/image131.png"/><Relationship Id="rId18" Type="http://schemas.openxmlformats.org/officeDocument/2006/relationships/image" Target="../media/image130.svg"/><Relationship Id="rId17" Type="http://schemas.openxmlformats.org/officeDocument/2006/relationships/image" Target="../media/image129.png"/><Relationship Id="rId16" Type="http://schemas.openxmlformats.org/officeDocument/2006/relationships/image" Target="../media/image128.svg"/><Relationship Id="rId15" Type="http://schemas.openxmlformats.org/officeDocument/2006/relationships/image" Target="../media/image127.png"/><Relationship Id="rId14" Type="http://schemas.openxmlformats.org/officeDocument/2006/relationships/image" Target="../media/image10.svg"/><Relationship Id="rId13" Type="http://schemas.openxmlformats.org/officeDocument/2006/relationships/image" Target="../media/image9.png"/><Relationship Id="rId12" Type="http://schemas.openxmlformats.org/officeDocument/2006/relationships/image" Target="../media/image126.svg"/><Relationship Id="rId11" Type="http://schemas.openxmlformats.org/officeDocument/2006/relationships/image" Target="../media/image125.png"/><Relationship Id="rId10" Type="http://schemas.openxmlformats.org/officeDocument/2006/relationships/image" Target="../media/image124.svg"/><Relationship Id="rId1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4.svg"/><Relationship Id="rId1" Type="http://schemas.openxmlformats.org/officeDocument/2006/relationships/image" Target="../media/image13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png"/><Relationship Id="rId8" Type="http://schemas.openxmlformats.org/officeDocument/2006/relationships/image" Target="../media/image142.svg"/><Relationship Id="rId7" Type="http://schemas.openxmlformats.org/officeDocument/2006/relationships/image" Target="../media/image141.png"/><Relationship Id="rId6" Type="http://schemas.openxmlformats.org/officeDocument/2006/relationships/image" Target="../media/image140.svg"/><Relationship Id="rId5" Type="http://schemas.openxmlformats.org/officeDocument/2006/relationships/image" Target="../media/image139.png"/><Relationship Id="rId4" Type="http://schemas.openxmlformats.org/officeDocument/2006/relationships/image" Target="../media/image138.svg"/><Relationship Id="rId3" Type="http://schemas.openxmlformats.org/officeDocument/2006/relationships/image" Target="../media/image137.png"/><Relationship Id="rId2" Type="http://schemas.openxmlformats.org/officeDocument/2006/relationships/image" Target="../media/image136.svg"/><Relationship Id="rId18" Type="http://schemas.openxmlformats.org/officeDocument/2006/relationships/notesSlide" Target="../notesSlides/notesSlide16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10.svg"/><Relationship Id="rId15" Type="http://schemas.openxmlformats.org/officeDocument/2006/relationships/image" Target="../media/image109.png"/><Relationship Id="rId14" Type="http://schemas.openxmlformats.org/officeDocument/2006/relationships/image" Target="../media/image148.svg"/><Relationship Id="rId13" Type="http://schemas.openxmlformats.org/officeDocument/2006/relationships/image" Target="../media/image147.png"/><Relationship Id="rId12" Type="http://schemas.openxmlformats.org/officeDocument/2006/relationships/image" Target="../media/image146.svg"/><Relationship Id="rId11" Type="http://schemas.openxmlformats.org/officeDocument/2006/relationships/image" Target="../media/image145.png"/><Relationship Id="rId10" Type="http://schemas.openxmlformats.org/officeDocument/2006/relationships/image" Target="../media/image144.svg"/><Relationship Id="rId1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000" y="889000"/>
            <a:ext cx="10922000" cy="5080000"/>
          </a:xfrm>
          <a:prstGeom prst="roundRect">
            <a:avLst>
              <a:gd name="adj" fmla="val 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079750" y="1397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师大快跑：点亮校园计划</a:t>
            </a:r>
            <a:endParaRPr lang="en-US" sz="3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基于 GIS 与游戏化的校园空间探索系统</a:t>
            </a:r>
            <a:endParaRPr lang="en-US" sz="18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25971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6B3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0" y="304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302000" y="30099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队伍：万特动慢无限公司</a:t>
            </a:r>
            <a:endParaRPr lang="en-US" sz="1600" b="1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0" y="4064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302000" y="4064000"/>
            <a:ext cx="508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组员：</a:t>
            </a:r>
            <a:endParaRPr lang="en-US" sz="1600" b="0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000" y="355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302000" y="35179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endParaRPr lang="en-US" sz="1600" b="0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1000" y="4572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302000" y="45339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指导老师：林广发</a:t>
            </a:r>
            <a:endParaRPr lang="en-US" sz="1600" b="0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1000" y="5080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302000" y="50419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2026 年 3 月 23 日</a:t>
            </a:r>
            <a:endParaRPr lang="en-US" sz="1600" b="0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69392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项目基本信息与团队定位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项目档案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57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项目题目：</a:t>
            </a:r>
            <a:r>
              <a:rPr lang="en-US" sz="16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师大快跑：点亮校园计划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76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438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团队名称：</a:t>
            </a:r>
            <a:r>
              <a:rPr lang="en-US" sz="16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万特动慢无限公司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857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2819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项目类型：</a:t>
            </a:r>
            <a:r>
              <a:rPr lang="en-US" sz="16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智慧校园应用开发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238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200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技术方向：</a:t>
            </a:r>
            <a:r>
              <a:rPr lang="en-US" sz="16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GIS + LBS + 游戏化设计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619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3581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成员背景：</a:t>
            </a:r>
            <a:r>
              <a:rPr lang="en-US" sz="16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GIS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397000"/>
            <a:ext cx="5080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团队核心定位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2095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2057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专业背景：</a:t>
            </a:r>
            <a:r>
              <a:rPr lang="en-US" sz="16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地理信息科学 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2603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5654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技术能力：</a:t>
            </a:r>
            <a:r>
              <a:rPr lang="en-US" sz="16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空间数据分析、小程序开发、地图服务集成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32385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3200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项目愿景：</a:t>
            </a:r>
            <a:r>
              <a:rPr lang="en-US" sz="16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用 GIS 技术重塑校园运动体验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3000" y="49530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905000" y="4826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我们致力于通过技术创新，让校园运动更有趣、更科学。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融合空间数据与游戏机制，打造全新的智慧校园生活方式。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626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题目含义解释与核心理念转变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“师大快跑” 含义拆解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4384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87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师大：</a:t>
            </a: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福建师范大学旗山校区，项目落地的具体空间载体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3274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276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快跑：</a:t>
            </a: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运动行为载体，以跑步为切入点激发用户参与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2164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165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点亮：</a:t>
            </a: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核心玩法机制，轨迹覆盖区域由暗变亮的可视化反馈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1054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054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校园计划：</a:t>
            </a: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系统性工程，包含探索、任务、分析、激励完整闭环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核心理念转变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2286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2540000"/>
            <a:ext cx="2032000" cy="1016000"/>
          </a:xfrm>
          <a:prstGeom prst="roundRect">
            <a:avLst>
              <a:gd name="adj" fmla="val 1250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0" y="2667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传统运动 APP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记录“跑了多少公里”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（里程导向）</a:t>
            </a:r>
            <a:endParaRPr lang="en-US" sz="1200" b="0" i="0" u="none" strike="noStrike">
              <a:solidFill>
                <a:srgbClr val="9696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6000" y="2857500"/>
            <a:ext cx="508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144000" y="2540000"/>
            <a:ext cx="2032000" cy="1016000"/>
          </a:xfrm>
          <a:prstGeom prst="roundRect">
            <a:avLst>
              <a:gd name="adj" fmla="val 12500"/>
            </a:avLst>
          </a:prstGeom>
          <a:solidFill>
            <a:srgbClr val="1E50A2">
              <a:alpha val="10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144000" y="2667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师大快跑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记录“探索了多少空间”</a:t>
            </a:r>
            <a:endParaRPr lang="en-US" sz="1400" b="0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（空间覆盖导向）</a:t>
            </a:r>
            <a:endParaRPr lang="en-US" sz="1200" b="0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50000" y="4445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4762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4572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核心理念本质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将学生的真实移动行为转化为“解锁地标、点亮区域”的游戏化过程。</a:t>
            </a:r>
            <a:endParaRPr lang="en-US" sz="16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领域相关知识与术语定义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87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95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2032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LBS 基于位置服务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通过移动终端获取用户地理位置信息</a:t>
            </a:r>
            <a:endParaRPr lang="en-US" sz="1200" b="0" i="0" u="none" strike="noStrike">
              <a:solidFill>
                <a:srgbClr val="666666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997200" cy="304800"/>
          </a:xfrm>
          <a:prstGeom prst="roundRect">
            <a:avLst>
              <a:gd name="adj" fmla="val 16666"/>
            </a:avLst>
          </a:prstGeom>
          <a:solidFill>
            <a:srgbClr val="1E50A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应用：实时定位与轨迹追踪</a:t>
            </a:r>
            <a:endParaRPr lang="en-US" sz="12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94200" y="1905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2095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65700" y="2032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地理围栏 Geo-fencing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84700" y="24130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设定虚拟边界，判断点是否在区域内</a:t>
            </a:r>
            <a:endParaRPr lang="en-US" sz="1200" b="0" i="0" u="none" strike="noStrike">
              <a:solidFill>
                <a:srgbClr val="666666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84700" y="2794000"/>
            <a:ext cx="2997200" cy="304800"/>
          </a:xfrm>
          <a:prstGeom prst="roundRect">
            <a:avLst>
              <a:gd name="adj" fmla="val 16666"/>
            </a:avLst>
          </a:prstGeom>
          <a:solidFill>
            <a:srgbClr val="1E50A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应用：操场场景识别与切换</a:t>
            </a:r>
            <a:endParaRPr lang="en-US" sz="12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26400" y="1905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900" y="2095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597900" y="2032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地图匹配 Map Matching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16900" y="24130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将离散轨迹点吸附到实际路网的算法</a:t>
            </a:r>
            <a:endParaRPr lang="en-US" sz="1200" b="0" i="0" u="none" strike="noStrike">
              <a:solidFill>
                <a:srgbClr val="666666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216900" y="2794000"/>
            <a:ext cx="2997200" cy="304800"/>
          </a:xfrm>
          <a:prstGeom prst="roundRect">
            <a:avLst>
              <a:gd name="adj" fmla="val 16666"/>
            </a:avLst>
          </a:prstGeom>
          <a:solidFill>
            <a:srgbClr val="1E50A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应用：解决操场 GPS 漂移问题</a:t>
            </a:r>
            <a:endParaRPr lang="en-US" sz="12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34925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3683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33500" y="3619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缓冲区分析 Buffer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52500" y="40005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围绕地理要素建立一定宽度的带状区</a:t>
            </a:r>
            <a:endParaRPr lang="en-US" sz="1200" b="0" i="0" u="none" strike="noStrike">
              <a:solidFill>
                <a:srgbClr val="666666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52500" y="4381500"/>
            <a:ext cx="2997200" cy="304800"/>
          </a:xfrm>
          <a:prstGeom prst="roundRect">
            <a:avLst>
              <a:gd name="adj" fmla="val 16666"/>
            </a:avLst>
          </a:prstGeom>
          <a:solidFill>
            <a:srgbClr val="1E50A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应用：POI 触发范围判定</a:t>
            </a:r>
            <a:endParaRPr lang="en-US" sz="12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394200" y="34925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4700" y="3683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4965700" y="3619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叠加分析 Overlay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4584700" y="40005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将多个空间图层进行叠加运算与融合</a:t>
            </a:r>
            <a:endParaRPr lang="en-US" sz="1200" b="0" i="0" u="none" strike="noStrike">
              <a:solidFill>
                <a:srgbClr val="666666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4584700" y="4381500"/>
            <a:ext cx="2997200" cy="304800"/>
          </a:xfrm>
          <a:prstGeom prst="roundRect">
            <a:avLst>
              <a:gd name="adj" fmla="val 16666"/>
            </a:avLst>
          </a:prstGeom>
          <a:solidFill>
            <a:srgbClr val="1E50A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应用：计算区域覆盖度与点亮比例</a:t>
            </a:r>
            <a:endParaRPr lang="en-US" sz="12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026400" y="34925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16900" y="3683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597900" y="3619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核密度分析 Kernel Density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216900" y="40005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计算点要素在地理空间上的聚集程度</a:t>
            </a:r>
            <a:endParaRPr lang="en-US" sz="1200" b="0" i="0" u="none" strike="noStrike">
              <a:solidFill>
                <a:srgbClr val="666666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216900" y="4381500"/>
            <a:ext cx="2997200" cy="304800"/>
          </a:xfrm>
          <a:prstGeom prst="roundRect">
            <a:avLst>
              <a:gd name="adj" fmla="val 16666"/>
            </a:avLst>
          </a:prstGeom>
          <a:solidFill>
            <a:srgbClr val="1E50A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应用：生成热门路线热力图</a:t>
            </a:r>
            <a:endParaRPr lang="en-US" sz="12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762000" y="5207000"/>
            <a:ext cx="106426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1016000" y="5334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参考文献支撑：</a:t>
            </a:r>
            <a:endParaRPr lang="en-US" sz="14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016000" y="5651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《地理信息系统教程》（汤国安，2020）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2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《LBS 位置服务技术与应用》（李清泉，2019）</a:t>
            </a:r>
            <a:endParaRPr lang="en-US" sz="12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2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《游戏化设计原理与实践》（Kevin Werbach, 2018）</a:t>
            </a:r>
            <a:endParaRPr lang="en-US" sz="12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305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选题创意与四大创新点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87500"/>
            <a:ext cx="508000" cy="508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397000" y="2057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评价视角创新：从“里程”到“空间”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16000" y="247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• 传统 APP：关注单一里程数，使用线性进度条展示个人数据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• 师大快跑：关注</a:t>
            </a:r>
            <a:r>
              <a:rPr lang="en-US" sz="14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空间覆盖率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，通过地图点亮可视化与群体热力图，提供更丰富的反馈维度。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6223000" y="1905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09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6858000" y="2057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技术驱动玩法：GIS 游戏引擎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6477000" y="247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• 核心引擎：打卡触发、点位推荐、区域解锁均由空间关系分析驱动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• 动态分析：利用</a:t>
            </a:r>
            <a:r>
              <a:rPr lang="en-US" sz="14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缓冲区分析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自动触发任务，叠加分析计算覆盖度，实现智能化游戏体验。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762000" y="406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4254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13970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操场场景专项：纯算法解决方案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1016000" y="4635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• 流程闭环：地理围栏识别 → 地图匹配吸附 → 虚拟里程映射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• 核心优势：无需昂贵硬件，通过算法消除 GPS 漂移，解决绕圈进度累加难题。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6223000" y="406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77000" y="425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3"/>
            </p:custDataLst>
          </p:nvPr>
        </p:nvSpPr>
        <p:spPr>
          <a:xfrm>
            <a:off x="68580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文化与科技融合：寓教于乐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6477000" y="4635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• 教育嵌入：将校史教育与文化知识嵌入关卡解锁过程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• 新型导览：让用户在运动中潜移默化地学习校园文化，打造</a:t>
            </a:r>
            <a:r>
              <a:rPr lang="en-US" sz="14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“行走的校园文化导览”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条件需求与数据需求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355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952500" y="1460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硬件条件需求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9304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智能手机</a:t>
            </a:r>
            <a:r>
              <a:rPr lang="en-US" sz="14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- 用户终端，获取 GPS 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5654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开发电脑</a:t>
            </a:r>
            <a:r>
              <a:rPr lang="en-US" sz="14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- 代码编写与测试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32004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测试设备</a:t>
            </a:r>
            <a:r>
              <a:rPr lang="en-US" sz="1400" b="0" i="0" u="none" strike="noStrike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- 多机型兼容性测试 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000" y="1270000"/>
            <a:ext cx="685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762500" y="14605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GIS 核心数据需求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4762500" y="1905000"/>
          <a:ext cx="6350000" cy="215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226903"/>
                <a:gridCol w="1456097"/>
                <a:gridCol w="1397000"/>
              </a:tblGrid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数据类型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具体内容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获取方式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精度要求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校园底图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道路、建筑、绿地矢量数据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官网+实地采集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米级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POI数据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图书馆、教学楼、雕塑等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调研+人工标注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5米内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跑道中心线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操场跑道标准坐标序列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GPS实地采集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亚米级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地理围栏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操场多边形边界坐标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地图API提取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米级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校史资料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地标建筑历史介绍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资料整理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文本/图片</a:t>
                      </a:r>
                      <a:endParaRPr lang="en-US" sz="1300" b="0" i="0" u="none" strike="noStrike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AutoShape 14"/>
          <p:cNvSpPr/>
          <p:nvPr/>
        </p:nvSpPr>
        <p:spPr>
          <a:xfrm>
            <a:off x="762000" y="4572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52500" y="46990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数据预处理流程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5207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1E50A2">
              <a:alpha val="10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原始数据</a:t>
            </a:r>
            <a:endParaRPr lang="en-US" sz="1600" b="0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7000" y="5308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098800" y="5207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1E50A2">
              <a:alpha val="10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坐标系统一</a:t>
            </a:r>
            <a:endParaRPr lang="en-US" sz="1600" b="0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9800" y="5308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181600" y="5207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1E50A2">
              <a:alpha val="10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拓扑检查</a:t>
            </a:r>
            <a:endParaRPr lang="en-US" sz="1600" b="0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32600" y="5308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64400" y="5207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1E50A2">
              <a:alpha val="10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数据入库</a:t>
            </a:r>
            <a:endParaRPr lang="en-US" sz="1600" b="0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5400" y="5308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347200" y="5207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1E50A2">
              <a:alpha val="10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前端调用</a:t>
            </a:r>
            <a:endParaRPr lang="en-US" sz="1600" b="0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473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拟用开发平台与技术架构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技术架构选型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79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前端：微信小程序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Canvas 2D 渲染 + 原生定位 API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048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29591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后端：云开发 (Cloud Base)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云数据库 + 云函数 + 云存储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127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87500" y="4038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地图服务：腾讯地图 API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底图加载 + 路径规划 + 地理编码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16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207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51181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空间分析：Turf.js 前端库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点在多边形内 + 距离计算 + 缓冲区分析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27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开发工具清单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6350000" y="1778000"/>
          <a:ext cx="5080000" cy="2349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286000"/>
                <a:gridCol w="1270000"/>
              </a:tblGrid>
              <a:tr h="444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工具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用途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版本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微信开发者工具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小程序开发与调试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最新版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VS Code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代码编辑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2026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QGIS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空间数据预处理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3.28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Photoshop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微软雅黑" panose="020B0503020204020204" charset="-122"/>
                        </a:rPr>
                        <a:t>2.5D 素材处理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CC2026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Git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版本控制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C3C3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2.40</a:t>
                      </a:r>
                      <a:endParaRPr lang="en-US" sz="1400" b="0" i="0" u="none" strike="noStrike">
                        <a:solidFill>
                          <a:srgbClr val="3C3C3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AutoShape 18"/>
          <p:cNvSpPr/>
          <p:nvPr/>
        </p:nvSpPr>
        <p:spPr>
          <a:xfrm>
            <a:off x="6350000" y="431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核心优势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4826000"/>
            <a:ext cx="1587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6B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1500" y="4953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350000" y="5397500"/>
            <a:ext cx="158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轻量级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降低运维成本</a:t>
            </a:r>
            <a:endParaRPr lang="en-US" sz="12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089900" y="4826000"/>
            <a:ext cx="1587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6B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61400" y="4953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089900" y="5397500"/>
            <a:ext cx="158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高性能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原生渲染流畅</a:t>
            </a:r>
            <a:endParaRPr lang="en-US" sz="12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842500" y="4826000"/>
            <a:ext cx="1587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6B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14000" y="49530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842500" y="5397500"/>
            <a:ext cx="158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易推广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扫码即用便捷</a:t>
            </a:r>
            <a:endParaRPr lang="en-US" sz="12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95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可行性分析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00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技术可行性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微信小程序开发：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成熟/高掌握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GPS 定位获取：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成熟/高掌握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地图匹配算法：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较成熟/中掌握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Canvas 2D 渲染：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成熟/高掌握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空间分析计算：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较成熟/中掌握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89000" y="3810000"/>
            <a:ext cx="3124200" cy="762000"/>
          </a:xfrm>
          <a:prstGeom prst="roundRect">
            <a:avLst>
              <a:gd name="adj" fmla="val 16666"/>
            </a:avLst>
          </a:prstGeom>
          <a:solidFill>
            <a:srgbClr val="1E50A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结论：</a:t>
            </a:r>
            <a:r>
              <a:rPr lang="en-US" sz="1400" b="0" i="0" u="none" strike="noStrike">
                <a:solidFill>
                  <a:srgbClr val="3C3C3C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核心技术均有成熟解决方案，团队具备实现能力。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94200" y="1397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65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29200" y="1600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时间可行性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648200" y="2032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需求分析：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2周 (需求文档)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数据准备：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3周 (空间数据库)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核心开发：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6周 (可运行版本)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算法优化：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3周 (测试报告)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测试调优：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2周 (最终版本)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21200" y="3810000"/>
            <a:ext cx="3124200" cy="762000"/>
          </a:xfrm>
          <a:prstGeom prst="roundRect">
            <a:avLst>
              <a:gd name="adj" fmla="val 16666"/>
            </a:avLst>
          </a:prstGeom>
          <a:solidFill>
            <a:srgbClr val="1E50A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648200" y="3937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结论：</a:t>
            </a:r>
            <a:r>
              <a:rPr lang="en-US" sz="1400" b="0" i="0" u="none" strike="noStrike">
                <a:solidFill>
                  <a:srgbClr val="3C3C3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总周期16周，在毕设周期内可按时完成交付。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26400" y="1397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65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61400" y="1600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经济可行性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80400" y="2032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开发成本：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0元 (免费工具/云开发)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数据成本：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0元 (公开数据获取)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• 推广成本：</a:t>
            </a:r>
            <a:r>
              <a:rPr lang="en-US" sz="14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低 (校内社群传播)</a:t>
            </a:r>
            <a:endParaRPr lang="en-US" sz="14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53400" y="3810000"/>
            <a:ext cx="3124200" cy="762000"/>
          </a:xfrm>
          <a:prstGeom prst="roundRect">
            <a:avLst>
              <a:gd name="adj" fmla="val 16666"/>
            </a:avLst>
          </a:prstGeom>
          <a:solidFill>
            <a:srgbClr val="1E50A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280400" y="3937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结论：</a:t>
            </a:r>
            <a:r>
              <a:rPr lang="en-US" sz="1400" b="0" i="0" u="none" strike="noStrike">
                <a:solidFill>
                  <a:srgbClr val="3C3C3C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零成本启动，极低运维推广成本，经济压力小。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207000"/>
            <a:ext cx="10642600" cy="1016000"/>
          </a:xfrm>
          <a:prstGeom prst="roundRect">
            <a:avLst>
              <a:gd name="adj" fmla="val 1250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5400000" algn="tl" rotWithShape="0">
              <a:srgbClr val="1E50A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461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651000" y="5334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综合评估结论：项目具备高度可行性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技术成熟可控，时间规划合理，经济成本极低，团队有能力在预期周期内高质量完成开发与交付。</a:t>
            </a:r>
            <a:endParaRPr lang="en-US" sz="1600" b="0" i="0" u="none" strike="noStrike">
              <a:solidFill>
                <a:srgbClr val="FFFFFF">
                  <a:alpha val="9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35204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初步计划与里程碑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254000" cy="25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33500" y="19304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项目进度规划 (16周)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第 1-2 周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286000" y="2438400"/>
            <a:ext cx="635000" cy="203200"/>
          </a:xfrm>
          <a:prstGeom prst="roundRect">
            <a:avLst>
              <a:gd name="adj" fmla="val 5000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048000" y="2413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需求分析与文献调研</a:t>
            </a:r>
            <a:endParaRPr lang="en-US" sz="1400" b="0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第 3-5 周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286000" y="2819400"/>
            <a:ext cx="952500" cy="203200"/>
          </a:xfrm>
          <a:prstGeom prst="roundRect">
            <a:avLst>
              <a:gd name="adj" fmla="val 5000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365500" y="2794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空间数据采集与处理</a:t>
            </a:r>
            <a:endParaRPr lang="en-US" sz="1400" b="0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31750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第 6-9 周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286000" y="3200400"/>
            <a:ext cx="1270000" cy="203200"/>
          </a:xfrm>
          <a:prstGeom prst="roundRect">
            <a:avLst>
              <a:gd name="adj" fmla="val 5000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83000" y="31750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核心功能开发</a:t>
            </a:r>
            <a:endParaRPr lang="en-US" sz="1400" b="0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35560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第 10-12 周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2286000" y="3581400"/>
            <a:ext cx="952500" cy="203200"/>
          </a:xfrm>
          <a:prstGeom prst="roundRect">
            <a:avLst>
              <a:gd name="adj" fmla="val 5000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365500" y="3556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算法优化与测试</a:t>
            </a:r>
            <a:endParaRPr lang="en-US" sz="1400" b="0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39370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第 13-14 周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2286000" y="3962400"/>
            <a:ext cx="635000" cy="203200"/>
          </a:xfrm>
          <a:prstGeom prst="roundRect">
            <a:avLst>
              <a:gd name="adj" fmla="val 5000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048000" y="3937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文档撰写与 PPT 制作</a:t>
            </a:r>
            <a:endParaRPr lang="en-US" sz="1400" b="0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016000" y="43180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第 15-16 周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2286000" y="4343400"/>
            <a:ext cx="635000" cy="203200"/>
          </a:xfrm>
          <a:prstGeom prst="roundRect">
            <a:avLst>
              <a:gd name="adj" fmla="val 5000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048000" y="4318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成果提交</a:t>
            </a:r>
            <a:endParaRPr lang="en-US" sz="1400" b="0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1778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794500" y="19304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关键里程碑与验收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27" name="Table 27"/>
          <p:cNvGraphicFramePr>
            <a:graphicFrameLocks noGrp="1"/>
          </p:cNvGraphicFramePr>
          <p:nvPr/>
        </p:nvGraphicFramePr>
        <p:xfrm>
          <a:off x="6565900" y="2331720"/>
          <a:ext cx="4521835" cy="2819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77900"/>
                <a:gridCol w="1344295"/>
                <a:gridCol w="2199640"/>
              </a:tblGrid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时间节点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里程碑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验收标准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</a:tr>
              <a:tr h="40132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微软雅黑" panose="020B0503020204020204" charset="-122"/>
                        </a:rPr>
                        <a:t>第 2 周末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需求定稿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通过老师审核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32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微软雅黑" panose="020B0503020204020204" charset="-122"/>
                        </a:rPr>
                        <a:t>第 5 周末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数据库完成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微软雅黑" panose="020B0503020204020204" charset="-122"/>
                        </a:rPr>
                        <a:t>所有 POI 入库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32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微软雅黑" panose="020B0503020204020204" charset="-122"/>
                        </a:rPr>
                        <a:t>第 9 周末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核心功能完成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可跑通完整流程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944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微软雅黑" panose="020B0503020204020204" charset="-122"/>
                        </a:rPr>
                        <a:t>第 12 周末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优化完成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操场场景无漂移</a:t>
                      </a:r>
                      <a:endParaRPr lang="en-US" sz="13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944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6B3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微软雅黑" panose="020B0503020204020204" charset="-122"/>
                        </a:rPr>
                        <a:t>第 16 周末</a:t>
                      </a:r>
                      <a:endParaRPr lang="en-US" sz="1300" b="1" i="0" u="none" strike="noStrike">
                        <a:solidFill>
                          <a:srgbClr val="FF6B35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6B3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最终交付</a:t>
                      </a:r>
                      <a:endParaRPr lang="en-US" sz="1300" b="1" i="0" u="none" strike="noStrike">
                        <a:solidFill>
                          <a:srgbClr val="FF6B35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6B3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程序正常运行</a:t>
                      </a:r>
                      <a:endParaRPr lang="en-US" sz="1300" b="1" i="0" u="none" strike="noStrike">
                        <a:solidFill>
                          <a:srgbClr val="FF6B35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团队成员分工组织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7112000" cy="4154805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9000" y="1905000"/>
          <a:ext cx="6858000" cy="33401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143000"/>
                <a:gridCol w="2667000"/>
                <a:gridCol w="2032000"/>
              </a:tblGrid>
              <a:tr h="457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成员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主要职责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交付物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傅晨熠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负责人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项目统筹、文档撰写、答辩汇报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完整文档、PPT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郭畅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GIS 数据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校园数据采集、坐标系转换、数据库构建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空间数据库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兰丞纬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GIS 数据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POI 标注、地理围栏绘制、数据质检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数据质检报告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刘祥昊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前端开发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小程序界面、Canvas 渲染、交互逻辑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小程序前端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李岩煌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后端算法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云函数开发、地图匹配、空间分析实现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算法模块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5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杨鸿涛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后端算法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云函数开发、地图匹配算法、空间分析实现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算法模块</a:t>
                      </a:r>
                      <a:endParaRPr lang="en-US" sz="1300" b="0" i="0" u="none" strike="noStrike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8128000" y="1778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2550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6人制团队结构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763000" y="2413000"/>
            <a:ext cx="2032000" cy="558800"/>
          </a:xfrm>
          <a:prstGeom prst="roundRect">
            <a:avLst>
              <a:gd name="adj" fmla="val 22727"/>
            </a:avLst>
          </a:prstGeom>
          <a:solidFill>
            <a:srgbClr val="1E50A2">
              <a:alpha val="10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0" y="2540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271000" y="2413000"/>
            <a:ext cx="139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项目负责人</a:t>
            </a:r>
            <a:endParaRPr lang="en-US" sz="1400" b="1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318500" y="3175000"/>
            <a:ext cx="2921000" cy="635000"/>
          </a:xfrm>
          <a:prstGeom prst="roundRect">
            <a:avLst>
              <a:gd name="adj" fmla="val 20000"/>
            </a:avLst>
          </a:prstGeom>
          <a:solidFill>
            <a:srgbClr val="FF6B35">
              <a:alpha val="10000"/>
            </a:srgbClr>
          </a:solidFill>
          <a:ln w="12700" cap="flat" cmpd="sng">
            <a:solidFill>
              <a:srgbClr val="FF6B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5500" y="3340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3175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GIS 数据组 (2人)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采集、转换、质检</a:t>
            </a:r>
            <a:endParaRPr lang="en-US" sz="11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318500" y="3937000"/>
            <a:ext cx="2921000" cy="635000"/>
          </a:xfrm>
          <a:prstGeom prst="roundRect">
            <a:avLst>
              <a:gd name="adj" fmla="val 20000"/>
            </a:avLst>
          </a:prstGeom>
          <a:solidFill>
            <a:srgbClr val="FF6B35">
              <a:alpha val="10000"/>
            </a:srgbClr>
          </a:solidFill>
          <a:ln w="12700" cap="flat" cmpd="sng">
            <a:solidFill>
              <a:srgbClr val="FF6B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5500" y="4102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26500" y="3937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前端开发组 (1人)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界面、交互、渲染</a:t>
            </a:r>
            <a:endParaRPr lang="en-US" sz="11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318500" y="4699000"/>
            <a:ext cx="2921000" cy="635000"/>
          </a:xfrm>
          <a:prstGeom prst="roundRect">
            <a:avLst>
              <a:gd name="adj" fmla="val 20000"/>
            </a:avLst>
          </a:prstGeom>
          <a:solidFill>
            <a:srgbClr val="FF6B35">
              <a:alpha val="10000"/>
            </a:srgbClr>
          </a:solidFill>
          <a:ln w="12700" cap="flat" cmpd="sng">
            <a:solidFill>
              <a:srgbClr val="FF6B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45500" y="48641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26500" y="4699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后端与算法组 (2人)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787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云函数、地图匹配</a:t>
            </a:r>
            <a:endParaRPr lang="en-US" sz="1100" b="0" i="0" u="none" strike="noStrike">
              <a:solidFill>
                <a:srgbClr val="78787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 rot="5185419">
            <a:off x="9677400" y="30672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专业性保障说明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635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1270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GIS 特征全维度覆盖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714500"/>
          <a:ext cx="5842000" cy="193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540000"/>
                <a:gridCol w="2032000"/>
              </a:tblGrid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基本特征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本项目实现方式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对应功能模块</a:t>
                      </a:r>
                      <a:endParaRPr lang="en-US" sz="14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空间数据采集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校园 POI 实地采集 + GPS 轨迹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数据准备模块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空间数据库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Noto Sans SC" panose="020B0200000000000000" charset="-122"/>
                        </a:rPr>
                        <a:t>基于云开发的 GeoJSON 存储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后端数据层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空间查询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点在多边形内判断、邻近分析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地理围栏、任务触发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空间分析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缓冲区分析、叠加分析、核密度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覆盖度计算、热力图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445000"/>
            <a:ext cx="635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762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4635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项目GIS逻辑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 基于 GIS 空间操作与分析，确保专业性得分，而不是简单坐标罗列。</a:t>
            </a:r>
            <a:endParaRPr lang="en-US" sz="16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366000" y="1143000"/>
            <a:ext cx="4064000" cy="4572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0" y="1270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空间分析流程闭环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0" y="1778000"/>
            <a:ext cx="3556000" cy="508000"/>
          </a:xfrm>
          <a:prstGeom prst="roundRect">
            <a:avLst>
              <a:gd name="adj" fmla="val 12500"/>
            </a:avLst>
          </a:prstGeom>
          <a:solidFill>
            <a:srgbClr val="1E50A2">
              <a:alpha val="5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000" y="1879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128000" y="1778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用户 GPS 轨迹采集</a:t>
            </a:r>
            <a:endParaRPr lang="en-US" sz="1400" b="1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2311400"/>
            <a:ext cx="203200" cy="203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0" y="2540000"/>
            <a:ext cx="3556000" cy="508000"/>
          </a:xfrm>
          <a:prstGeom prst="roundRect">
            <a:avLst>
              <a:gd name="adj" fmla="val 12500"/>
            </a:avLst>
          </a:prstGeom>
          <a:solidFill>
            <a:srgbClr val="1E50A2">
              <a:alpha val="5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0" y="2641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128000" y="2540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坐标转换与预处理</a:t>
            </a:r>
            <a:endParaRPr lang="en-US" sz="1400" b="1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3073400"/>
            <a:ext cx="203200" cy="203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20000" y="3302000"/>
            <a:ext cx="3556000" cy="508000"/>
          </a:xfrm>
          <a:prstGeom prst="roundRect">
            <a:avLst>
              <a:gd name="adj" fmla="val 12500"/>
            </a:avLst>
          </a:prstGeom>
          <a:solidFill>
            <a:srgbClr val="1E50A2">
              <a:alpha val="5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7000" y="3403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1280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缓冲区生成与底图叠加</a:t>
            </a:r>
            <a:endParaRPr lang="en-US" sz="1400" b="1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383540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620000" y="4064000"/>
            <a:ext cx="3556000" cy="508000"/>
          </a:xfrm>
          <a:prstGeom prst="roundRect">
            <a:avLst>
              <a:gd name="adj" fmla="val 12500"/>
            </a:avLst>
          </a:prstGeom>
          <a:solidFill>
            <a:srgbClr val="1E50A2">
              <a:alpha val="5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47000" y="4165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128000" y="4064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计算覆盖面积与总面积</a:t>
            </a:r>
            <a:endParaRPr lang="en-US" sz="1400" b="1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4597400"/>
            <a:ext cx="203200" cy="203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620000" y="4826000"/>
            <a:ext cx="3556000" cy="635000"/>
          </a:xfrm>
          <a:prstGeom prst="roundRect">
            <a:avLst>
              <a:gd name="adj" fmla="val 10000"/>
            </a:avLst>
          </a:prstGeom>
          <a:solidFill>
            <a:srgbClr val="FF6B35">
              <a:alpha val="10000"/>
            </a:srgbClr>
          </a:solidFill>
          <a:ln w="12700" cap="flat" cmpd="sng">
            <a:solidFill>
              <a:srgbClr val="FF6B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47000" y="49911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128000" y="4826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点亮比例 = 覆盖面积 / 总面积</a:t>
            </a:r>
            <a:endParaRPr lang="en-US" sz="1400" b="1" i="0" u="none" strike="noStrike">
              <a:solidFill>
                <a:srgbClr val="FF6B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新颖性保障说明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782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应用领域创新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89000" y="20320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指标创新：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引入“空间覆盖率”指标，超越传统APP单一里程统计。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交互创新：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地图动态点亮 + 游戏化探索，替代静态展示。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触发创新：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基于空间关系自动触发任务，非被动打卡。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94200" y="1397000"/>
            <a:ext cx="33782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587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292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应用模式创新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21200" y="20320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工具 ➔ 游戏：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运动行为游戏化，显著提升用户粘性与活跃度。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个人 ➔ 群体：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生成群体热力图，数据反哺校园规划决策。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运动 ➔ 教育：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嵌入校史文化地标，实现体育与德育寓教于乐。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26400" y="1397000"/>
            <a:ext cx="33782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58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614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技术痛点解决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53400" y="20320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GPS漂移：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采用地图匹配+轨迹吸附算法，纯软件低成本方案。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绕圈计数：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虚拟里程映射机制，切断位置与进度的强绑定。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参与度低：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空间探索覆盖率实时反馈，视觉化激励驱动。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445000"/>
            <a:ext cx="10642600" cy="1524000"/>
          </a:xfrm>
          <a:prstGeom prst="roundRect">
            <a:avLst>
              <a:gd name="adj" fmla="val 8333"/>
            </a:avLst>
          </a:prstGeom>
          <a:solidFill>
            <a:srgbClr val="1E50A2">
              <a:alpha val="5000"/>
            </a:srgbClr>
          </a:solidFill>
          <a:ln w="12700" cap="flat" cmpd="sng">
            <a:solidFill>
              <a:srgbClr val="1E50A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699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5720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创新价值总结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651000" y="5016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本项目通过引入空间覆盖率、游戏化机制及纯软件算法优化，不仅解决了传统校园运动APP的技术痛点，更实现了从“单一工具”向“多元生态”的跨越，为校园体育数字化提供了可落地的创新范式。</a:t>
            </a:r>
            <a:endParaRPr lang="en-US" sz="15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可行性保障说明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196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风险识别与应对策略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2413000"/>
          <a:ext cx="4572000" cy="1714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/>
                <a:gridCol w="1524000"/>
                <a:gridCol w="635000"/>
                <a:gridCol w="1524000"/>
              </a:tblGrid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风险类型</a:t>
                      </a:r>
                      <a:endParaRPr lang="en-US" sz="12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风险描述</a:t>
                      </a:r>
                      <a:endParaRPr lang="en-US" sz="12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概率</a:t>
                      </a:r>
                      <a:endParaRPr lang="en-US" sz="12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A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应对措施</a:t>
                      </a:r>
                      <a:endParaRPr lang="en-US" sz="1200" b="1" i="0" u="none" strike="noStrike">
                        <a:solidFill>
                          <a:srgbClr val="1E50A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A2">
                        <a:alpha val="1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技术风险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地图匹配效果不佳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F6B3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200" b="0" i="0" u="none" strike="noStrike">
                        <a:solidFill>
                          <a:srgbClr val="FF6B35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预留简化方案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数据风险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数据采集不完整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2C55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</a:t>
                      </a:r>
                      <a:endParaRPr lang="en-US" sz="1200" b="0" i="0" u="none" strike="noStrike">
                        <a:solidFill>
                          <a:srgbClr val="22C55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优先采集核心区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时间风险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开发进度延期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F6B3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200" b="0" i="0" u="none" strike="noStrike">
                        <a:solidFill>
                          <a:srgbClr val="FF6B35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设置缓冲期</a:t>
                      </a:r>
                      <a:endParaRPr lang="en-US" sz="1200" b="0" i="0" u="none" strike="noStrike">
                        <a:solidFill>
                          <a:srgbClr val="50505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762500"/>
            <a:ext cx="50800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8895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MVP 核心功能定义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334000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52832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校园底图加载</a:t>
            </a:r>
            <a:endParaRPr lang="en-US" sz="1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000" y="53340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556000" y="52832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实时定位与轨迹绘制</a:t>
            </a:r>
            <a:endParaRPr lang="en-US" sz="1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715000"/>
            <a:ext cx="203200" cy="203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56642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区域点亮可视化</a:t>
            </a:r>
            <a:endParaRPr lang="en-US" sz="1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000" y="5715000"/>
            <a:ext cx="203200" cy="203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556000" y="56642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基础打卡功能</a:t>
            </a:r>
            <a:endParaRPr lang="en-US" sz="1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全方位资源保障体系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24765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2667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39000" y="2565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专业指导支持</a:t>
            </a:r>
            <a:endParaRPr lang="en-US" sz="1600" b="1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239000" y="2921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GIS专业背景指导老师，提供核心技术把关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34290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3619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239000" y="3517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数据无障碍获取</a:t>
            </a:r>
            <a:endParaRPr lang="en-US" sz="1600" b="1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239000" y="38735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校园公开数据，无版权风险，采集便捷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43815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572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239000" y="4470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真实测试环境</a:t>
            </a:r>
            <a:endParaRPr lang="en-US" sz="1600" b="1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239000" y="4826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旗山校区实地测试，场景真实还原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477000" y="53340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55245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239000" y="5422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23232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零开发成本</a:t>
            </a:r>
            <a:endParaRPr lang="en-US" sz="1600" b="1" i="0" u="none" strike="noStrike">
              <a:solidFill>
                <a:srgbClr val="323232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239000" y="57785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使用开源工具与免费云平台，经济高效</a:t>
            </a:r>
            <a:endParaRPr lang="en-US" sz="14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95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总结与展望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87500"/>
            <a:ext cx="508000" cy="508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57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技术创新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24000" y="241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GIS空间分析驱动</a:t>
            </a:r>
            <a:b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游戏逻辑引擎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7000" y="2349500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2095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2057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体验创新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953000" y="241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从单纯里程记录</a:t>
            </a:r>
            <a:b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升级到空间探索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000" y="2349500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4000" y="2095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2057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文化创新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241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校史教育自然嵌入</a:t>
            </a:r>
            <a:b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运动健身过程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3302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1E50A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330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= 智慧校园新型应用范式</a:t>
            </a:r>
            <a:endParaRPr lang="en-US" sz="16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06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预期成果交付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572000"/>
            <a:ext cx="24765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48260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4699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可运行小程序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完整功能交付</a:t>
            </a:r>
            <a:endParaRPr lang="en-US" sz="1200" b="0" i="0" u="none" strike="noStrike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365500" y="4572000"/>
            <a:ext cx="24765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56000" y="48260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064000" y="4699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空间数据库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POI与路网数据</a:t>
            </a:r>
            <a:endParaRPr lang="en-US" sz="1200" b="0" i="0" u="none" strike="noStrike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2063750" y="5588000"/>
            <a:ext cx="24765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54250" y="5842000"/>
            <a:ext cx="381000" cy="381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2724150" y="5715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技术文档集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开发/API/测试报告</a:t>
            </a:r>
            <a:endParaRPr lang="en-US" sz="1200" b="0" i="0" u="none" strike="noStrike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350000" y="406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后续维护方向</a:t>
            </a:r>
            <a:endParaRPr lang="en-US" sz="20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50000" y="4572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47625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85000" y="4724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持续BUG修复与性能优化</a:t>
            </a:r>
            <a:endParaRPr lang="en-US" sz="1600" b="0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4000" y="51435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985000" y="5105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用户反馈收集与功能迭代</a:t>
            </a:r>
            <a:endParaRPr lang="en-US" sz="1600" b="0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04000" y="5524500"/>
            <a:ext cx="254000" cy="2540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985000" y="5486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多机型适配与兼容性测试</a:t>
            </a:r>
            <a:endParaRPr lang="en-US" sz="1600" b="0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4000" y="59055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6985000" y="5867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服务器与数据安全维护</a:t>
            </a:r>
            <a:endParaRPr lang="en-US" sz="1600" b="0" i="0" u="none" strike="noStrike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87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致谢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41400"/>
            <a:ext cx="508000" cy="508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651000" y="1651000"/>
            <a:ext cx="889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1E50A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905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794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感谢各位老师的聆听与指导！</a:t>
            </a:r>
            <a:endParaRPr lang="en-US" sz="24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651000" y="3302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Q &amp; A 环节</a:t>
            </a:r>
            <a:endParaRPr lang="en-US" sz="2000" b="1" i="0" u="none" strike="noStrike">
              <a:solidFill>
                <a:srgbClr val="FF6B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651000" y="3746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欢迎老师们提问，我们将逐一解答</a:t>
            </a:r>
            <a:endParaRPr lang="en-US" sz="18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1E50A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AI协作说明</a:t>
            </a:r>
            <a:endParaRPr lang="en-US" sz="2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87500"/>
            <a:ext cx="508000" cy="50800"/>
          </a:xfrm>
          <a:prstGeom prst="roundRect">
            <a:avLst>
              <a:gd name="adj" fmla="val 0"/>
            </a:avLst>
          </a:prstGeom>
          <a:solidFill>
            <a:srgbClr val="FF6B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108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协作伙伴与需求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工具：</a:t>
            </a:r>
            <a:r>
              <a:rPr lang="en-US" sz="1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豆包 AI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FF6B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任务：</a:t>
            </a:r>
            <a:r>
              <a:rPr lang="en-US" sz="1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基于大纲生成符合规范的演示文稿，增加AI说明页，总页数控制在15-20页。</a:t>
            </a:r>
            <a:endParaRPr lang="en-US" sz="1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18000" y="1905000"/>
            <a:ext cx="711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15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21082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采纳意见与改进成果</a:t>
            </a:r>
            <a:endParaRPr lang="en-US" sz="1800" b="1" i="0" u="none" strike="noStrike">
              <a:solidFill>
                <a:srgbClr val="1E50A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2667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26162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结构优化：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逻辑清晰，条理顺畅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1000" y="2667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26162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内容填充：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准确排版，格式规范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31115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953000" y="30607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视觉设计：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配色统一，风格专业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01000" y="3111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382000" y="30607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新增页面：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满足要求，补充说明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0" y="3556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953000" y="3505200"/>
            <a:ext cx="622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页数控制：</a:t>
            </a:r>
            <a:r>
              <a:rPr lang="en-US" sz="14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最终生成 17 页，完全符合 15-20 页的限制要求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495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1E50A2">
              <a:alpha val="5000"/>
            </a:srgbClr>
          </a:solidFill>
          <a:ln w="12700" cap="flat" cmpd="sng">
            <a:solidFill>
              <a:srgbClr val="1E50A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87500" y="51435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A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协作总结：</a:t>
            </a:r>
            <a:r>
              <a:rPr lang="en-US" sz="1600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通过AI协作，我们高效完成了PPT初步制作，极大提升了效率。团队得以将更多精力投入到内容深化与答辩准备中，AI在格式规范与效率提升方面发挥了关键作用。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2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3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4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5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6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7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16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3866</Words>
  <Application>WPS 演示</Application>
  <PresentationFormat/>
  <Paragraphs>640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许愿</cp:lastModifiedBy>
  <cp:revision>3</cp:revision>
  <dcterms:created xsi:type="dcterms:W3CDTF">2026-03-24T00:44:00Z</dcterms:created>
  <dcterms:modified xsi:type="dcterms:W3CDTF">2026-08-20T09:40:07Z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9EDC4BD92EEC4A7AA0612D3BC82C6215_12</vt:lpwstr>
  </property>
</Properties>
</file>