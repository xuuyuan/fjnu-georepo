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8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94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54.xml"/><Relationship Id="rId2" Type="http://schemas.openxmlformats.org/officeDocument/2006/relationships/tags" Target="../tags/tag36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tags" Target="../tags/tag51.xml"/><Relationship Id="rId16" Type="http://schemas.openxmlformats.org/officeDocument/2006/relationships/tags" Target="../tags/tag50.xml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731520"/>
            <a:ext cx="3474720" cy="3474720"/>
          </a:xfrm>
          <a:prstGeom prst="ellipse">
            <a:avLst/>
          </a:prstGeom>
          <a:solidFill>
            <a:srgbClr val="DC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5212080"/>
            <a:ext cx="2194560" cy="2194560"/>
          </a:xfrm>
          <a:prstGeom prst="ellipse">
            <a:avLst/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5120640"/>
            <a:ext cx="1097280" cy="1097280"/>
          </a:xfrm>
          <a:prstGeom prst="ellipse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2070100" cy="5454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3600" b="1">
                <a:solidFill>
                  <a:srgbClr val="213F36"/>
                </a:solidFill>
                <a:latin typeface="微软雅黑" panose="020B0503020204020204" charset="-122"/>
              </a:rPr>
              <a:t>师大快跑</a:t>
            </a:r>
            <a:endParaRPr sz="3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105" y="2026285"/>
            <a:ext cx="6403340" cy="9677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5400" b="1">
                <a:solidFill>
                  <a:srgbClr val="338968"/>
                </a:solidFill>
                <a:latin typeface="黑体" panose="02010609060101010101" charset="-122"/>
                <a:ea typeface="黑体" panose="02010609060101010101" charset="-122"/>
              </a:rPr>
              <a:t>数据库建库成果汇报</a:t>
            </a:r>
            <a:endParaRPr sz="5400" b="1">
              <a:solidFill>
                <a:srgbClr val="33896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4375" y="1713230"/>
            <a:ext cx="7132320" cy="3727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500">
                <a:solidFill>
                  <a:srgbClr val="697471"/>
                </a:solidFill>
                <a:latin typeface="微软雅黑" panose="020B0503020204020204" charset="-122"/>
              </a:rPr>
              <a:t>基于 GIS 与游戏化设计的校园空间探索微信小程序</a:t>
            </a:r>
            <a:endParaRPr sz="150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935" y="3657600"/>
            <a:ext cx="1213485" cy="384175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平台</a:t>
            </a:r>
            <a:endParaRPr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133600" y="3693160"/>
            <a:ext cx="2691765" cy="384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213F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微信云开发</a:t>
            </a:r>
            <a:r>
              <a:rPr lang="en-US" sz="1200" b="1">
                <a:solidFill>
                  <a:srgbClr val="213F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200" b="1">
                <a:solidFill>
                  <a:srgbClr val="213F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CloudBase云数据库</a:t>
            </a:r>
            <a:endParaRPr sz="1200" b="1">
              <a:solidFill>
                <a:srgbClr val="213F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4705" y="4475480"/>
            <a:ext cx="5358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338968"/>
                </a:solidFill>
                <a:latin typeface="黑体" panose="02010609060101010101" charset="-122"/>
                <a:ea typeface="黑体" panose="02010609060101010101" charset="-122"/>
              </a:rPr>
              <a:t>汇报人：</a:t>
            </a:r>
            <a:endParaRPr lang="zh-CN" altLang="en-US">
              <a:solidFill>
                <a:srgbClr val="338968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>
                <a:solidFill>
                  <a:srgbClr val="338968"/>
                </a:solidFill>
                <a:latin typeface="黑体" panose="02010609060101010101" charset="-122"/>
                <a:ea typeface="黑体" panose="02010609060101010101" charset="-122"/>
              </a:rPr>
              <a:t>组员：</a:t>
            </a:r>
            <a:endParaRPr lang="zh-CN" altLang="en-US">
              <a:solidFill>
                <a:srgbClr val="33896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汇报内容结构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822960" y="1417320"/>
            <a:ext cx="5943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1600200" y="1399032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000" b="1">
                <a:solidFill>
                  <a:srgbClr val="213F36"/>
                </a:solidFill>
                <a:latin typeface="微软雅黑" panose="020B0503020204020204" charset="-122"/>
              </a:rPr>
              <a:t>建库目标与提交材料</a:t>
            </a:r>
            <a:endParaRPr sz="20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3"/>
            </p:custDataLst>
          </p:nvPr>
        </p:nvSpPr>
        <p:spPr>
          <a:xfrm>
            <a:off x="1600200" y="1737360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说明本次数据库展示材料构成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4"/>
            </p:custDataLst>
          </p:nvPr>
        </p:nvSpPr>
        <p:spPr>
          <a:xfrm>
            <a:off x="6309360" y="1417320"/>
            <a:ext cx="5943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7086600" y="1399032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000" b="1">
                <a:solidFill>
                  <a:srgbClr val="213F36"/>
                </a:solidFill>
                <a:latin typeface="微软雅黑" panose="020B0503020204020204" charset="-122"/>
              </a:rPr>
              <a:t>已建集合总览</a:t>
            </a:r>
            <a:endParaRPr sz="20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7086600" y="1737360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展示当前</a:t>
            </a:r>
            <a:r>
              <a:rPr lang="zh-CN" sz="1400" b="0">
                <a:solidFill>
                  <a:srgbClr val="697471"/>
                </a:solidFill>
                <a:latin typeface="微软雅黑" panose="020B0503020204020204" charset="-122"/>
              </a:rPr>
              <a:t>云数据库</a:t>
            </a:r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中的4个核心集合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822960" y="2834640"/>
            <a:ext cx="5943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1600200" y="2816352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000" b="1">
                <a:solidFill>
                  <a:srgbClr val="213F36"/>
                </a:solidFill>
                <a:latin typeface="微软雅黑" panose="020B0503020204020204" charset="-122"/>
              </a:rPr>
              <a:t>集合元数据</a:t>
            </a:r>
            <a:endParaRPr sz="20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1600200" y="3154680"/>
            <a:ext cx="21285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说明字段、主键规则与业务作用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0"/>
            </p:custDataLst>
          </p:nvPr>
        </p:nvSpPr>
        <p:spPr>
          <a:xfrm>
            <a:off x="6309360" y="2834640"/>
            <a:ext cx="5943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7086600" y="2816352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000" b="1">
                <a:solidFill>
                  <a:srgbClr val="213F36"/>
                </a:solidFill>
                <a:latin typeface="微软雅黑" panose="020B0503020204020204" charset="-122"/>
              </a:rPr>
              <a:t>集合关系与数据流</a:t>
            </a:r>
            <a:endParaRPr sz="20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7086600" y="3154680"/>
            <a:ext cx="43891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展示用户、会话、网格、POI 之间的逻辑关联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822960" y="4251960"/>
            <a:ext cx="5943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1600200" y="4233672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000" b="1">
                <a:solidFill>
                  <a:srgbClr val="213F36"/>
                </a:solidFill>
                <a:latin typeface="微软雅黑" panose="020B0503020204020204" charset="-122"/>
              </a:rPr>
              <a:t>前期设计对应关系</a:t>
            </a:r>
            <a:endParaRPr sz="20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5"/>
            </p:custDataLst>
          </p:nvPr>
        </p:nvSpPr>
        <p:spPr>
          <a:xfrm>
            <a:off x="1600200" y="4572000"/>
            <a:ext cx="2571115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解释 ER 对象设计如何落到当前数据库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16"/>
            </p:custDataLst>
          </p:nvPr>
        </p:nvSpPr>
        <p:spPr>
          <a:xfrm>
            <a:off x="6309360" y="4251960"/>
            <a:ext cx="5943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7"/>
            </p:custDataLst>
          </p:nvPr>
        </p:nvSpPr>
        <p:spPr>
          <a:xfrm>
            <a:off x="7086600" y="4233672"/>
            <a:ext cx="4389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000" b="1">
                <a:solidFill>
                  <a:srgbClr val="213F36"/>
                </a:solidFill>
                <a:latin typeface="微软雅黑" panose="020B0503020204020204" charset="-122"/>
              </a:rPr>
              <a:t>建库成果总结</a:t>
            </a:r>
            <a:endParaRPr sz="20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7086600" y="4572000"/>
            <a:ext cx="261239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说明当前完成情况与后续扩展方向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建库目标：服务校园空间探索闭环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18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3383280" cy="73152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0392" y="1581912"/>
            <a:ext cx="305409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项目场景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50392" y="1993392"/>
            <a:ext cx="3054096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面向福建师范大学旗山校区在校生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记录步行/跑步</a:t>
            </a:r>
            <a:r>
              <a:rPr lang="zh-CN" sz="1400" b="0">
                <a:solidFill>
                  <a:srgbClr val="697471"/>
                </a:solidFill>
                <a:latin typeface="微软雅黑" panose="020B0503020204020204" charset="-122"/>
              </a:rPr>
              <a:t>（探索）</a:t>
            </a:r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行为，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将真实移动轨迹转化为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  <a:p>
            <a:pPr algn="l"/>
            <a:r>
              <a:rPr sz="1400" b="1">
                <a:solidFill>
                  <a:srgbClr val="697471"/>
                </a:solidFill>
                <a:latin typeface="微软雅黑" panose="020B0503020204020204" charset="-122"/>
              </a:rPr>
              <a:t>地图点亮、地标触发和探索进度统计</a:t>
            </a:r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。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83280" cy="1837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18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383280" cy="73152"/>
          </a:xfrm>
          <a:prstGeom prst="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1" y="1581912"/>
            <a:ext cx="305409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MVP 核心闭环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99431" y="1993392"/>
            <a:ext cx="3054096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用户进入小程序</a:t>
            </a:r>
            <a:r>
              <a:rPr lang="en-US" sz="1400" b="0">
                <a:solidFill>
                  <a:srgbClr val="697471"/>
                </a:solidFill>
                <a:latin typeface="微软雅黑" panose="020B0503020204020204" charset="-122"/>
              </a:rPr>
              <a:t> </a:t>
            </a:r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→ 开始探索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 → 记录探索会话 → 更新网格点亮结果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 → 保存总进度 → 到达 POI 生成触发记录。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83879" y="1417320"/>
            <a:ext cx="3383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83879" y="1417320"/>
            <a:ext cx="3383280" cy="73152"/>
          </a:xfrm>
          <a:prstGeom prst="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48471" y="1581912"/>
            <a:ext cx="305409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数据库定位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48471" y="1993392"/>
            <a:ext cx="3054096" cy="914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当前阶段重点证明</a:t>
            </a:r>
            <a:r>
              <a:rPr lang="zh-CN" sz="1400" b="0">
                <a:solidFill>
                  <a:srgbClr val="697471"/>
                </a:solidFill>
                <a:latin typeface="微软雅黑" panose="020B0503020204020204" charset="-122"/>
              </a:rPr>
              <a:t>：</a:t>
            </a:r>
            <a:endParaRPr lang="zh-CN" sz="1400" b="0">
              <a:solidFill>
                <a:srgbClr val="697471"/>
              </a:solidFill>
              <a:latin typeface="微软雅黑" panose="020B0503020204020204" charset="-122"/>
            </a:endParaRPr>
          </a:p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核心业务对象能够落库、关联和支持页面展示。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4206240"/>
            <a:ext cx="1417320" cy="566928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开始探索</a:t>
            </a:r>
            <a:endParaRPr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4489704"/>
            <a:ext cx="6400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200400" y="4206240"/>
            <a:ext cx="1417320" cy="566928"/>
          </a:xfrm>
          <a:prstGeom prst="round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定位轨迹</a:t>
            </a:r>
            <a:endParaRPr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617720" y="4489704"/>
            <a:ext cx="6400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40680" y="4206240"/>
            <a:ext cx="1417320" cy="566928"/>
          </a:xfrm>
          <a:prstGeom prst="roundRect">
            <a:avLst/>
          </a:prstGeom>
          <a:solidFill>
            <a:srgbClr val="6F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空间判定</a:t>
            </a:r>
            <a:endParaRPr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4489704"/>
            <a:ext cx="640079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80960" y="4206240"/>
            <a:ext cx="1417320" cy="566928"/>
          </a:xfrm>
          <a:prstGeom prst="round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结果落库</a:t>
            </a:r>
            <a:endParaRPr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098280" y="4489704"/>
            <a:ext cx="6400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21240" y="4206240"/>
            <a:ext cx="1417320" cy="566928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结算展示</a:t>
            </a:r>
            <a:endParaRPr sz="16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31520" y="5257800"/>
            <a:ext cx="10881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213F36"/>
                </a:solidFill>
                <a:latin typeface="微软雅黑" panose="020B0503020204020204" charset="-122"/>
              </a:rPr>
              <a:t>本次数据库建库成果重点展示：数据库集合已建立、样例数据已落库、字段元数据已梳理、集合间逻辑关系已说明。</a:t>
            </a:r>
            <a:endParaRPr sz="14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提交材料构成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86585" y="1502410"/>
          <a:ext cx="8418830" cy="4321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485"/>
                <a:gridCol w="5300345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材料类别</a:t>
                      </a:r>
                      <a:endParaRPr sz="2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338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文件/内容</a:t>
                      </a:r>
                      <a:endParaRPr sz="2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33896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数据库截图</a:t>
                      </a:r>
                      <a:endParaRPr sz="2800" b="1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数据库集合列表.png</a:t>
                      </a:r>
                      <a:endParaRPr sz="2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集合截图</a:t>
                      </a:r>
                      <a:endParaRPr sz="2800" b="1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userinfo/track_sessions/poi_records/gridstatus</a:t>
                      </a:r>
                      <a:endParaRPr sz="24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ctr"/>
                      <a:r>
                        <a:rPr sz="2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样例截图</a:t>
                      </a:r>
                      <a:endParaRPr sz="2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导出数据</a:t>
                      </a:r>
                      <a:endParaRPr sz="2800" b="1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4 个 CloudBase JSON 导出文件</a:t>
                      </a:r>
                      <a:endParaRPr sz="2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2800" b="1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说明文档</a:t>
                      </a:r>
                      <a:endParaRPr sz="2800" b="1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元数据说明文档.md</a:t>
                      </a:r>
                      <a:endParaRPr sz="2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已建核心集合总览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77240" y="1444752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777240" y="1444752"/>
            <a:ext cx="5074920" cy="73152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ectangle 9"/>
          <p:cNvSpPr/>
          <p:nvPr>
            <p:custDataLst>
              <p:tags r:id="rId3"/>
            </p:custDataLst>
          </p:nvPr>
        </p:nvSpPr>
        <p:spPr>
          <a:xfrm>
            <a:off x="941832" y="1609344"/>
            <a:ext cx="474573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userinfo｜用户信息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4"/>
            </p:custDataLst>
          </p:nvPr>
        </p:nvSpPr>
        <p:spPr>
          <a:xfrm>
            <a:off x="941832" y="2020824"/>
            <a:ext cx="4745736" cy="7772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1600" b="0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记录粒度：每个用户1条
用途：保存用户基础信息和累计探索进度</a:t>
            </a:r>
            <a:endParaRPr sz="1600" b="0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6355079" y="1444752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6355079" y="1444752"/>
            <a:ext cx="5074920" cy="73152"/>
          </a:xfrm>
          <a:prstGeom prst="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ectangle 13"/>
          <p:cNvSpPr/>
          <p:nvPr>
            <p:custDataLst>
              <p:tags r:id="rId7"/>
            </p:custDataLst>
          </p:nvPr>
        </p:nvSpPr>
        <p:spPr>
          <a:xfrm>
            <a:off x="6519671" y="1609344"/>
            <a:ext cx="474573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track_sessions｜探索会话记录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6519671" y="2020824"/>
            <a:ext cx="4745736" cy="7772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1600" b="0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记录粒度：每次探索1条
用途：保存一次开始探索到结束探索的过程统计</a:t>
            </a:r>
            <a:endParaRPr sz="1600" b="0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777240" y="3410712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777240" y="3410712"/>
            <a:ext cx="5074920" cy="73152"/>
          </a:xfrm>
          <a:prstGeom prst="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ectangle 17"/>
          <p:cNvSpPr/>
          <p:nvPr>
            <p:custDataLst>
              <p:tags r:id="rId11"/>
            </p:custDataLst>
          </p:nvPr>
        </p:nvSpPr>
        <p:spPr>
          <a:xfrm>
            <a:off x="941832" y="3575304"/>
            <a:ext cx="474573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gridstatus｜网格点亮进度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941832" y="3986784"/>
            <a:ext cx="4745736" cy="7772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1600" b="0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记录粒度：每个用户-网格组合1条
用途：保存用户点亮的具体校园网格</a:t>
            </a:r>
            <a:endParaRPr sz="1600" b="0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6355079" y="3410712"/>
            <a:ext cx="5074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4"/>
            </p:custDataLst>
          </p:nvPr>
        </p:nvSpPr>
        <p:spPr>
          <a:xfrm>
            <a:off x="6355079" y="3410712"/>
            <a:ext cx="5074920" cy="73152"/>
          </a:xfrm>
          <a:prstGeom prst="rect">
            <a:avLst/>
          </a:prstGeom>
          <a:solidFill>
            <a:srgbClr val="6F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Rectangle 21"/>
          <p:cNvSpPr/>
          <p:nvPr>
            <p:custDataLst>
              <p:tags r:id="rId15"/>
            </p:custDataLst>
          </p:nvPr>
        </p:nvSpPr>
        <p:spPr>
          <a:xfrm>
            <a:off x="6519671" y="3575304"/>
            <a:ext cx="474573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b="1">
                <a:solidFill>
                  <a:srgbClr val="213F36"/>
                </a:solidFill>
                <a:latin typeface="微软雅黑" panose="020B0503020204020204" charset="-122"/>
              </a:rPr>
              <a:t>poi_records｜POI 点亮记录</a:t>
            </a:r>
            <a:endParaRPr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>
            <p:custDataLst>
              <p:tags r:id="rId16"/>
            </p:custDataLst>
          </p:nvPr>
        </p:nvSpPr>
        <p:spPr>
          <a:xfrm>
            <a:off x="6519671" y="3986784"/>
            <a:ext cx="4745736" cy="7772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600" b="0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记录粒度：每个用户-POI组合1条
用途：保存用户触发过的校园地标或兴趣点</a:t>
            </a:r>
            <a:endParaRPr sz="1600" b="0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7240" y="5532120"/>
            <a:ext cx="10642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300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当前数据库采用 NoSQL 文档型结构，每个集合对应一个相对独立的业务对象</a:t>
            </a:r>
            <a:r>
              <a:rPr lang="zh-CN" sz="1300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lang="zh-CN" sz="1300" b="1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集合元数据摘要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2560320" cy="41148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</a:rPr>
              <a:t>用户信息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</a:rPr>
              <a:t>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userinfo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核心字段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_id｜nick_name｜total_grids｜explore_ratio｜updated_at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主键规则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 = 用户唯一标识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业务作用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个人页、探索进度看板、排行榜基础统计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10712" y="1325880"/>
            <a:ext cx="2560320" cy="411480"/>
          </a:xfrm>
          <a:prstGeom prst="round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</a:rPr>
              <a:t>探索会话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</a:rPr>
              <a:t>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track_sessions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10712" y="18288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核心字段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_id｜user_id｜session_id｜distance_meters｜duration_seconds｜discovered_poi_ids
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主键规则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 = user_id + "_" + session_id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业务作用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探索总结页、历史探索记录、累计进度计算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18504" y="1325880"/>
            <a:ext cx="2560320" cy="411480"/>
          </a:xfrm>
          <a:prstGeom prst="round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</a:rPr>
              <a:t>网格探索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</a:rPr>
              <a:t>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gridstatus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18504" y="18288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核心字段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_id｜user_id｜grid_id｜unlock_time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主键规则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 = user_id + "_" + grid_id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业务作用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判断网格是否点亮，计算total_grids与explore_ratio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226296" y="1325880"/>
            <a:ext cx="2560320" cy="411480"/>
          </a:xfrm>
          <a:prstGeom prst="roundRect">
            <a:avLst/>
          </a:prstGeom>
          <a:solidFill>
            <a:srgbClr val="6F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微软雅黑" panose="020B0503020204020204" charset="-122"/>
              </a:rPr>
              <a:t>POI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</a:rPr>
              <a:t>探索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</a:rPr>
              <a:t> 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poi_records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226296" y="1828800"/>
            <a:ext cx="25603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核心字段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_id｜user_id｜poi_id｜poi_name｜poi_type｜trigger_time
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主键规则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sz="12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_id = user_id + "_" + poi_id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业务作用</a:t>
            </a:r>
            <a:r>
              <a:rPr lang="zh-CN"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】</a:t>
            </a: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
地标发现提示、地标打卡、图鉴与任务扩展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集合关系说明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2697480"/>
            <a:ext cx="2011680" cy="68580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userinfo
用户主体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325880"/>
            <a:ext cx="2560320" cy="685800"/>
          </a:xfrm>
          <a:prstGeom prst="round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track_sessions
探索会话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4069080"/>
            <a:ext cx="2560320" cy="685800"/>
          </a:xfrm>
          <a:prstGeom prst="round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gridstatus
网格点亮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321040" y="1325880"/>
            <a:ext cx="2560320" cy="685800"/>
          </a:xfrm>
          <a:prstGeom prst="roundRect">
            <a:avLst/>
          </a:prstGeom>
          <a:solidFill>
            <a:srgbClr val="6F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poi_records
POI 触发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4069080"/>
            <a:ext cx="2560320" cy="685800"/>
          </a:xfrm>
          <a:prstGeom prst="roundRect">
            <a:avLst/>
          </a:prstGeom>
          <a:solidFill>
            <a:srgbClr val="5F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前端 GeoJSON / POI
空间基础数据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474720" y="1673352"/>
            <a:ext cx="1280160" cy="1362456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03320" y="2171700"/>
            <a:ext cx="8229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697471"/>
                </a:solidFill>
                <a:latin typeface="微软雅黑" panose="020B0503020204020204" charset="-122"/>
              </a:rPr>
              <a:t>user_id</a:t>
            </a:r>
            <a:endParaRPr sz="1200" b="1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 flipH="1">
            <a:off x="3474720" y="3200400"/>
            <a:ext cx="1280160" cy="1216152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703320" y="3625596"/>
            <a:ext cx="8229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697471"/>
                </a:solidFill>
                <a:latin typeface="微软雅黑" panose="020B0503020204020204" charset="-122"/>
              </a:rPr>
              <a:t>user_id</a:t>
            </a:r>
            <a:endParaRPr sz="1200" b="1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 flipV="1">
            <a:off x="6766560" y="1673352"/>
            <a:ext cx="1554480" cy="1362456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132320" y="2171700"/>
            <a:ext cx="8229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697471"/>
                </a:solidFill>
                <a:latin typeface="微软雅黑" panose="020B0503020204020204" charset="-122"/>
              </a:rPr>
              <a:t>user_id</a:t>
            </a:r>
            <a:endParaRPr sz="1200" b="1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6766560" y="3383280"/>
            <a:ext cx="1554480" cy="1033272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132320" y="3717036"/>
            <a:ext cx="82296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697471"/>
                </a:solidFill>
                <a:latin typeface="微软雅黑" panose="020B0503020204020204" charset="-122"/>
              </a:rPr>
              <a:t>grid_id / poi_id</a:t>
            </a:r>
            <a:endParaRPr sz="1200" b="1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5074920"/>
          <a:ext cx="108813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04088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关系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338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33896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userinfo._id 1:N track_sessions.user_id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一个用户可以产生多次探索会话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userinfo._id 1:N gridstatus.user_id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一个用户可以点亮多个校园网格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6F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userinfo._id 1:N poi_records.user_id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一个用户可以触发多个校园 POI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gridstatus.grid_id / poi_records.poi_id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3F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通过编号对应前端空间要素和 POI 数据</a:t>
                      </a:r>
                      <a:endParaRPr sz="1400" b="0">
                        <a:solidFill>
                          <a:srgbClr val="213F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前期对象设计与当前集合对应关系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273" y="1375410"/>
          <a:ext cx="52247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660"/>
                <a:gridCol w="2103120"/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前期对象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338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当前落地方式</a:t>
                      </a:r>
                      <a:endParaRPr sz="18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33896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USER 用户对象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userinfo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GRID 网格单元对象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前端网格数据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+ gridstatus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TRACK 运动轨迹对象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track_sessions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EXPLORATION_RECORD 探索记录对象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gridstatus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CHECKPOINT 校史地标对象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前端POI数据 + poi_records</a:t>
                      </a:r>
                      <a:endParaRPr sz="18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543800" y="6135497"/>
            <a:ext cx="3977639" cy="338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400" b="1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前期对象关系 E-R 图</a:t>
            </a:r>
            <a:endParaRPr sz="1400" b="1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020" y="992505"/>
            <a:ext cx="5095240" cy="49002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数据来源与写入流程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77240" y="1325880"/>
            <a:ext cx="1965960" cy="50292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用户基础数据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3154680" y="1325880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微信小程序用户标识、授权信息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3"/>
            </p:custDataLst>
          </p:nvPr>
        </p:nvSpPr>
        <p:spPr>
          <a:xfrm>
            <a:off x="7315200" y="1325880"/>
            <a:ext cx="2057400" cy="502920"/>
          </a:xfrm>
          <a:prstGeom prst="roundRect">
            <a:avLst/>
          </a:prstGeom>
          <a:solidFill>
            <a:srgbClr val="DCF1E8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213F36"/>
                </a:solidFill>
                <a:latin typeface="微软雅黑" panose="020B0503020204020204" charset="-122"/>
              </a:rPr>
              <a:t>userinfo</a:t>
            </a:r>
            <a:endParaRPr sz="12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>
            <p:custDataLst>
              <p:tags r:id="rId4"/>
            </p:custDataLst>
          </p:nvPr>
        </p:nvCxnSpPr>
        <p:spPr>
          <a:xfrm>
            <a:off x="2743200" y="1577340"/>
            <a:ext cx="4114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>
            <p:custDataLst>
              <p:tags r:id="rId5"/>
            </p:custDataLst>
          </p:nvPr>
        </p:nvCxnSpPr>
        <p:spPr>
          <a:xfrm>
            <a:off x="6446520" y="1577340"/>
            <a:ext cx="8686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777240" y="2441448"/>
            <a:ext cx="1965960" cy="502920"/>
          </a:xfrm>
          <a:prstGeom prst="round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探索会话数据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3154680" y="2441448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开始/结束探索、定位轨迹统计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8"/>
            </p:custDataLst>
          </p:nvPr>
        </p:nvSpPr>
        <p:spPr>
          <a:xfrm>
            <a:off x="7315200" y="2441448"/>
            <a:ext cx="2057400" cy="502920"/>
          </a:xfrm>
          <a:prstGeom prst="roundRect">
            <a:avLst/>
          </a:prstGeom>
          <a:solidFill>
            <a:srgbClr val="DCF1E8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213F36"/>
                </a:solidFill>
                <a:latin typeface="微软雅黑" panose="020B0503020204020204" charset="-122"/>
              </a:rPr>
              <a:t>track_sessions</a:t>
            </a:r>
            <a:endParaRPr sz="12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>
            <p:custDataLst>
              <p:tags r:id="rId9"/>
            </p:custDataLst>
          </p:nvPr>
        </p:nvCxnSpPr>
        <p:spPr>
          <a:xfrm>
            <a:off x="2743200" y="2692908"/>
            <a:ext cx="4114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>
            <p:custDataLst>
              <p:tags r:id="rId10"/>
            </p:custDataLst>
          </p:nvPr>
        </p:nvCxnSpPr>
        <p:spPr>
          <a:xfrm>
            <a:off x="6446520" y="2692908"/>
            <a:ext cx="8686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>
            <p:custDataLst>
              <p:tags r:id="rId11"/>
            </p:custDataLst>
          </p:nvPr>
        </p:nvSpPr>
        <p:spPr>
          <a:xfrm>
            <a:off x="777240" y="3557015"/>
            <a:ext cx="1965960" cy="502920"/>
          </a:xfrm>
          <a:prstGeom prst="round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网格点亮数据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2"/>
            </p:custDataLst>
          </p:nvPr>
        </p:nvSpPr>
        <p:spPr>
          <a:xfrm>
            <a:off x="3154680" y="3557015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用户轨迹与校园网格空间相交结果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13"/>
            </p:custDataLst>
          </p:nvPr>
        </p:nvSpPr>
        <p:spPr>
          <a:xfrm>
            <a:off x="7315200" y="3557015"/>
            <a:ext cx="2057400" cy="502920"/>
          </a:xfrm>
          <a:prstGeom prst="roundRect">
            <a:avLst/>
          </a:prstGeom>
          <a:solidFill>
            <a:srgbClr val="DCF1E8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213F36"/>
                </a:solidFill>
                <a:latin typeface="微软雅黑" panose="020B0503020204020204" charset="-122"/>
              </a:rPr>
              <a:t>gridstatus</a:t>
            </a:r>
            <a:endParaRPr sz="12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>
            <p:custDataLst>
              <p:tags r:id="rId14"/>
            </p:custDataLst>
          </p:nvPr>
        </p:nvCxnSpPr>
        <p:spPr>
          <a:xfrm>
            <a:off x="2743200" y="3808476"/>
            <a:ext cx="4114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>
            <p:custDataLst>
              <p:tags r:id="rId15"/>
            </p:custDataLst>
          </p:nvPr>
        </p:nvCxnSpPr>
        <p:spPr>
          <a:xfrm>
            <a:off x="6446520" y="3808476"/>
            <a:ext cx="8686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>
            <p:custDataLst>
              <p:tags r:id="rId16"/>
            </p:custDataLst>
          </p:nvPr>
        </p:nvSpPr>
        <p:spPr>
          <a:xfrm>
            <a:off x="777240" y="4672584"/>
            <a:ext cx="1965960" cy="502920"/>
          </a:xfrm>
          <a:prstGeom prst="roundRect">
            <a:avLst/>
          </a:prstGeom>
          <a:solidFill>
            <a:srgbClr val="6F5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POI触发数据</a:t>
            </a:r>
            <a:endParaRPr sz="1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3154680" y="4672584"/>
            <a:ext cx="32918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buClrTx/>
              <a:buSzTx/>
              <a:buFontTx/>
            </a:pPr>
            <a:r>
              <a:rPr sz="1600" b="0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用户位置进入POI缓冲区</a:t>
            </a:r>
            <a:endParaRPr sz="1600" b="0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Rounded Rectangle 24"/>
          <p:cNvSpPr/>
          <p:nvPr>
            <p:custDataLst>
              <p:tags r:id="rId18"/>
            </p:custDataLst>
          </p:nvPr>
        </p:nvSpPr>
        <p:spPr>
          <a:xfrm>
            <a:off x="7315200" y="4672584"/>
            <a:ext cx="2057400" cy="502920"/>
          </a:xfrm>
          <a:prstGeom prst="roundRect">
            <a:avLst/>
          </a:prstGeom>
          <a:solidFill>
            <a:srgbClr val="DCF1E8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213F36"/>
                </a:solidFill>
                <a:latin typeface="微软雅黑" panose="020B0503020204020204" charset="-122"/>
              </a:rPr>
              <a:t>poi_records</a:t>
            </a:r>
            <a:endParaRPr sz="12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>
            <p:custDataLst>
              <p:tags r:id="rId19"/>
            </p:custDataLst>
          </p:nvPr>
        </p:nvCxnSpPr>
        <p:spPr>
          <a:xfrm>
            <a:off x="2743200" y="4924044"/>
            <a:ext cx="4114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>
            <p:custDataLst>
              <p:tags r:id="rId20"/>
            </p:custDataLst>
          </p:nvPr>
        </p:nvCxnSpPr>
        <p:spPr>
          <a:xfrm>
            <a:off x="6446520" y="4924044"/>
            <a:ext cx="868680" cy="0"/>
          </a:xfrm>
          <a:prstGeom prst="line">
            <a:avLst/>
          </a:prstGeom>
          <a:ln w="25400">
            <a:solidFill>
              <a:srgbClr val="C4D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38360" y="1691640"/>
            <a:ext cx="1417320" cy="2651760"/>
          </a:xfrm>
          <a:prstGeom prst="round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CloudBase
云数据库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" y="5806440"/>
            <a:ext cx="104698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写入策略：探索过程中以本地判定为主，结束探索后同步用户总进度、网格点亮记录、POI 触发记录和探索会话摘要。</a:t>
            </a:r>
            <a:endParaRPr sz="1400" b="1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数据库展示截图页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520440" cy="2057400"/>
          </a:xfrm>
          <a:prstGeom prst="roundRect">
            <a:avLst/>
          </a:prstGeom>
          <a:solidFill>
            <a:srgbClr val="FBFDFC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5528" y="1194562"/>
            <a:ext cx="33009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213F36"/>
                </a:solidFill>
                <a:latin typeface="微软雅黑" panose="020B0503020204020204" charset="-122"/>
              </a:rPr>
              <a:t>数据库集合列表</a:t>
            </a:r>
            <a:endParaRPr sz="1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" y="3039872"/>
            <a:ext cx="3154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已建立的集合名称与记录数量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3520440" cy="2057400"/>
          </a:xfrm>
          <a:prstGeom prst="roundRect">
            <a:avLst/>
          </a:prstGeom>
          <a:solidFill>
            <a:srgbClr val="FBFDFC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53128" y="1399032"/>
            <a:ext cx="33009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213F36"/>
                </a:solidFill>
                <a:latin typeface="微软雅黑" panose="020B0503020204020204" charset="-122"/>
              </a:rPr>
              <a:t>userinfo 样例数据</a:t>
            </a:r>
            <a:endParaRPr sz="1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26280" y="2862072"/>
            <a:ext cx="3154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用户基础信息与累计探索进度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1234440"/>
            <a:ext cx="3520440" cy="2057400"/>
          </a:xfrm>
          <a:prstGeom prst="roundRect">
            <a:avLst/>
          </a:prstGeom>
          <a:solidFill>
            <a:srgbClr val="FBFDFC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10727" y="1399032"/>
            <a:ext cx="33009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213F36"/>
                </a:solidFill>
                <a:latin typeface="微软雅黑" panose="020B0503020204020204" charset="-122"/>
              </a:rPr>
              <a:t>gridstatus 样例数据</a:t>
            </a:r>
            <a:endParaRPr sz="1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83879" y="2862072"/>
            <a:ext cx="3154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用户-网格点亮记录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520440" cy="2057400"/>
          </a:xfrm>
          <a:prstGeom prst="roundRect">
            <a:avLst/>
          </a:prstGeom>
          <a:solidFill>
            <a:srgbClr val="FBFDFC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5528" y="3867911"/>
            <a:ext cx="33009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213F36"/>
                </a:solidFill>
                <a:latin typeface="微软雅黑" panose="020B0503020204020204" charset="-122"/>
              </a:rPr>
              <a:t>track_sessions 样例数据</a:t>
            </a:r>
            <a:endParaRPr sz="1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5330952"/>
            <a:ext cx="3154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单次探索摘要记录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43400" y="3703320"/>
            <a:ext cx="3520440" cy="2057400"/>
          </a:xfrm>
          <a:prstGeom prst="roundRect">
            <a:avLst/>
          </a:prstGeom>
          <a:solidFill>
            <a:srgbClr val="FBFDFC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453128" y="3867911"/>
            <a:ext cx="33009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213F36"/>
                </a:solidFill>
                <a:latin typeface="微软雅黑" panose="020B0503020204020204" charset="-122"/>
              </a:rPr>
              <a:t>poi_records 样例数据</a:t>
            </a:r>
            <a:endParaRPr sz="1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526280" y="5330952"/>
            <a:ext cx="3154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用户-POI 触发记录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01000" y="3703320"/>
            <a:ext cx="3520440" cy="2057400"/>
          </a:xfrm>
          <a:prstGeom prst="roundRect">
            <a:avLst/>
          </a:prstGeom>
          <a:solidFill>
            <a:srgbClr val="FBFDFC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24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10727" y="3867911"/>
            <a:ext cx="3300984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>
                <a:solidFill>
                  <a:srgbClr val="213F36"/>
                </a:solidFill>
                <a:latin typeface="微软雅黑" panose="020B0503020204020204" charset="-122"/>
              </a:rPr>
              <a:t>云函数调用截图</a:t>
            </a:r>
            <a:endParaRPr sz="16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183879" y="5330952"/>
            <a:ext cx="31546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050" b="0">
                <a:solidFill>
                  <a:srgbClr val="697471"/>
                </a:solidFill>
                <a:latin typeface="微软雅黑" panose="020B0503020204020204" charset="-122"/>
              </a:rPr>
              <a:t>sdkpFunctions 与数据库写入逻辑</a:t>
            </a:r>
            <a:endParaRPr sz="10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pic>
        <p:nvPicPr>
          <p:cNvPr id="32" name="图片 31" descr="数据库集合列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1480820"/>
            <a:ext cx="2300605" cy="159131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240" y="4299585"/>
            <a:ext cx="2727325" cy="9652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915" y="1790065"/>
            <a:ext cx="3408045" cy="93599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65" y="4277995"/>
            <a:ext cx="3236595" cy="89916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715" y="4272280"/>
            <a:ext cx="2868295" cy="101219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855" y="1778635"/>
            <a:ext cx="3288030" cy="9594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数据质量与约束设计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32588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检查项</a:t>
                      </a:r>
                      <a:endParaRPr sz="16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3389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当前要求</a:t>
                      </a:r>
                      <a:endParaRPr sz="1600" b="1">
                        <a:solidFill>
                          <a:srgbClr val="FFFFFF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33896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用户唯一性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userinfo._id保持唯一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会话唯一性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track_sessions._id由user_id与session_id组合保证唯一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网格点亮唯一性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同一用户对同一grid_id只保留一条点亮记录，避免重复计数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POI触发唯一性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同一用户对同一poi_id在MVP阶段只保留一条记录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关联完整性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track_sessions.user_id、gridstatus.user_id、poi_records.user_id 应能对应 userinfo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空间编号一致性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13F36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grid_id与前端GeoJSON网格编号一致；poi_id与POI图层编号一致</a:t>
                      </a:r>
                      <a:endParaRPr sz="1600" b="0">
                        <a:solidFill>
                          <a:srgbClr val="213F36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54864" marR="54864" marT="27432" marB="27432" anchor="ctr" anchorCtr="0">
                    <a:solidFill>
                      <a:srgbClr val="F0F6F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715000"/>
            <a:ext cx="105156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400" b="1">
                <a:solidFill>
                  <a:srgbClr val="69747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这些约束能够支撑“探索进度不重复计算、事件记录可追踪、前端空间要素与数据库记录可对应”。</a:t>
            </a:r>
            <a:endParaRPr sz="1400" b="1">
              <a:solidFill>
                <a:srgbClr val="69747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buClrTx/>
              <a:buSzTx/>
              <a:buFontTx/>
            </a:pPr>
            <a:r>
              <a:rPr sz="2400" b="1">
                <a:solidFill>
                  <a:srgbClr val="213F36"/>
                </a:solidFill>
                <a:latin typeface="黑体" panose="02010609060101010101" charset="-122"/>
                <a:ea typeface="黑体" panose="02010609060101010101" charset="-122"/>
              </a:rPr>
              <a:t>当前建库成果总结</a:t>
            </a:r>
            <a:endParaRPr sz="2400" b="1">
              <a:solidFill>
                <a:srgbClr val="213F3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43000" cy="45720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850" b="0">
                <a:solidFill>
                  <a:srgbClr val="697471"/>
                </a:solidFill>
                <a:latin typeface="微软雅黑" panose="020B0503020204020204" charset="-122"/>
              </a:rPr>
              <a:t>师大快跑｜数据库建库成果汇报</a:t>
            </a:r>
            <a:endParaRPr sz="85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/>
            <a:r>
              <a:rPr sz="1500" b="1">
                <a:solidFill>
                  <a:srgbClr val="213F36"/>
                </a:solidFill>
                <a:latin typeface="微软雅黑" panose="020B0503020204020204" charset="-122"/>
              </a:rPr>
              <a:t>当前项目已完成 MVP 阶段所需的核心数据库建设，建立了用户信息、探索会话、网格点亮记录和 POI 触发记录 4 个集合。数据库能够支撑用户探索行为记录、地图点亮进度保存、POI 触发记录保存和探索结算展示等核心功能。</a:t>
            </a:r>
            <a:endParaRPr sz="15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822960" y="2788920"/>
            <a:ext cx="3200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18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822960" y="2788920"/>
            <a:ext cx="3200400" cy="73152"/>
          </a:xfrm>
          <a:prstGeom prst="rect">
            <a:avLst/>
          </a:prstGeom>
          <a:solidFill>
            <a:srgbClr val="33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3"/>
            </p:custDataLst>
          </p:nvPr>
        </p:nvSpPr>
        <p:spPr>
          <a:xfrm>
            <a:off x="987552" y="2953512"/>
            <a:ext cx="287121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500" b="1">
                <a:solidFill>
                  <a:srgbClr val="213F36"/>
                </a:solidFill>
                <a:latin typeface="微软雅黑" panose="020B0503020204020204" charset="-122"/>
              </a:rPr>
              <a:t>已完成</a:t>
            </a:r>
            <a:endParaRPr sz="15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4"/>
            </p:custDataLst>
          </p:nvPr>
        </p:nvSpPr>
        <p:spPr>
          <a:xfrm>
            <a:off x="987552" y="3364991"/>
            <a:ext cx="2871216" cy="1417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600" b="0">
                <a:solidFill>
                  <a:srgbClr val="697471"/>
                </a:solidFill>
                <a:latin typeface="微软雅黑" panose="020B0503020204020204" charset="-122"/>
              </a:rPr>
              <a:t>• 4 个核心集合建库
• 样例数据导出
• 字段元数据说明
• 集合关系说明
• 数据质量约束说明</a:t>
            </a:r>
            <a:endParaRPr sz="16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480560" y="2788920"/>
            <a:ext cx="3200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18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480560" y="2788920"/>
            <a:ext cx="3200400" cy="73152"/>
          </a:xfrm>
          <a:prstGeom prst="rect">
            <a:avLst/>
          </a:prstGeom>
          <a:solidFill>
            <a:srgbClr val="3F7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7"/>
            </p:custDataLst>
          </p:nvPr>
        </p:nvSpPr>
        <p:spPr>
          <a:xfrm>
            <a:off x="4645152" y="2953512"/>
            <a:ext cx="287121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500" b="1">
                <a:solidFill>
                  <a:srgbClr val="213F36"/>
                </a:solidFill>
                <a:latin typeface="微软雅黑" panose="020B0503020204020204" charset="-122"/>
              </a:rPr>
              <a:t>可展示</a:t>
            </a:r>
            <a:endParaRPr sz="15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8"/>
            </p:custDataLst>
          </p:nvPr>
        </p:nvSpPr>
        <p:spPr>
          <a:xfrm>
            <a:off x="4645152" y="3364991"/>
            <a:ext cx="2871216" cy="1417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• 数据库集合列表
• 四个集合样例记录
• JSON 导出文件
• 前期 ER 与当前实现对应关系
• 小程序核心数据流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8138160" y="2788920"/>
            <a:ext cx="3200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 sz="1800" b="0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8138160" y="2788920"/>
            <a:ext cx="3200400" cy="73152"/>
          </a:xfrm>
          <a:prstGeom prst="rect">
            <a:avLst/>
          </a:prstGeom>
          <a:solidFill>
            <a:srgbClr val="EB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1"/>
            </p:custDataLst>
          </p:nvPr>
        </p:nvSpPr>
        <p:spPr>
          <a:xfrm>
            <a:off x="8302752" y="2953512"/>
            <a:ext cx="2871216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500" b="1">
                <a:solidFill>
                  <a:srgbClr val="213F36"/>
                </a:solidFill>
                <a:latin typeface="微软雅黑" panose="020B0503020204020204" charset="-122"/>
              </a:rPr>
              <a:t>后续扩展</a:t>
            </a:r>
            <a:endParaRPr sz="1500" b="1">
              <a:solidFill>
                <a:srgbClr val="213F36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12"/>
            </p:custDataLst>
          </p:nvPr>
        </p:nvSpPr>
        <p:spPr>
          <a:xfrm>
            <a:off x="8302752" y="3364991"/>
            <a:ext cx="2871216" cy="1417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r>
              <a:rPr sz="1400" b="0">
                <a:solidFill>
                  <a:srgbClr val="697471"/>
                </a:solidFill>
                <a:latin typeface="微软雅黑" panose="020B0503020204020204" charset="-122"/>
              </a:rPr>
              <a:t>• route_config 路线配置
• achievement_config 成就配置
• runtime_config 运行时配置
• 地标图鉴与排行榜
• 历史探索记录页面</a:t>
            </a:r>
            <a:endParaRPr sz="1400" b="0">
              <a:solidFill>
                <a:srgbClr val="69747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2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3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4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5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6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7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8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9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0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1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2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3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4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5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6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7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8.xml><?xml version="1.0" encoding="utf-8"?>
<p:tagLst xmlns:p="http://schemas.openxmlformats.org/presentationml/2006/main">
  <p:tag name="KSO_WM_DIAGRAM_VIRTUALLY_FRAME" val="{&quot;height&quot;:275.04,&quot;left&quot;:64.8,&quot;top&quot;:110.16,&quot;width&quot;:838.8}"/>
</p:tagLst>
</file>

<file path=ppt/tags/tag19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0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1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2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3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4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5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6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7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8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29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30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31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32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33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34.xml><?xml version="1.0" encoding="utf-8"?>
<p:tagLst xmlns:p="http://schemas.openxmlformats.org/presentationml/2006/main">
  <p:tag name="KSO_WM_DIAGRAM_VIRTUALLY_FRAME" val="{&quot;height&quot;:273.59999999999997,&quot;left&quot;:61.2,&quot;top&quot;:113.75999999999999,&quot;width&quot;:838.7999212598424}"/>
</p:tagLst>
</file>

<file path=ppt/tags/tag35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36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37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38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39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0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1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2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3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4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5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6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7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8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49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50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51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52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53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54.xml><?xml version="1.0" encoding="utf-8"?>
<p:tagLst xmlns:p="http://schemas.openxmlformats.org/presentationml/2006/main">
  <p:tag name="KSO_WM_DIAGRAM_VIRTUALLY_FRAME" val="{&quot;height&quot;:303.12,&quot;left&quot;:61.2,&quot;top&quot;:104.4,&quot;width&quot;:676.8}"/>
</p:tagLst>
</file>

<file path=ppt/tags/tag55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56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57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58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59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0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1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2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3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4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5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ags/tag66.xml><?xml version="1.0" encoding="utf-8"?>
<p:tagLst xmlns:p="http://schemas.openxmlformats.org/presentationml/2006/main">
  <p:tag name="KSO_WM_DIAGRAM_VIRTUALLY_FRAME" val="{&quot;height&quot;:169.2,&quot;left&quot;:64.8,&quot;top&quot;:219.6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3120</Words>
  <Application>WPS 演示</Application>
  <PresentationFormat>On-screen Show (4:3)</PresentationFormat>
  <Paragraphs>339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黑体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许愿</cp:lastModifiedBy>
  <cp:revision>6</cp:revision>
  <dcterms:created xsi:type="dcterms:W3CDTF">2013-01-27T09:14:00Z</dcterms:created>
  <dcterms:modified xsi:type="dcterms:W3CDTF">2026-08-20T09:43:41Z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31CE29CCE731480CAC7FA2092DCE4B3E_12</vt:lpwstr>
  </property>
</Properties>
</file>