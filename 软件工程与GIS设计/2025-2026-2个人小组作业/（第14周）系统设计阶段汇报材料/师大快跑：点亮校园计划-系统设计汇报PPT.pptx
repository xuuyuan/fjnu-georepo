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embeddedFontLst>
    <p:embeddedFont>
      <p:font typeface="Calibri" panose="020F0502020204030204"/>
      <p:regular r:id="rId27"/>
      <p:bold r:id="rId28"/>
      <p:italic r:id="rId29"/>
      <p:boldItalic r:id="rId30"/>
    </p:embeddedFont>
    <p:embeddedFont>
      <p:font typeface="锐字太空奇遇像素简 常规" panose="02010604000000000000" charset="-122"/>
      <p:bold r:id="rId31"/>
    </p:embeddedFont>
    <p:embeddedFont>
      <p:font typeface="字由点字像素16" panose="00020600040101010101" charset="-122"/>
      <p:regular r:id="rId32"/>
    </p:embeddedFont>
  </p:embeddedFontLst>
  <p:custDataLst>
    <p:tags r:id="rId3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000000"/>
          </p15:clr>
        </p15:guide>
        <p15:guide id="2" pos="2888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A90C8E-3240-4BBF-945A-E41E881E2D7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084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0.xml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7" name="Google Shape;417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" name="图片 0" descr="图片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64800" y="53975"/>
            <a:ext cx="1562735" cy="90868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9.png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5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tags" Target="../tags/tag7.xml"/><Relationship Id="rId1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4.png"/><Relationship Id="rId1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4400550" y="1592580"/>
            <a:ext cx="3390900" cy="228600"/>
          </a:xfrm>
          <a:prstGeom prst="rect">
            <a:avLst/>
          </a:prstGeom>
          <a:solidFill>
            <a:srgbClr val="E525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95800" y="1640205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START GAME / PRESS START</a:t>
            </a:r>
            <a:endParaRPr lang="en-US" sz="1050" b="0" i="0" u="none" strike="noStrike" cap="none">
              <a:solidFill>
                <a:srgbClr val="FFFFFF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123440" y="1916430"/>
            <a:ext cx="7945755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师大快</a:t>
            </a:r>
            <a:r>
              <a:rPr lang="en-US" sz="48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跑：点</a:t>
            </a:r>
            <a:r>
              <a:rPr lang="en-US" sz="48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亮校园计划</a:t>
            </a:r>
            <a:endParaRPr lang="en-US" sz="48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314700" y="2790795"/>
            <a:ext cx="5562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基于 GIS 与游戏化设计的校园空间探索微信小程序</a:t>
            </a:r>
            <a:endParaRPr lang="en-US" sz="2100" b="1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629150" y="3758535"/>
            <a:ext cx="2933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【第14周】系统设计阶段汇报</a:t>
            </a:r>
            <a:endParaRPr lang="en-US" sz="165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99255"/>
            <a:ext cx="5334000" cy="3059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899255"/>
            <a:ext cx="5334000" cy="30594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52450" y="1880205"/>
            <a:ext cx="5372100" cy="3097558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38187" y="2185005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微信小程序端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267450" y="1880205"/>
            <a:ext cx="5372100" cy="3097558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453187" y="2185005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微信云开发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86000" y="2194530"/>
            <a:ext cx="2190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190625" y="2604105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页面层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首页/图鉴/历史/登陆/成就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190625" y="303273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服务层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定位/地图/会话/POI/云调用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190625" y="3461355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空间计算层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距离/点面/线面/20m缓冲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90625" y="388998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本地数据/缓存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campus.js / grid / session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7675" y="2194530"/>
            <a:ext cx="3524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6905625" y="2604105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云函数入口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sdkpFunctions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905625" y="3032730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Handlers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profile/grid/poi/session/config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905625" y="3461355"/>
            <a:ext cx="4429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CloudBase 数据库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: userinfo/gridstatus/poi_records/track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26231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05178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4804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9090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72250" y="26231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72250" y="305178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72250" y="348040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30595" y="1915795"/>
            <a:ext cx="6092190" cy="34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438275"/>
            <a:ext cx="52768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276725"/>
            <a:ext cx="52768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914900"/>
            <a:ext cx="47053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38225" y="5095875"/>
            <a:ext cx="914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403276" y="5095875"/>
            <a:ext cx="914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768328" y="5095875"/>
            <a:ext cx="12573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38225" y="5553075"/>
            <a:ext cx="9144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571500" y="60833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项目背景与问题回顾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52450" y="4257675"/>
            <a:ext cx="5314950" cy="214312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857250" y="4562475"/>
            <a:ext cx="494061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业务流程：从探索到同步</a:t>
            </a:r>
            <a:endParaRPr lang="en-US" sz="165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190625" y="1562735"/>
            <a:ext cx="4371975" cy="76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传统运动记录更关注里程、速度，校园探索价值未被充分表达。</a:t>
            </a:r>
            <a:endParaRPr lang="en-US" sz="165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1190625" y="2305685"/>
            <a:ext cx="43719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将运动行为转化为空间覆盖，用地图点亮、地标发现增强动力。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190625" y="3048635"/>
            <a:ext cx="43719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第14周重点转入系统结构、流程和模块详细设计。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35" name="Google Shape;135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16751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24422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32092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像素方形向右箭头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41525" y="5146040"/>
            <a:ext cx="272415" cy="262255"/>
          </a:xfrm>
          <a:prstGeom prst="rect">
            <a:avLst/>
          </a:prstGeom>
        </p:spPr>
      </p:pic>
      <p:pic>
        <p:nvPicPr>
          <p:cNvPr id="2" name="图片 1" descr="像素方形向右箭头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06775" y="5146040"/>
            <a:ext cx="272415" cy="262255"/>
          </a:xfrm>
          <a:prstGeom prst="rect">
            <a:avLst/>
          </a:prstGeom>
        </p:spPr>
      </p:pic>
      <p:pic>
        <p:nvPicPr>
          <p:cNvPr id="3" name="图片 2" descr="像素方形向右箭头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33340" y="5146040"/>
            <a:ext cx="272415" cy="262255"/>
          </a:xfrm>
          <a:prstGeom prst="rect">
            <a:avLst/>
          </a:prstGeom>
        </p:spPr>
      </p:pic>
      <p:pic>
        <p:nvPicPr>
          <p:cNvPr id="6" name="图片 5" descr="ChatGPT Image 2026年6月5日 00_28_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1958340"/>
            <a:ext cx="5970905" cy="3398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08077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99" y="108077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8099" y="108077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114800"/>
            <a:ext cx="1104900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系统总体目标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866775" y="189992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核心闭环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866775" y="251904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跑通“定位-轨迹-空间判定-点亮-结算-同步”的完整业务链路。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645074" y="189992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空间表达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645074" y="251904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用5m逻辑网格表达校园探索进度，用20m缓冲适配手机GPS误差。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8423374" y="189992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游戏化体系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8423374" y="2519045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将POI、路线、成就和历史记录组织成可扩展的奖励反馈系统。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866775" y="4933950"/>
            <a:ext cx="109813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数据映射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866775" y="5553075"/>
            <a:ext cx="104584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让云端数据库集合与前端空间对象建立长期、稳定的逻辑关联。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56" name="Google Shape;156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13760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137604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137604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66775" y="441007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133600"/>
            <a:ext cx="5619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用户对象与使用场景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52450" y="2114550"/>
            <a:ext cx="5657850" cy="3086100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857250" y="2419350"/>
            <a:ext cx="53006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目标与路径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572250" y="2343150"/>
            <a:ext cx="504825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70" name="Google Shape;170;p16"/>
          <p:cNvGraphicFramePr/>
          <p:nvPr/>
        </p:nvGraphicFramePr>
        <p:xfrm>
          <a:off x="6572250" y="2343150"/>
          <a:ext cx="4991100" cy="3000000"/>
        </p:xfrm>
        <a:graphic>
          <a:graphicData uri="http://schemas.openxmlformats.org/drawingml/2006/table">
            <a:tbl>
              <a:tblPr firstRow="1" bandRow="1">
                <a:noFill/>
                <a:tableStyleId>{81A90C8E-3240-4BBF-945A-E41E881E2D75}</a:tableStyleId>
              </a:tblPr>
              <a:tblGrid>
                <a:gridCol w="1338550"/>
                <a:gridCol w="1788175"/>
                <a:gridCol w="1864375"/>
              </a:tblGrid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用户视图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对应页面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展示价值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探索中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首页地图+面板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展示GIS与交互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探索后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探索结算页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展示数据汇总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回看进度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历史/图鉴/成就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展示数据库规则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16"/>
          <p:cNvSpPr txBox="1"/>
          <p:nvPr/>
        </p:nvSpPr>
        <p:spPr>
          <a:xfrm>
            <a:off x="1190625" y="282892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目标用户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：师大旗山校区在校生。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190625" y="3257550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核心场景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：课余散步、地标打卡。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1190625" y="3686175"/>
            <a:ext cx="47148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使用路径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：地图 ➔ 探索 ➔ 结算。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1190625" y="4114800"/>
            <a:ext cx="47148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界面结构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首页衍生 ➔ 结算/历史/图鉴/成就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75" name="Google Shape;175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28479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32766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37052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413385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066800"/>
            <a:ext cx="3492549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99" y="1066800"/>
            <a:ext cx="3492549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8099" y="1066800"/>
            <a:ext cx="3492549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800475"/>
            <a:ext cx="110490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系统功能模块分解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66775" y="13620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核心GIS探索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645074" y="13620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游戏化反馈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8423374" y="13620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历史与结算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866775" y="4095750"/>
            <a:ext cx="1098137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后台与底座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93" name="Google Shape;193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1371600"/>
            <a:ext cx="2190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1200150" y="178117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定位与轨迹采集设计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1200150" y="2209800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20m缓冲区空间判定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1200150" y="263842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网格点亮状态更新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197" name="Google Shape;197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5074" y="1371600"/>
            <a:ext cx="3238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4978449" y="178117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POI（地标）发现判定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4978449" y="2209800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路线挑战（进度计算）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4978449" y="263842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成就达成与触发判定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1371600"/>
            <a:ext cx="3238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8756749" y="178117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单次探索数据汇总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8756749" y="2209800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探索历史与详情回看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8756749" y="2638425"/>
            <a:ext cx="256862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个人成就总览面板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05" name="Google Shape;205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66775" y="4105275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1200150" y="4514850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静态地理数据 (campus.js)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200150" y="4943475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微信云开发 (云函数)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200150" y="5372100"/>
            <a:ext cx="101250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本地缓存与同步策略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09" name="Google Shape;209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1800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2228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2657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645074" y="1800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645074" y="2228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645074" y="2657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23374" y="18002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23374" y="2228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23374" y="2657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45339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4962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6775" y="53911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29350" y="1752600"/>
            <a:ext cx="53911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147762"/>
            <a:ext cx="52768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414837"/>
            <a:ext cx="52768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700587"/>
            <a:ext cx="47053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38225" y="4881562"/>
            <a:ext cx="1524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012876" y="4881562"/>
            <a:ext cx="10953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38225" y="5338762"/>
            <a:ext cx="12382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2727126" y="5338762"/>
            <a:ext cx="9144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571500" y="47625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核心业务流程</a:t>
            </a:r>
            <a:r>
              <a:rPr lang="en-US" altLang="zh-CN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-</a:t>
            </a:r>
            <a:r>
              <a:rPr lang="zh-CN" alt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判定逻辑</a:t>
            </a:r>
            <a:endParaRPr lang="zh-CN" alt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52450" y="1128712"/>
            <a:ext cx="5314950" cy="311467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857250" y="3100387"/>
            <a:ext cx="47053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任何中心点落在 </a:t>
            </a: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20m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缓冲区内部的 </a:t>
            </a: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5m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网格，即判定为“点亮”。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552450" y="4395787"/>
            <a:ext cx="5314950" cy="1790700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1895475" y="1528762"/>
            <a:ext cx="114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ED14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5m</a:t>
            </a:r>
            <a:endParaRPr lang="en-US" sz="4500" b="0" i="0" u="none" strike="noStrike" cap="none">
              <a:solidFill>
                <a:srgbClr val="FED14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1952625" y="2290762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ED14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20m</a:t>
            </a:r>
            <a:endParaRPr lang="en-US" sz="4500" b="0" i="0" u="none" strike="noStrike" cap="none">
              <a:solidFill>
                <a:srgbClr val="FED14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pic>
        <p:nvPicPr>
          <p:cNvPr id="4" name="图片 3" descr="像素方形向右箭头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51125" y="4931410"/>
            <a:ext cx="272415" cy="262255"/>
          </a:xfrm>
          <a:prstGeom prst="rect">
            <a:avLst/>
          </a:prstGeom>
        </p:spPr>
      </p:pic>
      <p:pic>
        <p:nvPicPr>
          <p:cNvPr id="2" name="图片 1" descr="像素方形向右箭头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285" y="4931410"/>
            <a:ext cx="272415" cy="262255"/>
          </a:xfrm>
          <a:prstGeom prst="rect">
            <a:avLst/>
          </a:prstGeom>
        </p:spPr>
      </p:pic>
      <p:pic>
        <p:nvPicPr>
          <p:cNvPr id="3" name="图片 2" descr="像素方形向右箭头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65375" y="5387975"/>
            <a:ext cx="272415" cy="262255"/>
          </a:xfrm>
          <a:prstGeom prst="rect">
            <a:avLst/>
          </a:prstGeom>
        </p:spPr>
      </p:pic>
      <p:pic>
        <p:nvPicPr>
          <p:cNvPr id="6" name="图片 5" descr="ChatGPT Image 2026年6月5日 00_43_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1105" y="1827530"/>
            <a:ext cx="5266055" cy="3655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833562"/>
            <a:ext cx="53340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639466"/>
            <a:ext cx="5334000" cy="2036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72250" y="3525291"/>
            <a:ext cx="4762500" cy="86469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571500" y="63309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游戏反馈：POI与路线挑战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552450" y="1814512"/>
            <a:ext cx="5372100" cy="368617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857250" y="2119312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POI 发现逻辑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857250" y="3881437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路线挑战逻辑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267450" y="2620417"/>
            <a:ext cx="5372100" cy="2074364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453187" y="2925216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核心计算公式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58" name="Google Shape;258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2128837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1190625" y="2538412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预设校园核心地标点（如：星雨剧场）。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1190625" y="2967037"/>
            <a:ext cx="4429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轨迹或缓冲区覆盖地标点时，触发“发现地标”通知。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61" name="Google Shape;261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57250" y="3890962"/>
            <a:ext cx="257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9"/>
          <p:cNvSpPr txBox="1"/>
          <p:nvPr/>
        </p:nvSpPr>
        <p:spPr>
          <a:xfrm>
            <a:off x="1190625" y="4300537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预设多条推荐路线（如：情人坡线）。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1190625" y="4729162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计算点亮网格与预设网格的重合度。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64" name="Google Shape;264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264449" y="3753891"/>
            <a:ext cx="3378100" cy="407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2986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4319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47482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05740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799" y="205740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8099" y="2057400"/>
            <a:ext cx="3492549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571500" y="75438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历史与结算：数据流设计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866775" y="287655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1. 实时暂存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866775" y="34956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探索过程中，里程、耗时、轨迹点和新网格实时写入本地页面变量 (Page.data)。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645074" y="287655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2. 结束探索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645074" y="34956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用户点击结束，暂停定位采集，停止计时，将数据打包至结算页展示摘要。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8423374" y="2876550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3. 异步同步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8423374" y="3495675"/>
            <a:ext cx="290199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结算页调用 syncSessionData。云端采用事务原子化更新总里程、网格并插入记录。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284" name="Google Shape;284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66775" y="23526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645074" y="2352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423374" y="2352675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124075"/>
            <a:ext cx="55626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515100" y="1752600"/>
            <a:ext cx="51054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4200525"/>
            <a:ext cx="49911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8225" y="4381500"/>
            <a:ext cx="5524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162175" y="4381500"/>
            <a:ext cx="6953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429000" y="4381500"/>
            <a:ext cx="5524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552950" y="4381500"/>
            <a:ext cx="5524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571500" y="71691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系统流程设计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52450" y="2105025"/>
            <a:ext cx="5600700" cy="3105150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1" name="Google Shape;301;p21" descr="image.png"/>
          <p:cNvPicPr preferRelativeResize="0"/>
          <p:nvPr/>
        </p:nvPicPr>
        <p:blipFill rotWithShape="1">
          <a:blip r:embed="rId8"/>
          <a:srcRect t="642" b="642"/>
          <a:stretch>
            <a:fillRect/>
          </a:stretch>
        </p:blipFill>
        <p:spPr>
          <a:xfrm>
            <a:off x="6572250" y="1809750"/>
            <a:ext cx="49911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1190625" y="2409825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【启动】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加载本地空间数据、读取云进度。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190625" y="2838450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【探索】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采集定位点，形成轨迹，空间判定。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190625" y="3267075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【结束】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生成摘要，存本地，调云函数写库。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190625" y="3695700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【展示】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图鉴/成就优先读云端，断网走兜底。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309" name="Google Shape;309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24288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28575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32861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1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37147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像素方形向右箭头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39900" y="4422140"/>
            <a:ext cx="272415" cy="262255"/>
          </a:xfrm>
          <a:prstGeom prst="rect">
            <a:avLst/>
          </a:prstGeom>
        </p:spPr>
      </p:pic>
      <p:pic>
        <p:nvPicPr>
          <p:cNvPr id="2" name="图片 1" descr="像素方形向右箭头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07360" y="4422140"/>
            <a:ext cx="272415" cy="262255"/>
          </a:xfrm>
          <a:prstGeom prst="rect">
            <a:avLst/>
          </a:prstGeom>
        </p:spPr>
      </p:pic>
      <p:pic>
        <p:nvPicPr>
          <p:cNvPr id="3" name="图片 2" descr="像素方形向右箭头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30675" y="4422140"/>
            <a:ext cx="272415" cy="262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模块结构与代码对应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71500" y="1400175"/>
            <a:ext cx="11049000" cy="4514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320" name="Google Shape;320;p22"/>
          <p:cNvGraphicFramePr/>
          <p:nvPr/>
        </p:nvGraphicFramePr>
        <p:xfrm>
          <a:off x="571500" y="1400175"/>
          <a:ext cx="10991850" cy="4514825"/>
        </p:xfrm>
        <a:graphic>
          <a:graphicData uri="http://schemas.openxmlformats.org/drawingml/2006/table">
            <a:tbl>
              <a:tblPr firstRow="1" bandRow="1">
                <a:noFill/>
                <a:tableStyleId>{81A90C8E-3240-4BBF-945A-E41E881E2D75}</a:tableStyleId>
              </a:tblPr>
              <a:tblGrid>
                <a:gridCol w="1638900"/>
                <a:gridCol w="4317650"/>
                <a:gridCol w="5035300"/>
              </a:tblGrid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层次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代码位置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作用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页面层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miniprogram/pages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首页、结算、历史、图鉴、成就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组件层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components/explore-panel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探索操作与状态展示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服务层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services/*.js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定位、地图状态、会话、POI、云调用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空间工具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utils/spatial.js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空间距离、相交、缓冲判定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规则数据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data/campus.js, config.js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校园空间数据与游戏规则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云函数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cloudfunctions/sdkp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数据同步与运行配置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514600"/>
            <a:ext cx="1981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38450" y="2514600"/>
            <a:ext cx="1981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105400" y="2514600"/>
            <a:ext cx="1981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72350" y="2514600"/>
            <a:ext cx="1981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639300" y="2514600"/>
            <a:ext cx="19812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HIPO 图设计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2809875"/>
            <a:ext cx="146018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地图与定位</a:t>
            </a:r>
            <a:endParaRPr lang="en-US" sz="15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866775" y="3352800"/>
            <a:ext cx="13906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I: 校园/GPS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P: 渲染/采样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O: 地图/轨迹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3133725" y="2809875"/>
            <a:ext cx="146018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空间点亮</a:t>
            </a:r>
            <a:endParaRPr lang="en-US" sz="15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3133725" y="3352800"/>
            <a:ext cx="13906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I: 轨迹/网格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P: 缓冲过滤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O: 点亮记录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5400675" y="2809875"/>
            <a:ext cx="146018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POI与Quiz</a:t>
            </a:r>
            <a:endParaRPr lang="en-US" sz="15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7" name="Google Shape;337;p23"/>
          <p:cNvSpPr txBox="1"/>
          <p:nvPr/>
        </p:nvSpPr>
        <p:spPr>
          <a:xfrm>
            <a:off x="5400675" y="3352800"/>
            <a:ext cx="13906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I: 触达/题目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P: 答题判定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O: 发现记录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7667625" y="2809875"/>
            <a:ext cx="146018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路线与成就</a:t>
            </a:r>
            <a:endParaRPr lang="en-US" sz="15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7667625" y="3352800"/>
            <a:ext cx="13906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I: 进度/条件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P: 判定解锁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O: 勋章/路线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9934575" y="2809875"/>
            <a:ext cx="146018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结果与云端</a:t>
            </a:r>
            <a:endParaRPr lang="en-US" sz="15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9934575" y="3352800"/>
            <a:ext cx="13906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I: 会话/统计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P: 同步/排行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 O: 看板/历史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核心模块 IPO 设计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571500" y="1714500"/>
            <a:ext cx="11049000" cy="3886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349" name="Google Shape;349;p24"/>
          <p:cNvGraphicFramePr/>
          <p:nvPr/>
        </p:nvGraphicFramePr>
        <p:xfrm>
          <a:off x="571500" y="1714500"/>
          <a:ext cx="10991850" cy="3886200"/>
        </p:xfrm>
        <a:graphic>
          <a:graphicData uri="http://schemas.openxmlformats.org/drawingml/2006/table">
            <a:tbl>
              <a:tblPr firstRow="1" bandRow="1">
                <a:noFill/>
                <a:tableStyleId>{81A90C8E-3240-4BBF-945A-E41E881E2D75}</a:tableStyleId>
              </a:tblPr>
              <a:tblGrid>
                <a:gridCol w="1784150"/>
                <a:gridCol w="2622500"/>
                <a:gridCol w="3768925"/>
                <a:gridCol w="2816275"/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模块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输入 (Input)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处理过程 (Process)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输出 (Output)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地图展示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校园空间数据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生成polygon/marker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校园地图界面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定位轨迹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GPS坐标点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采样、弱信号判断、绘线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平滑轨迹线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空间点亮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轨迹段、网格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20m缓冲、过滤、去重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新增点亮记录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POI成就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点亮结果、规则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网格绑定、阈值判断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前端反馈事件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云同步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会话最终摘要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云函数事务写库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永久数据库记录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1943100"/>
            <a:ext cx="55626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515100" y="1752600"/>
            <a:ext cx="51054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3981450"/>
            <a:ext cx="49911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38225" y="4162425"/>
            <a:ext cx="762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371725" y="4162425"/>
            <a:ext cx="762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705225" y="4162425"/>
            <a:ext cx="762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38225" y="4581525"/>
            <a:ext cx="762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算法：网格 + 缓冲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552450" y="1924050"/>
            <a:ext cx="5600700" cy="3467100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4" name="Google Shape;364;p25" descr="image.png"/>
          <p:cNvPicPr preferRelativeResize="0"/>
          <p:nvPr/>
        </p:nvPicPr>
        <p:blipFill rotWithShape="1">
          <a:blip r:embed="rId8"/>
          <a:srcRect t="642" b="642"/>
          <a:stretch>
            <a:fillRect/>
          </a:stretch>
        </p:blipFill>
        <p:spPr>
          <a:xfrm>
            <a:off x="6572250" y="1809750"/>
            <a:ext cx="49911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 txBox="1"/>
          <p:nvPr/>
        </p:nvSpPr>
        <p:spPr>
          <a:xfrm>
            <a:off x="1190625" y="2228850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误差处理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：轨迹段按20m缓冲走廊点亮网格。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1190625" y="2657475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性能优化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：先做包络盒筛选，再算点到线段距离。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1190625" y="3086100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过滤机制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：湖面等不可达网格不计入探索率。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1190625" y="3514725"/>
            <a:ext cx="46577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技术实现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：使用轻量JS几何函数实现原生GIS分析。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1990725" y="4214812"/>
            <a:ext cx="190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➔</a:t>
            </a:r>
            <a:endParaRPr lang="en-US" sz="150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3324225" y="4214812"/>
            <a:ext cx="190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➔</a:t>
            </a:r>
            <a:endParaRPr lang="en-US" sz="150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4657725" y="4214812"/>
            <a:ext cx="190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5252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➔</a:t>
            </a:r>
            <a:endParaRPr lang="en-US" sz="1500" b="0" i="0" u="none" strike="noStrike" cap="none">
              <a:solidFill>
                <a:srgbClr val="E5252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pic>
        <p:nvPicPr>
          <p:cNvPr id="372" name="Google Shape;372;p2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22479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2676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31051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7250" y="35337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数据库 / 数据组织设计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6572250" y="2028825"/>
            <a:ext cx="5048250" cy="32575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387" name="Google Shape;387;p26"/>
          <p:cNvGraphicFramePr/>
          <p:nvPr/>
        </p:nvGraphicFramePr>
        <p:xfrm>
          <a:off x="6572250" y="2028825"/>
          <a:ext cx="4991075" cy="3257500"/>
        </p:xfrm>
        <a:graphic>
          <a:graphicData uri="http://schemas.openxmlformats.org/drawingml/2006/table">
            <a:tbl>
              <a:tblPr firstRow="1" bandRow="1">
                <a:noFill/>
                <a:tableStyleId>{81A90C8E-3240-4BBF-945A-E41E881E2D75}</a:tableStyleId>
              </a:tblPr>
              <a:tblGrid>
                <a:gridCol w="2630525"/>
                <a:gridCol w="2360550"/>
              </a:tblGrid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集合 (Collections)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用途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userinfo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用户累计探索进度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gridstatus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用户-网格点亮关联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poi_records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用户-POI触发记录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track_sessions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单次探索会话摘要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56" name="Google Shape;356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2135" y="1661795"/>
            <a:ext cx="567245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 descr="ChatGPT Image 2026年6月5日 00_38_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" y="1746885"/>
            <a:ext cx="5571490" cy="3714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390775"/>
            <a:ext cx="53340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281237"/>
            <a:ext cx="533400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14525" y="4133850"/>
            <a:ext cx="5905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0325" y="4133850"/>
            <a:ext cx="5905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286125" y="4133850"/>
            <a:ext cx="5905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971925" y="4133850"/>
            <a:ext cx="5905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界面设计与用户视图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552450" y="2371725"/>
            <a:ext cx="5372100" cy="2571750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738187" y="2676525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路由结构映射</a:t>
            </a:r>
            <a:endParaRPr lang="en-US" sz="21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1952625" y="3181350"/>
            <a:ext cx="257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ED14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[ INDEX ]</a:t>
            </a:r>
            <a:endParaRPr lang="en-US" sz="2250" b="0" i="0" u="none" strike="noStrike" cap="none">
              <a:solidFill>
                <a:srgbClr val="FED14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857250" y="35623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⇩</a:t>
            </a:r>
            <a:endParaRPr lang="en-US" sz="2250" b="0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6267450" y="2262187"/>
            <a:ext cx="5372100" cy="279082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6905625" y="2566987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首页地图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：承载定位、轨迹与反馈。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6" name="Google Shape;406;p27"/>
          <p:cNvSpPr txBox="1"/>
          <p:nvPr/>
        </p:nvSpPr>
        <p:spPr>
          <a:xfrm>
            <a:off x="6905625" y="2995612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探索结算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：展示本次距离、时长、路线成就。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6905625" y="3424237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历史记录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：读取云端 sessions 数据。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6905625" y="3852862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地标图鉴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：结合本地POI和发现记录。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6905625" y="4281487"/>
            <a:ext cx="4429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成就中心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：网格、路线成就总看板。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410" name="Google Shape;410;p2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72250" y="2586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72250" y="3014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72250" y="3443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72250" y="3871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72250" y="43005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当前实现进度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571500" y="1838325"/>
            <a:ext cx="11049000" cy="36385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422" name="Google Shape;422;p28"/>
          <p:cNvGraphicFramePr/>
          <p:nvPr/>
        </p:nvGraphicFramePr>
        <p:xfrm>
          <a:off x="571500" y="1838325"/>
          <a:ext cx="10991850" cy="3638500"/>
        </p:xfrm>
        <a:graphic>
          <a:graphicData uri="http://schemas.openxmlformats.org/drawingml/2006/table">
            <a:tbl>
              <a:tblPr firstRow="1" bandRow="1">
                <a:noFill/>
                <a:tableStyleId>{81A90C8E-3240-4BBF-945A-E41E881E2D75}</a:tableStyleId>
              </a:tblPr>
              <a:tblGrid>
                <a:gridCol w="2095500"/>
                <a:gridCol w="8896350"/>
              </a:tblGrid>
              <a:tr h="7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开发状态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模块 / 功能</a:t>
                      </a:r>
                      <a:endParaRPr lang="en-US" sz="1800" b="1" i="0" u="none" strike="noStrike" cap="none">
                        <a:solidFill>
                          <a:srgbClr val="FFFFFF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F6C"/>
                    </a:solidFill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                   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地图、定位轨迹、点亮、POI、成就、结算、图鉴、云同步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                   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真机GPS校准、云函数最新部署、POI触发半径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                   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quiz答题弹窗流程、云端动态配置读取兜底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</a:b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                   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2F6C"/>
                          </a:solidFill>
                          <a:latin typeface="字由点字像素16" panose="00020600040101010101" charset="-122"/>
                          <a:ea typeface="字由点字像素16" panose="00020600040101010101" charset="-122"/>
                          <a:cs typeface="字由点字像素16" panose="00020600040101010101" charset="-122"/>
                          <a:sym typeface="字由点字像素16" panose="00020600040101010101" charset="-122"/>
                        </a:rPr>
                        <a:t>排行榜、群体热力图、社交分享、完整后台管理</a:t>
                      </a:r>
                      <a:endParaRPr lang="en-US" sz="1650" b="0" i="0" u="none" strike="noStrike" cap="none">
                        <a:solidFill>
                          <a:srgbClr val="002F6C"/>
                        </a:solidFill>
                        <a:latin typeface="字由点字像素16" panose="00020600040101010101" charset="-122"/>
                        <a:ea typeface="字由点字像素16" panose="00020600040101010101" charset="-122"/>
                        <a:cs typeface="字由点字像素16" panose="00020600040101010101" charset="-122"/>
                        <a:sym typeface="字由点字像素16" panose="00020600040101010101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3" name="Google Shape;423;p28"/>
          <p:cNvSpPr/>
          <p:nvPr/>
        </p:nvSpPr>
        <p:spPr>
          <a:xfrm>
            <a:off x="819150" y="2714625"/>
            <a:ext cx="590550" cy="2952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14400" y="2762250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已实现</a:t>
            </a:r>
            <a:endParaRPr lang="en-US" sz="1050" b="0" i="0" u="none" strike="noStrike" cap="none">
              <a:solidFill>
                <a:srgbClr val="FFFFFF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819150" y="3438525"/>
            <a:ext cx="590550" cy="2952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14400" y="3486150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待验证</a:t>
            </a:r>
            <a:endParaRPr lang="en-US" sz="1050" b="0" i="0" u="none" strike="noStrike" cap="none">
              <a:solidFill>
                <a:srgbClr val="FFFFFF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819150" y="4162425"/>
            <a:ext cx="590550" cy="295275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914400" y="4210050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半成品</a:t>
            </a:r>
            <a:endParaRPr lang="en-US" sz="1050" b="0" i="0" u="none" strike="noStrike" cap="none">
              <a:solidFill>
                <a:srgbClr val="FFFFFF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819150" y="4886325"/>
            <a:ext cx="590550" cy="295275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0" name="Google Shape;430;p28"/>
          <p:cNvSpPr txBox="1"/>
          <p:nvPr/>
        </p:nvSpPr>
        <p:spPr>
          <a:xfrm>
            <a:off x="914400" y="4933950"/>
            <a:ext cx="400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未实现</a:t>
            </a:r>
            <a:endParaRPr lang="en-US" sz="1050" b="0" i="0" u="none" strike="noStrike" cap="none">
              <a:solidFill>
                <a:srgbClr val="FFFFFF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2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281237"/>
            <a:ext cx="11049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后续完善计划</a:t>
            </a:r>
            <a:endParaRPr lang="en-US" sz="360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552450" y="2262187"/>
            <a:ext cx="11087100" cy="279082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1190625" y="2566987"/>
            <a:ext cx="10144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真机测试验证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：完成GPS精度、后台定位、POI触发半径深度校准。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1190625" y="2995612"/>
            <a:ext cx="10144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演示模式增强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：增加模拟路线功能，保证最终课堂展示效果稳定。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190625" y="3424237"/>
            <a:ext cx="10144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游戏配置上云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：逐步把POI、路线、成就规则从本地迁移到云端配置。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42" name="Google Shape;442;p29"/>
          <p:cNvSpPr txBox="1"/>
          <p:nvPr/>
        </p:nvSpPr>
        <p:spPr>
          <a:xfrm>
            <a:off x="1190625" y="3852862"/>
            <a:ext cx="10144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体验模块扩展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：开发独立的POI答题页、路线详情页与历史详情。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1190625" y="4281487"/>
            <a:ext cx="10144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远期扩展方向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：校园排行榜、群体热力图、周报生成与微信社交分享。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444" name="Google Shape;444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25860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30146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34432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38719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4300537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286000" y="3038475"/>
            <a:ext cx="76200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0"/>
          <p:cNvSpPr txBox="1"/>
          <p:nvPr/>
        </p:nvSpPr>
        <p:spPr>
          <a:xfrm>
            <a:off x="1524000" y="1323975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ED141"/>
                </a:solidFill>
                <a:latin typeface="锐字太空奇遇像素简 常规" panose="02010604000000000000" charset="-122"/>
                <a:ea typeface="锐字太空奇遇像素简 常规" panose="02010604000000000000" charset="-122"/>
                <a:cs typeface="锐字太空奇遇像素简 常规" panose="02010604000000000000" charset="-122"/>
                <a:sym typeface="锐字太空奇遇像素简 常规" panose="02010604000000000000" charset="-122"/>
              </a:rPr>
              <a:t>STAGE CLEAR!</a:t>
            </a:r>
            <a:endParaRPr lang="en-US" sz="6000" b="0" i="0" u="none" strike="noStrike" cap="none">
              <a:solidFill>
                <a:srgbClr val="FED141"/>
              </a:solidFill>
              <a:latin typeface="锐字太空奇遇像素简 常规" panose="02010604000000000000" charset="-122"/>
              <a:ea typeface="锐字太空奇遇像素简 常规" panose="02010604000000000000" charset="-122"/>
              <a:cs typeface="锐字太空奇遇像素简 常规" panose="02010604000000000000" charset="-122"/>
              <a:sym typeface="锐字太空奇遇像素简 常规" panose="02010604000000000000" charset="-122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5355907" y="2276475"/>
            <a:ext cx="148018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E5252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Q &amp; A</a:t>
            </a:r>
            <a:endParaRPr lang="en-US" sz="3750" b="1" i="0" u="none" strike="noStrike" cap="none">
              <a:solidFill>
                <a:srgbClr val="E52521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4835842" y="5219700"/>
            <a:ext cx="25203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感谢老师聆听与指导</a:t>
            </a:r>
            <a:endParaRPr lang="en-US" sz="2100" b="1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2266950" y="3019425"/>
            <a:ext cx="7658100" cy="1933575"/>
          </a:xfrm>
          <a:prstGeom prst="rect">
            <a:avLst/>
          </a:prstGeom>
          <a:noFill/>
          <a:ln w="19050" cap="flat" cmpd="sng">
            <a:solidFill>
              <a:srgbClr val="E525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2905125" y="3324225"/>
            <a:ext cx="671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当前项目已具备</a:t>
            </a:r>
            <a:r>
              <a:rPr lang="en-US" sz="1650" b="0" i="0" u="none" strike="noStrike" cap="none">
                <a:solidFill>
                  <a:schemeClr val="dk1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“定位-轨迹-点亮-同步”</a:t>
            </a: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的 MVP 核心闭环。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2905125" y="3752850"/>
            <a:ext cx="671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系统设计阶段重点夯实架构、模块与算法底座。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2905125" y="4181475"/>
            <a:ext cx="6715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2F6C"/>
                </a:solidFill>
                <a:latin typeface="字由点字像素16" panose="00020600040101010101" charset="-122"/>
                <a:ea typeface="字由点字像素16" panose="00020600040101010101" charset="-122"/>
                <a:cs typeface="字由点字像素16" panose="00020600040101010101" charset="-122"/>
                <a:sym typeface="字由点字像素16" panose="00020600040101010101" charset="-122"/>
              </a:rPr>
              <a:t>后续将全面投入真机调试与游戏化玩法的延展。</a:t>
            </a:r>
            <a:endParaRPr lang="en-US" sz="1650" b="0" i="0" u="none" strike="noStrike" cap="none">
              <a:solidFill>
                <a:srgbClr val="002F6C"/>
              </a:solidFill>
              <a:latin typeface="字由点字像素16" panose="00020600040101010101" charset="-122"/>
              <a:ea typeface="字由点字像素16" panose="00020600040101010101" charset="-122"/>
              <a:cs typeface="字由点字像素16" panose="00020600040101010101" charset="-122"/>
              <a:sym typeface="字由点字像素16" panose="00020600040101010101" charset="-122"/>
            </a:endParaRPr>
          </a:p>
        </p:txBody>
      </p:sp>
      <p:pic>
        <p:nvPicPr>
          <p:cNvPr id="462" name="Google Shape;462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71750" y="3343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71750" y="37719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71750" y="42005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2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3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4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5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6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7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8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9.xml><?xml version="1.0" encoding="utf-8"?>
<p:tagLst xmlns:p="http://schemas.openxmlformats.org/presentationml/2006/main">
  <p:tag name="KSO_DOCER_RESOURCE_TRACE_INFO" val="{&quot;id&quot;:&quot;20290179&quot;,&quot;origin&quot;:0,&quot;type&quot;:&quot;icons&quot;,&quot;user&quot;:&quot;326296085&quot;}"/>
</p:tagLst>
</file>

<file path=ppt/tags/tag10.xml><?xml version="1.0" encoding="utf-8"?>
<p:tagLst xmlns:p="http://schemas.openxmlformats.org/presentationml/2006/main">
  <p:tag name="resource_record_key" val="{&quot;10&quot;:[2029017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2600</Words>
  <Application>WPS 演示</Application>
  <PresentationFormat/>
  <Paragraphs>398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锐字太空奇遇像素简 常规</vt:lpstr>
      <vt:lpstr>字由点字像素16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一梦金。</cp:lastModifiedBy>
  <cp:revision>4</cp:revision>
  <dcterms:created xsi:type="dcterms:W3CDTF">2026-06-04T16:40:00Z</dcterms:created>
  <dcterms:modified xsi:type="dcterms:W3CDTF">2026-06-04T17:09:22Z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F4D8AB43AC6942A9B28AC085FDE7B2A0_13</vt:lpwstr>
  </property>
</Properties>
</file>