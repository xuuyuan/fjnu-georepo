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3" r:id="rId6"/>
    <p:sldId id="267" r:id="rId7"/>
    <p:sldId id="264" r:id="rId8"/>
    <p:sldId id="266" r:id="rId9"/>
    <p:sldId id="261" r:id="rId10"/>
    <p:sldId id="262" r:id="rId11"/>
    <p:sldId id="265" r:id="rId12"/>
    <p:sldId id="258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24514" autoAdjust="0"/>
    <p:restoredTop sz="86450" autoAdjust="0"/>
  </p:normalViewPr>
  <p:slideViewPr>
    <p:cSldViewPr>
      <p:cViewPr varScale="1">
        <p:scale>
          <a:sx n="48" d="100"/>
          <a:sy n="48" d="100"/>
        </p:scale>
        <p:origin x="-84" y="-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548680"/>
            <a:ext cx="36358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 smtClean="0"/>
              <a:t>1</a:t>
            </a:r>
            <a:r>
              <a:rPr lang="zh-CN" altLang="en-US" sz="1600" b="1" dirty="0" smtClean="0"/>
              <a:t>、</a:t>
            </a:r>
            <a:r>
              <a:rPr lang="zh-CN" altLang="zh-CN" sz="1600" dirty="0" smtClean="0"/>
              <a:t>一</a:t>
            </a:r>
            <a:r>
              <a:rPr lang="zh-CN" altLang="zh-CN" sz="1600" dirty="0" smtClean="0"/>
              <a:t>个文件管理几乎所有数据，影像数据存放在</a:t>
            </a:r>
            <a:r>
              <a:rPr lang="en-US" altLang="zh-CN" sz="1600" dirty="0" smtClean="0"/>
              <a:t>Channel</a:t>
            </a:r>
            <a:r>
              <a:rPr lang="zh-CN" altLang="zh-CN" sz="1600" dirty="0" smtClean="0"/>
              <a:t>（</a:t>
            </a:r>
            <a:r>
              <a:rPr lang="zh-CN" altLang="en-US" sz="1600" dirty="0" smtClean="0"/>
              <a:t>即</a:t>
            </a:r>
            <a:r>
              <a:rPr lang="en-US" altLang="zh-CN" sz="1600" dirty="0" smtClean="0"/>
              <a:t>“</a:t>
            </a:r>
            <a:r>
              <a:rPr lang="zh-CN" altLang="zh-CN" sz="1600" dirty="0" smtClean="0"/>
              <a:t>通道</a:t>
            </a:r>
            <a:r>
              <a:rPr lang="en-US" altLang="zh-CN" sz="1600" dirty="0" smtClean="0"/>
              <a:t>”</a:t>
            </a:r>
            <a:r>
              <a:rPr lang="zh-CN" altLang="zh-CN" sz="1600" dirty="0" smtClean="0"/>
              <a:t>）中，非影像数据存放在</a:t>
            </a:r>
            <a:r>
              <a:rPr lang="en-US" altLang="zh-CN" sz="1600" dirty="0" smtClean="0"/>
              <a:t>Segment</a:t>
            </a:r>
            <a:r>
              <a:rPr lang="zh-CN" altLang="zh-CN" sz="1600" dirty="0" smtClean="0"/>
              <a:t>（</a:t>
            </a:r>
            <a:r>
              <a:rPr lang="zh-CN" altLang="en-US" sz="1600" dirty="0" smtClean="0"/>
              <a:t>即</a:t>
            </a:r>
            <a:r>
              <a:rPr lang="en-US" altLang="zh-CN" sz="1600" dirty="0" smtClean="0"/>
              <a:t>“</a:t>
            </a:r>
            <a:r>
              <a:rPr lang="zh-CN" altLang="zh-CN" sz="1600" dirty="0" smtClean="0"/>
              <a:t>段</a:t>
            </a:r>
            <a:r>
              <a:rPr lang="en-US" altLang="zh-CN" sz="1600" dirty="0" smtClean="0"/>
              <a:t>”</a:t>
            </a:r>
            <a:r>
              <a:rPr lang="zh-CN" altLang="zh-CN" sz="1600" dirty="0" smtClean="0"/>
              <a:t>）</a:t>
            </a:r>
            <a:r>
              <a:rPr lang="zh-CN" altLang="zh-CN" sz="1600" dirty="0" smtClean="0"/>
              <a:t>中</a:t>
            </a:r>
            <a:r>
              <a:rPr lang="zh-CN" altLang="en-US" sz="1600" dirty="0" smtClean="0"/>
              <a:t>。</a:t>
            </a:r>
            <a:endParaRPr lang="zh-CN" altLang="en-US" sz="1600" dirty="0"/>
          </a:p>
        </p:txBody>
      </p:sp>
      <p:pic>
        <p:nvPicPr>
          <p:cNvPr id="11" name="图片 10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851920" y="332656"/>
            <a:ext cx="5292080" cy="652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0" y="3318570"/>
            <a:ext cx="4139952" cy="35394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SEGMENT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可分为： 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投影座标段（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Georeferencing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），投影座标段始终为第一段 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图形段（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Bitmaps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矢量段（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Vectors/Polygons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分类特征标志段（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Signatures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直方图查找表段（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Look-Up Tables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伪彩色表段（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Pseudo-Color Tables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文本段（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Text Segments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二值段（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Binary Segments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控制点段（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Ground Control Point Segments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数组段（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Arrays Segments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轨道参数段（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Orbit Segments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SEGMENT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是对上述所有数据层的统称。 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1628800"/>
            <a:ext cx="35830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smtClean="0"/>
              <a:t>2</a:t>
            </a:r>
            <a:r>
              <a:rPr lang="zh-CN" altLang="zh-CN" sz="1600" b="1" dirty="0" smtClean="0"/>
              <a:t>、</a:t>
            </a:r>
            <a:r>
              <a:rPr lang="en-US" altLang="zh-CN" sz="1600" b="1" dirty="0" smtClean="0"/>
              <a:t>CHANNEL</a:t>
            </a:r>
            <a:r>
              <a:rPr lang="zh-CN" altLang="zh-CN" sz="1600" b="1" dirty="0" smtClean="0"/>
              <a:t>包括四种类型，</a:t>
            </a:r>
            <a:r>
              <a:rPr lang="zh-CN" altLang="zh-CN" sz="1600" dirty="0" smtClean="0"/>
              <a:t>如下表：</a:t>
            </a:r>
            <a:endParaRPr lang="zh-CN" altLang="en-US" sz="16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988840"/>
            <a:ext cx="2664296" cy="1354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标题 17"/>
          <p:cNvSpPr>
            <a:spLocks noGrp="1"/>
          </p:cNvSpPr>
          <p:nvPr>
            <p:ph type="ctrTitle"/>
          </p:nvPr>
        </p:nvSpPr>
        <p:spPr>
          <a:xfrm>
            <a:off x="0" y="0"/>
            <a:ext cx="3670176" cy="578495"/>
          </a:xfrm>
        </p:spPr>
        <p:txBody>
          <a:bodyPr>
            <a:normAutofit/>
          </a:bodyPr>
          <a:lstStyle/>
          <a:p>
            <a:r>
              <a:rPr lang="zh-CN" altLang="en-US" sz="24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PCI影像数据文件的结构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23528" y="3501008"/>
          <a:ext cx="189587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87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SPOT1-3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HRV*2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0.50-0.59*(20)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绿</a:t>
                      </a:r>
                      <a:endParaRPr lang="zh-CN" altLang="zh-C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0.61-0.68*(20)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红</a:t>
                      </a:r>
                      <a:endParaRPr lang="zh-CN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0.78-0.89*(20)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近红</a:t>
                      </a:r>
                      <a:endParaRPr lang="zh-CN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0.50-0.73*(10)</a:t>
                      </a:r>
                      <a:r>
                        <a:rPr lang="zh-CN" altLang="en-US" sz="1800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全色</a:t>
                      </a:r>
                      <a:endParaRPr lang="zh-CN" altLang="en-US" sz="1800" u="sng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532112" y="3501008"/>
          <a:ext cx="18958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87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SPOT-4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HRVIR*2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0.50-0.59*(20)</a:t>
                      </a:r>
                      <a:endParaRPr lang="zh-CN" altLang="zh-C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0.61-0.68*(20)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0.78-0.89*(20)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1.58-1.75*(20)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0.61-0.68*(10)</a:t>
                      </a:r>
                      <a:endParaRPr lang="zh-CN" altLang="en-US" dirty="0" smtClean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716016" y="3501008"/>
          <a:ext cx="18958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87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SPOT-5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HRG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0.50-0.59*(10)</a:t>
                      </a:r>
                      <a:endParaRPr lang="zh-CN" altLang="zh-C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0.61-0.68*(10)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0.78-0.89*(10)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1.58-1.75*(10)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0.61-0.68*(5)</a:t>
                      </a:r>
                      <a:endParaRPr lang="zh-CN" altLang="en-US" dirty="0" smtClean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6876256" y="3501008"/>
          <a:ext cx="18958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87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SPOT-6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HRG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0.45-0.52*(6)</a:t>
                      </a:r>
                      <a:endParaRPr lang="zh-CN" altLang="zh-C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0.53-0.59*(6)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0.62-0.69*(6)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0.76-0.89*(6)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0.45-0.74*(1.5)</a:t>
                      </a:r>
                      <a:endParaRPr lang="zh-CN" altLang="en-US" dirty="0" smtClean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539552" y="836712"/>
          <a:ext cx="770485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94"/>
                <a:gridCol w="1100694"/>
                <a:gridCol w="1100694"/>
                <a:gridCol w="1100694"/>
                <a:gridCol w="1100694"/>
                <a:gridCol w="1100694"/>
                <a:gridCol w="1100694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卫星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SPOT-1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SPOT-2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SPOT-3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SPOT-4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SPOT-5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SPOT-5</a:t>
                      </a:r>
                      <a:endParaRPr lang="zh-CN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发射时间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1986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1990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1993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1998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2012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67544" y="1844824"/>
            <a:ext cx="3240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dirty="0" smtClean="0"/>
              <a:t>轨道：太阳同步</a:t>
            </a:r>
            <a:endParaRPr lang="en-US" altLang="zh-CN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 smtClean="0"/>
              <a:t>降交点过赤道：</a:t>
            </a:r>
            <a:r>
              <a:rPr lang="en-US" altLang="zh-CN" dirty="0" smtClean="0"/>
              <a:t>10:30</a:t>
            </a:r>
            <a:endParaRPr lang="en-US" altLang="zh-CN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 smtClean="0"/>
              <a:t>轨道</a:t>
            </a:r>
            <a:r>
              <a:rPr lang="zh-CN" altLang="en-US" dirty="0" smtClean="0"/>
              <a:t>周期：</a:t>
            </a:r>
            <a:r>
              <a:rPr lang="en-US" altLang="zh-CN" dirty="0" smtClean="0"/>
              <a:t>101.4min</a:t>
            </a:r>
            <a:endParaRPr lang="en-US" altLang="zh-CN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 smtClean="0"/>
              <a:t>轨道循环周期：</a:t>
            </a:r>
            <a:r>
              <a:rPr lang="en-US" altLang="zh-CN" dirty="0" smtClean="0"/>
              <a:t>26</a:t>
            </a:r>
            <a:r>
              <a:rPr lang="zh-CN" altLang="en-US" dirty="0" smtClean="0"/>
              <a:t>天</a:t>
            </a:r>
            <a:endParaRPr lang="en-US" altLang="zh-CN" dirty="0" smtClean="0"/>
          </a:p>
        </p:txBody>
      </p:sp>
      <p:sp>
        <p:nvSpPr>
          <p:cNvPr id="18" name="标题 17"/>
          <p:cNvSpPr>
            <a:spLocks noGrp="1"/>
          </p:cNvSpPr>
          <p:nvPr>
            <p:ph type="ctrTitle"/>
          </p:nvPr>
        </p:nvSpPr>
        <p:spPr>
          <a:xfrm>
            <a:off x="0" y="1"/>
            <a:ext cx="2915816" cy="54868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kern="1200" dirty="0" smtClean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法国</a:t>
            </a:r>
            <a:r>
              <a:rPr lang="en-US" altLang="zh-CN" sz="2400" b="1" kern="1200" dirty="0" smtClean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SPOT</a:t>
            </a:r>
            <a:r>
              <a:rPr lang="zh-CN" altLang="zh-CN" sz="2400" b="1" kern="1200" dirty="0" smtClean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系列卫星</a:t>
            </a:r>
            <a:endParaRPr lang="zh-CN" altLang="zh-CN" sz="2400" b="1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0" y="627896"/>
          <a:ext cx="9144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633"/>
                <a:gridCol w="1008112"/>
                <a:gridCol w="1008112"/>
                <a:gridCol w="1008112"/>
                <a:gridCol w="1008112"/>
                <a:gridCol w="1008112"/>
                <a:gridCol w="811807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Landsat1</a:t>
                      </a:r>
                      <a:endParaRPr lang="zh-CN" altLang="en-US" sz="16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Landsat2</a:t>
                      </a:r>
                      <a:endParaRPr lang="zh-CN" altLang="en-US" sz="16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 smtClean="0"/>
                        <a:t>Landsat3</a:t>
                      </a:r>
                      <a:endParaRPr lang="zh-CN" altLang="en-US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 smtClean="0"/>
                        <a:t>Landsat</a:t>
                      </a:r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 smtClean="0"/>
                        <a:t>Landsat5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 smtClean="0"/>
                        <a:t>Landsat</a:t>
                      </a:r>
                      <a:r>
                        <a:rPr lang="en-US" altLang="zh-CN" sz="1600" dirty="0" smtClean="0"/>
                        <a:t>6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 smtClean="0"/>
                        <a:t>Landsat</a:t>
                      </a:r>
                      <a:r>
                        <a:rPr lang="en-US" altLang="zh-CN" sz="1600" dirty="0" smtClean="0"/>
                        <a:t>7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 smtClean="0"/>
                        <a:t>Landsat</a:t>
                      </a:r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发射日期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1972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1975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1978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1982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1984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1993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1999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2013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经赤道时间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8:50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9:03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6:31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9:45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9:30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10:00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10:00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周期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18</a:t>
                      </a:r>
                      <a:r>
                        <a:rPr lang="zh-CN" altLang="en-US" dirty="0" smtClean="0"/>
                        <a:t>天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</a:t>
                      </a:r>
                      <a:r>
                        <a:rPr lang="zh-CN" altLang="en-US" dirty="0" smtClean="0"/>
                        <a:t>天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</a:t>
                      </a:r>
                      <a:r>
                        <a:rPr lang="zh-CN" altLang="en-US" dirty="0" smtClean="0"/>
                        <a:t>天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扫幅宽度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185</a:t>
                      </a:r>
                      <a:r>
                        <a:rPr lang="zh-CN" altLang="en-US" dirty="0" smtClean="0"/>
                        <a:t>米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185</a:t>
                      </a:r>
                      <a:r>
                        <a:rPr lang="zh-CN" altLang="en-US" dirty="0" smtClean="0"/>
                        <a:t>米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185*170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170*180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MSS</a:t>
                      </a:r>
                      <a:endParaRPr lang="zh-CN" alt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MSS</a:t>
                      </a:r>
                      <a:r>
                        <a:rPr lang="zh-CN" altLang="en-US" dirty="0" smtClean="0"/>
                        <a:t>、</a:t>
                      </a:r>
                      <a:r>
                        <a:rPr lang="en-US" altLang="zh-CN" dirty="0" smtClean="0"/>
                        <a:t>TM</a:t>
                      </a:r>
                      <a:endParaRPr lang="zh-CN" alt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ETM+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OLI</a:t>
                      </a:r>
                      <a:r>
                        <a:rPr lang="zh-CN" altLang="en-US" sz="1400" dirty="0" smtClean="0"/>
                        <a:t>、</a:t>
                      </a:r>
                      <a:r>
                        <a:rPr lang="en-US" altLang="zh-CN" sz="1400" dirty="0" smtClean="0"/>
                        <a:t>TIRS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0" y="3004160"/>
          <a:ext cx="190770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7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Landsat1-3</a:t>
                      </a:r>
                      <a:r>
                        <a:rPr lang="zh-CN" altLang="en-US" dirty="0" smtClean="0"/>
                        <a:t>（</a:t>
                      </a:r>
                      <a:r>
                        <a:rPr lang="en-US" altLang="zh-CN" dirty="0" smtClean="0"/>
                        <a:t>MSS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0.5-0.6*(80)</a:t>
                      </a:r>
                      <a:endParaRPr lang="zh-CN" altLang="zh-C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0.6-0.7*(80)</a:t>
                      </a:r>
                      <a:endParaRPr lang="zh-CN" altLang="zh-C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0.7-0.8*(80)</a:t>
                      </a:r>
                      <a:endParaRPr lang="zh-CN" altLang="zh-C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0.8-1.1*(80)</a:t>
                      </a:r>
                      <a:endParaRPr lang="zh-CN" altLang="zh-C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0.52-0.90*(15)</a:t>
                      </a:r>
                      <a:endParaRPr lang="zh-CN" altLang="en-US" dirty="0" smtClean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051720" y="2996952"/>
          <a:ext cx="280831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31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Landsat4-5</a:t>
                      </a:r>
                      <a:r>
                        <a:rPr lang="zh-CN" altLang="en-US" dirty="0" smtClean="0"/>
                        <a:t>（</a:t>
                      </a:r>
                      <a:r>
                        <a:rPr lang="en-US" altLang="zh-CN" dirty="0" smtClean="0"/>
                        <a:t>TM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TM1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0.45-0.52*(30) 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蓝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TM2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0.52-0.60*(30) 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绿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TM3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0.63-0.69*(30) 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红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TM4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0.76-0.90*(30)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近红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TM5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1.55-1.75*(30)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中红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TM6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10.4-12.5*(120)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热红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TM7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2.08-2.35*(30)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中红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5076056" y="2996952"/>
          <a:ext cx="187220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Landsat7</a:t>
                      </a:r>
                      <a:r>
                        <a:rPr lang="zh-CN" altLang="en-US" dirty="0" smtClean="0"/>
                        <a:t>（</a:t>
                      </a:r>
                      <a:r>
                        <a:rPr lang="en-US" altLang="zh-CN" dirty="0" smtClean="0"/>
                        <a:t>ETM+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0.450-0.515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*(30)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0.525-0.605*(30)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0.630-0.690*(30)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0.775-0.900*(30)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1.550-1.750*(30)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10.40-12.50*(60)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2.090-2.350*(30)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0.520-0.900*(15)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7200800" y="2960960"/>
          <a:ext cx="1907704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7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Landsat8</a:t>
                      </a:r>
                      <a:r>
                        <a:rPr lang="zh-CN" altLang="en-US" dirty="0" smtClean="0"/>
                        <a:t>（</a:t>
                      </a:r>
                      <a:r>
                        <a:rPr lang="en-US" altLang="zh-CN" dirty="0" smtClean="0"/>
                        <a:t>OLI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0.433-0.453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*(30)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0.450-0.515*(30)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0.525-0.600*(30)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0.630-0.680*(30)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0.845-0.885*(30)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1.560-1.660*(30)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2.100-2.300*(30)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0.500-0.680*(15)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1.360-1.390*(30)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0" y="5745480"/>
          <a:ext cx="196788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88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Lansat8</a:t>
                      </a:r>
                      <a:r>
                        <a:rPr lang="zh-CN" altLang="en-US" dirty="0" smtClean="0"/>
                        <a:t>（</a:t>
                      </a:r>
                      <a:r>
                        <a:rPr lang="en-US" altLang="zh-CN" dirty="0" smtClean="0"/>
                        <a:t>TIRS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10.60-11.19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*(100)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11.50-12.51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*(100) 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标题 15"/>
          <p:cNvSpPr>
            <a:spLocks noGrp="1"/>
          </p:cNvSpPr>
          <p:nvPr>
            <p:ph type="ctrTitle"/>
          </p:nvPr>
        </p:nvSpPr>
        <p:spPr>
          <a:xfrm>
            <a:off x="0" y="1"/>
            <a:ext cx="3419872" cy="476671"/>
          </a:xfrm>
        </p:spPr>
        <p:txBody>
          <a:bodyPr>
            <a:normAutofit/>
          </a:bodyPr>
          <a:lstStyle/>
          <a:p>
            <a:pPr rtl="0" eaLnBrk="1" latinLnBrk="0" hangingPunct="1"/>
            <a:r>
              <a:rPr lang="zh-CN" altLang="zh-CN" sz="2400" b="1" kern="1200" dirty="0" smtClean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/>
              </a:rPr>
              <a:t>美国</a:t>
            </a:r>
            <a:r>
              <a:rPr lang="en-US" altLang="zh-CN" sz="2400" b="1" kern="1200" dirty="0" err="1" smtClean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/>
              </a:rPr>
              <a:t>Landsat</a:t>
            </a:r>
            <a:r>
              <a:rPr lang="zh-CN" altLang="zh-CN" sz="2400" b="1" kern="1200" dirty="0" smtClean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/>
              </a:rPr>
              <a:t>系列卫星</a:t>
            </a:r>
            <a:endParaRPr lang="zh-CN" altLang="zh-CN" sz="2400" b="1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0" y="621372"/>
            <a:ext cx="9144000" cy="23069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裁减子区</a:t>
            </a:r>
            <a:endParaRPr kumimoji="0" 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流程如下：点击“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Tools \Clipping/Subset”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，弹出剪裁子区界面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input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，选择源文件和目标文件；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Output Format”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标签下面的下拉文本框内选择要输出的文件格式；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在预览影像区，用鼠标移动边框，或在“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Upper Left”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和“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Lower Right”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标签下的文本框内输入子区左上角和右下角座标（可在之上的下拉文本框内选择其他座标类型）；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4.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选择数据层，点击“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Add”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按钮，加入到右边文本框内；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5.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点击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Subset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按钮，即可剪裁出一个子区。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3212976"/>
            <a:ext cx="9144000" cy="230832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剪裁不规则几何形状影像</a:t>
            </a:r>
            <a:endParaRPr kumimoji="0" 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打开影像图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通过矢量编辑面板画出一个封闭多边形矢量及矢量点，或者点击“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File \ Load Vectors”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调入一个已经画好的矢量。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tool/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Rasterization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 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Destination Raster Layer”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标签下文本框内选择调入的影像层（一次只能选择一个影像层）；在“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Algorithm Type”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标签下边选择“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Polygons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Interior Points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）”单选钮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4.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点击“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Rasterize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按钮，即可剪裁出一个通道影像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0" y="0"/>
            <a:ext cx="1979712" cy="476672"/>
          </a:xfrm>
        </p:spPr>
        <p:txBody>
          <a:bodyPr>
            <a:normAutofit/>
          </a:bodyPr>
          <a:lstStyle/>
          <a:p>
            <a:pPr rtl="0" eaLnBrk="1" latinLnBrk="0" hangingPunct="1"/>
            <a:r>
              <a:rPr lang="zh-CN" altLang="zh-CN" sz="2400" b="1" kern="1200" dirty="0" smtClean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影像剪裁</a:t>
            </a:r>
            <a:endParaRPr lang="en-US" altLang="zh-CN" sz="2400" b="1" kern="1200" dirty="0" smtClean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2483768" cy="476672"/>
          </a:xfrm>
        </p:spPr>
        <p:txBody>
          <a:bodyPr>
            <a:normAutofit/>
          </a:bodyPr>
          <a:lstStyle/>
          <a:p>
            <a:r>
              <a:rPr lang="zh-CN" altLang="en-US" sz="24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影像镶嵌</a:t>
            </a:r>
            <a:r>
              <a:rPr lang="en-US" altLang="zh-CN" sz="24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&amp;</a:t>
            </a:r>
            <a:r>
              <a:rPr lang="zh-CN" altLang="en-US" sz="24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融合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0" y="710694"/>
            <a:ext cx="9144000" cy="28623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镶嵌：</a:t>
            </a:r>
            <a:endParaRPr kumimoji="0" 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选择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GCPWork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模块，在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Processing Requirements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中选择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mosaic only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Select Image To Mosaic”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任务左边的方块按钮，在弹出的文件选取对话框中选择需要镶嵌的其中一个影像文件名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Create Output Mosaic File”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任务左边的方块按钮，设置好文件名称，通道数量，像元分辨率、投影单位、左上角与右下角座标。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4.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Select Mosaic Area”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，选择镶嵌区域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5.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Perform 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Mosaicking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to Output File”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任务左边方块按钮，选择需要对应镶嵌的输入输出通道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6.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Perform Registration”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按钮，即完成了影像的镶嵌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3789040"/>
            <a:ext cx="9144000" cy="28623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镶嵌：</a:t>
            </a:r>
            <a:endParaRPr kumimoji="0" 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选择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GCPWork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模块，在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Processing Requirements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中选择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mosaic only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Select Image To Mosaic”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任务左边的方块按钮，在弹出的文件选取对话框中选择需要镶嵌的其中一个影像文件名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Create Output Mosaic File”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任务左边的方块按钮，设置好文件名称，通道数量，像元分辨率、投影单位、左上角与右下角座标。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4.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Select Mosaic Area”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，选择镶嵌区域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5.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Perform 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Mosaicking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to Output File”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任务左边方块按钮，选择需要对应镶嵌的输入输出通道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6.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Perform Registration”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按钮，即完成了影像的镶嵌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764704"/>
            <a:ext cx="9144000" cy="230832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利用地形图进行校正</a:t>
            </a:r>
            <a:endParaRPr kumimoji="0" 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选择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GCPWork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模块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要利用地形图对影像进行校正， 则在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Source of GCPs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中选择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User Entered Coordinates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命令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调入待校正影像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Define 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Georeferencing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Units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，设置坐标单位和投影单位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4.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Collect GCPs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，弹出控制点采集界面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5.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进行盘对盘的校正，点击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Perform Registration to Disk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6.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点击新建一个输出文件弹出如下窗口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对新建文件进行参数设置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选择输出文件的通道，选择适当的参数，点击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Perform Registration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，进行校正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3284984"/>
            <a:ext cx="9144000" cy="2031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利用校正过的影像进行校正</a:t>
            </a:r>
            <a:endParaRPr kumimoji="0" 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选择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GCPWork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模块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Source of GCPs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中要选择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Geocoded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Image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调入待校正影像和用地形图校正后的影像图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Collect GCPs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，弹出控制点采集界面采集控制点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4.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进行盘对盘的校正，点击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Perform Registration to Disk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5.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点击新建一个输出文件弹出如下窗口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对新建文件进行参数设置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选择输出文件的通道，选择适当的参数，点击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Perform Registration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，进行校正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0" y="0"/>
            <a:ext cx="2051720" cy="476672"/>
          </a:xfrm>
        </p:spPr>
        <p:txBody>
          <a:bodyPr>
            <a:noAutofit/>
          </a:bodyPr>
          <a:lstStyle/>
          <a:p>
            <a:pPr rtl="0" eaLnBrk="1" latinLnBrk="0" hangingPunct="1"/>
            <a:r>
              <a:rPr lang="zh-CN" altLang="en-US" sz="2400" b="1" kern="1200" dirty="0" smtClean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影像</a:t>
            </a:r>
            <a:r>
              <a:rPr lang="zh-CN" altLang="zh-CN" sz="2400" b="1" kern="1200" dirty="0" smtClean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几何校正</a:t>
            </a:r>
            <a:endParaRPr lang="en-US" altLang="zh-CN" sz="2400" b="1" kern="1200" dirty="0" smtClean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763688" cy="404664"/>
          </a:xfrm>
        </p:spPr>
        <p:txBody>
          <a:bodyPr>
            <a:noAutofit/>
          </a:bodyPr>
          <a:lstStyle/>
          <a:p>
            <a:r>
              <a:rPr lang="zh-CN" altLang="en-US" sz="24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影像分类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681662"/>
            <a:ext cx="9144000" cy="25853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监督分类：</a:t>
            </a:r>
            <a:endParaRPr lang="zh-CN" altLang="zh-CN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ImageWorks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点击“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Classify \ Sessions…”,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点击“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New Session”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按钮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监督分类</a:t>
            </a:r>
            <a:endParaRPr lang="zh-CN" altLang="en-US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选择训练区时的显示通道组合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用来分类的原始数据通道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选择训练区存放的通道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选择分类结果存放的通道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点击“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Accept”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按钮，弹出训练区选取界面</a:t>
            </a:r>
            <a:endParaRPr lang="zh-CN" altLang="en-US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点击“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Load Work Area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”按钮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用鼠标拖动矩形框选择一个操作区域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选取训练区</a:t>
            </a:r>
            <a:endParaRPr lang="zh-CN" altLang="en-US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关闭训练区选取界面，接下来可以检查训练区选取的质量</a:t>
            </a:r>
            <a:endParaRPr lang="zh-CN" altLang="en-US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统计结果检查：在主工作窗口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点击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”Classify”—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特征统计（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Signature Statistics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）、分离度检查（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Signature 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Separability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）、散点图检查（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Scatterplot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）、直方图检查（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Histograms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）、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设置好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参数点击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Classify”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按钮，即可完成分类</a:t>
            </a:r>
            <a:endParaRPr lang="zh-CN" altLang="en-US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3212976"/>
            <a:ext cx="9144000" cy="20490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非监督分类</a:t>
            </a:r>
            <a:endParaRPr kumimoji="0" 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在主工作窗口点击“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Classify \ Sessions…”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，在工作通道设置界面中选择单选“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Unsupervised”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设置好工作通道后，点击“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Accept”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按钮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选择三种非监督分类算法（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K-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均值聚类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K-Means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、模糊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K-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均值聚类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Fuzzy K-Means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、迭代自组织聚类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IsoData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）中的一种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4.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设置好参数及其他选项，点击“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Classify”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按钮， 即可完成非监督分类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5587451"/>
            <a:ext cx="9144000" cy="12003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分类后处理：</a:t>
            </a:r>
            <a:r>
              <a:rPr kumimoji="0" lang="zh-CN" altLang="en-US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ImageWorks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提供了四种分类后处理功能，如下：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分类特征标志修改（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Class 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Labelling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）、 合并类（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Aggregate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）、 分类精度评定（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Accuracy Assessment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r>
              <a:rPr lang="zh-CN" altLang="en-US" dirty="0" smtClean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局部类编辑（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Class Editing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、监督分类与非监督分类在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772999"/>
            <a:ext cx="5796136" cy="12003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统计结果检查：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检查依据：各类在四个通道的均值差异越大，则分类结果越好；某一类在各通道中的标准方差越小，则分类结果越好。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987824" y="1772816"/>
            <a:ext cx="3308400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0"/>
            <a:ext cx="3352800" cy="367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图片 8"/>
          <p:cNvPicPr/>
          <p:nvPr/>
        </p:nvPicPr>
        <p:blipFill>
          <a:blip r:embed="rId3" cstate="print"/>
          <a:srcRect r="48635" b="66431"/>
          <a:stretch>
            <a:fillRect/>
          </a:stretch>
        </p:blipFill>
        <p:spPr bwMode="auto">
          <a:xfrm>
            <a:off x="3419872" y="3861048"/>
            <a:ext cx="2880320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0" y="2204864"/>
            <a:ext cx="3243196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b="1" u="sng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分离度检查：</a:t>
            </a:r>
            <a:r>
              <a:rPr lang="zh-CN" altLang="en-US" b="1" u="sng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b="1" u="sng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分离度数值优劣的标准如下：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1.900000~2.000000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优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1.000000~1.900000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较优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&lt;1.0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差，应将两类合并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0" y="4172887"/>
            <a:ext cx="3275856" cy="12003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b="1" u="sng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散点图检查：</a:t>
            </a:r>
            <a:r>
              <a:rPr lang="zh-CN" altLang="en-US" b="1" u="sng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b="1" u="sng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检查依据：均值中心距离越远，则分类结果越好；椭球差异越大，分类结果越好。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0" y="5934670"/>
            <a:ext cx="5364088" cy="9233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b="1" u="sng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直方图检查：</a:t>
            </a:r>
            <a:r>
              <a:rPr lang="zh-CN" altLang="en-US" b="1" u="sng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b="1" u="sng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检查依据：如果直方图是单峰正态分布，则分类结果较好；如果是双峰分布，则该类可分出多类。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5" name="图片 14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00192" y="2636912"/>
            <a:ext cx="2843808" cy="422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0" y="0"/>
            <a:ext cx="3347864" cy="476672"/>
          </a:xfrm>
        </p:spPr>
        <p:txBody>
          <a:bodyPr>
            <a:normAutofit/>
          </a:bodyPr>
          <a:lstStyle/>
          <a:p>
            <a:pPr rtl="0" eaLnBrk="1" latinLnBrk="0" hangingPunct="1"/>
            <a:r>
              <a:rPr lang="zh-CN" altLang="zh-CN" sz="2400" b="1" kern="1200" dirty="0" smtClean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/>
              </a:rPr>
              <a:t>监督分类的训练区检查</a:t>
            </a:r>
            <a:endParaRPr lang="en-US" altLang="zh-CN" sz="2400" b="1" kern="1200" dirty="0" smtClean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ChangeArrowheads="1"/>
          </p:cNvSpPr>
          <p:nvPr/>
        </p:nvSpPr>
        <p:spPr bwMode="auto">
          <a:xfrm>
            <a:off x="0" y="836712"/>
            <a:ext cx="3320140" cy="9233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Parallelepiped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平行六面体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Minimum Distance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最小距离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Maximium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Likelihood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最大似然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0" y="0"/>
            <a:ext cx="4355976" cy="476672"/>
          </a:xfrm>
        </p:spPr>
        <p:txBody>
          <a:bodyPr>
            <a:normAutofit/>
          </a:bodyPr>
          <a:lstStyle/>
          <a:p>
            <a:pPr rtl="0" eaLnBrk="1" latinLnBrk="0" hangingPunct="1"/>
            <a:r>
              <a:rPr lang="en-US" altLang="zh-CN" sz="2400" b="1" kern="1200" dirty="0" smtClean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PCI</a:t>
            </a:r>
            <a:r>
              <a:rPr lang="zh-CN" altLang="zh-CN" sz="2400" b="1" kern="1200" dirty="0" smtClean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软件提供的非监督分类</a:t>
            </a:r>
            <a:endParaRPr lang="en-US" altLang="zh-CN" sz="2400" b="1" kern="1200" dirty="0" smtClean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ChangeArrowheads="1"/>
          </p:cNvSpPr>
          <p:nvPr/>
        </p:nvSpPr>
        <p:spPr bwMode="auto">
          <a:xfrm>
            <a:off x="251520" y="1772816"/>
            <a:ext cx="4211960" cy="28623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计算机实现的过程大体有两个：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座标转换（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Coordinates Transformation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重采样（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Resampling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座标转换的方法有两种：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多项式拟合（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Polynomial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小样条（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Thin Plate 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Spline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重采样的方法有五种：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最近邻（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Neareast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Neighbour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双线性（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Bilinear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立方卷积（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Cubic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20688"/>
            <a:ext cx="8964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GCPWorks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的功能主要包括两种：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几何校正（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Geometric Correction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、镶嵌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Mosaic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lang="zh-CN" altLang="en-US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由于地形高低起伏引起的误差需要使用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Orthoengine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模块进行正射校正才能去处。本模块不包含此功能。 </a:t>
            </a:r>
            <a:endParaRPr lang="zh-CN" altLang="en-US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0"/>
            <a:ext cx="3203848" cy="476672"/>
          </a:xfrm>
        </p:spPr>
        <p:txBody>
          <a:bodyPr>
            <a:normAutofit/>
          </a:bodyPr>
          <a:lstStyle/>
          <a:p>
            <a:pPr rtl="0" eaLnBrk="1" latinLnBrk="0" hangingPunct="1"/>
            <a:r>
              <a:rPr lang="en-US" altLang="zh-CN" sz="2400" b="1" kern="1200" dirty="0" err="1" smtClean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GCPWorks</a:t>
            </a:r>
            <a:r>
              <a:rPr lang="zh-CN" altLang="zh-CN" sz="2400" b="1" kern="1200" dirty="0" smtClean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的功能</a:t>
            </a:r>
            <a:endParaRPr lang="en-US" altLang="zh-CN" sz="2400" kern="1200" dirty="0" smtClean="0"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908720"/>
            <a:ext cx="4139952" cy="39703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影像增强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Enhancements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各按钮含义如下：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 Enhancement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不增强或恢复原始影像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Linear Enhancement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线性增强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 Enhancement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根增强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Adaptive Enhancement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自适应增强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Equalization Enhancement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均衡化增强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Infrequency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出现频率较少的像元增强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Reset Brightness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恢复原始亮度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Increase Brightness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增加亮度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Decrease Brightness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降低亮度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Reset Contrast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恢复原始对比度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Increase Contrast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增加对比度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Decrease Contrast 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降低对比度 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影像增强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5025</Words>
  <Application>WPS 演示</Application>
  <PresentationFormat>全屏显示(4:3)</PresentationFormat>
  <Paragraphs>407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华文新魏</vt:lpstr>
      <vt:lpstr>Times New Roman</vt:lpstr>
      <vt:lpstr>Calibri</vt:lpstr>
      <vt:lpstr>微软雅黑</vt:lpstr>
      <vt:lpstr>Arial Unicode MS</vt:lpstr>
      <vt:lpstr>Office 主题</vt:lpstr>
      <vt:lpstr>PCI影像数据文件的结构</vt:lpstr>
      <vt:lpstr>法国SPOT系列卫星</vt:lpstr>
      <vt:lpstr>美国Landsat系列卫星</vt:lpstr>
      <vt:lpstr>影像剪裁</vt:lpstr>
      <vt:lpstr>影像镶嵌&amp;融合</vt:lpstr>
      <vt:lpstr>影像几何校正</vt:lpstr>
      <vt:lpstr>影像分类</vt:lpstr>
      <vt:lpstr>监督分类的训练区检查</vt:lpstr>
      <vt:lpstr>PCI软件提供的非监督分类</vt:lpstr>
      <vt:lpstr>GCPWorks的功能</vt:lpstr>
      <vt:lpstr>影像增强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asus</dc:creator>
  <cp:lastModifiedBy>破晓黎明前</cp:lastModifiedBy>
  <cp:revision>4</cp:revision>
  <dcterms:created xsi:type="dcterms:W3CDTF">2018-01-17T09:04:00Z</dcterms:created>
  <dcterms:modified xsi:type="dcterms:W3CDTF">2019-11-29T16:44:30Z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2052-11.1.0.9208</vt:lpwstr>
  </property>
</Properties>
</file>